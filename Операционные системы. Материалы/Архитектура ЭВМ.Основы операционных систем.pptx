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3" r:id="rId13"/>
    <p:sldId id="268" r:id="rId14"/>
    <p:sldId id="267" r:id="rId15"/>
    <p:sldId id="266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09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02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43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02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97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864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78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28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69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14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854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92ADF-2B5B-AD4A-98A3-DC1D882FDD57}" type="datetimeFigureOut">
              <a:rPr lang="ru-RU" smtClean="0"/>
              <a:t>04.09.17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38E63-1F75-4B43-BB7E-D90157B0B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244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Архитектура ЭВМ.</a:t>
            </a:r>
            <a:br>
              <a:rPr lang="ru-RU" dirty="0" smtClean="0"/>
            </a:br>
            <a:r>
              <a:rPr lang="ru-RU" dirty="0" smtClean="0"/>
              <a:t>Основы операционных систем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 smtClean="0"/>
              <a:t>Доцент, к.т.н. Власов Евгений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2409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err="1" smtClean="0"/>
              <a:t>Таненнбаум</a:t>
            </a:r>
            <a:r>
              <a:rPr lang="ru-RU" dirty="0" smtClean="0"/>
              <a:t> – Современные операционные системы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err="1" smtClean="0"/>
              <a:t>Иртегов</a:t>
            </a:r>
            <a:r>
              <a:rPr lang="ru-RU" dirty="0" smtClean="0"/>
              <a:t> – Введение в операционные системы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err="1" smtClean="0"/>
              <a:t>Робачевский</a:t>
            </a:r>
            <a:r>
              <a:rPr lang="ru-RU" dirty="0" smtClean="0"/>
              <a:t> – Операционная система </a:t>
            </a:r>
            <a:r>
              <a:rPr lang="en-US" dirty="0" smtClean="0"/>
              <a:t>UNIX</a:t>
            </a:r>
            <a:endParaRPr lang="ru-RU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err="1" smtClean="0"/>
              <a:t>Стивенс</a:t>
            </a:r>
            <a:r>
              <a:rPr lang="ru-RU" dirty="0" smtClean="0"/>
              <a:t>, </a:t>
            </a:r>
            <a:r>
              <a:rPr lang="ru-RU" dirty="0" err="1" smtClean="0"/>
              <a:t>Раго</a:t>
            </a:r>
            <a:r>
              <a:rPr lang="ru-RU" dirty="0" smtClean="0"/>
              <a:t> – </a:t>
            </a:r>
            <a:r>
              <a:rPr lang="en-US" dirty="0" smtClean="0"/>
              <a:t>UNIX  </a:t>
            </a:r>
            <a:r>
              <a:rPr lang="ru-RU" dirty="0" smtClean="0"/>
              <a:t>профессиональное программирование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 </a:t>
            </a:r>
            <a:endParaRPr lang="ru-RU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9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266700"/>
            <a:ext cx="87884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23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Операционная система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/>
              <a:t>1) Комплекс системных и управляющих программ, предназначенных для наиболее эффективного использования всех ресурсов вычислительной системы.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/>
              <a:t>2) Комплекс программ, обеспечивающий управление аппаратными средствами компьютера, организующий работу с файлами и выполнение прикладных программ, осуществляющий ввод и вывод данных.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/>
              <a:t>3) </a:t>
            </a:r>
            <a:r>
              <a:rPr lang="is-IS" dirty="0" smtClean="0"/>
              <a:t>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402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Операционная система как виртуальная машина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Операционная система представляет </a:t>
            </a:r>
            <a:r>
              <a:rPr lang="ru-RU" b="1" dirty="0" smtClean="0"/>
              <a:t>абстракции</a:t>
            </a:r>
            <a:r>
              <a:rPr lang="ru-RU" dirty="0" smtClean="0"/>
              <a:t> для работы с аппаратными ресурсами</a:t>
            </a:r>
            <a:r>
              <a:rPr lang="en-US" dirty="0" smtClean="0"/>
              <a:t>:   </a:t>
            </a:r>
            <a:r>
              <a:rPr lang="ru-RU" dirty="0" smtClean="0"/>
              <a:t>ОЗУ, диск, устройства ввода/вывода (клавиатура, мышь, монитор, принтер). </a:t>
            </a:r>
            <a:r>
              <a:rPr lang="ru-RU" dirty="0" smtClean="0"/>
              <a:t>О</a:t>
            </a:r>
            <a:r>
              <a:rPr lang="en-US" dirty="0" smtClean="0"/>
              <a:t>C </a:t>
            </a:r>
            <a:r>
              <a:rPr lang="ru-RU" dirty="0" smtClean="0"/>
              <a:t>скрывает </a:t>
            </a:r>
            <a:r>
              <a:rPr lang="ru-RU" dirty="0" smtClean="0"/>
              <a:t>особенности работы с конкретной </a:t>
            </a:r>
            <a:r>
              <a:rPr lang="ru-RU" dirty="0" smtClean="0"/>
              <a:t>аппаратурой, что  </a:t>
            </a:r>
            <a:r>
              <a:rPr lang="ru-RU" dirty="0" smtClean="0"/>
              <a:t>позволяет прикладным программам быть переносимыми между различными компьютерами, если на этих компьютерах работает нужная операционная система. Таким образом, операционную систему можно рассматривать как некоторую виртуальную машину.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2699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Операционная система как менеджер ресурсов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/>
              <a:t>Управление ресурсами включает в себя мультиплексирование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/>
              <a:t>(распределение) ресурсов двумя различными способами: во времени и в пространстве. Когда ресурс разделяется во времени, различные программы или пользователи используют его по очереди: сначала ресурс получают в пользование одни, потом другие и т. д. Определение того, как именно ресурс будет разделяться во времени — кто будет следующим потребителем и как долго, — это задача операционной системы.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/>
              <a:t>Другим видом разделения ресурсов является пространственное разделение. Вместо поочередной работы каждый клиент получает какую-то часть разделяемого ресурса.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57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Основные функции ОС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Управление памятью</a:t>
            </a:r>
          </a:p>
          <a:p>
            <a:pPr algn="just"/>
            <a:r>
              <a:rPr lang="ru-RU" dirty="0" smtClean="0"/>
              <a:t>Управление дисковым пространством</a:t>
            </a:r>
          </a:p>
          <a:p>
            <a:pPr algn="just"/>
            <a:r>
              <a:rPr lang="ru-RU" dirty="0" smtClean="0"/>
              <a:t>Поддержка многозадачности (разделение использования памяти, времени выполнения)</a:t>
            </a:r>
          </a:p>
          <a:p>
            <a:pPr algn="just"/>
            <a:r>
              <a:rPr lang="ru-RU" dirty="0" smtClean="0"/>
              <a:t>Ограничение доступа, многопользовательский режим работы</a:t>
            </a:r>
          </a:p>
          <a:p>
            <a:r>
              <a:rPr lang="ru-RU" dirty="0" smtClean="0"/>
              <a:t>Обеспечение интерфейса прикладного программирования (</a:t>
            </a:r>
            <a:r>
              <a:rPr lang="en-US" dirty="0" smtClean="0"/>
              <a:t>API) </a:t>
            </a:r>
            <a:r>
              <a:rPr lang="ru-RU" dirty="0" smtClean="0"/>
              <a:t> для доступа к ресурсам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0159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cy;&amp;acy;&amp;rcy;&amp;tcy;&amp;icy;&amp;ncy;&amp;kcy;&amp;ic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1" y="1108038"/>
            <a:ext cx="11817430" cy="464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967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Однопользовательские/многопользовательские ОС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1213" y="1825625"/>
            <a:ext cx="11553713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b="1" dirty="0" smtClean="0"/>
              <a:t>Однопользовательские – </a:t>
            </a:r>
            <a:r>
              <a:rPr lang="ru-RU" dirty="0" smtClean="0"/>
              <a:t>работать может только один пользователь. Управление доступом к ресурсам в большинстве отсутствует. Бываю </a:t>
            </a:r>
            <a:r>
              <a:rPr lang="ru-RU" b="1" dirty="0" smtClean="0"/>
              <a:t>однозадачные</a:t>
            </a:r>
            <a:r>
              <a:rPr lang="en-US" b="1" dirty="0" smtClean="0"/>
              <a:t> </a:t>
            </a:r>
            <a:r>
              <a:rPr lang="en-US" dirty="0"/>
              <a:t> </a:t>
            </a:r>
            <a:r>
              <a:rPr lang="ru-RU" dirty="0" smtClean="0"/>
              <a:t>и </a:t>
            </a:r>
            <a:r>
              <a:rPr lang="ru-RU" b="1" dirty="0" smtClean="0"/>
              <a:t>многозадачные</a:t>
            </a:r>
            <a:r>
              <a:rPr lang="ru-RU" dirty="0" smtClean="0"/>
              <a:t>.</a:t>
            </a:r>
          </a:p>
          <a:p>
            <a:pPr algn="just"/>
            <a:r>
              <a:rPr lang="ru-RU" b="1" dirty="0" smtClean="0"/>
              <a:t>Многопользовательские - </a:t>
            </a:r>
            <a:r>
              <a:rPr lang="ru-RU" dirty="0" smtClean="0"/>
              <a:t>позволяет </a:t>
            </a:r>
            <a:r>
              <a:rPr lang="ru-RU" dirty="0"/>
              <a:t>многим разным людям одновременно пользоваться ресурсами одного компьютера. Операционная система должна сбалансировать требования различных пользователей, а также обеспечить использование каждой задействованной ими программой достаточных и разделенных ресурсов, чтобы проблема, возникшая у одного пользователя, не распространилась на все сообщество </a:t>
            </a:r>
            <a:r>
              <a:rPr lang="ru-RU" dirty="0" smtClean="0"/>
              <a:t>пользователей. 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Главным </a:t>
            </a:r>
            <a:r>
              <a:rPr lang="ru-RU" dirty="0"/>
              <a:t>отличием многопользовательских систем от однопользовательских является наличие средств защиты информации каждого пользователя от несанкционированного доступа других пользователей. Следует заметить, что не всякая многозадачная система является многопользовательской, и не всякая однопользовательская ОС является однозадачной.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67109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55002"/>
            <a:ext cx="10515600" cy="5821961"/>
          </a:xfrm>
        </p:spPr>
        <p:txBody>
          <a:bodyPr>
            <a:normAutofit/>
          </a:bodyPr>
          <a:lstStyle/>
          <a:p>
            <a:pPr algn="just"/>
            <a:r>
              <a:rPr lang="ru-RU" b="1" dirty="0" smtClean="0"/>
              <a:t>ОС </a:t>
            </a:r>
            <a:r>
              <a:rPr lang="ru-RU" b="1" dirty="0"/>
              <a:t>пакетной обработки</a:t>
            </a:r>
            <a:r>
              <a:rPr lang="ru-RU" dirty="0"/>
              <a:t> – из программ, подлежащих выполнению, формируется пакет (набор) заданий, вводимых в ЭВМ и выполняемых в порядке очередности с возможным учетом приоритетности;</a:t>
            </a:r>
          </a:p>
          <a:p>
            <a:pPr algn="just"/>
            <a:r>
              <a:rPr lang="ru-RU" b="1" dirty="0" smtClean="0"/>
              <a:t>ОС разделения </a:t>
            </a:r>
            <a:r>
              <a:rPr lang="ru-RU" b="1" dirty="0"/>
              <a:t>времени</a:t>
            </a:r>
            <a:r>
              <a:rPr lang="ru-RU" dirty="0"/>
              <a:t> – системы, , обеспечивающие одновременный диалоговый (интерактивный) режим доступа к ЭВМ нескольких пользователей на разных терминалах, которым по очереди выделяются ресурсы машины, что координируется операционной системой в соответствии с заданной дисциплиной обслуживания;</a:t>
            </a:r>
          </a:p>
          <a:p>
            <a:pPr algn="just"/>
            <a:r>
              <a:rPr lang="ru-RU" b="1" dirty="0" smtClean="0"/>
              <a:t>ОС </a:t>
            </a:r>
            <a:r>
              <a:rPr lang="ru-RU" b="1" dirty="0"/>
              <a:t>реального времени </a:t>
            </a:r>
            <a:r>
              <a:rPr lang="ru-RU" dirty="0"/>
              <a:t>– системы, которые обеспечивают определенное </a:t>
            </a:r>
            <a:r>
              <a:rPr lang="ru-RU" i="1" dirty="0"/>
              <a:t>гарантированное</a:t>
            </a:r>
            <a:r>
              <a:rPr lang="ru-RU" dirty="0"/>
              <a:t> время ответа машины на запрос пользователя с управлением им какими-либо внешними по отношению к ЭВМ событиями, процессами или объектами.</a:t>
            </a:r>
          </a:p>
        </p:txBody>
      </p:sp>
    </p:spTree>
    <p:extLst>
      <p:ext uri="{BB962C8B-B14F-4D97-AF65-F5344CB8AC3E}">
        <p14:creationId xmlns:p14="http://schemas.microsoft.com/office/powerpoint/2010/main" val="70171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Аппаратные средств разделения доступа к ресурсам </a:t>
            </a:r>
            <a:endParaRPr lang="ru-RU" dirty="0"/>
          </a:p>
        </p:txBody>
      </p:sp>
      <p:pic>
        <p:nvPicPr>
          <p:cNvPr id="4098" name="Picture 2" descr="https://upload.wikimedia.org/wikipedia/ru/thumb/2/2f/Priv_rings.svg/300px-Priv_ring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417" y="1818042"/>
            <a:ext cx="6594438" cy="474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039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Пространства виртуально памяти в ОС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/>
              <a:t>Пространство пользователя</a:t>
            </a:r>
            <a:r>
              <a:rPr lang="ru-RU" dirty="0" smtClean="0"/>
              <a:t> (</a:t>
            </a:r>
            <a:r>
              <a:rPr lang="en-US" dirty="0" err="1" smtClean="0"/>
              <a:t>userland</a:t>
            </a:r>
            <a:r>
              <a:rPr lang="en-US" dirty="0" smtClean="0"/>
              <a:t>) - </a:t>
            </a:r>
            <a:r>
              <a:rPr lang="ru-RU" dirty="0" smtClean="0"/>
              <a:t>является областью памяти, в которой функционируют все приложения пользователя; при необходимости эта память может быть увеличена за счёт подкачки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/>
              <a:t>Пространство ядра </a:t>
            </a:r>
            <a:r>
              <a:rPr lang="ru-RU" dirty="0" smtClean="0"/>
              <a:t>(</a:t>
            </a:r>
            <a:r>
              <a:rPr lang="en-US" dirty="0" smtClean="0"/>
              <a:t>kernel) – </a:t>
            </a:r>
            <a:r>
              <a:rPr lang="ru-RU" dirty="0" smtClean="0"/>
              <a:t>область памяти, которая резервируется для работы ядра, расширений ядра, и некоторых драйверов устройств.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815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Структура ОС</a:t>
            </a:r>
            <a:endParaRPr lang="ru-RU" dirty="0"/>
          </a:p>
        </p:txBody>
      </p:sp>
      <p:pic>
        <p:nvPicPr>
          <p:cNvPr id="2050" name="Picture 2" descr="ttp://heap.altlinux.org/modules/unix_base_admin.dralex/images/monolith_kern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58" y="1690688"/>
            <a:ext cx="10428642" cy="445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618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Ядро ОС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/>
              <a:t>	Центральная часть ОС, обеспечивающая приложениям координированный доступ к ресурсам компьютера, таким как процессорное время, память, внешнее аппаратное обеспечение, внешнее устройство ввода и вывода информации. Также обычно ядро предоставляет сервисы файловой системы и сетевых протоколов.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	</a:t>
            </a:r>
            <a:r>
              <a:rPr lang="ru-RU" dirty="0" smtClean="0"/>
              <a:t>Как основополагающий элемент ОС, ядро представляет собой наиболее низкий уровень абстракции для доступа приложений к ресурсам системы, необходимым для их работы. Как правило, ядро предоставляет такой доступ исполняемым процессам соответствующих приложений за счёт использования механизмов </a:t>
            </a:r>
            <a:r>
              <a:rPr lang="ru-RU" dirty="0" err="1" smtClean="0"/>
              <a:t>межпроцессного</a:t>
            </a:r>
            <a:r>
              <a:rPr lang="ru-RU" dirty="0" smtClean="0"/>
              <a:t> взаимодействия и обращения приложений к системным вызовам ОС.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8590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4884"/>
          </a:xfrm>
        </p:spPr>
        <p:txBody>
          <a:bodyPr/>
          <a:lstStyle/>
          <a:p>
            <a:pPr algn="ctr"/>
            <a:r>
              <a:rPr lang="ru-RU" dirty="0" smtClean="0"/>
              <a:t>Типы ядер ОС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3191"/>
            <a:ext cx="10515600" cy="509912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b="1" dirty="0" smtClean="0"/>
              <a:t>Монолитное</a:t>
            </a:r>
            <a:r>
              <a:rPr lang="ru-RU" dirty="0" smtClean="0"/>
              <a:t>. </a:t>
            </a:r>
            <a:r>
              <a:rPr lang="ru-RU" dirty="0"/>
              <a:t>В</a:t>
            </a:r>
            <a:r>
              <a:rPr lang="ru-RU" dirty="0" smtClean="0"/>
              <a:t>се </a:t>
            </a:r>
            <a:r>
              <a:rPr lang="ru-RU" dirty="0" smtClean="0"/>
              <a:t>части ядра работают в одном адресном пространстве. Это такая схема операционной системы, при которой все компоненты её ядра являются составными частями одной программы, используют общие структуры данных и взаимодействуют друг с другом путём непосредственного вызова процедур. Монолитное ядро — старейший способ организации операционных систем.</a:t>
            </a:r>
            <a:r>
              <a:rPr lang="ru-RU" i="1" dirty="0" smtClean="0"/>
              <a:t> </a:t>
            </a:r>
          </a:p>
          <a:p>
            <a:pPr marL="0" indent="0" algn="just">
              <a:buNone/>
            </a:pPr>
            <a:r>
              <a:rPr lang="ru-RU" i="1" dirty="0" smtClean="0"/>
              <a:t>Достоинства</a:t>
            </a:r>
            <a:r>
              <a:rPr lang="ru-RU" dirty="0" smtClean="0"/>
              <a:t>: Незначительно выше скорость работы, упрощённая разработка модулей.</a:t>
            </a:r>
          </a:p>
          <a:p>
            <a:pPr marL="0" indent="0" algn="just">
              <a:buNone/>
            </a:pPr>
            <a:r>
              <a:rPr lang="ru-RU" i="1" dirty="0" smtClean="0"/>
              <a:t>Недостатки:</a:t>
            </a:r>
            <a:r>
              <a:rPr lang="ru-RU" dirty="0" smtClean="0"/>
              <a:t> Поскольку всё ядро работает в одном адресном пространстве, сбой в одном из компонентов может нарушить работоспособность всей системы. Требуется перекомпиляция ядра при любом изменении состава оборудования</a:t>
            </a:r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145019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Типы ядер ОС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 smtClean="0"/>
              <a:t>Модульное</a:t>
            </a:r>
            <a:r>
              <a:rPr lang="en-US" b="1" dirty="0"/>
              <a:t>.</a:t>
            </a:r>
            <a:r>
              <a:rPr lang="ru-RU" b="1" dirty="0" smtClean="0"/>
              <a:t> </a:t>
            </a:r>
            <a:r>
              <a:rPr lang="ru-RU" dirty="0" smtClean="0"/>
              <a:t>В отличие от «классических» монолитных ядер, модульные ядра, как правило, не требуют полной перекомпиляции ядра при изменении состава аппаратного обеспечения компьютера. Вместо этого модульные ядра предоставляют тот или иной механизм </a:t>
            </a:r>
            <a:r>
              <a:rPr lang="ru-RU" dirty="0" err="1" smtClean="0"/>
              <a:t>подгрузки</a:t>
            </a:r>
            <a:r>
              <a:rPr lang="ru-RU" dirty="0" smtClean="0"/>
              <a:t> модулей ядра, поддерживающих то или иное аппаратное обеспечение (например, драйверов). При этом </a:t>
            </a:r>
            <a:r>
              <a:rPr lang="ru-RU" dirty="0" err="1" smtClean="0"/>
              <a:t>подгрузка</a:t>
            </a:r>
            <a:r>
              <a:rPr lang="ru-RU" dirty="0" smtClean="0"/>
              <a:t> модулей может быть как динамической (выполняемой «на лету», без перезагрузки ОС, в работающей системе), так и статической (выполняемой при перезагрузке ОС после переконфигурирования системы на загрузку тех или иных модулей).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2619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Типы ядер ОС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/>
              <a:t>Микроядро</a:t>
            </a:r>
            <a:r>
              <a:rPr lang="en-US" dirty="0"/>
              <a:t> </a:t>
            </a:r>
            <a:r>
              <a:rPr lang="ru-RU" dirty="0" smtClean="0"/>
              <a:t>предоставляет </a:t>
            </a:r>
            <a:r>
              <a:rPr lang="ru-RU" dirty="0" smtClean="0"/>
              <a:t>только элементарные функции управления процессами и минимальный набор абстракций для работы с оборудованием. </a:t>
            </a:r>
            <a:r>
              <a:rPr lang="ru-RU" dirty="0" err="1" smtClean="0"/>
              <a:t>Бо́льшая</a:t>
            </a:r>
            <a:r>
              <a:rPr lang="ru-RU" dirty="0" smtClean="0"/>
              <a:t> часть работы осуществляется с помощью специальных пользовательских процессов, называемых сервисами. Решающим критерием «</a:t>
            </a:r>
            <a:r>
              <a:rPr lang="ru-RU" dirty="0" err="1" smtClean="0"/>
              <a:t>микроядерности</a:t>
            </a:r>
            <a:r>
              <a:rPr lang="ru-RU" dirty="0" smtClean="0"/>
              <a:t>» является размещение всех или почти всех драйверов и модулей в сервисных процессах, иногда с явной невозможностью загрузки любых модулей расширения в собственно микроядро, а также разработки таких расширений.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4911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mtClean="0"/>
              <a:t>Микроядро ОС</a:t>
            </a:r>
            <a:endParaRPr lang="ru-RU"/>
          </a:p>
        </p:txBody>
      </p:sp>
      <p:pic>
        <p:nvPicPr>
          <p:cNvPr id="3074" name="Picture 2" descr="Kcy;&amp;acy;&amp;rcy;&amp;tcy;&amp;icy;&amp;ncy;&amp;kcy;&amp;ic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11" y="2043952"/>
            <a:ext cx="9387628" cy="4163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87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Домашнее 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История развития операционных систем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1304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793</Words>
  <Application>Microsoft Macintosh PowerPoint</Application>
  <PresentationFormat>Широкоэкранный</PresentationFormat>
  <Paragraphs>52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Calibri</vt:lpstr>
      <vt:lpstr>Calibri Light</vt:lpstr>
      <vt:lpstr>Arial</vt:lpstr>
      <vt:lpstr>Тема Office</vt:lpstr>
      <vt:lpstr>Архитектура ЭВМ. Основы операционных систем</vt:lpstr>
      <vt:lpstr>Литература</vt:lpstr>
      <vt:lpstr>Презентация PowerPoint</vt:lpstr>
      <vt:lpstr>Операционная система </vt:lpstr>
      <vt:lpstr>Операционная система как виртуальная машина</vt:lpstr>
      <vt:lpstr>Операционная система как менеджер ресурсов</vt:lpstr>
      <vt:lpstr>Основные функции ОС</vt:lpstr>
      <vt:lpstr>Презентация PowerPoint</vt:lpstr>
      <vt:lpstr>Однопользовательские/многопользовательские ОС</vt:lpstr>
      <vt:lpstr>Презентация PowerPoint</vt:lpstr>
      <vt:lpstr>Аппаратные средств разделения доступа к ресурсам </vt:lpstr>
      <vt:lpstr>Пространства виртуально памяти в ОС</vt:lpstr>
      <vt:lpstr>Структура ОС</vt:lpstr>
      <vt:lpstr>Ядро ОС</vt:lpstr>
      <vt:lpstr>Типы ядер ОС</vt:lpstr>
      <vt:lpstr>Типы ядер ОС</vt:lpstr>
      <vt:lpstr>Типы ядер ОС</vt:lpstr>
      <vt:lpstr>Микроядро ОС</vt:lpstr>
      <vt:lpstr>Домашнее задание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ЭВМ. Основы операционных систем</dc:title>
  <dc:creator>Eugene Vlasov</dc:creator>
  <cp:lastModifiedBy>Eugene Vlasov</cp:lastModifiedBy>
  <cp:revision>20</cp:revision>
  <dcterms:created xsi:type="dcterms:W3CDTF">2016-08-31T09:04:59Z</dcterms:created>
  <dcterms:modified xsi:type="dcterms:W3CDTF">2017-09-05T07:59:09Z</dcterms:modified>
</cp:coreProperties>
</file>