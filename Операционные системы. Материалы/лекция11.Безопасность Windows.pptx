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9" r:id="rId1"/>
  </p:sldMasterIdLst>
  <p:notesMasterIdLst>
    <p:notesMasterId r:id="rId80"/>
  </p:notesMasterIdLst>
  <p:sldIdLst>
    <p:sldId id="532" r:id="rId2"/>
    <p:sldId id="530" r:id="rId3"/>
    <p:sldId id="531" r:id="rId4"/>
    <p:sldId id="476" r:id="rId5"/>
    <p:sldId id="477" r:id="rId6"/>
    <p:sldId id="479" r:id="rId7"/>
    <p:sldId id="500" r:id="rId8"/>
    <p:sldId id="481" r:id="rId9"/>
    <p:sldId id="482" r:id="rId10"/>
    <p:sldId id="483" r:id="rId11"/>
    <p:sldId id="484" r:id="rId12"/>
    <p:sldId id="485" r:id="rId13"/>
    <p:sldId id="486" r:id="rId14"/>
    <p:sldId id="487" r:id="rId15"/>
    <p:sldId id="488" r:id="rId16"/>
    <p:sldId id="489" r:id="rId17"/>
    <p:sldId id="490" r:id="rId18"/>
    <p:sldId id="491" r:id="rId19"/>
    <p:sldId id="493" r:id="rId20"/>
    <p:sldId id="494" r:id="rId21"/>
    <p:sldId id="495" r:id="rId22"/>
    <p:sldId id="496" r:id="rId23"/>
    <p:sldId id="497" r:id="rId24"/>
    <p:sldId id="498" r:id="rId25"/>
    <p:sldId id="499" r:id="rId26"/>
    <p:sldId id="521" r:id="rId27"/>
    <p:sldId id="523" r:id="rId28"/>
    <p:sldId id="524" r:id="rId29"/>
    <p:sldId id="525" r:id="rId30"/>
    <p:sldId id="342" r:id="rId31"/>
    <p:sldId id="396" r:id="rId32"/>
    <p:sldId id="398" r:id="rId33"/>
    <p:sldId id="526" r:id="rId34"/>
    <p:sldId id="371" r:id="rId35"/>
    <p:sldId id="373" r:id="rId36"/>
    <p:sldId id="400" r:id="rId37"/>
    <p:sldId id="527" r:id="rId38"/>
    <p:sldId id="376" r:id="rId39"/>
    <p:sldId id="379" r:id="rId40"/>
    <p:sldId id="381" r:id="rId41"/>
    <p:sldId id="420" r:id="rId42"/>
    <p:sldId id="445" r:id="rId43"/>
    <p:sldId id="451" r:id="rId44"/>
    <p:sldId id="446" r:id="rId45"/>
    <p:sldId id="447" r:id="rId46"/>
    <p:sldId id="448" r:id="rId47"/>
    <p:sldId id="450" r:id="rId48"/>
    <p:sldId id="528" r:id="rId49"/>
    <p:sldId id="468" r:id="rId50"/>
    <p:sldId id="453" r:id="rId51"/>
    <p:sldId id="439" r:id="rId52"/>
    <p:sldId id="276" r:id="rId53"/>
    <p:sldId id="277" r:id="rId54"/>
    <p:sldId id="278" r:id="rId55"/>
    <p:sldId id="279" r:id="rId56"/>
    <p:sldId id="460" r:id="rId57"/>
    <p:sldId id="462" r:id="rId58"/>
    <p:sldId id="463" r:id="rId59"/>
    <p:sldId id="464" r:id="rId60"/>
    <p:sldId id="465" r:id="rId61"/>
    <p:sldId id="355" r:id="rId62"/>
    <p:sldId id="264" r:id="rId63"/>
    <p:sldId id="269" r:id="rId64"/>
    <p:sldId id="529" r:id="rId65"/>
    <p:sldId id="454" r:id="rId66"/>
    <p:sldId id="456" r:id="rId67"/>
    <p:sldId id="516" r:id="rId68"/>
    <p:sldId id="458" r:id="rId69"/>
    <p:sldId id="351" r:id="rId70"/>
    <p:sldId id="352" r:id="rId71"/>
    <p:sldId id="312" r:id="rId72"/>
    <p:sldId id="328" r:id="rId73"/>
    <p:sldId id="361" r:id="rId74"/>
    <p:sldId id="365" r:id="rId75"/>
    <p:sldId id="503" r:id="rId76"/>
    <p:sldId id="504" r:id="rId77"/>
    <p:sldId id="505" r:id="rId78"/>
    <p:sldId id="507" r:id="rId79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C0C0C0"/>
    <a:srgbClr val="D6AEAA"/>
    <a:srgbClr val="FF9933"/>
    <a:srgbClr val="A1CDFD"/>
    <a:srgbClr val="6699FF"/>
    <a:srgbClr val="FF3300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35" autoAdjust="0"/>
    <p:restoredTop sz="94669" autoAdjust="0"/>
  </p:normalViewPr>
  <p:slideViewPr>
    <p:cSldViewPr>
      <p:cViewPr>
        <p:scale>
          <a:sx n="70" d="100"/>
          <a:sy n="70" d="100"/>
        </p:scale>
        <p:origin x="-1386" y="-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108014" cy="10801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14019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0052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4021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214022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14023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CF0478E-F004-4062-98E0-51D4BAE4D43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40116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Теория электрических цепей. Лекция 2. </a:t>
            </a:r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BDBD3CE-B855-45AD-8444-50D22732F7F4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Теория электрических цепей. Лекция 2. </a:t>
            </a: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084EDE-D829-4661-9BFA-4538BBB42732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213E260-7E5D-4D83-952F-068DD6004B23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Теория электрических цепей. Лекция 2. </a:t>
            </a:r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Теория электрических цепей. Лекция 2. </a:t>
            </a: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6F6684-7766-4638-AF77-05B64059C104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Теория электрических цепей. Лекция 2. </a:t>
            </a: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66DDBD-8EEB-4047-AD86-733B5FC05C59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Теория электрических цепей. Лекция 2. </a:t>
            </a: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FC8F90-A5C4-43B5-8E8B-8C4FF58007FF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Теория электрических цепей. Лекция 2. </a:t>
            </a: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8B65A3-12E7-4582-9E71-4666B71FE189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Теория электрических цепей. Лекция 2. </a:t>
            </a: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9EBF88-BE5A-4F3A-9EE5-9BA7BFF3FDE3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Теория электрических цепей. Лекция 2. </a:t>
            </a: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F41C19F-58D5-4831-811E-6B6919462B8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Теория электрических цепей. Лекция 2. </a:t>
            </a: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37B8B9-6EDD-47B7-B460-0CEF9958CA8D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EAF9-9E58-4CC8-A6FF-6DD8A58DEEA4}" type="datetimeFigureOut">
              <a:rPr lang="en-US" smtClean="0"/>
              <a:pPr/>
              <a:t>4/22/2018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Теория электрических цепей. Лекция 2. </a:t>
            </a: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6274B2-E907-4752-A42D-7974BAD9EA9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229600" cy="115728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Теория электрических цепей. Лекция 2. 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76C0C3-BDDF-40F3-8EA2-5ACE9DA712A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 algn="l" eaLnBrk="1" latinLnBrk="0" hangingPunct="1"/>
            <a:fld id="{74CBEAF9-9E58-4CC8-A6FF-6DD8A58DEEA4}" type="datetimeFigureOut">
              <a:rPr lang="en-US" smtClean="0"/>
              <a:pPr algn="l" eaLnBrk="1" latinLnBrk="0" hangingPunct="1"/>
              <a:t>4/22/2018</a:t>
            </a:fld>
            <a:endParaRPr lang="en-US" dirty="0">
              <a:solidFill>
                <a:schemeClr val="accent1">
                  <a:shade val="75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ru-RU" smtClean="0"/>
              <a:t>Теория электрических цепей. Лекция 2. </a:t>
            </a: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74AADDBC-4B53-4A00-AB8E-4E43499A3AA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hyperlink" Target="http://safety.live.com/" TargetMode="Externa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5400" dirty="0"/>
              <a:t>Безопасность </a:t>
            </a:r>
            <a:r>
              <a:rPr lang="ru-RU" sz="5400" dirty="0" smtClean="0"/>
              <a:t>ОС </a:t>
            </a:r>
            <a:r>
              <a:rPr lang="en-US" sz="5400" dirty="0" smtClean="0"/>
              <a:t>Windows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1241334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463234" cy="1371600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rgbClr val="C00000"/>
                </a:solidFill>
              </a:rPr>
              <a:t>Зараженность ПК с различными версиями ОС </a:t>
            </a:r>
            <a:r>
              <a:rPr lang="en-US" dirty="0" smtClean="0">
                <a:solidFill>
                  <a:srgbClr val="C00000"/>
                </a:solidFill>
              </a:rPr>
              <a:t>Windows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084EDE-D829-4661-9BFA-4538BBB42732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6050" y="1593850"/>
            <a:ext cx="8312150" cy="4789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40288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247206" cy="1371600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rgbClr val="C00000"/>
                </a:solidFill>
              </a:rPr>
              <a:t>Зараженность ПК с различными версиями ОС </a:t>
            </a:r>
            <a:r>
              <a:rPr lang="en-US" dirty="0">
                <a:solidFill>
                  <a:srgbClr val="C00000"/>
                </a:solidFill>
              </a:rPr>
              <a:t>Windows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Эти данные нормализованы: уровень заражения для каждой версии </a:t>
            </a:r>
            <a:r>
              <a:rPr lang="ru-RU" dirty="0" err="1"/>
              <a:t>Windows</a:t>
            </a:r>
            <a:r>
              <a:rPr lang="ru-RU" dirty="0"/>
              <a:t> рассчитывается сравнением равного числа компьютеров на версию (например, 1 000 компьютеров с </a:t>
            </a:r>
            <a:r>
              <a:rPr lang="ru-RU" dirty="0" err="1"/>
              <a:t>Windows</a:t>
            </a:r>
            <a:r>
              <a:rPr lang="ru-RU" dirty="0"/>
              <a:t> XP SP3 с 1 000 компьютеров с </a:t>
            </a:r>
            <a:r>
              <a:rPr lang="ru-RU" dirty="0" err="1"/>
              <a:t>Windows</a:t>
            </a:r>
            <a:r>
              <a:rPr lang="ru-RU" dirty="0"/>
              <a:t> 7 RTM).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084EDE-D829-4661-9BFA-4538BBB42732}" type="slidenum">
              <a:rPr lang="ru-RU" smtClean="0"/>
              <a:pPr>
                <a:defRPr/>
              </a:pPr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053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718"/>
            <a:ext cx="7895290" cy="1371600"/>
          </a:xfrm>
        </p:spPr>
        <p:txBody>
          <a:bodyPr>
            <a:normAutofit/>
          </a:bodyPr>
          <a:lstStyle/>
          <a:p>
            <a:r>
              <a:rPr lang="ru-RU" dirty="0" smtClean="0"/>
              <a:t>Управление политикой безопасности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i="1" dirty="0" smtClean="0"/>
              <a:t>Редактор объектов групповой политики</a:t>
            </a:r>
            <a:r>
              <a:rPr lang="ru-RU" dirty="0" smtClean="0"/>
              <a:t> (локальный вариант оснастки – Локальная политика безопасности (Панель управления </a:t>
            </a:r>
            <a:r>
              <a:rPr lang="en-US" dirty="0" smtClean="0"/>
              <a:t>|</a:t>
            </a:r>
            <a:r>
              <a:rPr lang="ru-RU" dirty="0" smtClean="0"/>
              <a:t> Администрирование);</a:t>
            </a:r>
          </a:p>
          <a:p>
            <a:r>
              <a:rPr lang="ru-RU" i="1" dirty="0" smtClean="0"/>
              <a:t>Шаблоны безопасности</a:t>
            </a:r>
            <a:r>
              <a:rPr lang="ru-RU" dirty="0" smtClean="0"/>
              <a:t> (устанавливается в изолированной консоли);</a:t>
            </a:r>
          </a:p>
          <a:p>
            <a:r>
              <a:rPr lang="ru-RU" i="1" dirty="0" smtClean="0"/>
              <a:t>Анализ и настройка безопасности</a:t>
            </a:r>
            <a:r>
              <a:rPr lang="ru-RU" dirty="0" smtClean="0"/>
              <a:t> (устанавливается в изолированной консоли).</a:t>
            </a:r>
          </a:p>
        </p:txBody>
      </p:sp>
      <p:sp>
        <p:nvSpPr>
          <p:cNvPr id="4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56E5E8-7753-448D-99D1-BF56D449F0FA}" type="slidenum">
              <a:rPr lang="ru-RU"/>
              <a:pPr>
                <a:defRPr/>
              </a:pPr>
              <a:t>4</a:t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2 подхода к настройке политики безопасности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/>
            <a:r>
              <a:rPr lang="ru-RU" smtClean="0"/>
              <a:t>Использование оснастки </a:t>
            </a:r>
            <a:r>
              <a:rPr lang="ru-RU" b="1" smtClean="0"/>
              <a:t>Редактор объектов групповой политики</a:t>
            </a:r>
            <a:r>
              <a:rPr lang="ru-RU" smtClean="0"/>
              <a:t>. С ее помощью Вы можете корректировать свою политику безопасности, устанавливая соответствующие параметры.</a:t>
            </a:r>
          </a:p>
          <a:p>
            <a:pPr marL="457200" indent="-457200" algn="just"/>
            <a:r>
              <a:rPr lang="ru-RU" smtClean="0"/>
              <a:t>Две другие оснастки используются совместно. Вы можете создать некий шаблон безопасности с помощью оснастки </a:t>
            </a:r>
            <a:r>
              <a:rPr lang="ru-RU" b="1" smtClean="0"/>
              <a:t>Шаблоны безопасности</a:t>
            </a:r>
            <a:r>
              <a:rPr lang="ru-RU" smtClean="0"/>
              <a:t> (это некоторая политика – образец), а затем произвести сравнение с политикой безопасности вашего компьютера, а при необходимости внедрить созданный шаблон в качестве своей политики безопасности.</a:t>
            </a:r>
          </a:p>
        </p:txBody>
      </p:sp>
      <p:sp>
        <p:nvSpPr>
          <p:cNvPr id="4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E1BD3F-A556-4522-9FA1-2B431EE021A5}" type="slidenum">
              <a:rPr lang="ru-RU"/>
              <a:pPr>
                <a:defRPr/>
              </a:pPr>
              <a:t>5</a:t>
            </a:fld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718"/>
            <a:ext cx="7787276" cy="13716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Окно оснастки «Редактор объектов групповой политики»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ru-RU" smtClean="0"/>
              <a:t>    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7532CE-156A-47D0-BB0D-C6158A3A36C8}" type="slidenum">
              <a:rPr lang="ru-RU"/>
              <a:pPr>
                <a:defRPr/>
              </a:pPr>
              <a:t>6</a:t>
            </a:fld>
            <a:endParaRPr lang="ru-RU"/>
          </a:p>
        </p:txBody>
      </p:sp>
      <p:pic>
        <p:nvPicPr>
          <p:cNvPr id="819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175" y="1700776"/>
            <a:ext cx="8793210" cy="4261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8219332" cy="18721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Окно оснастки «Локальная политика безопасности» (Панель управления </a:t>
            </a:r>
            <a:r>
              <a:rPr lang="en-US" dirty="0" smtClean="0"/>
              <a:t>|</a:t>
            </a:r>
            <a:r>
              <a:rPr lang="ru-RU" dirty="0" smtClean="0"/>
              <a:t> Администрирование)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83D734-CCB1-46D4-8536-01759EC66E07}" type="slidenum">
              <a:rPr lang="ru-RU" smtClean="0"/>
              <a:pPr>
                <a:defRPr/>
              </a:pPr>
              <a:t>7</a:t>
            </a:fld>
            <a:endParaRPr lang="ru-RU"/>
          </a:p>
        </p:txBody>
      </p:sp>
      <p:pic>
        <p:nvPicPr>
          <p:cNvPr id="922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40" y="2191146"/>
            <a:ext cx="8533106" cy="3504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Политика учетных записей</a:t>
            </a:r>
            <a:br>
              <a:rPr lang="ru-RU" sz="2800" dirty="0" smtClean="0"/>
            </a:br>
            <a:r>
              <a:rPr lang="ru-RU" sz="2800" dirty="0" smtClean="0"/>
              <a:t>(политика паролей</a:t>
            </a:r>
            <a:r>
              <a:rPr lang="ru-RU" sz="2800" dirty="0" smtClean="0"/>
              <a:t>)</a:t>
            </a:r>
            <a:endParaRPr lang="ru-RU" sz="2800" dirty="0" smtClean="0"/>
          </a:p>
        </p:txBody>
      </p:sp>
      <p:graphicFrame>
        <p:nvGraphicFramePr>
          <p:cNvPr id="511030" name="Group 54"/>
          <p:cNvGraphicFramePr>
            <a:graphicFrameLocks noGrp="1"/>
          </p:cNvGraphicFramePr>
          <p:nvPr>
            <p:ph type="tbl" idx="1"/>
          </p:nvPr>
        </p:nvGraphicFramePr>
        <p:xfrm>
          <a:off x="457200" y="1600200"/>
          <a:ext cx="8229600" cy="4907280"/>
        </p:xfrm>
        <a:graphic>
          <a:graphicData uri="http://schemas.openxmlformats.org/drawingml/2006/table">
            <a:tbl>
              <a:tblPr/>
              <a:tblGrid>
                <a:gridCol w="2819400"/>
                <a:gridCol w="5410200"/>
              </a:tblGrid>
              <a:tr h="641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Наименование правила политики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Описание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84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Максимальный срок действия пароля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Максимальный период, по окончании которого пароль нужно изменять. Если пользователь долго не меняет своего пароля, защищенность системы от несанкционированного доступа заметно снижается.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30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Минимальная длина пароля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Администратор системы должен определить в политике ведения учетных записей  минимальную длину пароля. Если пользователь будет изменять свой пароль после регистрации системы,  он сможет ввести пароль только согласно правилам учетных записей.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C289574-B126-49B2-990D-D3AE3C4AA87A}" type="slidenum">
              <a:rPr lang="ru-RU"/>
              <a:pPr>
                <a:defRPr/>
              </a:pPr>
              <a:t>8</a:t>
            </a:fld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Политика учетных записей</a:t>
            </a:r>
            <a:br>
              <a:rPr lang="ru-RU" sz="2800" dirty="0" smtClean="0"/>
            </a:br>
            <a:r>
              <a:rPr lang="ru-RU" sz="2800" dirty="0" smtClean="0"/>
              <a:t>(политика паролей</a:t>
            </a:r>
            <a:r>
              <a:rPr lang="ru-RU" sz="2800" dirty="0" smtClean="0"/>
              <a:t>)</a:t>
            </a:r>
            <a:endParaRPr lang="ru-RU" sz="2800" dirty="0" smtClean="0"/>
          </a:p>
        </p:txBody>
      </p:sp>
      <p:graphicFrame>
        <p:nvGraphicFramePr>
          <p:cNvPr id="517141" name="Group 21"/>
          <p:cNvGraphicFramePr>
            <a:graphicFrameLocks noGrp="1"/>
          </p:cNvGraphicFramePr>
          <p:nvPr>
            <p:ph type="tbl" idx="1"/>
          </p:nvPr>
        </p:nvGraphicFramePr>
        <p:xfrm>
          <a:off x="457200" y="1600200"/>
          <a:ext cx="8229600" cy="4846320"/>
        </p:xfrm>
        <a:graphic>
          <a:graphicData uri="http://schemas.openxmlformats.org/drawingml/2006/table">
            <a:tbl>
              <a:tblPr/>
              <a:tblGrid>
                <a:gridCol w="2601913"/>
                <a:gridCol w="5627687"/>
              </a:tblGrid>
              <a:tr h="641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Наименование правила политики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Описание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84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Минимальный срок действия пароля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Ограничивает минимальное время, через которое пользователь может изменять свой пароль. Сменив по истечении срока действия пароль, пользователь может захотеть вернуться к прежнему. Так как это ослабит защищенность системы, принудительная задержка не позволит этого сделать.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30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Требовать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неповторяемости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паролей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Позволяет хранить  историю паролей. Пока не будет использовано указанное число паролей, ни один из них повторно задействовать нельзя. Эффективно при обязательной смене паролей через определенный срок и запрете смены пароля в течение другого срока.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5871FE9-1B4A-4CEE-A4EF-FE710CD0C988}" type="slidenum">
              <a:rPr lang="ru-RU"/>
              <a:pPr>
                <a:defRPr/>
              </a:pPr>
              <a:t>9</a:t>
            </a:fld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Политика учетных записей</a:t>
            </a:r>
            <a:br>
              <a:rPr lang="ru-RU" sz="2800" dirty="0" smtClean="0"/>
            </a:br>
            <a:r>
              <a:rPr lang="ru-RU" sz="2800" dirty="0" smtClean="0"/>
              <a:t>(политика паролей</a:t>
            </a:r>
            <a:r>
              <a:rPr lang="ru-RU" sz="2800" dirty="0" smtClean="0"/>
              <a:t>)</a:t>
            </a:r>
            <a:endParaRPr lang="ru-RU" sz="2800" dirty="0" smtClean="0"/>
          </a:p>
        </p:txBody>
      </p:sp>
      <p:graphicFrame>
        <p:nvGraphicFramePr>
          <p:cNvPr id="518165" name="Group 21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501493790"/>
              </p:ext>
            </p:extLst>
          </p:nvPr>
        </p:nvGraphicFramePr>
        <p:xfrm>
          <a:off x="457200" y="1600200"/>
          <a:ext cx="8229600" cy="3535680"/>
        </p:xfrm>
        <a:graphic>
          <a:graphicData uri="http://schemas.openxmlformats.org/drawingml/2006/table">
            <a:tbl>
              <a:tblPr/>
              <a:tblGrid>
                <a:gridCol w="2278063"/>
                <a:gridCol w="5951537"/>
              </a:tblGrid>
              <a:tr h="641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Наименование правила политики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Описание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84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Пароли должны отвечать требованиям сложности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Windows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позволяет добавлять в систему модули, проверяющие сложность пароля. Разрешив данное правило, вы снимете с себя тяжкое бремя слежения за паролями пользователей и разъяснения им того, что в качестве пароля нельзя использовать свое имя, год рождения, имена родственников и т.д. Система посредством установленного фильтра сама позаботится о том, чтобы пароль содержал минимум 3 из перечисленных типов символов: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65DD019-18E4-4390-8973-B65EBABF6A37}" type="slidenum">
              <a:rPr lang="ru-RU"/>
              <a:pPr>
                <a:defRPr/>
              </a:pPr>
              <a:t>10</a:t>
            </a:fld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467468" y="404608"/>
            <a:ext cx="8229600" cy="1157288"/>
          </a:xfrm>
        </p:spPr>
        <p:txBody>
          <a:bodyPr>
            <a:noAutofit/>
          </a:bodyPr>
          <a:lstStyle/>
          <a:p>
            <a:r>
              <a:rPr lang="ru-RU" sz="2800" dirty="0" smtClean="0"/>
              <a:t>Политика учетных записей</a:t>
            </a:r>
            <a:br>
              <a:rPr lang="ru-RU" sz="2800" dirty="0" smtClean="0"/>
            </a:br>
            <a:r>
              <a:rPr lang="ru-RU" sz="2800" dirty="0" smtClean="0"/>
              <a:t>(политики блокировки учетных записей)</a:t>
            </a:r>
          </a:p>
        </p:txBody>
      </p:sp>
      <p:graphicFrame>
        <p:nvGraphicFramePr>
          <p:cNvPr id="523286" name="Group 22"/>
          <p:cNvGraphicFramePr>
            <a:graphicFrameLocks noGrp="1"/>
          </p:cNvGraphicFramePr>
          <p:nvPr>
            <p:ph type="tbl" idx="1"/>
          </p:nvPr>
        </p:nvGraphicFramePr>
        <p:xfrm>
          <a:off x="467468" y="1808790"/>
          <a:ext cx="8012829" cy="4953022"/>
        </p:xfrm>
        <a:graphic>
          <a:graphicData uri="http://schemas.openxmlformats.org/drawingml/2006/table">
            <a:tbl>
              <a:tblPr/>
              <a:tblGrid>
                <a:gridCol w="2112951"/>
                <a:gridCol w="5899878"/>
              </a:tblGrid>
              <a:tr h="11881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Наименование правила политики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Описание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051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Блокировка учетной записи на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Заблокировать учетную запись навечно нельзя – иначе законный владелец не войдет в систему. Нужно установить некоторый разумный срок, по истечении которого учетная запись будет разблокирована. Это правило устанавливает срок в минутах.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05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Пороговое значение блокировки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Количество неудачных попыток зарегистрироваться в системе, по достижении которого учетная запись будет заблокирована.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8B9161-5F66-4F52-B811-EA4FB3B63B5F}" type="slidenum">
              <a:rPr lang="ru-RU"/>
              <a:pPr>
                <a:defRPr/>
              </a:pPr>
              <a:t>11</a:t>
            </a:fld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580"/>
            <a:ext cx="8229600" cy="1296168"/>
          </a:xfrm>
        </p:spPr>
        <p:txBody>
          <a:bodyPr>
            <a:noAutofit/>
          </a:bodyPr>
          <a:lstStyle/>
          <a:p>
            <a:r>
              <a:rPr lang="ru-RU" sz="2800" dirty="0" smtClean="0"/>
              <a:t>Политика учетных </a:t>
            </a:r>
            <a:r>
              <a:rPr lang="ru-RU" sz="2800" dirty="0" smtClean="0"/>
              <a:t>записей (политики </a:t>
            </a:r>
            <a:r>
              <a:rPr lang="ru-RU" sz="2800" dirty="0" smtClean="0"/>
              <a:t>блокировки учетных записей</a:t>
            </a:r>
            <a:r>
              <a:rPr lang="ru-RU" sz="2800" dirty="0" smtClean="0"/>
              <a:t>)</a:t>
            </a:r>
            <a:endParaRPr lang="ru-RU" sz="2800" dirty="0" smtClean="0"/>
          </a:p>
        </p:txBody>
      </p:sp>
      <p:graphicFrame>
        <p:nvGraphicFramePr>
          <p:cNvPr id="526356" name="Group 20"/>
          <p:cNvGraphicFramePr>
            <a:graphicFrameLocks noGrp="1"/>
          </p:cNvGraphicFramePr>
          <p:nvPr>
            <p:ph type="tbl" idx="1"/>
          </p:nvPr>
        </p:nvGraphicFramePr>
        <p:xfrm>
          <a:off x="457200" y="1600200"/>
          <a:ext cx="8229600" cy="3547872"/>
        </p:xfrm>
        <a:graphic>
          <a:graphicData uri="http://schemas.openxmlformats.org/drawingml/2006/table">
            <a:tbl>
              <a:tblPr/>
              <a:tblGrid>
                <a:gridCol w="2170113"/>
                <a:gridCol w="6059487"/>
              </a:tblGrid>
              <a:tr h="1508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Наименование правила политики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Описание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0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Сброс счетчика блокировки через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Даже законный хозяин учетной записи может ошибаться и вводить неверный пароль. Дабы его ошибки не накапливались и не привели в один прекрасный момент к блокировке учетной записи, введено правило сброса отсчета по истечении определенного срока.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5DBE5D-7F24-46E4-B79E-8AEA64CAC08F}" type="slidenum">
              <a:rPr lang="ru-RU"/>
              <a:pPr>
                <a:defRPr/>
              </a:pPr>
              <a:t>12</a:t>
            </a:fld>
            <a:endParaRPr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718"/>
            <a:ext cx="7787276" cy="1371600"/>
          </a:xfrm>
        </p:spPr>
        <p:txBody>
          <a:bodyPr/>
          <a:lstStyle/>
          <a:p>
            <a:r>
              <a:rPr lang="ru-RU" dirty="0" smtClean="0"/>
              <a:t>Локальные политики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Tx/>
              <a:buNone/>
            </a:pPr>
            <a:r>
              <a:rPr lang="ru-RU" dirty="0" smtClean="0"/>
              <a:t>	Локальные политики регламентируют правила безопасности на локальном компьютере. Они позволяют распределить административные роли, конкретизировать права пользователей, назначить правила аудита.</a:t>
            </a:r>
          </a:p>
          <a:p>
            <a:pPr algn="just">
              <a:buFontTx/>
              <a:buNone/>
            </a:pPr>
            <a:r>
              <a:rPr lang="ru-RU" dirty="0" smtClean="0"/>
              <a:t>	Локальная  политика содержит  3 группы правил: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ru-RU" dirty="0" smtClean="0"/>
              <a:t>назначения прав пользователей,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ru-RU" dirty="0" smtClean="0"/>
              <a:t>правила аудита;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ru-RU" dirty="0" smtClean="0"/>
              <a:t>параметры безопасности.</a:t>
            </a:r>
          </a:p>
        </p:txBody>
      </p:sp>
      <p:sp>
        <p:nvSpPr>
          <p:cNvPr id="4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909137-F3F3-44EB-AD71-80B4F030BF91}" type="slidenum">
              <a:rPr lang="ru-RU"/>
              <a:pPr>
                <a:defRPr/>
              </a:pPr>
              <a:t>13</a:t>
            </a:fld>
            <a:endParaRPr 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Примеры прав пользователей</a:t>
            </a:r>
          </a:p>
        </p:txBody>
      </p:sp>
      <p:graphicFrame>
        <p:nvGraphicFramePr>
          <p:cNvPr id="520234" name="Group 42"/>
          <p:cNvGraphicFramePr>
            <a:graphicFrameLocks noGrp="1"/>
          </p:cNvGraphicFramePr>
          <p:nvPr>
            <p:ph type="tbl" idx="1"/>
          </p:nvPr>
        </p:nvGraphicFramePr>
        <p:xfrm>
          <a:off x="457200" y="1600200"/>
          <a:ext cx="8229600" cy="4849179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1131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Право пользователей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Назначаются группам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6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Архивирование файлов и каталогов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Администраторы, Операторы архива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52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Восстановление файлов и каталогов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Администраторы, Операторы архива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31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Завершение работы системы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Пользователи, Опытные пользователи, Операторы архива, Администраторы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31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Доступ к компьютеру из сети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Все, Пользователи, Опытные пользователи, Операторы архива, Администраторы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3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2787012-D8C6-47AE-9FAE-A8DF575EC8FB}" type="slidenum">
              <a:rPr lang="ru-RU"/>
              <a:pPr>
                <a:defRPr/>
              </a:pPr>
              <a:t>14</a:t>
            </a:fld>
            <a:endParaRPr 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718"/>
            <a:ext cx="7895290" cy="791960"/>
          </a:xfrm>
        </p:spPr>
        <p:txBody>
          <a:bodyPr/>
          <a:lstStyle/>
          <a:p>
            <a:r>
              <a:rPr lang="ru-RU" dirty="0" smtClean="0"/>
              <a:t>Параметры безопасности 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ru-RU" smtClean="0"/>
              <a:t>   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D72FA6-FE12-4145-975C-01880EB2DC8A}" type="slidenum">
              <a:rPr lang="ru-RU"/>
              <a:pPr>
                <a:defRPr/>
              </a:pPr>
              <a:t>15</a:t>
            </a:fld>
            <a:endParaRPr lang="ru-RU"/>
          </a:p>
        </p:txBody>
      </p:sp>
      <p:pic>
        <p:nvPicPr>
          <p:cNvPr id="1741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0708" y="1808790"/>
            <a:ext cx="8444510" cy="4642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718"/>
            <a:ext cx="7679262" cy="1371600"/>
          </a:xfrm>
        </p:spPr>
        <p:txBody>
          <a:bodyPr/>
          <a:lstStyle/>
          <a:p>
            <a:r>
              <a:rPr lang="ru-RU" dirty="0" smtClean="0"/>
              <a:t>Настройка политики аудита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ru-RU" smtClean="0"/>
              <a:t>  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8B7FBC-E439-4E78-972E-99BE32A245FC}" type="slidenum">
              <a:rPr lang="ru-RU"/>
              <a:pPr>
                <a:defRPr/>
              </a:pPr>
              <a:t>16</a:t>
            </a:fld>
            <a:endParaRPr lang="ru-RU"/>
          </a:p>
        </p:txBody>
      </p:sp>
      <p:pic>
        <p:nvPicPr>
          <p:cNvPr id="1843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1950" y="1647902"/>
            <a:ext cx="8206568" cy="4803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96594"/>
            <a:ext cx="7895290" cy="1227724"/>
          </a:xfrm>
        </p:spPr>
        <p:txBody>
          <a:bodyPr>
            <a:normAutofit/>
          </a:bodyPr>
          <a:lstStyle/>
          <a:p>
            <a:r>
              <a:rPr lang="ru-RU" dirty="0" smtClean="0"/>
              <a:t>Оснастка «Шаблоны безопасности» </a:t>
            </a:r>
          </a:p>
        </p:txBody>
      </p:sp>
      <p:sp>
        <p:nvSpPr>
          <p:cNvPr id="4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2EE627-F96C-4A81-9955-CB2B41023768}" type="slidenum">
              <a:rPr lang="ru-RU"/>
              <a:pPr>
                <a:defRPr/>
              </a:pPr>
              <a:t>17</a:t>
            </a:fld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482" y="1446338"/>
            <a:ext cx="8191116" cy="3610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718"/>
            <a:ext cx="8003304" cy="1371600"/>
          </a:xfrm>
        </p:spPr>
        <p:txBody>
          <a:bodyPr>
            <a:normAutofit/>
          </a:bodyPr>
          <a:lstStyle/>
          <a:p>
            <a:r>
              <a:rPr lang="ru-RU" sz="2800" dirty="0" smtClean="0"/>
              <a:t>Оснастка «Шаблоны безопасности»</a:t>
            </a:r>
            <a:br>
              <a:rPr lang="ru-RU" sz="2800" dirty="0" smtClean="0"/>
            </a:br>
            <a:r>
              <a:rPr lang="ru-RU" sz="2800" dirty="0" smtClean="0"/>
              <a:t>(возможности оснастки) 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ru-RU" sz="2000" i="1" smtClean="0"/>
              <a:t>Можно настраивать:</a:t>
            </a:r>
          </a:p>
          <a:p>
            <a:pPr algn="just"/>
            <a:r>
              <a:rPr lang="ru-RU" sz="2000" i="1" smtClean="0"/>
              <a:t>Политики безопасности учетных записей</a:t>
            </a:r>
            <a:r>
              <a:rPr lang="ru-RU" sz="2000" smtClean="0"/>
              <a:t>. Здесь вы сможете настроить такие параметры безопасности, как политика паролей, политика блокировки паролей и т. д.</a:t>
            </a:r>
            <a:endParaRPr lang="ru-RU" sz="2000" i="1" smtClean="0"/>
          </a:p>
          <a:p>
            <a:pPr algn="just"/>
            <a:r>
              <a:rPr lang="ru-RU" sz="2000" i="1" smtClean="0"/>
              <a:t> Локальные политики</a:t>
            </a:r>
            <a:r>
              <a:rPr lang="ru-RU" sz="2000" smtClean="0"/>
              <a:t>. Здесь можно настроить параметры безопасности, касающиеся политики аудита, прав пользователей и индивидуальных параметров безопасности конкретной машины </a:t>
            </a:r>
            <a:r>
              <a:rPr lang="en-US" sz="2000" smtClean="0"/>
              <a:t>Windows </a:t>
            </a:r>
            <a:r>
              <a:rPr lang="ru-RU" sz="2000" smtClean="0"/>
              <a:t>2000/XP. Большинство этих параметров безопасности соответствуют значениям переменных реестра.</a:t>
            </a:r>
            <a:endParaRPr lang="ru-RU" sz="2000" i="1" smtClean="0"/>
          </a:p>
          <a:p>
            <a:pPr algn="just"/>
            <a:r>
              <a:rPr lang="ru-RU" sz="2000" i="1" smtClean="0"/>
              <a:t>Системные службы</a:t>
            </a:r>
            <a:r>
              <a:rPr lang="ru-RU" sz="2000" smtClean="0"/>
              <a:t>. Здесь можно настроить параметры безопасности, касающиеся режима загрузки и управления доступом для всех системных служб. </a:t>
            </a:r>
          </a:p>
        </p:txBody>
      </p:sp>
      <p:sp>
        <p:nvSpPr>
          <p:cNvPr id="4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4D65BC-3FED-47FD-A387-DA94976EC39A}" type="slidenum">
              <a:rPr lang="ru-RU"/>
              <a:pPr>
                <a:defRPr/>
              </a:pPr>
              <a:t>18</a:t>
            </a:fld>
            <a:endParaRPr lang="ru-R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718"/>
            <a:ext cx="7895290" cy="1440044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Заранее определенные компанией </a:t>
            </a:r>
            <a:r>
              <a:rPr lang="ru-RU" dirty="0" err="1" smtClean="0"/>
              <a:t>Microsoft</a:t>
            </a:r>
            <a:r>
              <a:rPr lang="ru-RU" dirty="0" smtClean="0"/>
              <a:t> конфигурации </a:t>
            </a:r>
            <a:r>
              <a:rPr lang="ru-RU" dirty="0" smtClean="0"/>
              <a:t>безопасности</a:t>
            </a:r>
            <a:endParaRPr lang="ru-RU" dirty="0" smtClean="0"/>
          </a:p>
        </p:txBody>
      </p:sp>
      <p:sp>
        <p:nvSpPr>
          <p:cNvPr id="2253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003304" cy="4373563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90000"/>
              </a:lnSpc>
            </a:pPr>
            <a:r>
              <a:rPr lang="ru-RU" sz="2000" i="1" dirty="0" smtClean="0"/>
              <a:t>Базовая</a:t>
            </a:r>
            <a:r>
              <a:rPr lang="ru-RU" sz="2000" dirty="0" smtClean="0"/>
              <a:t>. Это набор настроек безопасности, генерируемых по умолчанию </a:t>
            </a:r>
            <a:r>
              <a:rPr lang="en-US" sz="2000" dirty="0" smtClean="0"/>
              <a:t>Windows XP</a:t>
            </a:r>
            <a:r>
              <a:rPr lang="ru-RU" sz="2000" dirty="0" smtClean="0"/>
              <a:t>. Базовая конфигурация в основном служит для того, чтобы  прекращать действие более жестких типов конфигураций безопасности. Базовые  шаблоны безопасности содержат настройки параметров безопасности</a:t>
            </a:r>
            <a:r>
              <a:rPr lang="ru-RU" sz="2000" i="1" dirty="0" smtClean="0"/>
              <a:t> </a:t>
            </a:r>
            <a:r>
              <a:rPr lang="ru-RU" sz="2000" dirty="0" smtClean="0"/>
              <a:t>устанавливаемые по</a:t>
            </a:r>
            <a:r>
              <a:rPr lang="ru-RU" sz="2000" i="1" dirty="0" smtClean="0"/>
              <a:t> </a:t>
            </a:r>
            <a:r>
              <a:rPr lang="ru-RU" sz="2000" dirty="0" smtClean="0"/>
              <a:t>умолчанию для всех областей обеспечения безопасности, за исключением прав пользователя и групп.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sz="2000" dirty="0" smtClean="0"/>
              <a:t>		Шаблон - </a:t>
            </a:r>
            <a:r>
              <a:rPr lang="en-US" sz="2000" dirty="0" smtClean="0"/>
              <a:t>setup security.inf</a:t>
            </a:r>
            <a:endParaRPr lang="ru-RU" sz="2000" dirty="0" smtClean="0"/>
          </a:p>
          <a:p>
            <a:pPr algn="just">
              <a:lnSpc>
                <a:spcPct val="90000"/>
              </a:lnSpc>
            </a:pPr>
            <a:r>
              <a:rPr lang="ru-RU" sz="2000" i="1" dirty="0" smtClean="0"/>
              <a:t>Совместимая (</a:t>
            </a:r>
            <a:r>
              <a:rPr lang="ru-RU" sz="2000" i="1" dirty="0" err="1" smtClean="0"/>
              <a:t>Сотраtible</a:t>
            </a:r>
            <a:r>
              <a:rPr lang="ru-RU" sz="2000" i="1" dirty="0" smtClean="0"/>
              <a:t>). </a:t>
            </a:r>
            <a:r>
              <a:rPr lang="ru-RU" sz="2000" dirty="0" smtClean="0"/>
              <a:t>Эти настройки безопасности генерируются в системах, где не требуются жесткие меры безопасности, и где работают устаревшие программные продукты. В выборе между обеспечением выполнения всех функций приложения и обеспечением безопасности данная конфигурация принимает сторону приложения. 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ru-RU" sz="2000" dirty="0" smtClean="0"/>
              <a:t>		Шаблон - </a:t>
            </a:r>
            <a:r>
              <a:rPr lang="en-US" sz="2000" dirty="0" smtClean="0"/>
              <a:t>compatws.inf.</a:t>
            </a:r>
            <a:endParaRPr lang="ru-RU" sz="2000" dirty="0" smtClean="0"/>
          </a:p>
        </p:txBody>
      </p:sp>
      <p:sp>
        <p:nvSpPr>
          <p:cNvPr id="4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5646CD-BE44-4EC2-B389-5C0017C26490}" type="slidenum">
              <a:rPr lang="ru-RU"/>
              <a:pPr>
                <a:defRPr/>
              </a:pPr>
              <a:t>19</a:t>
            </a:fld>
            <a:endParaRPr lang="ru-RU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718"/>
            <a:ext cx="8111318" cy="13716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Заранее определенные компанией </a:t>
            </a:r>
            <a:r>
              <a:rPr lang="ru-RU" dirty="0" err="1" smtClean="0"/>
              <a:t>Microsoft</a:t>
            </a:r>
            <a:r>
              <a:rPr lang="ru-RU" dirty="0" smtClean="0"/>
              <a:t> конфигурации безопасности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111318" cy="4808806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10000"/>
              </a:lnSpc>
            </a:pPr>
            <a:r>
              <a:rPr lang="ru-RU" sz="2000" i="1" dirty="0" smtClean="0"/>
              <a:t>Защищенная </a:t>
            </a:r>
            <a:r>
              <a:rPr lang="ru-RU" sz="2000" dirty="0" smtClean="0"/>
              <a:t>(</a:t>
            </a:r>
            <a:r>
              <a:rPr lang="ru-RU" sz="2000" dirty="0" err="1" smtClean="0"/>
              <a:t>Secure</a:t>
            </a:r>
            <a:r>
              <a:rPr lang="ru-RU" sz="2000" dirty="0" smtClean="0"/>
              <a:t>). Обеспечивает более надежную безопасность по сравнению с совместимой конфигурацией. В выборе между обеспечением выполнения всех функций приложения и обеспечением безопасности данная конфигурация принимает сторону безопасности. Она содержит жесткие настройки безопасности для политики учетных записей, аудита и некоторых широко используемых разделов реестра. 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ru-RU" sz="2000" dirty="0" smtClean="0"/>
              <a:t>		Шаблоны - securews.inf и securedc.inf </a:t>
            </a:r>
          </a:p>
          <a:p>
            <a:pPr algn="just">
              <a:lnSpc>
                <a:spcPct val="110000"/>
              </a:lnSpc>
            </a:pPr>
            <a:r>
              <a:rPr lang="ru-RU" sz="2000" i="1" dirty="0" smtClean="0"/>
              <a:t>Сильно защищенная </a:t>
            </a:r>
            <a:r>
              <a:rPr lang="ru-RU" sz="2000" dirty="0" smtClean="0"/>
              <a:t>(</a:t>
            </a:r>
            <a:r>
              <a:rPr lang="ru-RU" sz="2000" dirty="0" err="1" smtClean="0"/>
              <a:t>High</a:t>
            </a:r>
            <a:r>
              <a:rPr lang="ru-RU" sz="2000" dirty="0" smtClean="0"/>
              <a:t> </a:t>
            </a:r>
            <a:r>
              <a:rPr lang="ru-RU" sz="2000" dirty="0" err="1" smtClean="0"/>
              <a:t>Security</a:t>
            </a:r>
            <a:r>
              <a:rPr lang="ru-RU" sz="2000" dirty="0" smtClean="0"/>
              <a:t>). Эта конфигурация позволяет получить идеально защищенную систему </a:t>
            </a:r>
            <a:r>
              <a:rPr lang="ru-RU" sz="2000" dirty="0" err="1" smtClean="0"/>
              <a:t>Windows</a:t>
            </a:r>
            <a:r>
              <a:rPr lang="ru-RU" sz="2000" dirty="0" smtClean="0"/>
              <a:t> 2000/XP, не учитывающую функциональность приложений. Подобная конфигурация при обмене информацией предполагает обязательное использование электронной подписи и шифрования, которое обеспечивается только средствами </a:t>
            </a:r>
            <a:r>
              <a:rPr lang="ru-RU" sz="2000" dirty="0" err="1" smtClean="0"/>
              <a:t>Windows</a:t>
            </a:r>
            <a:r>
              <a:rPr lang="ru-RU" sz="2000" dirty="0" smtClean="0"/>
              <a:t> 2000/XP. Поэтому компьютеры, на которых установлена сильно защищенная конфигурация безопасности, не могут обмениваться данными с другими операционными системами </a:t>
            </a:r>
            <a:r>
              <a:rPr lang="ru-RU" sz="2000" dirty="0" err="1" smtClean="0"/>
              <a:t>Windows</a:t>
            </a:r>
            <a:r>
              <a:rPr lang="ru-RU" sz="2000" dirty="0" smtClean="0"/>
              <a:t>. </a:t>
            </a:r>
          </a:p>
          <a:p>
            <a:pPr algn="just">
              <a:lnSpc>
                <a:spcPct val="110000"/>
              </a:lnSpc>
              <a:buFontTx/>
              <a:buNone/>
            </a:pPr>
            <a:r>
              <a:rPr lang="ru-RU" sz="2000" dirty="0" smtClean="0"/>
              <a:t>		Шаблоны - </a:t>
            </a:r>
            <a:r>
              <a:rPr lang="en-US" sz="2000" dirty="0" err="1" smtClean="0"/>
              <a:t>hisecws</a:t>
            </a:r>
            <a:r>
              <a:rPr lang="ru-RU" sz="2000" dirty="0" smtClean="0"/>
              <a:t>.</a:t>
            </a:r>
            <a:r>
              <a:rPr lang="en-US" sz="2000" dirty="0" err="1" smtClean="0"/>
              <a:t>inf</a:t>
            </a:r>
            <a:r>
              <a:rPr lang="ru-RU" sz="2000" dirty="0" smtClean="0"/>
              <a:t> и </a:t>
            </a:r>
            <a:r>
              <a:rPr lang="en-US" sz="2000" dirty="0" err="1" smtClean="0"/>
              <a:t>hisecdc</a:t>
            </a:r>
            <a:r>
              <a:rPr lang="ru-RU" sz="2000" dirty="0" smtClean="0"/>
              <a:t>.</a:t>
            </a:r>
            <a:r>
              <a:rPr lang="en-US" sz="2000" dirty="0" err="1" smtClean="0"/>
              <a:t>inf</a:t>
            </a:r>
            <a:r>
              <a:rPr lang="ru-RU" sz="2000" dirty="0" smtClean="0"/>
              <a:t>.</a:t>
            </a:r>
          </a:p>
        </p:txBody>
      </p:sp>
      <p:sp>
        <p:nvSpPr>
          <p:cNvPr id="4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2ED72A-2D39-4F6E-8DD2-4EC5EEDC5DB9}" type="slidenum">
              <a:rPr lang="ru-RU"/>
              <a:pPr>
                <a:defRPr/>
              </a:pPr>
              <a:t>20</a:t>
            </a:fld>
            <a:endParaRPr lang="ru-R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718"/>
            <a:ext cx="8111318" cy="1225232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Оснастка </a:t>
            </a:r>
            <a:r>
              <a:rPr lang="ru-RU" sz="3200" dirty="0" smtClean="0"/>
              <a:t>«</a:t>
            </a:r>
            <a:r>
              <a:rPr lang="ru-RU" sz="3200" dirty="0" smtClean="0"/>
              <a:t>Анализ и </a:t>
            </a:r>
            <a:r>
              <a:rPr lang="ru-RU" sz="3200" dirty="0" smtClean="0"/>
              <a:t>настройка безопасности»</a:t>
            </a:r>
            <a:endParaRPr lang="ru-RU" sz="3200" dirty="0" smtClean="0"/>
          </a:p>
        </p:txBody>
      </p:sp>
      <p:sp>
        <p:nvSpPr>
          <p:cNvPr id="2458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ru-RU" smtClean="0"/>
              <a:t>  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BB32DD-9F94-4425-9BA3-07B41331C71C}" type="slidenum">
              <a:rPr lang="ru-RU"/>
              <a:pPr>
                <a:defRPr/>
              </a:pPr>
              <a:t>21</a:t>
            </a:fld>
            <a:endParaRPr lang="ru-RU"/>
          </a:p>
        </p:txBody>
      </p:sp>
      <p:pic>
        <p:nvPicPr>
          <p:cNvPr id="2458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697" y="1377950"/>
            <a:ext cx="8678863" cy="4710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29176"/>
            <a:ext cx="8111318" cy="13716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Создание базы данных для проведения анализа или настройки безопасности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Tx/>
              <a:buAutoNum type="arabicPeriod"/>
            </a:pPr>
            <a:r>
              <a:rPr lang="ru-RU" sz="2000" smtClean="0"/>
              <a:t>Запустите оснастку </a:t>
            </a:r>
            <a:r>
              <a:rPr lang="ru-RU" sz="2000" b="1" smtClean="0"/>
              <a:t>Анализ и настройка безопасности</a:t>
            </a:r>
            <a:r>
              <a:rPr lang="ru-RU" sz="2000" smtClean="0"/>
              <a:t> и нажмите правую кнопку мыши на корне структуры.</a:t>
            </a:r>
          </a:p>
          <a:p>
            <a:pPr marL="457200" indent="-457200">
              <a:buFontTx/>
              <a:buAutoNum type="arabicPeriod"/>
            </a:pPr>
            <a:r>
              <a:rPr lang="ru-RU" sz="2000" smtClean="0"/>
              <a:t>В появившемся контекстном меню выберите команду </a:t>
            </a:r>
            <a:r>
              <a:rPr lang="ru-RU" sz="2000" b="1" smtClean="0"/>
              <a:t>Открыть базу данных</a:t>
            </a:r>
            <a:r>
              <a:rPr lang="ru-RU" sz="2000" smtClean="0"/>
              <a:t>.</a:t>
            </a:r>
          </a:p>
          <a:p>
            <a:pPr marL="457200" indent="-457200">
              <a:buFontTx/>
              <a:buAutoNum type="arabicPeriod"/>
            </a:pPr>
            <a:r>
              <a:rPr lang="ru-RU" sz="2000" smtClean="0"/>
              <a:t>Введите имя новой базы данных и нажмите кнопку </a:t>
            </a:r>
            <a:r>
              <a:rPr lang="ru-RU" sz="2000" b="1" smtClean="0"/>
              <a:t>ОК. </a:t>
            </a:r>
            <a:r>
              <a:rPr lang="ru-RU" sz="2000" smtClean="0"/>
              <a:t>По умолчанию базы данных располагаются в каталоге \</a:t>
            </a:r>
            <a:r>
              <a:rPr lang="en-US" sz="2000" smtClean="0"/>
              <a:t>Users</a:t>
            </a:r>
            <a:r>
              <a:rPr lang="ru-RU" sz="2000" smtClean="0"/>
              <a:t>\</a:t>
            </a:r>
            <a:r>
              <a:rPr lang="en-US" sz="2000" smtClean="0"/>
              <a:t>%UserName%</a:t>
            </a:r>
            <a:r>
              <a:rPr lang="ru-RU" sz="2000" smtClean="0"/>
              <a:t>\Documents\Security\Database.</a:t>
            </a:r>
          </a:p>
          <a:p>
            <a:pPr marL="457200" indent="-457200">
              <a:buFontTx/>
              <a:buAutoNum type="arabicPeriod"/>
            </a:pPr>
            <a:r>
              <a:rPr lang="ru-RU" sz="2000" smtClean="0"/>
              <a:t>В следующем окне выберите шаблон безопасности, информация которого должна быть перенесена в создаваемую базу данных, и нажмите кнопку </a:t>
            </a:r>
            <a:r>
              <a:rPr lang="ru-RU" sz="2000" b="1" smtClean="0"/>
              <a:t>Открыть. </a:t>
            </a:r>
            <a:r>
              <a:rPr lang="ru-RU" sz="2000" smtClean="0"/>
              <a:t>По умолчанию шаблоны безопасности находятся в каталоге</a:t>
            </a:r>
            <a:r>
              <a:rPr lang="en-US" sz="2000" smtClean="0"/>
              <a:t> </a:t>
            </a:r>
            <a:r>
              <a:rPr lang="ru-RU" sz="2000" smtClean="0"/>
              <a:t>\</a:t>
            </a:r>
            <a:r>
              <a:rPr lang="en-US" sz="2000" smtClean="0"/>
              <a:t>Users</a:t>
            </a:r>
            <a:r>
              <a:rPr lang="ru-RU" sz="2000" smtClean="0"/>
              <a:t>\</a:t>
            </a:r>
            <a:r>
              <a:rPr lang="en-US" sz="2000" smtClean="0"/>
              <a:t>%UserName%</a:t>
            </a:r>
            <a:r>
              <a:rPr lang="ru-RU" sz="2000" smtClean="0"/>
              <a:t>\Documents\Security\Database.</a:t>
            </a:r>
          </a:p>
        </p:txBody>
      </p:sp>
      <p:sp>
        <p:nvSpPr>
          <p:cNvPr id="4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DC851B-2FDB-466D-B360-36E459D685D4}" type="slidenum">
              <a:rPr lang="ru-RU"/>
              <a:pPr>
                <a:defRPr/>
              </a:pPr>
              <a:t>22</a:t>
            </a:fld>
            <a:endParaRPr lang="ru-RU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Выполнение анализа безопасности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 algn="just">
              <a:buFontTx/>
              <a:buAutoNum type="arabicPeriod"/>
            </a:pPr>
            <a:r>
              <a:rPr lang="ru-RU" sz="2000" smtClean="0"/>
              <a:t>Выберите корень оснастки </a:t>
            </a:r>
            <a:r>
              <a:rPr lang="ru-RU" sz="2000" b="1" smtClean="0"/>
              <a:t>Анализ н настройка безопасности </a:t>
            </a:r>
            <a:r>
              <a:rPr lang="ru-RU" sz="2000" smtClean="0"/>
              <a:t>и нажмите правую кнопку мыши. Если база данных конфигураций безопасности только что была создана (см. предыдущий слайд), то нужно перейти к пункту 3.</a:t>
            </a:r>
          </a:p>
          <a:p>
            <a:pPr marL="457200" indent="-457200" algn="just">
              <a:buFontTx/>
              <a:buAutoNum type="arabicPeriod"/>
            </a:pPr>
            <a:r>
              <a:rPr lang="ru-RU" sz="2000" smtClean="0"/>
              <a:t>С помощью команды </a:t>
            </a:r>
            <a:r>
              <a:rPr lang="ru-RU" sz="2000" b="1" smtClean="0"/>
              <a:t>Открыть базу данных </a:t>
            </a:r>
            <a:r>
              <a:rPr lang="ru-RU" sz="2000" smtClean="0"/>
              <a:t>открывшегося контекстного меню загрузите личную базу данных.</a:t>
            </a:r>
          </a:p>
          <a:p>
            <a:pPr marL="457200" indent="-457200" algn="just">
              <a:buFontTx/>
              <a:buAutoNum type="arabicPeriod"/>
            </a:pPr>
            <a:r>
              <a:rPr lang="ru-RU" sz="2000" smtClean="0"/>
              <a:t>В том же контекстном меню выберите команду </a:t>
            </a:r>
            <a:r>
              <a:rPr lang="ru-RU" sz="2000" b="1" smtClean="0"/>
              <a:t>Анализ компьютера</a:t>
            </a:r>
            <a:r>
              <a:rPr lang="ru-RU" sz="2000" smtClean="0"/>
              <a:t>.</a:t>
            </a:r>
          </a:p>
          <a:p>
            <a:pPr marL="457200" indent="-457200" algn="just">
              <a:buFontTx/>
              <a:buAutoNum type="arabicPeriod"/>
            </a:pPr>
            <a:r>
              <a:rPr lang="ru-RU" sz="2000" smtClean="0"/>
              <a:t>Введите с клавиатуры имя файла журнала и нажмите кнопку </a:t>
            </a:r>
            <a:r>
              <a:rPr lang="ru-RU" sz="2000" b="1" smtClean="0"/>
              <a:t>ОК</a:t>
            </a:r>
            <a:r>
              <a:rPr lang="ru-RU" sz="2000" smtClean="0"/>
              <a:t>. По умолчанию файлы журналов создаются в каталоге \</a:t>
            </a:r>
            <a:r>
              <a:rPr lang="en-US" sz="2000" smtClean="0"/>
              <a:t>Users</a:t>
            </a:r>
            <a:r>
              <a:rPr lang="ru-RU" sz="2000" smtClean="0"/>
              <a:t>\</a:t>
            </a:r>
            <a:r>
              <a:rPr lang="en-US" sz="2000" smtClean="0"/>
              <a:t>%UserName%</a:t>
            </a:r>
            <a:r>
              <a:rPr lang="ru-RU" sz="2000" smtClean="0"/>
              <a:t>\Documents\Security\</a:t>
            </a:r>
            <a:r>
              <a:rPr lang="en-US" sz="2000" smtClean="0"/>
              <a:t>Logs</a:t>
            </a:r>
            <a:r>
              <a:rPr lang="ru-RU" sz="2000" smtClean="0"/>
              <a:t>.</a:t>
            </a:r>
          </a:p>
        </p:txBody>
      </p:sp>
      <p:sp>
        <p:nvSpPr>
          <p:cNvPr id="4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11AFDD-93EC-4B05-9917-DB3B964E4E8E}" type="slidenum">
              <a:rPr lang="ru-RU"/>
              <a:pPr>
                <a:defRPr/>
              </a:pPr>
              <a:t>23</a:t>
            </a:fld>
            <a:endParaRPr lang="ru-R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Просмотр результатов анализа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Tx/>
              <a:buAutoNum type="arabicPeriod"/>
            </a:pPr>
            <a:r>
              <a:rPr lang="ru-RU" dirty="0" smtClean="0"/>
              <a:t>Откройте оснастку </a:t>
            </a:r>
            <a:r>
              <a:rPr lang="ru-RU" b="1" dirty="0" smtClean="0"/>
              <a:t>Анализ и настройка безопасности</a:t>
            </a:r>
            <a:r>
              <a:rPr lang="ru-RU" dirty="0" smtClean="0"/>
              <a:t>.</a:t>
            </a:r>
          </a:p>
          <a:p>
            <a:pPr marL="457200" indent="-457200">
              <a:buFontTx/>
              <a:buAutoNum type="arabicPeriod"/>
            </a:pPr>
            <a:r>
              <a:rPr lang="ru-RU" dirty="0" smtClean="0"/>
              <a:t>Откройте папки, отображающие различные аспекты безопасности.</a:t>
            </a:r>
          </a:p>
          <a:p>
            <a:pPr marL="457200" indent="-457200">
              <a:buFontTx/>
              <a:buAutoNum type="arabicPeriod"/>
            </a:pPr>
            <a:r>
              <a:rPr lang="ru-RU" dirty="0" smtClean="0"/>
              <a:t>Исследуйте найденные отличия текущих настроек безопасности системы и рекомендованных настроек, находящихся в шаблоне безопасности. Отличия помечены хорошо заметным красным значком, совпадения – зеленой галочкой. Если в строке результатов нет метки, это значит, что данная настройка безопасности не входит в применяющийся при анализе шаблон.</a:t>
            </a:r>
          </a:p>
        </p:txBody>
      </p:sp>
      <p:sp>
        <p:nvSpPr>
          <p:cNvPr id="4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4E5282-2EA9-4A7C-9729-A46BC706CA7B}" type="slidenum">
              <a:rPr lang="ru-RU"/>
              <a:pPr>
                <a:defRPr/>
              </a:pPr>
              <a:t>24</a:t>
            </a:fld>
            <a:endParaRPr lang="ru-RU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Окно результатов анализа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ru-RU" smtClean="0"/>
              <a:t>  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3E2430-104E-4843-A74A-486EC37A7C3D}" type="slidenum">
              <a:rPr lang="ru-RU"/>
              <a:pPr>
                <a:defRPr/>
              </a:pPr>
              <a:t>25</a:t>
            </a:fld>
            <a:endParaRPr lang="ru-RU"/>
          </a:p>
        </p:txBody>
      </p:sp>
      <p:pic>
        <p:nvPicPr>
          <p:cNvPr id="2867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4000" y="1703528"/>
            <a:ext cx="8553450" cy="464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Редактор объектов групповой политики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Вызов:</a:t>
            </a:r>
          </a:p>
          <a:p>
            <a:pPr lvl="1"/>
            <a:r>
              <a:rPr lang="ru-RU" dirty="0" smtClean="0"/>
              <a:t>Через </a:t>
            </a:r>
            <a:r>
              <a:rPr lang="en-US" dirty="0" smtClean="0"/>
              <a:t>mmc -&gt; </a:t>
            </a:r>
            <a:r>
              <a:rPr lang="ru-RU" dirty="0" smtClean="0"/>
              <a:t>Редактор объектов групповой политики</a:t>
            </a:r>
          </a:p>
          <a:p>
            <a:pPr lvl="1"/>
            <a:r>
              <a:rPr lang="ru-RU" dirty="0" smtClean="0"/>
              <a:t>Из командной строки -</a:t>
            </a:r>
            <a:r>
              <a:rPr lang="en-US" dirty="0" smtClean="0"/>
              <a:t>&gt; GPEDIT.MSC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084EDE-D829-4661-9BFA-4538BBB42732}" type="slidenum">
              <a:rPr lang="ru-RU" smtClean="0"/>
              <a:pPr>
                <a:defRPr/>
              </a:pPr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54376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Режимы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Редактирование конфигурации компьютера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Редактирование конфигурации пользователя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084EDE-D829-4661-9BFA-4538BBB42732}" type="slidenum">
              <a:rPr lang="ru-RU" smtClean="0"/>
              <a:pPr>
                <a:defRPr/>
              </a:pPr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4547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Пример – отключение Диспетчера задач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084EDE-D829-4661-9BFA-4538BBB42732}" type="slidenum">
              <a:rPr lang="ru-RU" smtClean="0"/>
              <a:pPr>
                <a:defRPr/>
              </a:pPr>
              <a:t>28</a:t>
            </a:fld>
            <a:endParaRPr lang="ru-RU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426" y="1592762"/>
            <a:ext cx="8594660" cy="4746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92292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Пример – отключение автоматического обновления </a:t>
            </a:r>
            <a:r>
              <a:rPr lang="en-US" dirty="0" smtClean="0"/>
              <a:t>Windows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084EDE-D829-4661-9BFA-4538BBB42732}" type="slidenum">
              <a:rPr lang="ru-RU" smtClean="0"/>
              <a:pPr>
                <a:defRPr/>
              </a:pPr>
              <a:t>29</a:t>
            </a:fld>
            <a:endParaRPr lang="ru-RU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40" y="1700776"/>
            <a:ext cx="8532634" cy="4401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22790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Заголовок 1"/>
          <p:cNvSpPr>
            <a:spLocks noGrp="1"/>
          </p:cNvSpPr>
          <p:nvPr>
            <p:ph type="title"/>
          </p:nvPr>
        </p:nvSpPr>
        <p:spPr>
          <a:xfrm>
            <a:off x="457200" y="296594"/>
            <a:ext cx="8327346" cy="1404182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Центр обеспечения безопасности </a:t>
            </a:r>
            <a:r>
              <a:rPr lang="en-US" dirty="0" smtClean="0"/>
              <a:t>Windows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(Центр поддержки – </a:t>
            </a:r>
            <a:r>
              <a:rPr lang="ru-RU" dirty="0" smtClean="0"/>
              <a:t>с версии 7)</a:t>
            </a:r>
            <a:endParaRPr lang="ru-RU" dirty="0" smtClean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83496" y="1916804"/>
            <a:ext cx="8003304" cy="4209359"/>
          </a:xfrm>
        </p:spPr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ru-RU" sz="2000" dirty="0" smtClean="0"/>
              <a:t>Работает в фоновом режиме и активно контролирует четыре категории функциональности</a:t>
            </a:r>
            <a:r>
              <a:rPr lang="en-US" sz="2000" dirty="0" smtClean="0"/>
              <a:t>:</a:t>
            </a:r>
          </a:p>
          <a:p>
            <a:pPr lvl="1">
              <a:defRPr/>
            </a:pPr>
            <a:r>
              <a:rPr lang="ru-RU" sz="2400" dirty="0" smtClean="0">
                <a:ea typeface="+mn-ea"/>
                <a:cs typeface="+mn-cs"/>
              </a:rPr>
              <a:t>Брандмауэр, </a:t>
            </a:r>
            <a:endParaRPr lang="en-US" sz="2400" dirty="0" smtClean="0">
              <a:ea typeface="+mn-ea"/>
              <a:cs typeface="+mn-cs"/>
            </a:endParaRPr>
          </a:p>
          <a:p>
            <a:pPr lvl="1">
              <a:defRPr/>
            </a:pPr>
            <a:r>
              <a:rPr lang="ru-RU" sz="2400" dirty="0" smtClean="0">
                <a:ea typeface="+mn-ea"/>
                <a:cs typeface="+mn-cs"/>
              </a:rPr>
              <a:t>Автоматические обновления, </a:t>
            </a:r>
            <a:endParaRPr lang="en-US" sz="2400" dirty="0" smtClean="0">
              <a:ea typeface="+mn-ea"/>
              <a:cs typeface="+mn-cs"/>
            </a:endParaRPr>
          </a:p>
          <a:p>
            <a:pPr lvl="1">
              <a:defRPr/>
            </a:pPr>
            <a:r>
              <a:rPr lang="ru-RU" sz="2400" dirty="0" smtClean="0">
                <a:ea typeface="+mn-ea"/>
                <a:cs typeface="+mn-cs"/>
              </a:rPr>
              <a:t>Защита от вредоносных программ (вирусов и шпионского ПО) </a:t>
            </a:r>
            <a:endParaRPr lang="en-US" sz="2400" dirty="0" smtClean="0">
              <a:ea typeface="+mn-ea"/>
              <a:cs typeface="+mn-cs"/>
            </a:endParaRPr>
          </a:p>
          <a:p>
            <a:pPr lvl="1">
              <a:defRPr/>
            </a:pPr>
            <a:r>
              <a:rPr lang="ru-RU" sz="2400" dirty="0" smtClean="0">
                <a:ea typeface="+mn-ea"/>
                <a:cs typeface="+mn-cs"/>
              </a:rPr>
              <a:t>Другие параметры безопасности (Интернет и Управление учетной записью пользователя).</a:t>
            </a:r>
          </a:p>
          <a:p>
            <a:pPr>
              <a:defRPr/>
            </a:pPr>
            <a:r>
              <a:rPr lang="ru-RU" sz="2000" dirty="0" smtClean="0"/>
              <a:t>Информирует пользователя о тех случаях, когда тот или иной объект безопасности настроен неверно, и дает свои рекомендации по настройке. </a:t>
            </a:r>
          </a:p>
          <a:p>
            <a:pPr>
              <a:defRPr/>
            </a:pPr>
            <a:r>
              <a:rPr lang="ru-RU" sz="2000" dirty="0" smtClean="0"/>
              <a:t>Вы можете использовать антивирусные, </a:t>
            </a:r>
            <a:r>
              <a:rPr lang="ru-RU" sz="2000" dirty="0" err="1" smtClean="0"/>
              <a:t>антишпионские</a:t>
            </a:r>
            <a:r>
              <a:rPr lang="ru-RU" sz="2000" dirty="0" smtClean="0"/>
              <a:t> решения и </a:t>
            </a:r>
            <a:r>
              <a:rPr lang="ru-RU" sz="2000" dirty="0" err="1" smtClean="0"/>
              <a:t>брэндмауэры</a:t>
            </a:r>
            <a:r>
              <a:rPr lang="ru-RU" sz="2000" dirty="0" smtClean="0"/>
              <a:t>, которые разработаны не в Майкрософт, и при этом использовать Центр безопасности </a:t>
            </a:r>
            <a:r>
              <a:rPr lang="ru-RU" sz="2000" dirty="0" err="1" smtClean="0"/>
              <a:t>Windows</a:t>
            </a:r>
            <a:r>
              <a:rPr lang="ru-RU" sz="2000" dirty="0" smtClean="0"/>
              <a:t> для управления и защиты своего компьютера.</a:t>
            </a:r>
          </a:p>
          <a:p>
            <a:pPr>
              <a:buFontTx/>
              <a:buNone/>
              <a:defRPr/>
            </a:pPr>
            <a:endParaRPr lang="ru-RU" sz="2000" dirty="0" smtClean="0"/>
          </a:p>
          <a:p>
            <a:pPr>
              <a:buFontTx/>
              <a:buNone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86A920-3709-421D-91F3-8FFA75F7AB9E}" type="slidenum">
              <a:rPr lang="ru-RU" smtClean="0"/>
              <a:pPr>
                <a:defRPr/>
              </a:pPr>
              <a:t>30</a:t>
            </a:fld>
            <a:endParaRPr lang="ru-RU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899974"/>
          </a:xfrm>
        </p:spPr>
        <p:txBody>
          <a:bodyPr/>
          <a:lstStyle/>
          <a:p>
            <a:r>
              <a:rPr lang="en-US" smtClean="0"/>
              <a:t>XP</a:t>
            </a:r>
            <a:endParaRPr 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599D47-994D-4609-8295-A99B8E2A3413}" type="slidenum">
              <a:rPr lang="ru-RU" smtClean="0"/>
              <a:pPr>
                <a:defRPr/>
              </a:pPr>
              <a:t>31</a:t>
            </a:fld>
            <a:endParaRPr lang="ru-RU"/>
          </a:p>
        </p:txBody>
      </p:sp>
      <p:pic>
        <p:nvPicPr>
          <p:cNvPr id="3379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580" y="1160706"/>
            <a:ext cx="6370842" cy="5103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Заголовок 1"/>
          <p:cNvSpPr>
            <a:spLocks noGrp="1"/>
          </p:cNvSpPr>
          <p:nvPr>
            <p:ph type="title"/>
          </p:nvPr>
        </p:nvSpPr>
        <p:spPr>
          <a:xfrm>
            <a:off x="469900" y="0"/>
            <a:ext cx="8229600" cy="1157288"/>
          </a:xfrm>
        </p:spPr>
        <p:txBody>
          <a:bodyPr/>
          <a:lstStyle/>
          <a:p>
            <a:r>
              <a:rPr lang="en-US" smtClean="0"/>
              <a:t>Windows 7</a:t>
            </a:r>
            <a:endParaRPr 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50A9EE-D214-4A5A-9472-BB4D2896B3F7}" type="slidenum">
              <a:rPr lang="ru-RU" smtClean="0"/>
              <a:pPr>
                <a:defRPr/>
              </a:pPr>
              <a:t>32</a:t>
            </a:fld>
            <a:endParaRPr lang="ru-RU"/>
          </a:p>
        </p:txBody>
      </p:sp>
      <p:pic>
        <p:nvPicPr>
          <p:cNvPr id="3584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9594" y="1592762"/>
            <a:ext cx="6298556" cy="4725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Windows 8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084EDE-D829-4661-9BFA-4538BBB42732}" type="slidenum">
              <a:rPr lang="ru-RU" smtClean="0"/>
              <a:pPr>
                <a:defRPr/>
              </a:pPr>
              <a:t>33</a:t>
            </a:fld>
            <a:endParaRPr lang="ru-RU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510" y="1052692"/>
            <a:ext cx="6948308" cy="5527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57558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116002"/>
          </a:xfrm>
        </p:spPr>
        <p:txBody>
          <a:bodyPr/>
          <a:lstStyle/>
          <a:p>
            <a:r>
              <a:rPr lang="ru-RU" dirty="0" smtClean="0"/>
              <a:t>Брандмауэр</a:t>
            </a:r>
          </a:p>
        </p:txBody>
      </p:sp>
      <p:sp>
        <p:nvSpPr>
          <p:cNvPr id="36867" name="Содержимое 2"/>
          <p:cNvSpPr>
            <a:spLocks noGrp="1"/>
          </p:cNvSpPr>
          <p:nvPr>
            <p:ph idx="1"/>
          </p:nvPr>
        </p:nvSpPr>
        <p:spPr>
          <a:xfrm>
            <a:off x="469900" y="1595949"/>
            <a:ext cx="8216900" cy="4641415"/>
          </a:xfrm>
        </p:spPr>
        <p:txBody>
          <a:bodyPr>
            <a:normAutofit lnSpcReduction="10000"/>
          </a:bodyPr>
          <a:lstStyle/>
          <a:p>
            <a:r>
              <a:rPr lang="ru-RU" sz="2000" b="1" dirty="0" err="1" smtClean="0"/>
              <a:t>Брандма́уэр</a:t>
            </a:r>
            <a:r>
              <a:rPr lang="ru-RU" sz="2000" dirty="0" smtClean="0"/>
              <a:t> (нем. </a:t>
            </a:r>
            <a:r>
              <a:rPr lang="ru-RU" sz="2000" i="1" dirty="0" err="1" smtClean="0"/>
              <a:t>Brandmauer</a:t>
            </a:r>
            <a:r>
              <a:rPr lang="ru-RU" sz="2000" dirty="0" smtClean="0"/>
              <a:t>, от </a:t>
            </a:r>
            <a:r>
              <a:rPr lang="ru-RU" sz="2000" i="1" dirty="0" err="1" smtClean="0"/>
              <a:t>Brand</a:t>
            </a:r>
            <a:r>
              <a:rPr lang="ru-RU" sz="2000" dirty="0" smtClean="0"/>
              <a:t> - пожар и </a:t>
            </a:r>
            <a:r>
              <a:rPr lang="ru-RU" sz="2000" i="1" dirty="0" err="1" smtClean="0"/>
              <a:t>Mauer</a:t>
            </a:r>
            <a:r>
              <a:rPr lang="ru-RU" sz="2000" dirty="0" smtClean="0"/>
              <a:t> - стена) - глухая противопожарная стена здания, выполняемая из несгораемых материалов и предназначенная для воспрепятствования распространению огня на соседние помещения или на соседние здания.</a:t>
            </a:r>
          </a:p>
          <a:p>
            <a:r>
              <a:rPr lang="ru-RU" sz="2000" b="1" dirty="0" smtClean="0"/>
              <a:t>Брандмауэр  (сетевой экран, </a:t>
            </a:r>
            <a:r>
              <a:rPr lang="en-US" sz="2000" b="1" dirty="0" smtClean="0"/>
              <a:t>firewall)</a:t>
            </a:r>
            <a:r>
              <a:rPr lang="ru-RU" sz="2000" b="1" dirty="0" smtClean="0"/>
              <a:t> -</a:t>
            </a:r>
            <a:r>
              <a:rPr lang="ru-RU" sz="2000" dirty="0" smtClean="0"/>
              <a:t> это система или комбинация систем, позволяющие разделить сеть на две или более частей и реализовать набор правил, определяющих условия прохождения пакетов из одной части в другую.</a:t>
            </a:r>
          </a:p>
          <a:p>
            <a:r>
              <a:rPr lang="ru-RU" sz="2000" dirty="0" smtClean="0"/>
              <a:t>Как правило, эта граница проводится между локальной сетью предприятия и INTERNET, хотя ее можно провести и внутри локальной сети предприятия. Брандмауэр таким образом пропускает через себя весь трафик. Для каждого проходящего пакета брандмауэр принимает решение пропускать его или отбросить.</a:t>
            </a:r>
          </a:p>
          <a:p>
            <a:endParaRPr lang="ru-RU" sz="20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94D084-9BDD-4279-AADB-B3E97149D9CC}" type="slidenum">
              <a:rPr lang="ru-RU" smtClean="0"/>
              <a:pPr>
                <a:defRPr/>
              </a:pPr>
              <a:t>34</a:t>
            </a:fld>
            <a:endParaRPr lang="ru-RU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Заголовок 1"/>
          <p:cNvSpPr>
            <a:spLocks noGrp="1"/>
          </p:cNvSpPr>
          <p:nvPr>
            <p:ph type="title"/>
          </p:nvPr>
        </p:nvSpPr>
        <p:spPr>
          <a:xfrm>
            <a:off x="469900" y="190500"/>
            <a:ext cx="8229600" cy="795338"/>
          </a:xfrm>
        </p:spPr>
        <p:txBody>
          <a:bodyPr/>
          <a:lstStyle/>
          <a:p>
            <a:r>
              <a:rPr lang="ru-RU" smtClean="0"/>
              <a:t>Брандмауэр</a:t>
            </a:r>
          </a:p>
        </p:txBody>
      </p:sp>
      <p:sp>
        <p:nvSpPr>
          <p:cNvPr id="38915" name="Содержимое 2"/>
          <p:cNvSpPr>
            <a:spLocks noGrp="1"/>
          </p:cNvSpPr>
          <p:nvPr>
            <p:ph idx="1"/>
          </p:nvPr>
        </p:nvSpPr>
        <p:spPr>
          <a:xfrm>
            <a:off x="467468" y="1052692"/>
            <a:ext cx="8101050" cy="5614808"/>
          </a:xfrm>
        </p:spPr>
        <p:txBody>
          <a:bodyPr>
            <a:normAutofit fontScale="92500" lnSpcReduction="10000"/>
          </a:bodyPr>
          <a:lstStyle/>
          <a:p>
            <a:pPr marL="457200" indent="-457200" algn="just"/>
            <a:r>
              <a:rPr lang="ru-RU" sz="2000" dirty="0" smtClean="0"/>
              <a:t>Персональный брандмауэр </a:t>
            </a:r>
            <a:r>
              <a:rPr lang="ru-RU" sz="2000" dirty="0" err="1" smtClean="0"/>
              <a:t>Vista</a:t>
            </a:r>
            <a:r>
              <a:rPr lang="en-US" sz="2000" dirty="0" smtClean="0"/>
              <a:t> (7,8)</a:t>
            </a:r>
            <a:r>
              <a:rPr lang="ru-RU" sz="2000" dirty="0" smtClean="0"/>
              <a:t> активизируется по умолчанию обеспечивает фильтрацию как входящего, так и исходящего трафика (в более ранних версиях была предусмотрена фильтрация лишь входящих пакетов). </a:t>
            </a:r>
          </a:p>
          <a:p>
            <a:pPr marL="457200" indent="-457200" algn="just"/>
            <a:r>
              <a:rPr lang="ru-RU" sz="2000" dirty="0" smtClean="0"/>
              <a:t>Фильтрация исходящего трафика может эффективно блокировать попытки опасных программ вступать во взаимодействие с другими компьютерами и перебираться на другие системы по сетевым каналам связи. </a:t>
            </a:r>
          </a:p>
          <a:p>
            <a:pPr marL="457200" indent="-457200" algn="just"/>
            <a:r>
              <a:rPr lang="ru-RU" sz="2000" dirty="0" smtClean="0"/>
              <a:t>Управление через: </a:t>
            </a:r>
          </a:p>
          <a:p>
            <a:pPr marL="857250" lvl="1" indent="-457200" algn="just"/>
            <a:r>
              <a:rPr lang="ru-RU" sz="2200" dirty="0" smtClean="0"/>
              <a:t>Панель управления \ Брандмауэр </a:t>
            </a:r>
            <a:r>
              <a:rPr lang="en-US" sz="2200" dirty="0" smtClean="0"/>
              <a:t>Windows (</a:t>
            </a:r>
            <a:r>
              <a:rPr lang="ru-RU" sz="2200" dirty="0" smtClean="0"/>
              <a:t>или через Центр обеспечения безопасности(</a:t>
            </a:r>
            <a:r>
              <a:rPr lang="en-US" sz="2200" dirty="0" smtClean="0"/>
              <a:t>XP/Vista) </a:t>
            </a:r>
            <a:r>
              <a:rPr lang="ru-RU" sz="2200" dirty="0" smtClean="0"/>
              <a:t>Центр поддержки (7)</a:t>
            </a:r>
            <a:r>
              <a:rPr lang="en-US" sz="2200" dirty="0" smtClean="0"/>
              <a:t> </a:t>
            </a:r>
            <a:r>
              <a:rPr lang="ru-RU" sz="2200" dirty="0" smtClean="0"/>
              <a:t>);</a:t>
            </a:r>
          </a:p>
          <a:p>
            <a:pPr marL="857250" lvl="1" indent="-457200" algn="just"/>
            <a:r>
              <a:rPr lang="ru-RU" sz="2200" dirty="0" smtClean="0"/>
              <a:t>Оснастку «Брандмауэр </a:t>
            </a:r>
            <a:r>
              <a:rPr lang="en-US" sz="2200" dirty="0" smtClean="0"/>
              <a:t>Windows </a:t>
            </a:r>
            <a:r>
              <a:rPr lang="ru-RU" sz="2200" dirty="0" smtClean="0"/>
              <a:t>в режиме повышенной безопасности»;</a:t>
            </a:r>
          </a:p>
          <a:p>
            <a:pPr marL="857250" lvl="1" indent="-457200" algn="just"/>
            <a:r>
              <a:rPr lang="ru-RU" sz="2200" dirty="0" smtClean="0"/>
              <a:t>Утилиту командной строки </a:t>
            </a:r>
            <a:r>
              <a:rPr lang="en-US" sz="2200" dirty="0" smtClean="0"/>
              <a:t> </a:t>
            </a:r>
            <a:r>
              <a:rPr lang="en-US" sz="2200" dirty="0" err="1" smtClean="0"/>
              <a:t>netsh</a:t>
            </a:r>
            <a:endParaRPr lang="ru-RU" sz="2200" dirty="0" smtClean="0"/>
          </a:p>
          <a:p>
            <a:pPr marL="457200" indent="-457200" algn="just"/>
            <a:r>
              <a:rPr lang="ru-RU" sz="2000" dirty="0" smtClean="0"/>
              <a:t>Элемент панели управления предназначен для домашних пользователей, а оснастка консоли MMC ориентирована на           </a:t>
            </a:r>
            <a:r>
              <a:rPr lang="ru-RU" sz="2000" dirty="0" err="1" smtClean="0"/>
              <a:t>ИТ-специалистов</a:t>
            </a:r>
            <a:r>
              <a:rPr lang="ru-RU" sz="2000" dirty="0" smtClean="0"/>
              <a:t>. </a:t>
            </a:r>
          </a:p>
          <a:p>
            <a:pPr marL="457200" indent="-457200" algn="just"/>
            <a:endParaRPr lang="ru-RU" sz="2000" dirty="0" smtClean="0"/>
          </a:p>
          <a:p>
            <a:pPr marL="457200" indent="-457200" algn="just"/>
            <a:endParaRPr lang="ru-RU" sz="20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593A48-4EE6-4231-8ED7-EC03C85AA74B}" type="slidenum">
              <a:rPr lang="ru-RU" smtClean="0"/>
              <a:pPr>
                <a:defRPr/>
              </a:pPr>
              <a:t>35</a:t>
            </a:fld>
            <a:endParaRPr lang="ru-RU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787276" cy="13716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Панель управления\Брандмауэр </a:t>
            </a:r>
            <a:r>
              <a:rPr lang="en-US" dirty="0" smtClean="0"/>
              <a:t>Windows 7</a:t>
            </a:r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7E2025-2660-4475-A5B1-2C383F291BDE}" type="slidenum">
              <a:rPr lang="ru-RU" smtClean="0"/>
              <a:pPr>
                <a:defRPr/>
              </a:pPr>
              <a:t>36</a:t>
            </a:fld>
            <a:endParaRPr lang="ru-RU"/>
          </a:p>
        </p:txBody>
      </p:sp>
      <p:pic>
        <p:nvPicPr>
          <p:cNvPr id="4096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9454" y="1592762"/>
            <a:ext cx="8239841" cy="4385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199" y="152718"/>
            <a:ext cx="7364625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Панель управления\Брандмауэр </a:t>
            </a:r>
            <a:r>
              <a:rPr lang="en-US" dirty="0"/>
              <a:t>Windows </a:t>
            </a:r>
            <a:r>
              <a:rPr lang="en-US" dirty="0" smtClean="0"/>
              <a:t>8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084EDE-D829-4661-9BFA-4538BBB42732}" type="slidenum">
              <a:rPr lang="ru-RU" smtClean="0"/>
              <a:pPr>
                <a:defRPr/>
              </a:pPr>
              <a:t>37</a:t>
            </a:fld>
            <a:endParaRPr lang="ru-RU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538" y="1700776"/>
            <a:ext cx="6814287" cy="4722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90870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895290" cy="13716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Оснастка «Брандмауэр </a:t>
            </a:r>
            <a:r>
              <a:rPr lang="en-US" dirty="0" smtClean="0"/>
              <a:t>Windows </a:t>
            </a:r>
            <a:r>
              <a:rPr lang="ru-RU" dirty="0" smtClean="0"/>
              <a:t>в режиме повышенной безопасности»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27B4FD-AC3C-4DA5-8426-A920F82B1AD1}" type="slidenum">
              <a:rPr lang="ru-RU" smtClean="0"/>
              <a:pPr>
                <a:defRPr/>
              </a:pPr>
              <a:t>38</a:t>
            </a:fld>
            <a:endParaRPr lang="ru-RU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510" y="1700776"/>
            <a:ext cx="7767928" cy="4971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Заголовок 1"/>
          <p:cNvSpPr>
            <a:spLocks noGrp="1"/>
          </p:cNvSpPr>
          <p:nvPr>
            <p:ph type="title"/>
          </p:nvPr>
        </p:nvSpPr>
        <p:spPr>
          <a:xfrm>
            <a:off x="469900" y="0"/>
            <a:ext cx="8229600" cy="1157288"/>
          </a:xfrm>
        </p:spPr>
        <p:txBody>
          <a:bodyPr/>
          <a:lstStyle/>
          <a:p>
            <a:r>
              <a:rPr lang="ru-RU" smtClean="0"/>
              <a:t>Брандмауэр</a:t>
            </a:r>
            <a:r>
              <a:rPr lang="en-US" smtClean="0"/>
              <a:t> Windows</a:t>
            </a:r>
            <a:endParaRPr lang="ru-RU" smtClean="0"/>
          </a:p>
        </p:txBody>
      </p:sp>
      <p:sp>
        <p:nvSpPr>
          <p:cNvPr id="44035" name="Содержимое 2"/>
          <p:cNvSpPr>
            <a:spLocks noGrp="1"/>
          </p:cNvSpPr>
          <p:nvPr>
            <p:ph idx="1"/>
          </p:nvPr>
        </p:nvSpPr>
        <p:spPr>
          <a:xfrm>
            <a:off x="361950" y="1376734"/>
            <a:ext cx="8312150" cy="4749429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sz="2000" dirty="0" smtClean="0"/>
              <a:t>Основным нововведением брандмауэра </a:t>
            </a:r>
            <a:r>
              <a:rPr lang="ru-RU" sz="2000" dirty="0" err="1" smtClean="0"/>
              <a:t>Windows</a:t>
            </a:r>
            <a:r>
              <a:rPr lang="ru-RU" sz="2000" dirty="0" smtClean="0"/>
              <a:t> 7 является одновременная работа нескольких сетевых профилей.</a:t>
            </a:r>
          </a:p>
          <a:p>
            <a:pPr lvl="1" algn="just"/>
            <a:r>
              <a:rPr lang="ru-RU" sz="2000" dirty="0" smtClean="0"/>
              <a:t>Общий - публичные (общедоступные) сети, например, в кафе или аэропорту </a:t>
            </a:r>
          </a:p>
          <a:p>
            <a:pPr lvl="1" algn="just"/>
            <a:r>
              <a:rPr lang="ru-RU" sz="2000" dirty="0" smtClean="0"/>
              <a:t>Частный  - домашние или рабочие сети </a:t>
            </a:r>
          </a:p>
          <a:p>
            <a:pPr lvl="1" algn="just"/>
            <a:r>
              <a:rPr lang="ru-RU" sz="2000" dirty="0" smtClean="0"/>
              <a:t>Доменный - доменная сеть в организации, определяемая автоматически</a:t>
            </a:r>
          </a:p>
          <a:p>
            <a:pPr algn="just"/>
            <a:r>
              <a:rPr lang="ru-RU" sz="2000" dirty="0" smtClean="0"/>
              <a:t>В </a:t>
            </a:r>
            <a:r>
              <a:rPr lang="ru-RU" sz="2000" dirty="0" err="1" smtClean="0"/>
              <a:t>Windows</a:t>
            </a:r>
            <a:r>
              <a:rPr lang="ru-RU" sz="2000" dirty="0" smtClean="0"/>
              <a:t> </a:t>
            </a:r>
            <a:r>
              <a:rPr lang="ru-RU" sz="2000" dirty="0" err="1" smtClean="0"/>
              <a:t>Vista</a:t>
            </a:r>
            <a:r>
              <a:rPr lang="ru-RU" sz="2000" dirty="0" smtClean="0"/>
              <a:t> только один профиль мог быть активен в любой момент времени. Если было включено несколько профилей, наиболее безопасный из них становился активным. Например, при одновременном подключении к публичной и домашней сетям, активным становился общедоступный профиль, обеспечивающий более высокую безопасность. В </a:t>
            </a:r>
            <a:r>
              <a:rPr lang="ru-RU" sz="2000" dirty="0" err="1" smtClean="0"/>
              <a:t>Windows</a:t>
            </a:r>
            <a:r>
              <a:rPr lang="ru-RU" sz="2000" dirty="0" smtClean="0"/>
              <a:t> 7 все три профиля могут быть активны одновременно, обеспечивая соответствующий уровень безопасности для каждой сети.</a:t>
            </a:r>
          </a:p>
          <a:p>
            <a:pPr algn="just"/>
            <a:endParaRPr lang="ru-RU" sz="2000" dirty="0" smtClean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000" smtClean="0">
                <a:solidFill>
                  <a:srgbClr val="C00000"/>
                </a:solidFill>
              </a:rPr>
              <a:t>Windows Defender</a:t>
            </a:r>
            <a:br>
              <a:rPr lang="ru-RU" sz="4000" smtClean="0">
                <a:solidFill>
                  <a:srgbClr val="C00000"/>
                </a:solidFill>
              </a:rPr>
            </a:br>
            <a:r>
              <a:rPr lang="ru-RU" sz="4000" smtClean="0">
                <a:solidFill>
                  <a:srgbClr val="C00000"/>
                </a:solidFill>
              </a:rPr>
              <a:t>(Защитник </a:t>
            </a:r>
            <a:r>
              <a:rPr lang="ru-RU" smtClean="0">
                <a:solidFill>
                  <a:srgbClr val="C00000"/>
                </a:solidFill>
              </a:rPr>
              <a:t>Windows)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457200" indent="-457200">
              <a:buFontTx/>
              <a:buBlip>
                <a:blip r:embed="rId2"/>
              </a:buBlip>
              <a:defRPr/>
            </a:pPr>
            <a:r>
              <a:rPr lang="ru-RU" sz="2000" dirty="0" smtClean="0"/>
              <a:t>Входит в комплект поставки, начиная с </a:t>
            </a:r>
            <a:r>
              <a:rPr lang="ru-RU" sz="2000" dirty="0" err="1" smtClean="0"/>
              <a:t>Vista</a:t>
            </a:r>
            <a:r>
              <a:rPr lang="ru-RU" sz="2000" dirty="0" smtClean="0"/>
              <a:t>; </a:t>
            </a:r>
          </a:p>
          <a:p>
            <a:pPr marL="457200" indent="-457200">
              <a:buFontTx/>
              <a:buBlip>
                <a:blip r:embed="rId2"/>
              </a:buBlip>
              <a:defRPr/>
            </a:pPr>
            <a:r>
              <a:rPr lang="ru-RU" sz="2000" dirty="0" smtClean="0"/>
              <a:t>Защитник </a:t>
            </a:r>
            <a:r>
              <a:rPr lang="ru-RU" sz="2000" dirty="0" err="1" smtClean="0"/>
              <a:t>Windows</a:t>
            </a:r>
            <a:r>
              <a:rPr lang="ru-RU" sz="2000" dirty="0" smtClean="0"/>
              <a:t> (</a:t>
            </a:r>
            <a:r>
              <a:rPr lang="en-US" sz="2000" dirty="0" smtClean="0"/>
              <a:t>Windows Defender</a:t>
            </a:r>
            <a:r>
              <a:rPr lang="ru-RU" sz="2000" dirty="0" smtClean="0"/>
              <a:t>) – компонент который защищает компьютер от шпионского ПО (троянских программ). (</a:t>
            </a:r>
            <a:r>
              <a:rPr lang="ru-RU" sz="2000" i="1" dirty="0" err="1" smtClean="0"/>
              <a:t>Windows</a:t>
            </a:r>
            <a:r>
              <a:rPr lang="ru-RU" sz="2000" i="1" dirty="0" smtClean="0"/>
              <a:t> </a:t>
            </a:r>
            <a:r>
              <a:rPr lang="ru-RU" sz="2000" i="1" dirty="0" err="1" smtClean="0"/>
              <a:t>Defender</a:t>
            </a:r>
            <a:r>
              <a:rPr lang="ru-RU" sz="2000" b="1" i="1" dirty="0" smtClean="0"/>
              <a:t> </a:t>
            </a:r>
            <a:r>
              <a:rPr lang="ru-RU" sz="2000" dirty="0" smtClean="0"/>
              <a:t>не защищает от червей и вирусов).</a:t>
            </a:r>
            <a:endParaRPr lang="en-US" sz="2000" dirty="0" smtClean="0"/>
          </a:p>
          <a:p>
            <a:pPr marL="457200" indent="-457200">
              <a:buFontTx/>
              <a:buBlip>
                <a:blip r:embed="rId2"/>
              </a:buBlip>
              <a:defRPr/>
            </a:pPr>
            <a:r>
              <a:rPr lang="ru-RU" sz="2000" dirty="0" smtClean="0"/>
              <a:t>Это получившая новое наименование версия продукта GIANT </a:t>
            </a:r>
            <a:r>
              <a:rPr lang="ru-RU" sz="2000" dirty="0" err="1" smtClean="0"/>
              <a:t>AntiSpyware</a:t>
            </a:r>
            <a:r>
              <a:rPr lang="ru-RU" sz="2000" dirty="0" smtClean="0"/>
              <a:t>, приобретенного корпорацией </a:t>
            </a:r>
            <a:r>
              <a:rPr lang="ru-RU" sz="2000" dirty="0" err="1" smtClean="0"/>
              <a:t>Microsoft</a:t>
            </a:r>
            <a:r>
              <a:rPr lang="ru-RU" sz="2000" dirty="0" smtClean="0"/>
              <a:t> в 2004 г. </a:t>
            </a:r>
          </a:p>
          <a:p>
            <a:pPr marL="457200" indent="-457200">
              <a:buFontTx/>
              <a:buBlip>
                <a:blip r:embed="rId2"/>
              </a:buBlip>
              <a:defRPr/>
            </a:pPr>
            <a:r>
              <a:rPr lang="ru-RU" sz="2000" dirty="0" smtClean="0"/>
              <a:t>Постоянно следит за ресурсами операционной системы (в том числе за реестром и файловой системой), которые обычно эксплуатирует шпионское программное обеспечение. </a:t>
            </a:r>
          </a:p>
          <a:p>
            <a:pPr marL="457200" indent="-457200">
              <a:buFontTx/>
              <a:buBlip>
                <a:blip r:embed="rId2"/>
              </a:buBlip>
              <a:defRPr/>
            </a:pPr>
            <a:r>
              <a:rPr lang="ru-RU" sz="2000" dirty="0" smtClean="0"/>
              <a:t>Если какое-либо приложение пытается внести изменения в один из ресурсов — объектов мониторинга, Защитник блокирует это приложение и предлагает пользователю отвергнуть или принять вносимое изменение. </a:t>
            </a:r>
          </a:p>
          <a:p>
            <a:pPr>
              <a:buFontTx/>
              <a:buNone/>
              <a:defRPr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95B537-F9BB-4B7A-B97B-10497293D5E6}" type="slidenum">
              <a:rPr lang="ru-RU" smtClean="0"/>
              <a:pPr>
                <a:defRPr/>
              </a:pPr>
              <a:t>40</a:t>
            </a:fld>
            <a:endParaRPr lang="ru-RU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Центр обновления </a:t>
            </a:r>
            <a:r>
              <a:rPr lang="en-US" smtClean="0"/>
              <a:t>Windows</a:t>
            </a:r>
            <a:endParaRPr lang="ru-RU" smtClean="0"/>
          </a:p>
        </p:txBody>
      </p:sp>
      <p:sp>
        <p:nvSpPr>
          <p:cNvPr id="58371" name="Содержимое 2"/>
          <p:cNvSpPr>
            <a:spLocks noGrp="1"/>
          </p:cNvSpPr>
          <p:nvPr>
            <p:ph idx="1"/>
          </p:nvPr>
        </p:nvSpPr>
        <p:spPr>
          <a:xfrm>
            <a:off x="457200" y="1592762"/>
            <a:ext cx="8324850" cy="4533401"/>
          </a:xfrm>
        </p:spPr>
        <p:txBody>
          <a:bodyPr>
            <a:normAutofit/>
          </a:bodyPr>
          <a:lstStyle/>
          <a:p>
            <a:r>
              <a:rPr lang="ru-RU" dirty="0" smtClean="0"/>
              <a:t>Центр обновления </a:t>
            </a:r>
            <a:r>
              <a:rPr lang="en-US" dirty="0" smtClean="0"/>
              <a:t>Windows</a:t>
            </a:r>
            <a:r>
              <a:rPr lang="ru-RU" dirty="0" smtClean="0"/>
              <a:t> — это клиентский компонент </a:t>
            </a:r>
            <a:r>
              <a:rPr lang="ru-RU" dirty="0" err="1" smtClean="0"/>
              <a:t>Windows</a:t>
            </a:r>
            <a:r>
              <a:rPr lang="ru-RU" dirty="0" smtClean="0"/>
              <a:t>, который следит за тем, чтобы в системе </a:t>
            </a:r>
            <a:r>
              <a:rPr lang="ru-RU" dirty="0" err="1" smtClean="0"/>
              <a:t>Windows</a:t>
            </a:r>
            <a:r>
              <a:rPr lang="ru-RU" dirty="0" smtClean="0"/>
              <a:t> всегда были установлены последние версии программных средств и модули коррекции для системы безопасности. </a:t>
            </a:r>
          </a:p>
          <a:p>
            <a:r>
              <a:rPr lang="ru-RU" dirty="0" smtClean="0"/>
              <a:t>Этот компонент активизирован по умолчанию; это значит, что он автоматически загружает все новейшие модули коррекции с </a:t>
            </a:r>
            <a:r>
              <a:rPr lang="ru-RU" dirty="0" err="1" smtClean="0"/>
              <a:t>Web</a:t>
            </a:r>
            <a:r>
              <a:rPr lang="ru-RU" dirty="0" smtClean="0"/>
              <a:t>-узла </a:t>
            </a:r>
            <a:r>
              <a:rPr lang="ru-RU" dirty="0" err="1" smtClean="0"/>
              <a:t>Microsoft</a:t>
            </a:r>
            <a:r>
              <a:rPr lang="ru-RU" dirty="0" smtClean="0"/>
              <a:t> </a:t>
            </a:r>
            <a:r>
              <a:rPr lang="ru-RU" dirty="0" err="1" smtClean="0"/>
              <a:t>Windows</a:t>
            </a:r>
            <a:r>
              <a:rPr lang="ru-RU" dirty="0" smtClean="0"/>
              <a:t> </a:t>
            </a:r>
            <a:r>
              <a:rPr lang="ru-RU" dirty="0" err="1" smtClean="0"/>
              <a:t>Update</a:t>
            </a:r>
            <a:r>
              <a:rPr lang="ru-RU" dirty="0" smtClean="0"/>
              <a:t>. </a:t>
            </a:r>
          </a:p>
          <a:p>
            <a:r>
              <a:rPr lang="ru-RU" dirty="0" smtClean="0"/>
              <a:t>Кроме того, он отвечает за загрузку и обновление двух других ключевых технологий, предназначенных для защиты от вредоносных кодов: утилиты для борьбы со шпионскими программами и средства для удаления вредоносных программ MSRT.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7C31EA-F560-4DE4-B91A-C036FD8C944D}" type="slidenum">
              <a:rPr lang="ru-RU" smtClean="0"/>
              <a:pPr>
                <a:defRPr/>
              </a:pPr>
              <a:t>41</a:t>
            </a:fld>
            <a:endParaRPr lang="ru-RU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Заголовок 1"/>
          <p:cNvSpPr>
            <a:spLocks noGrp="1"/>
          </p:cNvSpPr>
          <p:nvPr>
            <p:ph type="title"/>
          </p:nvPr>
        </p:nvSpPr>
        <p:spPr>
          <a:xfrm>
            <a:off x="457200" y="404608"/>
            <a:ext cx="8003304" cy="140418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UAC – User Account Control</a:t>
            </a:r>
            <a:br>
              <a:rPr lang="en-US" dirty="0" smtClean="0"/>
            </a:br>
            <a:r>
              <a:rPr lang="ru-RU" dirty="0" smtClean="0"/>
              <a:t>Контроль Учетных записей пользователей</a:t>
            </a:r>
          </a:p>
        </p:txBody>
      </p:sp>
      <p:sp>
        <p:nvSpPr>
          <p:cNvPr id="59395" name="Содержимое 2"/>
          <p:cNvSpPr>
            <a:spLocks noGrp="1"/>
          </p:cNvSpPr>
          <p:nvPr>
            <p:ph idx="1"/>
          </p:nvPr>
        </p:nvSpPr>
        <p:spPr>
          <a:xfrm>
            <a:off x="467468" y="1808790"/>
            <a:ext cx="8111318" cy="4533401"/>
          </a:xfrm>
        </p:spPr>
        <p:txBody>
          <a:bodyPr>
            <a:normAutofit/>
          </a:bodyPr>
          <a:lstStyle/>
          <a:p>
            <a:pPr algn="just"/>
            <a:r>
              <a:rPr lang="ru-RU" sz="2000" dirty="0" smtClean="0"/>
              <a:t>Контроль учетных записей (UAC) используется для уведомления пользователя перед внесением изменений, требующих </a:t>
            </a:r>
            <a:r>
              <a:rPr lang="ru-RU" dirty="0"/>
              <a:t>прав </a:t>
            </a:r>
            <a:r>
              <a:rPr lang="ru-RU" dirty="0" smtClean="0"/>
              <a:t>администратора. </a:t>
            </a:r>
            <a:endParaRPr lang="ru-RU" dirty="0"/>
          </a:p>
          <a:p>
            <a:pPr algn="just"/>
            <a:r>
              <a:rPr lang="ru-RU" sz="2000" dirty="0" smtClean="0"/>
              <a:t>По умолчанию уведомления контроля учетных записей выводятся при попытке изменения параметров компьютера программами, однако при необходимости можно настроить частоту уведомлений.</a:t>
            </a:r>
          </a:p>
          <a:p>
            <a:pPr algn="just">
              <a:buNone/>
            </a:pPr>
            <a:endParaRPr lang="ru-RU" sz="20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FA8D98-D470-4C9D-85DB-C3E12C3D4E7C}" type="slidenum">
              <a:rPr lang="ru-RU" smtClean="0"/>
              <a:pPr>
                <a:defRPr/>
              </a:pPr>
              <a:t>42</a:t>
            </a:fld>
            <a:endParaRPr lang="ru-RU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Управление Контролем учетных записей (</a:t>
            </a:r>
            <a:r>
              <a:rPr lang="en-US" smtClean="0"/>
              <a:t>UAC)</a:t>
            </a:r>
            <a:endParaRPr 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00B53B-4C14-4549-95FE-0CD175C982F4}" type="slidenum">
              <a:rPr lang="ru-RU" smtClean="0"/>
              <a:pPr>
                <a:defRPr/>
              </a:pPr>
              <a:t>43</a:t>
            </a:fld>
            <a:endParaRPr lang="ru-RU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1376734"/>
            <a:ext cx="72390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791960"/>
          </a:xfrm>
        </p:spPr>
        <p:txBody>
          <a:bodyPr/>
          <a:lstStyle/>
          <a:p>
            <a:r>
              <a:rPr lang="en-US" dirty="0" smtClean="0"/>
              <a:t>UAC</a:t>
            </a:r>
            <a:endParaRPr lang="ru-RU" dirty="0" smtClean="0"/>
          </a:p>
        </p:txBody>
      </p:sp>
      <p:sp>
        <p:nvSpPr>
          <p:cNvPr id="62467" name="Содержимое 2"/>
          <p:cNvSpPr>
            <a:spLocks noGrp="1"/>
          </p:cNvSpPr>
          <p:nvPr>
            <p:ph idx="1"/>
          </p:nvPr>
        </p:nvSpPr>
        <p:spPr>
          <a:xfrm>
            <a:off x="361950" y="1162050"/>
            <a:ext cx="8324850" cy="496411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sz="2000" dirty="0" smtClean="0"/>
              <a:t>Всякий раз, когда пользователь запускает приложение, оснастку, панель управления или любой другой элемент, </a:t>
            </a:r>
            <a:r>
              <a:rPr lang="ru-RU" sz="2000" i="1" dirty="0" smtClean="0"/>
              <a:t>способный повлиять на состояние системы</a:t>
            </a:r>
            <a:r>
              <a:rPr lang="ru-RU" sz="2000" dirty="0" smtClean="0"/>
              <a:t>, </a:t>
            </a:r>
            <a:r>
              <a:rPr lang="en-US" sz="2000" dirty="0" smtClean="0"/>
              <a:t>Windows </a:t>
            </a:r>
            <a:r>
              <a:rPr lang="ru-RU" sz="2000" dirty="0" smtClean="0"/>
              <a:t>открывает режимное </a:t>
            </a:r>
            <a:r>
              <a:rPr lang="ru-RU" sz="2000" b="1" dirty="0" smtClean="0"/>
              <a:t>диалоговое окно </a:t>
            </a:r>
            <a:r>
              <a:rPr lang="ru-RU" sz="2000" dirty="0" smtClean="0"/>
              <a:t>поверх затемненного текущего рабочего стола (безопасный Рабочий стол). Необходимо отреагировать на запрос в этом окне, прежде чем можно будет продолжать работу.</a:t>
            </a:r>
          </a:p>
          <a:p>
            <a:pPr algn="just"/>
            <a:r>
              <a:rPr lang="ru-RU" sz="2000" dirty="0" smtClean="0"/>
              <a:t>Диалоговые окна слегка различаются в зависимости от типа учетной записи пользователя. </a:t>
            </a:r>
          </a:p>
          <a:p>
            <a:pPr algn="just"/>
            <a:r>
              <a:rPr lang="ru-RU" sz="2000" dirty="0" smtClean="0"/>
              <a:t>Благодаря UAC пользователь с учетной записью Обычный пользователь теперь вполне «дееспособен»; но всякий раз, когда он пытается выполнить задание административного уровня, появляется диалоговое окно с требованием ввести имя администратора и пароль. </a:t>
            </a:r>
            <a:endParaRPr lang="en-US" sz="2000" dirty="0" smtClean="0"/>
          </a:p>
          <a:p>
            <a:pPr algn="just"/>
            <a:r>
              <a:rPr lang="ru-RU" sz="2000" dirty="0" smtClean="0"/>
              <a:t>Даже Администратор вынужден иметь дело с диалогом UAC, хотя такому пользователю достаточно лишь нажать кнопку Продолжить.</a:t>
            </a:r>
          </a:p>
          <a:p>
            <a:pPr algn="just"/>
            <a:endParaRPr lang="ru-RU" sz="20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CA1FA5-F16B-4EA3-8792-FC9F77D50321}" type="slidenum">
              <a:rPr lang="ru-RU" smtClean="0"/>
              <a:pPr>
                <a:defRPr/>
              </a:pPr>
              <a:t>44</a:t>
            </a:fld>
            <a:endParaRPr lang="ru-RU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899974"/>
          </a:xfrm>
        </p:spPr>
        <p:txBody>
          <a:bodyPr/>
          <a:lstStyle/>
          <a:p>
            <a:r>
              <a:rPr lang="en-US" dirty="0" smtClean="0"/>
              <a:t>UAC</a:t>
            </a:r>
            <a:endParaRPr lang="ru-RU" dirty="0" smtClean="0"/>
          </a:p>
        </p:txBody>
      </p:sp>
      <p:sp>
        <p:nvSpPr>
          <p:cNvPr id="63491" name="Содержимое 2"/>
          <p:cNvSpPr>
            <a:spLocks noGrp="1"/>
          </p:cNvSpPr>
          <p:nvPr>
            <p:ph idx="1"/>
          </p:nvPr>
        </p:nvSpPr>
        <p:spPr>
          <a:xfrm>
            <a:off x="457200" y="1376734"/>
            <a:ext cx="7620000" cy="4749429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sz="2000" dirty="0" smtClean="0"/>
              <a:t>Эта функция позволяет ограничить предусмотренные по умолчанию возможности административных учетных записей. Даже если при входе в систему вы регистрируетесь как Администратор, </a:t>
            </a:r>
            <a:r>
              <a:rPr lang="en-US" sz="2000" dirty="0" smtClean="0"/>
              <a:t>Windows </a:t>
            </a:r>
            <a:r>
              <a:rPr lang="ru-RU" sz="2000" dirty="0" smtClean="0"/>
              <a:t>уменьшает ваши привилегии. Учетные записи Администратора обычно работают с теми же привилегиями, что и Обычные пользователи (или просто Пользователи).</a:t>
            </a:r>
          </a:p>
          <a:p>
            <a:pPr algn="just"/>
            <a:r>
              <a:rPr lang="ru-RU" sz="2000" dirty="0" smtClean="0"/>
              <a:t>Недостаток: Диалоговое окно UAC появляется очень часто в самом начале работы с </a:t>
            </a:r>
            <a:r>
              <a:rPr lang="en-US" sz="2000" dirty="0" smtClean="0"/>
              <a:t>Windows</a:t>
            </a:r>
            <a:r>
              <a:rPr lang="ru-RU" sz="2000" dirty="0" smtClean="0"/>
              <a:t>, т.е. при установке приложений, задании настроек функций и вводе параметров и обычно при выполнении самостоятельной настройки системы, что раздражает.</a:t>
            </a:r>
          </a:p>
          <a:p>
            <a:pPr algn="just"/>
            <a:r>
              <a:rPr lang="ru-RU" sz="2000" dirty="0" smtClean="0"/>
              <a:t>Такие операционные системы, как </a:t>
            </a:r>
            <a:r>
              <a:rPr lang="ru-RU" sz="2000" dirty="0" err="1" smtClean="0"/>
              <a:t>Mac</a:t>
            </a:r>
            <a:r>
              <a:rPr lang="ru-RU" sz="2000" dirty="0" smtClean="0"/>
              <a:t> OS X и </a:t>
            </a:r>
            <a:r>
              <a:rPr lang="ru-RU" sz="2000" dirty="0" err="1" smtClean="0"/>
              <a:t>Linux</a:t>
            </a:r>
            <a:r>
              <a:rPr lang="ru-RU" sz="2000" dirty="0" smtClean="0"/>
              <a:t> на базе UNIX-кода, тоже используют запросы, подобные диалогам UAC.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8617CA-0A5F-439C-9161-317DBEF410A2}" type="slidenum">
              <a:rPr lang="ru-RU" smtClean="0"/>
              <a:pPr>
                <a:defRPr/>
              </a:pPr>
              <a:t>45</a:t>
            </a:fld>
            <a:endParaRPr lang="ru-RU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007988"/>
          </a:xfrm>
        </p:spPr>
        <p:txBody>
          <a:bodyPr/>
          <a:lstStyle/>
          <a:p>
            <a:r>
              <a:rPr lang="en-US" dirty="0" smtClean="0"/>
              <a:t>UAC</a:t>
            </a:r>
            <a:endParaRPr lang="ru-RU" dirty="0" smtClean="0"/>
          </a:p>
        </p:txBody>
      </p:sp>
      <p:sp>
        <p:nvSpPr>
          <p:cNvPr id="64515" name="Содержимое 2"/>
          <p:cNvSpPr>
            <a:spLocks noGrp="1"/>
          </p:cNvSpPr>
          <p:nvPr>
            <p:ph idx="1"/>
          </p:nvPr>
        </p:nvSpPr>
        <p:spPr>
          <a:xfrm>
            <a:off x="469900" y="1162050"/>
            <a:ext cx="8216900" cy="4964113"/>
          </a:xfrm>
        </p:spPr>
        <p:txBody>
          <a:bodyPr>
            <a:normAutofit fontScale="77500" lnSpcReduction="20000"/>
          </a:bodyPr>
          <a:lstStyle/>
          <a:p>
            <a:r>
              <a:rPr lang="ru-RU" sz="2600" dirty="0" smtClean="0"/>
              <a:t>можно настраивать UAC на 4 различных уровня уведомлений:</a:t>
            </a:r>
          </a:p>
          <a:p>
            <a:pPr lvl="1"/>
            <a:r>
              <a:rPr lang="ru-RU" sz="2600" dirty="0" smtClean="0"/>
              <a:t>Уровень 4. Всегда уведомлять в следующих случаях: попытки программ установить ПО или внести изменения в компьютер; изменение параметров </a:t>
            </a:r>
            <a:r>
              <a:rPr lang="ru-RU" sz="2600" dirty="0" err="1" smtClean="0"/>
              <a:t>Windows</a:t>
            </a:r>
            <a:r>
              <a:rPr lang="ru-RU" sz="2600" dirty="0" smtClean="0"/>
              <a:t> пользователем. </a:t>
            </a:r>
          </a:p>
          <a:p>
            <a:pPr lvl="1"/>
            <a:r>
              <a:rPr lang="ru-RU" sz="2600" dirty="0" smtClean="0"/>
              <a:t>Уровень 3. Уведомлять только при попытках программ внести изменения в компьютер. Не уведомлять при изменении параметров </a:t>
            </a:r>
            <a:r>
              <a:rPr lang="ru-RU" sz="2600" dirty="0" err="1" smtClean="0"/>
              <a:t>Windows</a:t>
            </a:r>
            <a:r>
              <a:rPr lang="ru-RU" sz="2600" dirty="0" smtClean="0"/>
              <a:t> пользователем. </a:t>
            </a:r>
          </a:p>
          <a:p>
            <a:pPr lvl="1"/>
            <a:r>
              <a:rPr lang="ru-RU" sz="2600" dirty="0" smtClean="0"/>
              <a:t>Уровень 2. Уведомлять только при попытках программ внести изменения в компьютер (не затемнять рабочий стол). Не уведомлять при изменении параметров </a:t>
            </a:r>
            <a:r>
              <a:rPr lang="ru-RU" sz="2600" dirty="0" err="1" smtClean="0"/>
              <a:t>Windows</a:t>
            </a:r>
            <a:r>
              <a:rPr lang="ru-RU" sz="2600" dirty="0" smtClean="0"/>
              <a:t> пользователем. </a:t>
            </a:r>
          </a:p>
          <a:p>
            <a:pPr lvl="1"/>
            <a:r>
              <a:rPr lang="ru-RU" sz="2600" dirty="0" smtClean="0"/>
              <a:t>Уровень 1. Никогда не уведомлять в следующих случаях: попытки программ установить ПО или внести изменения в компьютер; изменение параметров </a:t>
            </a:r>
            <a:r>
              <a:rPr lang="ru-RU" sz="2600" dirty="0" err="1" smtClean="0"/>
              <a:t>Windows</a:t>
            </a:r>
            <a:r>
              <a:rPr lang="ru-RU" sz="2600" dirty="0" smtClean="0"/>
              <a:t> пользователем. </a:t>
            </a:r>
          </a:p>
          <a:p>
            <a:pPr lvl="1"/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DD2EDF-E27E-4D62-95F4-07FCA1A1C7F1}" type="slidenum">
              <a:rPr lang="ru-RU" smtClean="0"/>
              <a:pPr>
                <a:defRPr/>
              </a:pPr>
              <a:t>46</a:t>
            </a:fld>
            <a:endParaRPr lang="ru-RU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UAC</a:t>
            </a:r>
            <a:endParaRPr lang="ru-RU" smtClean="0"/>
          </a:p>
        </p:txBody>
      </p:sp>
      <p:sp>
        <p:nvSpPr>
          <p:cNvPr id="65539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По умолчанию устанавливается уровень 3. На этом уровне внесение изменений, инициированное программой, вызывает появлений запроса UAC. Однако изменения, вносимые пользователем, запроса не вызывают. </a:t>
            </a:r>
          </a:p>
          <a:p>
            <a:r>
              <a:rPr lang="ru-RU" dirty="0" smtClean="0"/>
              <a:t>Увеличьте уровень до отметки 4 и тогда даже ваши изменения будут вызывать UAC, как в </a:t>
            </a:r>
            <a:r>
              <a:rPr lang="ru-RU" dirty="0" err="1" smtClean="0"/>
              <a:t>Vista</a:t>
            </a:r>
            <a:r>
              <a:rPr lang="ru-RU" dirty="0" smtClean="0"/>
              <a:t>. </a:t>
            </a:r>
          </a:p>
          <a:p>
            <a:r>
              <a:rPr lang="ru-RU" dirty="0" smtClean="0"/>
              <a:t>Уровень 2 это то же, что и уровень 3, за исключением того, что запрос UAC не вызывает затемнения рабочего стола. Это делает запрос менее шокирующим, однако это также дает дополнительные шансы вредоносной программе на выживание.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B73664-74A4-4982-AD25-BF4094CC96FC}" type="slidenum">
              <a:rPr lang="ru-RU" smtClean="0"/>
              <a:pPr>
                <a:defRPr/>
              </a:pPr>
              <a:t>47</a:t>
            </a:fld>
            <a:endParaRPr lang="ru-RU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8003304" cy="1371600"/>
          </a:xfrm>
        </p:spPr>
        <p:txBody>
          <a:bodyPr>
            <a:normAutofit/>
          </a:bodyPr>
          <a:lstStyle/>
          <a:p>
            <a:r>
              <a:rPr lang="ru-RU" dirty="0" smtClean="0"/>
              <a:t>Семейная безопасность</a:t>
            </a:r>
            <a:br>
              <a:rPr lang="ru-RU" dirty="0" smtClean="0"/>
            </a:br>
            <a:r>
              <a:rPr lang="ru-RU" dirty="0" smtClean="0"/>
              <a:t>(в Панели управления)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084EDE-D829-4661-9BFA-4538BBB42732}" type="slidenum">
              <a:rPr lang="ru-RU" smtClean="0"/>
              <a:pPr>
                <a:defRPr/>
              </a:pPr>
              <a:t>48</a:t>
            </a:fld>
            <a:endParaRPr lang="ru-RU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24" y="1592762"/>
            <a:ext cx="6948308" cy="4815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65603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787276" cy="1548058"/>
          </a:xfrm>
        </p:spPr>
        <p:txBody>
          <a:bodyPr>
            <a:noAutofit/>
          </a:bodyPr>
          <a:lstStyle/>
          <a:p>
            <a:r>
              <a:rPr lang="ru-RU" sz="3200" dirty="0" smtClean="0"/>
              <a:t>Родительский контроль</a:t>
            </a:r>
            <a:r>
              <a:rPr lang="en-US" sz="3200" dirty="0" smtClean="0"/>
              <a:t> / </a:t>
            </a:r>
            <a:r>
              <a:rPr lang="ru-RU" sz="3200" dirty="0" smtClean="0"/>
              <a:t>Семейная безопасность </a:t>
            </a:r>
            <a:br>
              <a:rPr lang="ru-RU" sz="3200" dirty="0" smtClean="0"/>
            </a:br>
            <a:r>
              <a:rPr lang="ru-RU" sz="3200" dirty="0" smtClean="0"/>
              <a:t>(решаемые задачи)</a:t>
            </a:r>
          </a:p>
        </p:txBody>
      </p:sp>
      <p:sp>
        <p:nvSpPr>
          <p:cNvPr id="77827" name="Содержимое 2"/>
          <p:cNvSpPr>
            <a:spLocks noGrp="1"/>
          </p:cNvSpPr>
          <p:nvPr>
            <p:ph idx="1"/>
          </p:nvPr>
        </p:nvSpPr>
        <p:spPr>
          <a:xfrm>
            <a:off x="467468" y="1700776"/>
            <a:ext cx="7993036" cy="4860630"/>
          </a:xfrm>
        </p:spPr>
        <p:txBody>
          <a:bodyPr>
            <a:normAutofit fontScale="92500" lnSpcReduction="10000"/>
          </a:bodyPr>
          <a:lstStyle/>
          <a:p>
            <a:r>
              <a:rPr lang="ru-RU" sz="1800" b="1" dirty="0" smtClean="0"/>
              <a:t>Ограничение времени, проводимого ребенком за компьютером.</a:t>
            </a:r>
            <a:r>
              <a:rPr lang="ru-RU" sz="1800" dirty="0" smtClean="0"/>
              <a:t> Можно определить время, в течение которого детям разрешен вход в систему. В частности, определить дни недели и разрешенные часы доступа в соответствующий день недели. </a:t>
            </a:r>
          </a:p>
          <a:p>
            <a:r>
              <a:rPr lang="ru-RU" sz="1800" b="1" dirty="0" smtClean="0"/>
              <a:t>Установка запрета на доступ детей к отдельным играм.</a:t>
            </a:r>
            <a:r>
              <a:rPr lang="ru-RU" sz="1800" dirty="0" smtClean="0"/>
              <a:t> Запрет можно устанавливать исходя из допустимой возрастной оценки, выбора типа содержимого или запрещая доступ к определенным играм. </a:t>
            </a:r>
          </a:p>
          <a:p>
            <a:r>
              <a:rPr lang="ru-RU" sz="1800" b="1" dirty="0" smtClean="0"/>
              <a:t>Ограничение активности детей в Интернете.</a:t>
            </a:r>
            <a:r>
              <a:rPr lang="ru-RU" sz="1800" dirty="0" smtClean="0"/>
              <a:t> Ограничить детей можно с помощью установки круга допустимых веб-узлов, исходя из возрастной оценки, запрета или разрешения загрузки файлов, определения условий фильтрования содержимого (т.е. мы должны определить, какое содержимое фильтры должны разрешать или блокировать). Вместе с тем можно разрешить или блокировать доступ к определенным веб-узлам. </a:t>
            </a:r>
          </a:p>
          <a:p>
            <a:r>
              <a:rPr lang="ru-RU" sz="1800" b="1" dirty="0" smtClean="0"/>
              <a:t>Установка запретов на использование детьми отдельных программ. </a:t>
            </a:r>
            <a:r>
              <a:rPr lang="ru-RU" sz="1800" dirty="0" smtClean="0"/>
              <a:t>Можно запретить детям доступ к определенным программам. </a:t>
            </a:r>
          </a:p>
          <a:p>
            <a:r>
              <a:rPr lang="ru-RU" sz="1800" b="1" dirty="0" smtClean="0"/>
              <a:t>Ведение отчетов о работе ребенка за компьютером. </a:t>
            </a:r>
            <a:endParaRPr lang="ru-RU" sz="1800" dirty="0" smtClean="0"/>
          </a:p>
          <a:p>
            <a:endParaRPr lang="ru-RU" sz="18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EA3A8C-5133-465A-B7B7-26B9F994C81C}" type="slidenum">
              <a:rPr lang="ru-RU" smtClean="0"/>
              <a:pPr>
                <a:defRPr/>
              </a:pPr>
              <a:t>49</a:t>
            </a:fld>
            <a:endParaRPr lang="ru-RU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Заголовок 1"/>
          <p:cNvSpPr>
            <a:spLocks noGrp="1"/>
          </p:cNvSpPr>
          <p:nvPr>
            <p:ph type="title"/>
          </p:nvPr>
        </p:nvSpPr>
        <p:spPr>
          <a:xfrm>
            <a:off x="254000" y="1162050"/>
            <a:ext cx="7666434" cy="2807020"/>
          </a:xfrm>
        </p:spPr>
        <p:txBody>
          <a:bodyPr>
            <a:noAutofit/>
          </a:bodyPr>
          <a:lstStyle/>
          <a:p>
            <a:r>
              <a:rPr lang="ru-RU" sz="4000" dirty="0" smtClean="0"/>
              <a:t>Другие технологии, повышающие безопасность системы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D68D58-BAB1-4C8D-B85C-9FD0D41AA74F}" type="slidenum">
              <a:rPr lang="ru-RU" smtClean="0"/>
              <a:pPr>
                <a:defRPr/>
              </a:pPr>
              <a:t>50</a:t>
            </a:fld>
            <a:endParaRPr lang="ru-RU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Подписание драйверов</a:t>
            </a:r>
          </a:p>
        </p:txBody>
      </p:sp>
      <p:sp>
        <p:nvSpPr>
          <p:cNvPr id="84995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2000" smtClean="0"/>
              <a:t>Для того чтобы пользователи могли видеть поставщиков драйверов и других программных продуктов, начиная с Windows 2000, в ОС присутствует механизм проверки цифровой подписи драйверов. Хотя раньше и была возможность запретить установку неподписанных драйверов, в конфигурации по умолчанию пользователь лишь предупреждался о том, что собирается устанавливать неподписанный драйвер. </a:t>
            </a:r>
          </a:p>
          <a:p>
            <a:r>
              <a:rPr lang="ru-RU" sz="2000" smtClean="0"/>
              <a:t>Неподписанные драйверы на Windows Vista установить не удастся</a:t>
            </a:r>
          </a:p>
          <a:p>
            <a:r>
              <a:rPr lang="ru-RU" sz="2000" smtClean="0"/>
              <a:t>Подписание драйверов помогает повысить надежность Windows Vista, потому что большинство сбоев ОС – уязвимости в драйверах режима ядра. Принуждая авторов этих драйверов идентифицировать себя, Microsoft облегчает себе задачу определения причин сбоя ОС и позволяет работать с производителями с целью разрешения возникших проблем.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CF49BB-5DDD-4EA2-991C-3DF5CF5DE521}" type="slidenum">
              <a:rPr lang="ru-RU" smtClean="0"/>
              <a:pPr>
                <a:defRPr/>
              </a:pPr>
              <a:t>51</a:t>
            </a:fld>
            <a:endParaRPr lang="ru-RU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247206" cy="1371600"/>
          </a:xfrm>
        </p:spPr>
        <p:txBody>
          <a:bodyPr>
            <a:normAutofit/>
          </a:bodyPr>
          <a:lstStyle/>
          <a:p>
            <a:r>
              <a:rPr lang="ru-RU" sz="4000" dirty="0" smtClean="0">
                <a:solidFill>
                  <a:srgbClr val="C00000"/>
                </a:solidFill>
              </a:rPr>
              <a:t>Функция </a:t>
            </a:r>
            <a:r>
              <a:rPr lang="ru-RU" sz="4000" dirty="0" err="1" smtClean="0">
                <a:solidFill>
                  <a:srgbClr val="C00000"/>
                </a:solidFill>
              </a:rPr>
              <a:t>Patchguard</a:t>
            </a:r>
            <a:r>
              <a:rPr lang="ru-RU" sz="4000" dirty="0" smtClean="0">
                <a:solidFill>
                  <a:srgbClr val="C00000"/>
                </a:solidFill>
              </a:rPr>
              <a:t/>
            </a:r>
            <a:br>
              <a:rPr lang="ru-RU" sz="4000" dirty="0" smtClean="0">
                <a:solidFill>
                  <a:srgbClr val="C00000"/>
                </a:solidFill>
              </a:rPr>
            </a:br>
            <a:r>
              <a:rPr lang="ru-RU" dirty="0" smtClean="0">
                <a:solidFill>
                  <a:srgbClr val="C00000"/>
                </a:solidFill>
              </a:rPr>
              <a:t>(64-разрядная </a:t>
            </a:r>
            <a:r>
              <a:rPr lang="en-US" dirty="0" smtClean="0">
                <a:solidFill>
                  <a:srgbClr val="C00000"/>
                </a:solidFill>
              </a:rPr>
              <a:t>Vista)</a:t>
            </a:r>
            <a:endParaRPr lang="ru-RU" dirty="0" smtClean="0">
              <a:solidFill>
                <a:srgbClr val="C00000"/>
              </a:solidFill>
            </a:endParaRPr>
          </a:p>
        </p:txBody>
      </p:sp>
      <p:sp>
        <p:nvSpPr>
          <p:cNvPr id="86019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Еще одно средство защиты от вредоносных программ, которое функционирует на уровне ядра, - это функция </a:t>
            </a:r>
            <a:r>
              <a:rPr lang="ru-RU" dirty="0" err="1" smtClean="0"/>
              <a:t>Patchguard</a:t>
            </a:r>
            <a:r>
              <a:rPr lang="ru-RU" dirty="0" smtClean="0"/>
              <a:t>, использующая технологию </a:t>
            </a:r>
            <a:r>
              <a:rPr lang="ru-RU" dirty="0" err="1" smtClean="0"/>
              <a:t>kernel</a:t>
            </a:r>
            <a:r>
              <a:rPr lang="ru-RU" dirty="0" smtClean="0"/>
              <a:t> </a:t>
            </a:r>
            <a:r>
              <a:rPr lang="ru-RU" dirty="0" err="1" smtClean="0"/>
              <a:t>patch</a:t>
            </a:r>
            <a:r>
              <a:rPr lang="ru-RU" dirty="0" smtClean="0"/>
              <a:t> </a:t>
            </a:r>
            <a:r>
              <a:rPr lang="ru-RU" dirty="0" err="1" smtClean="0"/>
              <a:t>protection</a:t>
            </a:r>
            <a:r>
              <a:rPr lang="ru-RU" dirty="0" smtClean="0"/>
              <a:t>. </a:t>
            </a:r>
          </a:p>
          <a:p>
            <a:r>
              <a:rPr lang="ru-RU" dirty="0" err="1" smtClean="0"/>
              <a:t>Patchguard</a:t>
            </a:r>
            <a:r>
              <a:rPr lang="ru-RU" dirty="0" smtClean="0"/>
              <a:t> может блокировать предпринимаемые драйверами уровня ядра попытки расширения или замещения служб ядра операционной системы, а также препятствовать выполнению программными средствами не поддерживаемых модулей коррекции в ядре. </a:t>
            </a: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DA8CF2-B941-47CB-9CD6-5BABE0FBB56B}" type="slidenum">
              <a:rPr lang="ru-RU" smtClean="0"/>
              <a:pPr>
                <a:defRPr/>
              </a:pPr>
              <a:t>52</a:t>
            </a:fld>
            <a:endParaRPr lang="ru-RU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Заголовок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229600" cy="793750"/>
          </a:xfrm>
        </p:spPr>
        <p:txBody>
          <a:bodyPr/>
          <a:lstStyle/>
          <a:p>
            <a:r>
              <a:rPr lang="ru-RU" smtClean="0"/>
              <a:t>Технология </a:t>
            </a:r>
            <a:r>
              <a:rPr lang="en-US" smtClean="0"/>
              <a:t>DEP</a:t>
            </a:r>
            <a:endParaRPr lang="ru-RU" smtClean="0"/>
          </a:p>
        </p:txBody>
      </p:sp>
      <p:sp>
        <p:nvSpPr>
          <p:cNvPr id="87043" name="Содержимое 2"/>
          <p:cNvSpPr>
            <a:spLocks noGrp="1"/>
          </p:cNvSpPr>
          <p:nvPr>
            <p:ph idx="1"/>
          </p:nvPr>
        </p:nvSpPr>
        <p:spPr>
          <a:xfrm>
            <a:off x="457200" y="1054100"/>
            <a:ext cx="8216900" cy="5072063"/>
          </a:xfrm>
        </p:spPr>
        <p:txBody>
          <a:bodyPr>
            <a:normAutofit lnSpcReduction="10000"/>
          </a:bodyPr>
          <a:lstStyle/>
          <a:p>
            <a:r>
              <a:rPr lang="ru-RU" sz="2000" smtClean="0"/>
              <a:t>Предотвращение выполнения данных (Data Execution Prevention, DEP) – это набор программных и аппаратных технологий, позволяющих выполнять дополнительные проверки содержимого памяти и предотвращать запуск вредоносного кода.</a:t>
            </a:r>
            <a:endParaRPr lang="en-US" sz="2000" smtClean="0"/>
          </a:p>
          <a:p>
            <a:r>
              <a:rPr lang="ru-RU" sz="2000" smtClean="0"/>
              <a:t>Вы можете прервать исполнение внедренного кода с помощью технологии DEP. Она позволяет системе Windows помечать те сегменты памяти, которые должны только хранить данные, как «неисполняемые» (NX). Если приложение пытается выполнить код из сегмента памяти с меткой NX, механизм DEP запретит это действие. </a:t>
            </a:r>
          </a:p>
          <a:p>
            <a:r>
              <a:rPr lang="ru-RU" sz="2000" smtClean="0"/>
              <a:t>Недостаток технологии:  блокировка приложения приводит к его аварийной остановке. Другими словами: хотя DEP не дает приложению исполнить вредоносный код, данная ситуация предоставляет хакерам возможность выполнить атаки, реализующие отказ в обслуживании, DoS. </a:t>
            </a:r>
          </a:p>
          <a:p>
            <a:pPr>
              <a:buFontTx/>
              <a:buNone/>
            </a:pPr>
            <a:endParaRPr lang="ru-RU" sz="200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706961-67C8-46D8-BB54-B986DC0124AB}" type="slidenum">
              <a:rPr lang="ru-RU" smtClean="0"/>
              <a:pPr>
                <a:defRPr/>
              </a:pPr>
              <a:t>53</a:t>
            </a:fld>
            <a:endParaRPr lang="ru-RU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Заголовок 1"/>
          <p:cNvSpPr>
            <a:spLocks noGrp="1"/>
          </p:cNvSpPr>
          <p:nvPr>
            <p:ph type="title"/>
          </p:nvPr>
        </p:nvSpPr>
        <p:spPr>
          <a:xfrm>
            <a:off x="469900" y="0"/>
            <a:ext cx="8229600" cy="1484748"/>
          </a:xfrm>
        </p:spPr>
        <p:txBody>
          <a:bodyPr>
            <a:noAutofit/>
          </a:bodyPr>
          <a:lstStyle/>
          <a:p>
            <a:r>
              <a:rPr lang="ru-RU" sz="2800" dirty="0" smtClean="0"/>
              <a:t>Окно Система</a:t>
            </a:r>
            <a:r>
              <a:rPr lang="en-US" sz="2800" dirty="0" smtClean="0"/>
              <a:t> | </a:t>
            </a:r>
            <a:r>
              <a:rPr lang="ru-RU" sz="2800" dirty="0" smtClean="0"/>
              <a:t>Защита системы </a:t>
            </a:r>
            <a:r>
              <a:rPr lang="en-US" sz="2800" dirty="0" smtClean="0"/>
              <a:t>| </a:t>
            </a:r>
            <a:r>
              <a:rPr lang="ru-RU" sz="2800" dirty="0" smtClean="0"/>
              <a:t>Дополнительно </a:t>
            </a:r>
            <a:r>
              <a:rPr lang="en-US" sz="2800" dirty="0" smtClean="0"/>
              <a:t>| </a:t>
            </a:r>
            <a:r>
              <a:rPr lang="ru-RU" sz="2800" dirty="0" smtClean="0"/>
              <a:t>Параметры быстродействия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D1EE29-E518-4CBD-A802-DB31DEBE7CA4}" type="slidenum">
              <a:rPr lang="ru-RU" smtClean="0"/>
              <a:pPr>
                <a:defRPr/>
              </a:pPr>
              <a:t>54</a:t>
            </a:fld>
            <a:endParaRPr lang="ru-RU"/>
          </a:p>
        </p:txBody>
      </p:sp>
      <p:pic>
        <p:nvPicPr>
          <p:cNvPr id="88068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27748" y="1484748"/>
            <a:ext cx="3374897" cy="50041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Заголовок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229600" cy="901700"/>
          </a:xfrm>
        </p:spPr>
        <p:txBody>
          <a:bodyPr/>
          <a:lstStyle/>
          <a:p>
            <a:r>
              <a:rPr lang="ru-RU" smtClean="0"/>
              <a:t>Технология </a:t>
            </a:r>
            <a:r>
              <a:rPr lang="en-US" smtClean="0"/>
              <a:t>DEP</a:t>
            </a:r>
            <a:endParaRPr lang="ru-RU" smtClean="0"/>
          </a:p>
        </p:txBody>
      </p:sp>
      <p:sp>
        <p:nvSpPr>
          <p:cNvPr id="89091" name="Содержимое 2"/>
          <p:cNvSpPr>
            <a:spLocks noGrp="1"/>
          </p:cNvSpPr>
          <p:nvPr>
            <p:ph idx="1"/>
          </p:nvPr>
        </p:nvSpPr>
        <p:spPr>
          <a:xfrm>
            <a:off x="469900" y="1270000"/>
            <a:ext cx="8337550" cy="5181600"/>
          </a:xfrm>
        </p:spPr>
        <p:txBody>
          <a:bodyPr>
            <a:normAutofit fontScale="92500" lnSpcReduction="10000"/>
          </a:bodyPr>
          <a:lstStyle/>
          <a:p>
            <a:r>
              <a:rPr lang="ru-RU" sz="2000" smtClean="0"/>
              <a:t>В системах XP SP2, Windows 2003 SP1 и более поздних системах Microsoft технология DEP активирована по умолчанию. Однако механизмы DEP не всегда защищают все программы, работающие в системе. Точный список программ, защищаемых службой DEP, определяется уровнем защиты. Служба DEP поддерживает два уровня защиты: </a:t>
            </a:r>
          </a:p>
          <a:p>
            <a:r>
              <a:rPr lang="ru-RU" sz="2000" smtClean="0"/>
              <a:t>Level 1. Первый уровень защищает только системный и исполняемый код платформы Windows и не распространяет механизм защиты DEP на остальные приложения компании Microsoft или независимых производителей; </a:t>
            </a:r>
          </a:p>
          <a:p>
            <a:r>
              <a:rPr lang="ru-RU" sz="2000" smtClean="0"/>
              <a:t>Level 2. Второй уровень защищает весь исполняемый код в системе. Механизмы DEP применяются и к системному коду Windows, и к приложениям компании или независимых производителей. </a:t>
            </a:r>
          </a:p>
          <a:p>
            <a:r>
              <a:rPr lang="ru-RU" sz="2000" smtClean="0"/>
              <a:t>По умолчанию системы XP SP2 и Vista запускают службу DEP на первом уровне защиты, системы Windows Server 2003 SP1 и Windows Server 2008 — на втором. </a:t>
            </a:r>
          </a:p>
          <a:p>
            <a:endParaRPr lang="ru-RU" sz="200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9EB94E-3626-4ADD-8DA4-13DEB76D6A5D}" type="slidenum">
              <a:rPr lang="ru-RU" smtClean="0"/>
              <a:pPr>
                <a:defRPr/>
              </a:pPr>
              <a:t>55</a:t>
            </a:fld>
            <a:endParaRPr lang="ru-RU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791960"/>
          </a:xfrm>
        </p:spPr>
        <p:txBody>
          <a:bodyPr/>
          <a:lstStyle/>
          <a:p>
            <a:r>
              <a:rPr lang="en-US" dirty="0" smtClean="0"/>
              <a:t>NAP</a:t>
            </a:r>
            <a:endParaRPr lang="ru-RU" dirty="0" smtClean="0"/>
          </a:p>
        </p:txBody>
      </p:sp>
      <p:sp>
        <p:nvSpPr>
          <p:cNvPr id="90115" name="Содержимое 2"/>
          <p:cNvSpPr>
            <a:spLocks noGrp="1"/>
          </p:cNvSpPr>
          <p:nvPr>
            <p:ph idx="1"/>
          </p:nvPr>
        </p:nvSpPr>
        <p:spPr>
          <a:xfrm>
            <a:off x="457200" y="1054100"/>
            <a:ext cx="8216900" cy="5072063"/>
          </a:xfrm>
        </p:spPr>
        <p:txBody>
          <a:bodyPr>
            <a:normAutofit fontScale="92500" lnSpcReduction="10000"/>
          </a:bodyPr>
          <a:lstStyle/>
          <a:p>
            <a:r>
              <a:rPr lang="ru-RU" sz="2000" dirty="0" smtClean="0"/>
              <a:t>NAP — это разработанная </a:t>
            </a:r>
            <a:r>
              <a:rPr lang="ru-RU" sz="2000" dirty="0" err="1" smtClean="0"/>
              <a:t>Microsoft</a:t>
            </a:r>
            <a:r>
              <a:rPr lang="ru-RU" sz="2000" dirty="0" smtClean="0"/>
              <a:t> процедура доступа к сети. </a:t>
            </a:r>
            <a:endParaRPr lang="en-US" sz="2000" dirty="0" smtClean="0"/>
          </a:p>
          <a:p>
            <a:r>
              <a:rPr lang="ru-RU" sz="2000" dirty="0" smtClean="0"/>
              <a:t>Технология NAP может гарантировать, что к ИТ-инфраструктуре организации подключаются только должным образом настроенные компьютеры</a:t>
            </a:r>
            <a:r>
              <a:rPr lang="en-US" sz="2000" dirty="0" smtClean="0"/>
              <a:t> (</a:t>
            </a:r>
            <a:r>
              <a:rPr lang="ru-RU" sz="2000" dirty="0" err="1" smtClean="0"/>
              <a:t>healthy</a:t>
            </a:r>
            <a:r>
              <a:rPr lang="ru-RU" sz="2000" dirty="0" smtClean="0"/>
              <a:t> </a:t>
            </a:r>
            <a:r>
              <a:rPr lang="ru-RU" sz="2000" dirty="0" err="1" smtClean="0"/>
              <a:t>system</a:t>
            </a:r>
            <a:r>
              <a:rPr lang="en-US" sz="2000" dirty="0" smtClean="0"/>
              <a:t>s)</a:t>
            </a:r>
            <a:r>
              <a:rPr lang="ru-RU" sz="2000" dirty="0" smtClean="0"/>
              <a:t>, имеются в виду системы, не зараженные вредоносными программами. </a:t>
            </a:r>
          </a:p>
          <a:p>
            <a:r>
              <a:rPr lang="ru-RU" sz="2000" dirty="0" smtClean="0"/>
              <a:t>На </a:t>
            </a:r>
            <a:r>
              <a:rPr lang="en-US" sz="2000" dirty="0" smtClean="0"/>
              <a:t>healthy system</a:t>
            </a:r>
            <a:r>
              <a:rPr lang="ru-RU" sz="2000" dirty="0" smtClean="0"/>
              <a:t> должны быть установлены новейшие версии цифровых подписей для защиты от вирусов и шпионского программного обеспечения, последние модули коррекции. Настройки безопасности системы должны быть выполнены. </a:t>
            </a:r>
            <a:endParaRPr lang="en-US" sz="2000" dirty="0" smtClean="0"/>
          </a:p>
          <a:p>
            <a:r>
              <a:rPr lang="ru-RU" sz="2000" dirty="0" smtClean="0"/>
              <a:t>Технология NAP может предусматривать тщательную проверку идентичности пользователя и системы перед предоставлением санкции на подключение к корпоративной сети. </a:t>
            </a:r>
            <a:endParaRPr lang="en-US" sz="2000" dirty="0" smtClean="0"/>
          </a:p>
          <a:p>
            <a:r>
              <a:rPr lang="ru-RU" sz="2000" dirty="0" smtClean="0"/>
              <a:t>NAP также может изолировать «нездоровые» и не имеющие полномочий машины и «лечить» их. </a:t>
            </a:r>
            <a:r>
              <a:rPr lang="en-US" sz="2000" dirty="0" smtClean="0"/>
              <a:t>(</a:t>
            </a:r>
            <a:r>
              <a:rPr lang="ru-RU" sz="2000" dirty="0" smtClean="0"/>
              <a:t>NAP может устанавливать новейшие модули коррекции системы безопасности, удалять разрушительные коды и блокировать настройки безопасности системы.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AA1293-2893-471D-9D60-8A41076A8C7A}" type="slidenum">
              <a:rPr lang="ru-RU" smtClean="0"/>
              <a:pPr>
                <a:defRPr/>
              </a:pPr>
              <a:t>56</a:t>
            </a:fld>
            <a:endParaRPr lang="ru-RU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Заголовок 1"/>
          <p:cNvSpPr>
            <a:spLocks noGrp="1"/>
          </p:cNvSpPr>
          <p:nvPr>
            <p:ph type="title"/>
          </p:nvPr>
        </p:nvSpPr>
        <p:spPr>
          <a:xfrm>
            <a:off x="457200" y="404608"/>
            <a:ext cx="5791200" cy="111971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Усиление защиты </a:t>
            </a:r>
            <a:r>
              <a:rPr lang="ru-RU" dirty="0" smtClean="0"/>
              <a:t>служб</a:t>
            </a:r>
            <a:endParaRPr lang="ru-RU" dirty="0" smtClean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Защита служб в </a:t>
            </a:r>
            <a:r>
              <a:rPr lang="ru-RU" dirty="0" err="1" smtClean="0"/>
              <a:t>Windows</a:t>
            </a:r>
            <a:r>
              <a:rPr lang="ru-RU" dirty="0" smtClean="0"/>
              <a:t> </a:t>
            </a:r>
            <a:r>
              <a:rPr lang="ru-RU" dirty="0" err="1" smtClean="0"/>
              <a:t>Vista</a:t>
            </a:r>
            <a:r>
              <a:rPr lang="ru-RU" dirty="0" smtClean="0"/>
              <a:t> усилена четырьмя способами :</a:t>
            </a:r>
          </a:p>
          <a:p>
            <a:pPr lvl="1">
              <a:defRPr/>
            </a:pPr>
            <a:r>
              <a:rPr lang="ru-RU" sz="2400" dirty="0" smtClean="0">
                <a:ea typeface="+mn-ea"/>
                <a:cs typeface="+mn-cs"/>
              </a:rPr>
              <a:t>выполнением служб с минимальными полномочиями, </a:t>
            </a:r>
          </a:p>
          <a:p>
            <a:pPr lvl="1">
              <a:defRPr/>
            </a:pPr>
            <a:r>
              <a:rPr lang="ru-RU" sz="2400" dirty="0" smtClean="0">
                <a:ea typeface="+mn-ea"/>
                <a:cs typeface="+mn-cs"/>
              </a:rPr>
              <a:t>изоляцией служб, </a:t>
            </a:r>
          </a:p>
          <a:p>
            <a:pPr lvl="1">
              <a:defRPr/>
            </a:pPr>
            <a:r>
              <a:rPr lang="ru-RU" sz="2400" dirty="0" smtClean="0">
                <a:ea typeface="+mn-ea"/>
                <a:cs typeface="+mn-cs"/>
              </a:rPr>
              <a:t>ограничением доступа в сеть;</a:t>
            </a:r>
          </a:p>
          <a:p>
            <a:pPr lvl="1">
              <a:defRPr/>
            </a:pPr>
            <a:r>
              <a:rPr lang="ru-RU" sz="2400" dirty="0" smtClean="0">
                <a:ea typeface="+mn-ea"/>
                <a:cs typeface="+mn-cs"/>
              </a:rPr>
              <a:t>изоляцией сеанса 0.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28F077-59A1-4913-8EA4-5C9879558891}" type="slidenum">
              <a:rPr lang="ru-RU" smtClean="0"/>
              <a:pPr>
                <a:defRPr/>
              </a:pPr>
              <a:t>57</a:t>
            </a:fld>
            <a:endParaRPr lang="ru-RU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787276" cy="1371600"/>
          </a:xfrm>
        </p:spPr>
        <p:txBody>
          <a:bodyPr>
            <a:normAutofit fontScale="90000"/>
          </a:bodyPr>
          <a:lstStyle/>
          <a:p>
            <a:r>
              <a:rPr lang="ru-RU" sz="4000" dirty="0" smtClean="0">
                <a:solidFill>
                  <a:srgbClr val="C00000"/>
                </a:solidFill>
              </a:rPr>
              <a:t>Выполнение с минимальными правами</a:t>
            </a:r>
            <a:endParaRPr lang="ru-RU" dirty="0" smtClean="0">
              <a:solidFill>
                <a:srgbClr val="C00000"/>
              </a:solidFill>
            </a:endParaRPr>
          </a:p>
        </p:txBody>
      </p:sp>
      <p:sp>
        <p:nvSpPr>
          <p:cNvPr id="92163" name="Содержимое 2"/>
          <p:cNvSpPr>
            <a:spLocks noGrp="1"/>
          </p:cNvSpPr>
          <p:nvPr>
            <p:ph idx="1"/>
          </p:nvPr>
        </p:nvSpPr>
        <p:spPr>
          <a:xfrm>
            <a:off x="469900" y="1485900"/>
            <a:ext cx="8216900" cy="4640263"/>
          </a:xfrm>
        </p:spPr>
        <p:txBody>
          <a:bodyPr>
            <a:normAutofit fontScale="85000" lnSpcReduction="10000"/>
          </a:bodyPr>
          <a:lstStyle/>
          <a:p>
            <a:r>
              <a:rPr lang="ru-RU" sz="2000" dirty="0" smtClean="0"/>
              <a:t>Многие службы </a:t>
            </a:r>
            <a:r>
              <a:rPr lang="ru-RU" sz="2000" dirty="0" err="1" smtClean="0"/>
              <a:t>Windows</a:t>
            </a:r>
            <a:r>
              <a:rPr lang="ru-RU" sz="2000" dirty="0" smtClean="0"/>
              <a:t> раньше выполнялись в контексте системной учетной записи — самой мощной учетной записи </a:t>
            </a:r>
            <a:r>
              <a:rPr lang="ru-RU" sz="2000" dirty="0" err="1" smtClean="0"/>
              <a:t>Windows</a:t>
            </a:r>
            <a:r>
              <a:rPr lang="ru-RU" sz="2000" dirty="0" smtClean="0"/>
              <a:t>.</a:t>
            </a:r>
          </a:p>
          <a:p>
            <a:r>
              <a:rPr lang="ru-RU" sz="2000" dirty="0" smtClean="0"/>
              <a:t>Поскольку создатели вредоносных программ предпочитают этот уровень доступа и контроля над </a:t>
            </a:r>
            <a:r>
              <a:rPr lang="ru-RU" sz="2000" dirty="0" err="1" smtClean="0"/>
              <a:t>Windows</a:t>
            </a:r>
            <a:r>
              <a:rPr lang="ru-RU" sz="2000" dirty="0" smtClean="0"/>
              <a:t>, любая служба, выполняемая в системном контексте безопасности, несомненно, будет для них заманчивой целью.</a:t>
            </a:r>
          </a:p>
          <a:p>
            <a:r>
              <a:rPr lang="ru-RU" sz="2000" dirty="0" smtClean="0"/>
              <a:t>Хотя для работы под системной учетной записью сконфигурировано немало служб </a:t>
            </a:r>
            <a:r>
              <a:rPr lang="ru-RU" sz="2000" dirty="0" err="1" smtClean="0"/>
              <a:t>Windows</a:t>
            </a:r>
            <a:r>
              <a:rPr lang="ru-RU" sz="2000" dirty="0" smtClean="0"/>
              <a:t>, многим из них необходимо лишь небольшое подмножество привилегий из числа тех, которые имеются только у системной учетной записи. Многие службы </a:t>
            </a:r>
            <a:r>
              <a:rPr lang="ru-RU" sz="2000" dirty="0" err="1" smtClean="0"/>
              <a:t>Windows</a:t>
            </a:r>
            <a:r>
              <a:rPr lang="ru-RU" sz="2000" dirty="0" smtClean="0"/>
              <a:t> неизбежно запускаются с избыточными привилегиями безопасности.</a:t>
            </a:r>
          </a:p>
          <a:p>
            <a:r>
              <a:rPr lang="ru-RU" sz="2000" dirty="0" smtClean="0"/>
              <a:t>Введена концепция минимальных прав для конфигурации служб. Минимальные права позволяют службам выполняться с минимальными необходимыми для работы привилегиями, а не со всеми привилегиями, назначаемыми по умолчанию учетной записи, которую службы используют для регистрации в системе.</a:t>
            </a:r>
          </a:p>
          <a:p>
            <a:endParaRPr lang="ru-RU" sz="2000" dirty="0" smtClean="0"/>
          </a:p>
          <a:p>
            <a:endParaRPr lang="ru-RU" sz="2000" dirty="0" smtClean="0"/>
          </a:p>
          <a:p>
            <a:endParaRPr lang="ru-RU" sz="20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1B2027-F37E-4398-82DA-E09A46A98DDA}" type="slidenum">
              <a:rPr lang="ru-RU" smtClean="0"/>
              <a:pPr>
                <a:defRPr/>
              </a:pPr>
              <a:t>58</a:t>
            </a:fld>
            <a:endParaRPr lang="ru-RU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899974"/>
          </a:xfrm>
        </p:spPr>
        <p:txBody>
          <a:bodyPr/>
          <a:lstStyle/>
          <a:p>
            <a:r>
              <a:rPr lang="ru-RU" dirty="0" smtClean="0"/>
              <a:t>Изоляция служб 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61950" y="1162050"/>
            <a:ext cx="8324850" cy="5291342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ru-RU" sz="2000" dirty="0" smtClean="0"/>
              <a:t>В версиях </a:t>
            </a:r>
            <a:r>
              <a:rPr lang="ru-RU" sz="2000" dirty="0" err="1" smtClean="0"/>
              <a:t>Windows</a:t>
            </a:r>
            <a:r>
              <a:rPr lang="ru-RU" sz="2000" dirty="0" smtClean="0"/>
              <a:t>, предшествовавших </a:t>
            </a:r>
            <a:r>
              <a:rPr lang="ru-RU" sz="2000" dirty="0" err="1" smtClean="0"/>
              <a:t>Windows</a:t>
            </a:r>
            <a:r>
              <a:rPr lang="ru-RU" sz="2000" dirty="0" smtClean="0"/>
              <a:t> </a:t>
            </a:r>
            <a:r>
              <a:rPr lang="ru-RU" sz="2000" dirty="0" err="1" smtClean="0"/>
              <a:t>Vista</a:t>
            </a:r>
            <a:r>
              <a:rPr lang="ru-RU" sz="2000" dirty="0" smtClean="0"/>
              <a:t>, служба может при необходимости получить доступ к привилегированному объекту, такому как уязвимый куст реестра или файл, тремя способами:</a:t>
            </a:r>
          </a:p>
          <a:p>
            <a:pPr lvl="1">
              <a:defRPr/>
            </a:pPr>
            <a:r>
              <a:rPr lang="ru-RU" dirty="0" smtClean="0"/>
              <a:t>и</a:t>
            </a:r>
            <a:r>
              <a:rPr lang="ru-RU" dirty="0" smtClean="0">
                <a:ea typeface="+mn-ea"/>
                <a:cs typeface="+mn-cs"/>
              </a:rPr>
              <a:t>спользуя системную учетную запись для доступа к объекту; </a:t>
            </a:r>
          </a:p>
          <a:p>
            <a:pPr lvl="1">
              <a:defRPr/>
            </a:pPr>
            <a:r>
              <a:rPr lang="ru-RU" dirty="0" smtClean="0">
                <a:ea typeface="+mn-ea"/>
                <a:cs typeface="+mn-cs"/>
              </a:rPr>
              <a:t>понижая уровень безопасности куста реестра или файла, чтобы позволить получить доступ учетной записи службы с более низкими привилегиями; </a:t>
            </a:r>
          </a:p>
          <a:p>
            <a:pPr lvl="1">
              <a:defRPr/>
            </a:pPr>
            <a:r>
              <a:rPr lang="ru-RU" dirty="0" smtClean="0">
                <a:ea typeface="+mn-ea"/>
                <a:cs typeface="+mn-cs"/>
              </a:rPr>
              <a:t>создавая учетную запись специально для этой службы и предоставляя доступ к объекту только этой учетной записи.</a:t>
            </a:r>
          </a:p>
          <a:p>
            <a:pPr>
              <a:defRPr/>
            </a:pPr>
            <a:r>
              <a:rPr lang="ru-RU" sz="2000" dirty="0" smtClean="0"/>
              <a:t>Два первых способа по своей сути рискованны, а при использовании третьего возникает неудобство, состоящее в необходимости вручную управлять паролями новых учетных записей.</a:t>
            </a:r>
          </a:p>
          <a:p>
            <a:pPr>
              <a:defRPr/>
            </a:pPr>
            <a:r>
              <a:rPr lang="ru-RU" sz="2000" dirty="0" smtClean="0"/>
              <a:t>Изоляция позволяет службе зарегистрировать объект для собственного монопольного использования, обеспечив безопасность ресурса, такого как доступ к файлу или кусту реестра, с помощью записи управления доступом, содержащей идентификатор безопасности (SID) службы. Используются списки контроля доступа (</a:t>
            </a:r>
            <a:r>
              <a:rPr lang="en-US" sz="2000" dirty="0" smtClean="0"/>
              <a:t>ACL).</a:t>
            </a:r>
            <a:endParaRPr lang="ru-RU" sz="2000" dirty="0" smtClean="0"/>
          </a:p>
          <a:p>
            <a:pPr>
              <a:defRPr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D27236-2157-48C3-93B6-BBABCBE4C4A6}" type="slidenum">
              <a:rPr lang="ru-RU" smtClean="0"/>
              <a:pPr>
                <a:defRPr/>
              </a:pPr>
              <a:t>59</a:t>
            </a:fld>
            <a:endParaRPr lang="ru-RU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139192" cy="1007988"/>
          </a:xfrm>
        </p:spPr>
        <p:txBody>
          <a:bodyPr>
            <a:normAutofit/>
          </a:bodyPr>
          <a:lstStyle/>
          <a:p>
            <a:r>
              <a:rPr lang="ru-RU" dirty="0" smtClean="0"/>
              <a:t>Изоляция сеанса 0 </a:t>
            </a:r>
          </a:p>
        </p:txBody>
      </p:sp>
      <p:sp>
        <p:nvSpPr>
          <p:cNvPr id="94211" name="Содержимое 2"/>
          <p:cNvSpPr>
            <a:spLocks noGrp="1"/>
          </p:cNvSpPr>
          <p:nvPr>
            <p:ph idx="1"/>
          </p:nvPr>
        </p:nvSpPr>
        <p:spPr>
          <a:xfrm>
            <a:off x="361950" y="1270000"/>
            <a:ext cx="8229600" cy="5291406"/>
          </a:xfrm>
        </p:spPr>
        <p:txBody>
          <a:bodyPr>
            <a:normAutofit fontScale="92500"/>
          </a:bodyPr>
          <a:lstStyle/>
          <a:p>
            <a:r>
              <a:rPr lang="ru-RU" sz="1800" dirty="0" smtClean="0"/>
              <a:t>Функция быстрого переключения пользователей в </a:t>
            </a:r>
            <a:r>
              <a:rPr lang="ru-RU" sz="1800" dirty="0" err="1" smtClean="0"/>
              <a:t>Windows</a:t>
            </a:r>
            <a:r>
              <a:rPr lang="ru-RU" sz="1800" dirty="0" smtClean="0"/>
              <a:t> XP размещает одновременно зарегистрированных в системе пользователей в разные сеансы </a:t>
            </a:r>
            <a:r>
              <a:rPr lang="ru-RU" sz="1800" dirty="0" err="1" smtClean="0"/>
              <a:t>Windows</a:t>
            </a:r>
            <a:r>
              <a:rPr lang="ru-RU" sz="1800" dirty="0" smtClean="0"/>
              <a:t>. </a:t>
            </a:r>
            <a:endParaRPr lang="en-US" sz="1800" dirty="0" smtClean="0"/>
          </a:p>
          <a:p>
            <a:r>
              <a:rPr lang="ru-RU" sz="1800" dirty="0" smtClean="0"/>
              <a:t>Сеанс 0 создается во время запуска, по мере необходимости к нему добавляются другие сеансы. </a:t>
            </a:r>
            <a:endParaRPr lang="en-US" sz="1800" dirty="0" smtClean="0"/>
          </a:p>
          <a:p>
            <a:r>
              <a:rPr lang="ru-RU" sz="1800" dirty="0" smtClean="0"/>
              <a:t>Службы всегда выполнялись в сеансе 0, и до появления </a:t>
            </a:r>
            <a:r>
              <a:rPr lang="ru-RU" sz="1800" dirty="0" err="1" smtClean="0"/>
              <a:t>Windows</a:t>
            </a:r>
            <a:r>
              <a:rPr lang="ru-RU" sz="1800" dirty="0" smtClean="0"/>
              <a:t> </a:t>
            </a:r>
            <a:r>
              <a:rPr lang="ru-RU" sz="1800" dirty="0" err="1" smtClean="0"/>
              <a:t>Vista</a:t>
            </a:r>
            <a:r>
              <a:rPr lang="ru-RU" sz="1800" dirty="0" smtClean="0"/>
              <a:t> в этом же сеансе могли выполняться пользовательские приложения. </a:t>
            </a:r>
            <a:endParaRPr lang="en-US" sz="1800" dirty="0" smtClean="0"/>
          </a:p>
          <a:p>
            <a:r>
              <a:rPr lang="ru-RU" sz="1800" dirty="0" smtClean="0"/>
              <a:t>При выполнении пользовательских приложений и служб </a:t>
            </a:r>
            <a:r>
              <a:rPr lang="ru-RU" sz="1800" dirty="0" err="1" smtClean="0"/>
              <a:t>Windows</a:t>
            </a:r>
            <a:r>
              <a:rPr lang="ru-RU" sz="1800" dirty="0" smtClean="0"/>
              <a:t> в одном сеансе возникают проблемы с безопасностью, так как службы выполняются с повышенными привилегиями и поэтому являются мишенью для вредоносных программ, которым нужен способ повысить свой собственный уровень привилегий.</a:t>
            </a:r>
            <a:endParaRPr lang="en-US" sz="1800" dirty="0" smtClean="0"/>
          </a:p>
          <a:p>
            <a:r>
              <a:rPr lang="ru-RU" sz="1800" dirty="0" smtClean="0"/>
              <a:t>Система </a:t>
            </a:r>
            <a:r>
              <a:rPr lang="ru-RU" sz="1800" dirty="0" err="1" smtClean="0"/>
              <a:t>Windows</a:t>
            </a:r>
            <a:r>
              <a:rPr lang="ru-RU" sz="1800" dirty="0" smtClean="0"/>
              <a:t> </a:t>
            </a:r>
            <a:r>
              <a:rPr lang="ru-RU" sz="1800" dirty="0" err="1" smtClean="0"/>
              <a:t>Vista</a:t>
            </a:r>
            <a:r>
              <a:rPr lang="ru-RU" sz="1800" dirty="0" smtClean="0"/>
              <a:t> устраняет эту угрозу безопасности, резервируя сеанс 0 исключительно для служб, выполняя приложения в других сеансах и делая сеанс 0 </a:t>
            </a:r>
            <a:r>
              <a:rPr lang="ru-RU" sz="1800" dirty="0" err="1" smtClean="0"/>
              <a:t>неинтерактивным</a:t>
            </a:r>
            <a:r>
              <a:rPr lang="ru-RU" sz="1800" dirty="0" smtClean="0"/>
              <a:t>, что означает, что никакая служба не может создать пользовательский интерфейс, такой как диалоговое окно или приглашение, доступный конечному пользователю</a:t>
            </a:r>
          </a:p>
          <a:p>
            <a:endParaRPr lang="ru-RU" sz="18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CF0212-CED4-4CB8-91CE-988EC07C292F}" type="slidenum">
              <a:rPr lang="ru-RU" smtClean="0"/>
              <a:pPr>
                <a:defRPr/>
              </a:pPr>
              <a:t>60</a:t>
            </a:fld>
            <a:endParaRPr lang="ru-RU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Заголовок 1"/>
          <p:cNvSpPr>
            <a:spLocks noGrp="1"/>
          </p:cNvSpPr>
          <p:nvPr>
            <p:ph type="title"/>
          </p:nvPr>
        </p:nvSpPr>
        <p:spPr>
          <a:xfrm>
            <a:off x="1333500" y="1593850"/>
            <a:ext cx="6154738" cy="901700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ru-RU" smtClean="0"/>
              <a:t>Защита данных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715605-B5C9-4E2E-AEC2-52B894147C18}" type="slidenum">
              <a:rPr lang="ru-RU" smtClean="0"/>
              <a:pPr>
                <a:defRPr/>
              </a:pPr>
              <a:t>61</a:t>
            </a:fld>
            <a:endParaRPr lang="ru-RU"/>
          </a:p>
        </p:txBody>
      </p:sp>
      <p:sp>
        <p:nvSpPr>
          <p:cNvPr id="6" name="Заголовок 1"/>
          <p:cNvSpPr txBox="1">
            <a:spLocks/>
          </p:cNvSpPr>
          <p:nvPr/>
        </p:nvSpPr>
        <p:spPr bwMode="auto">
          <a:xfrm>
            <a:off x="469900" y="2997200"/>
            <a:ext cx="2374900" cy="140392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0" hangingPunct="0">
              <a:defRPr/>
            </a:pPr>
            <a:r>
              <a:rPr lang="ru-RU" sz="2400" b="1" kern="0" dirty="0">
                <a:solidFill>
                  <a:srgbClr val="A50021"/>
                </a:solidFill>
                <a:latin typeface="+mj-lt"/>
                <a:ea typeface="+mj-ea"/>
                <a:cs typeface="+mj-cs"/>
              </a:rPr>
              <a:t>Технология </a:t>
            </a:r>
            <a:r>
              <a:rPr lang="en-US" sz="2400" b="1" kern="0" dirty="0" err="1">
                <a:solidFill>
                  <a:srgbClr val="A50021"/>
                </a:solidFill>
                <a:latin typeface="+mj-lt"/>
                <a:ea typeface="+mj-ea"/>
                <a:cs typeface="+mj-cs"/>
              </a:rPr>
              <a:t>Bitlocker</a:t>
            </a:r>
            <a:endParaRPr lang="ru-RU" sz="2400" b="1" kern="0" dirty="0">
              <a:solidFill>
                <a:srgbClr val="A5002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Заголовок 1"/>
          <p:cNvSpPr txBox="1">
            <a:spLocks/>
          </p:cNvSpPr>
          <p:nvPr/>
        </p:nvSpPr>
        <p:spPr bwMode="auto">
          <a:xfrm>
            <a:off x="2952750" y="2997200"/>
            <a:ext cx="2887663" cy="1511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0" hangingPunct="0">
              <a:defRPr/>
            </a:pPr>
            <a:r>
              <a:rPr lang="ru-RU" sz="2800" b="1" kern="0" dirty="0">
                <a:solidFill>
                  <a:srgbClr val="A50021"/>
                </a:solidFill>
                <a:latin typeface="+mj-lt"/>
                <a:ea typeface="+mj-ea"/>
                <a:cs typeface="+mj-cs"/>
              </a:rPr>
              <a:t>Улучшенная </a:t>
            </a:r>
            <a:r>
              <a:rPr lang="en-US" sz="2800" b="1" kern="0" dirty="0">
                <a:solidFill>
                  <a:srgbClr val="A50021"/>
                </a:solidFill>
                <a:latin typeface="+mj-lt"/>
                <a:ea typeface="+mj-ea"/>
                <a:cs typeface="+mj-cs"/>
              </a:rPr>
              <a:t>EFS</a:t>
            </a:r>
            <a:endParaRPr lang="ru-RU" sz="2800" b="1" kern="0" dirty="0">
              <a:solidFill>
                <a:srgbClr val="A5002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 bwMode="auto">
          <a:xfrm>
            <a:off x="5975350" y="2997200"/>
            <a:ext cx="2590800" cy="1511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0" hangingPunct="0">
              <a:defRPr/>
            </a:pPr>
            <a:r>
              <a:rPr lang="ru-RU" sz="2400" b="1" kern="0" dirty="0">
                <a:solidFill>
                  <a:srgbClr val="A50021"/>
                </a:solidFill>
                <a:latin typeface="+mj-lt"/>
                <a:ea typeface="+mj-ea"/>
                <a:cs typeface="+mj-cs"/>
              </a:rPr>
              <a:t>Контроль </a:t>
            </a:r>
            <a:r>
              <a:rPr lang="en-US" sz="2400" b="1" kern="0" dirty="0">
                <a:solidFill>
                  <a:srgbClr val="A50021"/>
                </a:solidFill>
                <a:latin typeface="+mj-lt"/>
                <a:ea typeface="+mj-ea"/>
                <a:cs typeface="+mj-cs"/>
              </a:rPr>
              <a:t> USB-</a:t>
            </a:r>
            <a:r>
              <a:rPr lang="ru-RU" sz="2400" b="1" kern="0" dirty="0">
                <a:solidFill>
                  <a:srgbClr val="A50021"/>
                </a:solidFill>
                <a:latin typeface="+mj-lt"/>
                <a:ea typeface="+mj-ea"/>
                <a:cs typeface="+mj-cs"/>
              </a:rPr>
              <a:t>устройств</a:t>
            </a:r>
          </a:p>
        </p:txBody>
      </p:sp>
      <p:cxnSp>
        <p:nvCxnSpPr>
          <p:cNvPr id="10" name="Прямая со стрелкой 9"/>
          <p:cNvCxnSpPr>
            <a:stCxn id="95234" idx="2"/>
            <a:endCxn id="6" idx="0"/>
          </p:cNvCxnSpPr>
          <p:nvPr/>
        </p:nvCxnSpPr>
        <p:spPr>
          <a:xfrm flipH="1">
            <a:off x="1657350" y="2495550"/>
            <a:ext cx="2753519" cy="5016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>
            <a:stCxn id="95234" idx="2"/>
          </p:cNvCxnSpPr>
          <p:nvPr/>
        </p:nvCxnSpPr>
        <p:spPr>
          <a:xfrm rot="16200000" flipH="1">
            <a:off x="4184650" y="2720975"/>
            <a:ext cx="503238" cy="523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stCxn id="95234" idx="2"/>
            <a:endCxn id="8" idx="0"/>
          </p:cNvCxnSpPr>
          <p:nvPr/>
        </p:nvCxnSpPr>
        <p:spPr>
          <a:xfrm rot="16200000" flipH="1">
            <a:off x="5589588" y="1316037"/>
            <a:ext cx="501650" cy="28606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Заголовок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205787" cy="901700"/>
          </a:xfrm>
        </p:spPr>
        <p:txBody>
          <a:bodyPr/>
          <a:lstStyle/>
          <a:p>
            <a:r>
              <a:rPr lang="ru-RU" smtClean="0"/>
              <a:t>Шифрование (</a:t>
            </a:r>
            <a:r>
              <a:rPr lang="en-US" smtClean="0"/>
              <a:t>EFS)</a:t>
            </a:r>
            <a:endParaRPr lang="ru-RU" smtClean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62050"/>
            <a:ext cx="8216900" cy="496411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2000" dirty="0" smtClean="0"/>
              <a:t>В NT-версиях </a:t>
            </a:r>
            <a:r>
              <a:rPr lang="ru-RU" sz="2000" dirty="0" err="1" smtClean="0"/>
              <a:t>Windows</a:t>
            </a:r>
            <a:r>
              <a:rPr lang="ru-RU" sz="2000" dirty="0" smtClean="0"/>
              <a:t> используется шифрующая файловая система </a:t>
            </a:r>
            <a:r>
              <a:rPr lang="ru-RU" sz="2000" dirty="0" err="1" smtClean="0"/>
              <a:t>Encrypting</a:t>
            </a:r>
            <a:r>
              <a:rPr lang="ru-RU" sz="2000" dirty="0" smtClean="0"/>
              <a:t> </a:t>
            </a:r>
            <a:r>
              <a:rPr lang="ru-RU" sz="2000" dirty="0" err="1" smtClean="0"/>
              <a:t>File</a:t>
            </a:r>
            <a:r>
              <a:rPr lang="ru-RU" sz="2000" dirty="0" smtClean="0"/>
              <a:t> </a:t>
            </a:r>
            <a:r>
              <a:rPr lang="ru-RU" sz="2000" dirty="0" err="1" smtClean="0"/>
              <a:t>System</a:t>
            </a:r>
            <a:r>
              <a:rPr lang="ru-RU" sz="2000" dirty="0" smtClean="0"/>
              <a:t> (EFS).</a:t>
            </a:r>
          </a:p>
          <a:p>
            <a:pPr lvl="1">
              <a:defRPr/>
            </a:pPr>
            <a:r>
              <a:rPr lang="ru-RU" sz="2000" dirty="0" smtClean="0">
                <a:ea typeface="+mn-ea"/>
                <a:cs typeface="+mn-cs"/>
              </a:rPr>
              <a:t>Система EFS обеспечивает гибкие возможности шифрования индивидуальных каталогов на жестком диске, что гарантирует защиту от незаконного доступа всех содержащихся в этих каталогах данных, включая документы и другие файлы, добавляемые после шифрования каталога. </a:t>
            </a:r>
          </a:p>
          <a:p>
            <a:pPr lvl="1">
              <a:defRPr/>
            </a:pPr>
            <a:r>
              <a:rPr lang="ru-RU" sz="2000" dirty="0" smtClean="0">
                <a:ea typeface="+mn-ea"/>
                <a:cs typeface="+mn-cs"/>
              </a:rPr>
              <a:t>EFS выполняет свою работу с минимальным влиянием на производительность и демонстрирует довольно хорошие результаты. </a:t>
            </a:r>
            <a:endParaRPr lang="ru-RU" sz="2000" dirty="0" smtClean="0">
              <a:ea typeface="+mn-ea"/>
              <a:cs typeface="+mn-cs"/>
            </a:endParaRPr>
          </a:p>
          <a:p>
            <a:pPr lvl="1">
              <a:defRPr/>
            </a:pPr>
            <a:r>
              <a:rPr lang="ru-RU" sz="2000" b="1" dirty="0" smtClean="0">
                <a:solidFill>
                  <a:srgbClr val="C00000"/>
                </a:solidFill>
              </a:rPr>
              <a:t>Главное </a:t>
            </a:r>
            <a:r>
              <a:rPr lang="ru-RU" sz="2000" b="1" dirty="0" smtClean="0">
                <a:solidFill>
                  <a:srgbClr val="C00000"/>
                </a:solidFill>
              </a:rPr>
              <a:t>отличие от </a:t>
            </a:r>
            <a:r>
              <a:rPr lang="ru-RU" sz="2000" b="1" dirty="0" err="1" smtClean="0">
                <a:solidFill>
                  <a:srgbClr val="C00000"/>
                </a:solidFill>
              </a:rPr>
              <a:t>BitLocker</a:t>
            </a:r>
            <a:r>
              <a:rPr lang="ru-RU" sz="2000" b="1" dirty="0" smtClean="0">
                <a:solidFill>
                  <a:srgbClr val="C00000"/>
                </a:solidFill>
              </a:rPr>
              <a:t> в том, что он работает автоматически, прозрачно и распространяется на весь том.</a:t>
            </a:r>
          </a:p>
          <a:p>
            <a:pPr>
              <a:buFontTx/>
              <a:buNone/>
              <a:defRPr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29425" y="6497638"/>
            <a:ext cx="2314575" cy="360362"/>
          </a:xfrm>
        </p:spPr>
        <p:txBody>
          <a:bodyPr/>
          <a:lstStyle/>
          <a:p>
            <a:pPr>
              <a:defRPr/>
            </a:pPr>
            <a:fld id="{40636FD7-6925-41C5-B989-C25861B4F2B3}" type="slidenum">
              <a:rPr lang="ru-RU" smtClean="0"/>
              <a:pPr>
                <a:defRPr/>
              </a:pPr>
              <a:t>62</a:t>
            </a:fld>
            <a:endParaRPr lang="ru-RU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>
                <a:solidFill>
                  <a:srgbClr val="C00000"/>
                </a:solidFill>
              </a:rPr>
              <a:t>BitLocker Drive Encryption</a:t>
            </a:r>
          </a:p>
        </p:txBody>
      </p:sp>
      <p:sp>
        <p:nvSpPr>
          <p:cNvPr id="9728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Шифрование всего тома защищает от атак с выключением (</a:t>
            </a:r>
            <a:r>
              <a:rPr lang="ru-RU" dirty="0" err="1" smtClean="0"/>
              <a:t>offline</a:t>
            </a:r>
            <a:r>
              <a:rPr lang="ru-RU" dirty="0" smtClean="0"/>
              <a:t> </a:t>
            </a:r>
            <a:r>
              <a:rPr lang="ru-RU" dirty="0" err="1" smtClean="0"/>
              <a:t>attack</a:t>
            </a:r>
            <a:r>
              <a:rPr lang="ru-RU" dirty="0" smtClean="0"/>
              <a:t>), которые подразумевают обход операционной системы. </a:t>
            </a:r>
          </a:p>
          <a:p>
            <a:r>
              <a:rPr lang="ru-RU" dirty="0" smtClean="0"/>
              <a:t>Типичный пример — кража офисного компьютера, извлечение жесткого диска и установка его в качестве второго диска другого компьютера (под управлением другой копии </a:t>
            </a:r>
            <a:r>
              <a:rPr lang="ru-RU" dirty="0" err="1" smtClean="0"/>
              <a:t>Windows</a:t>
            </a:r>
            <a:r>
              <a:rPr lang="ru-RU" dirty="0" smtClean="0"/>
              <a:t> или вообще другой ОС), что позволяет обойти разрешения NTFS и ввод пароля. Прочитать таким образом диск, защищенный </a:t>
            </a:r>
            <a:r>
              <a:rPr lang="ru-RU" dirty="0" err="1" smtClean="0"/>
              <a:t>BitLocker</a:t>
            </a:r>
            <a:r>
              <a:rPr lang="ru-RU" dirty="0" smtClean="0"/>
              <a:t>, невозможно.</a:t>
            </a: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FEA500-3BBB-446B-A8C1-22958B00BFC2}" type="slidenum">
              <a:rPr lang="ru-RU" smtClean="0"/>
              <a:pPr>
                <a:defRPr/>
              </a:pPr>
              <a:t>63</a:t>
            </a:fld>
            <a:endParaRPr lang="ru-RU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084EDE-D829-4661-9BFA-4538BBB42732}" type="slidenum">
              <a:rPr lang="ru-RU" smtClean="0"/>
              <a:pPr>
                <a:defRPr/>
              </a:pPr>
              <a:t>64</a:t>
            </a:fld>
            <a:endParaRPr lang="ru-RU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496" y="1268720"/>
            <a:ext cx="7755078" cy="4466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71631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Заголовок 1"/>
          <p:cNvSpPr>
            <a:spLocks noGrp="1"/>
          </p:cNvSpPr>
          <p:nvPr>
            <p:ph type="title"/>
          </p:nvPr>
        </p:nvSpPr>
        <p:spPr>
          <a:xfrm>
            <a:off x="469900" y="1162050"/>
            <a:ext cx="7988300" cy="2158936"/>
          </a:xfrm>
        </p:spPr>
        <p:txBody>
          <a:bodyPr>
            <a:normAutofit/>
          </a:bodyPr>
          <a:lstStyle/>
          <a:p>
            <a:r>
              <a:rPr lang="ru-RU" sz="4800" dirty="0" smtClean="0"/>
              <a:t>Защита от вредоносного ПО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F8E99-3D82-470F-8DBE-356774F8FF95}" type="slidenum">
              <a:rPr lang="ru-RU" smtClean="0"/>
              <a:pPr>
                <a:defRPr/>
              </a:pPr>
              <a:t>65</a:t>
            </a:fld>
            <a:endParaRPr lang="ru-RU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Заголовок 1"/>
          <p:cNvSpPr>
            <a:spLocks noGrp="1"/>
          </p:cNvSpPr>
          <p:nvPr>
            <p:ph type="title"/>
          </p:nvPr>
        </p:nvSpPr>
        <p:spPr>
          <a:xfrm>
            <a:off x="1009650" y="946150"/>
            <a:ext cx="6586538" cy="122555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ru-RU" sz="2800" dirty="0" smtClean="0"/>
              <a:t>Программы </a:t>
            </a:r>
            <a:r>
              <a:rPr lang="en-US" sz="2800" dirty="0" err="1" smtClean="0"/>
              <a:t>Ms</a:t>
            </a:r>
            <a:r>
              <a:rPr lang="en-US" sz="2800" dirty="0" smtClean="0"/>
              <a:t> </a:t>
            </a:r>
            <a:r>
              <a:rPr lang="ru-RU" sz="2800" dirty="0" smtClean="0"/>
              <a:t> для борьбы с вредоносным кодом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264584-C5FF-4672-879D-A427714AACBA}" type="slidenum">
              <a:rPr lang="ru-RU" smtClean="0"/>
              <a:pPr>
                <a:defRPr/>
              </a:pPr>
              <a:t>66</a:t>
            </a:fld>
            <a:endParaRPr lang="ru-RU"/>
          </a:p>
        </p:txBody>
      </p:sp>
      <p:sp>
        <p:nvSpPr>
          <p:cNvPr id="5" name="Заголовок 1"/>
          <p:cNvSpPr txBox="1">
            <a:spLocks/>
          </p:cNvSpPr>
          <p:nvPr/>
        </p:nvSpPr>
        <p:spPr bwMode="auto">
          <a:xfrm>
            <a:off x="361950" y="2673350"/>
            <a:ext cx="1943100" cy="2159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b="1" kern="0" dirty="0">
                <a:solidFill>
                  <a:srgbClr val="A50021"/>
                </a:solidFill>
                <a:latin typeface="+mj-lt"/>
                <a:ea typeface="+mj-ea"/>
                <a:cs typeface="+mj-cs"/>
              </a:rPr>
              <a:t>Microsoft Security Essentials</a:t>
            </a:r>
            <a:endParaRPr lang="ru-RU" sz="2400" b="1" kern="0" dirty="0">
              <a:solidFill>
                <a:srgbClr val="A5002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Заголовок 1"/>
          <p:cNvSpPr txBox="1">
            <a:spLocks/>
          </p:cNvSpPr>
          <p:nvPr/>
        </p:nvSpPr>
        <p:spPr bwMode="auto">
          <a:xfrm>
            <a:off x="2520950" y="2673350"/>
            <a:ext cx="1943100" cy="2159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b="1" kern="0" dirty="0">
                <a:solidFill>
                  <a:srgbClr val="A50021"/>
                </a:solidFill>
                <a:latin typeface="+mj-lt"/>
                <a:ea typeface="+mj-ea"/>
                <a:cs typeface="+mj-cs"/>
              </a:rPr>
              <a:t>Malicious Software Removal Tool</a:t>
            </a:r>
          </a:p>
          <a:p>
            <a:pPr algn="ctr" eaLnBrk="0" hangingPunct="0">
              <a:defRPr/>
            </a:pPr>
            <a:r>
              <a:rPr lang="en-US" sz="2400" b="1" kern="0" dirty="0">
                <a:solidFill>
                  <a:srgbClr val="A50021"/>
                </a:solidFill>
                <a:latin typeface="+mj-lt"/>
                <a:ea typeface="+mj-ea"/>
                <a:cs typeface="+mj-cs"/>
              </a:rPr>
              <a:t>(MSRT)</a:t>
            </a:r>
            <a:endParaRPr lang="ru-RU" sz="2400" b="1" kern="0" dirty="0">
              <a:solidFill>
                <a:srgbClr val="A5002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Заголовок 1"/>
          <p:cNvSpPr txBox="1">
            <a:spLocks/>
          </p:cNvSpPr>
          <p:nvPr/>
        </p:nvSpPr>
        <p:spPr bwMode="auto">
          <a:xfrm>
            <a:off x="4679950" y="2673350"/>
            <a:ext cx="1835150" cy="2159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b="1" dirty="0">
                <a:solidFill>
                  <a:srgbClr val="A50021"/>
                </a:solidFill>
                <a:latin typeface="+mj-lt"/>
              </a:rPr>
              <a:t>Forefront Client Security</a:t>
            </a:r>
            <a:endParaRPr lang="ru-RU" sz="2400" b="1" kern="0" dirty="0">
              <a:solidFill>
                <a:srgbClr val="A5002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9" name="Прямая со стрелкой 8"/>
          <p:cNvCxnSpPr>
            <a:stCxn id="104450" idx="2"/>
            <a:endCxn id="5" idx="0"/>
          </p:cNvCxnSpPr>
          <p:nvPr/>
        </p:nvCxnSpPr>
        <p:spPr>
          <a:xfrm rot="5400000">
            <a:off x="2567782" y="937418"/>
            <a:ext cx="501650" cy="29702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Заголовок 1"/>
          <p:cNvSpPr txBox="1">
            <a:spLocks/>
          </p:cNvSpPr>
          <p:nvPr/>
        </p:nvSpPr>
        <p:spPr bwMode="auto">
          <a:xfrm>
            <a:off x="6731000" y="2673350"/>
            <a:ext cx="1943100" cy="2159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0" hangingPunct="0">
              <a:defRPr/>
            </a:pPr>
            <a:r>
              <a:rPr lang="ru-RU" sz="2400" b="1" kern="0" dirty="0">
                <a:solidFill>
                  <a:srgbClr val="A50021"/>
                </a:solidFill>
                <a:latin typeface="+mj-lt"/>
                <a:ea typeface="+mj-ea"/>
                <a:cs typeface="+mj-cs"/>
              </a:rPr>
              <a:t>Защитник </a:t>
            </a:r>
            <a:r>
              <a:rPr lang="en-US" sz="2400" b="1" kern="0" dirty="0">
                <a:solidFill>
                  <a:srgbClr val="A50021"/>
                </a:solidFill>
                <a:latin typeface="+mj-lt"/>
                <a:ea typeface="+mj-ea"/>
                <a:cs typeface="+mj-cs"/>
              </a:rPr>
              <a:t>Windows</a:t>
            </a:r>
            <a:endParaRPr lang="ru-RU" sz="2400" b="1" kern="0" dirty="0">
              <a:solidFill>
                <a:srgbClr val="A5002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2" name="Прямая со стрелкой 11"/>
          <p:cNvCxnSpPr>
            <a:stCxn id="104450" idx="2"/>
            <a:endCxn id="6" idx="0"/>
          </p:cNvCxnSpPr>
          <p:nvPr/>
        </p:nvCxnSpPr>
        <p:spPr>
          <a:xfrm rot="5400000">
            <a:off x="3647282" y="2016918"/>
            <a:ext cx="501650" cy="8112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stCxn id="104450" idx="2"/>
            <a:endCxn id="7" idx="0"/>
          </p:cNvCxnSpPr>
          <p:nvPr/>
        </p:nvCxnSpPr>
        <p:spPr>
          <a:xfrm rot="16200000" flipH="1">
            <a:off x="4699794" y="1775619"/>
            <a:ext cx="501650" cy="129381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>
            <a:stCxn id="104450" idx="2"/>
          </p:cNvCxnSpPr>
          <p:nvPr/>
        </p:nvCxnSpPr>
        <p:spPr>
          <a:xfrm rot="16200000" flipH="1">
            <a:off x="5769769" y="704056"/>
            <a:ext cx="463550" cy="339883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Заголовок 1"/>
          <p:cNvSpPr>
            <a:spLocks noGrp="1"/>
          </p:cNvSpPr>
          <p:nvPr>
            <p:ph type="title"/>
          </p:nvPr>
        </p:nvSpPr>
        <p:spPr>
          <a:xfrm>
            <a:off x="1333500" y="1162049"/>
            <a:ext cx="6478920" cy="1619249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ru-RU" sz="2800" dirty="0" smtClean="0"/>
              <a:t>Режимы работы программ для защиты от антивирусного ПО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418CE9-590E-4618-A73A-C2AC0E5EC42F}" type="slidenum">
              <a:rPr lang="ru-RU" smtClean="0"/>
              <a:pPr>
                <a:defRPr/>
              </a:pPr>
              <a:t>67</a:t>
            </a:fld>
            <a:endParaRPr lang="ru-RU"/>
          </a:p>
        </p:txBody>
      </p:sp>
      <p:sp>
        <p:nvSpPr>
          <p:cNvPr id="6" name="Заголовок 1"/>
          <p:cNvSpPr txBox="1">
            <a:spLocks/>
          </p:cNvSpPr>
          <p:nvPr/>
        </p:nvSpPr>
        <p:spPr bwMode="auto">
          <a:xfrm>
            <a:off x="793750" y="3213100"/>
            <a:ext cx="3346450" cy="172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0" hangingPunct="0">
              <a:defRPr/>
            </a:pPr>
            <a:r>
              <a:rPr lang="ru-RU" sz="2800" b="1" kern="0" dirty="0">
                <a:solidFill>
                  <a:srgbClr val="A50021"/>
                </a:solidFill>
                <a:latin typeface="+mj-lt"/>
                <a:ea typeface="+mj-ea"/>
                <a:cs typeface="+mj-cs"/>
              </a:rPr>
              <a:t>Режим сканера (принудительно запускать)</a:t>
            </a:r>
          </a:p>
        </p:txBody>
      </p:sp>
      <p:sp>
        <p:nvSpPr>
          <p:cNvPr id="7" name="Заголовок 1"/>
          <p:cNvSpPr txBox="1">
            <a:spLocks/>
          </p:cNvSpPr>
          <p:nvPr/>
        </p:nvSpPr>
        <p:spPr bwMode="auto">
          <a:xfrm>
            <a:off x="4679950" y="3213100"/>
            <a:ext cx="3562350" cy="172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0" hangingPunct="0">
              <a:defRPr/>
            </a:pPr>
            <a:r>
              <a:rPr lang="ru-RU" sz="2800" b="1" kern="0" dirty="0">
                <a:solidFill>
                  <a:srgbClr val="A50021"/>
                </a:solidFill>
                <a:latin typeface="+mj-lt"/>
                <a:ea typeface="+mj-ea"/>
                <a:cs typeface="+mj-cs"/>
              </a:rPr>
              <a:t>Режим сторожа (резидентно в памяти</a:t>
            </a:r>
            <a:r>
              <a:rPr lang="ru-RU" sz="2800" b="1" kern="0" dirty="0" smtClean="0">
                <a:solidFill>
                  <a:srgbClr val="A50021"/>
                </a:solidFill>
                <a:latin typeface="+mj-lt"/>
                <a:ea typeface="+mj-ea"/>
                <a:cs typeface="+mj-cs"/>
              </a:rPr>
              <a:t>)</a:t>
            </a:r>
            <a:endParaRPr lang="ru-RU" sz="2800" b="1" kern="0" dirty="0">
              <a:solidFill>
                <a:srgbClr val="A5002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9" name="Прямая со стрелкой 8"/>
          <p:cNvCxnSpPr>
            <a:stCxn id="105474" idx="2"/>
          </p:cNvCxnSpPr>
          <p:nvPr/>
        </p:nvCxnSpPr>
        <p:spPr>
          <a:xfrm flipH="1">
            <a:off x="2305052" y="2781298"/>
            <a:ext cx="2267908" cy="43180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>
            <a:stCxn id="105474" idx="2"/>
            <a:endCxn id="7" idx="0"/>
          </p:cNvCxnSpPr>
          <p:nvPr/>
        </p:nvCxnSpPr>
        <p:spPr>
          <a:xfrm>
            <a:off x="4572960" y="2781298"/>
            <a:ext cx="1888165" cy="43180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Microsoft Security Essentials</a:t>
            </a:r>
            <a:endParaRPr 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044A2A-D21B-4DFA-957A-F93F9A97B79C}" type="slidenum">
              <a:rPr lang="ru-RU" smtClean="0"/>
              <a:pPr>
                <a:defRPr/>
              </a:pPr>
              <a:t>68</a:t>
            </a:fld>
            <a:endParaRPr lang="ru-RU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580" y="1592762"/>
            <a:ext cx="6496063" cy="4572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Microsoft Security Essentials </a:t>
            </a:r>
            <a:endParaRPr lang="ru-RU" smtClean="0"/>
          </a:p>
        </p:txBody>
      </p:sp>
      <p:sp>
        <p:nvSpPr>
          <p:cNvPr id="108547" name="Содержимое 2"/>
          <p:cNvSpPr>
            <a:spLocks noGrp="1"/>
          </p:cNvSpPr>
          <p:nvPr>
            <p:ph idx="1"/>
          </p:nvPr>
        </p:nvSpPr>
        <p:spPr>
          <a:xfrm>
            <a:off x="457200" y="1752600"/>
            <a:ext cx="8003304" cy="4700792"/>
          </a:xfrm>
        </p:spPr>
        <p:txBody>
          <a:bodyPr>
            <a:normAutofit fontScale="92500" lnSpcReduction="10000"/>
          </a:bodyPr>
          <a:lstStyle/>
          <a:p>
            <a:r>
              <a:rPr lang="ru-RU" sz="1800" dirty="0" smtClean="0"/>
              <a:t>Бесплатная антивирусная программа </a:t>
            </a:r>
            <a:r>
              <a:rPr lang="ru-RU" sz="1800" dirty="0" smtClean="0"/>
              <a:t>от </a:t>
            </a:r>
            <a:r>
              <a:rPr lang="en-US" sz="1800" dirty="0" smtClean="0"/>
              <a:t>Microsoft</a:t>
            </a:r>
            <a:endParaRPr lang="ru-RU" sz="1800" dirty="0" smtClean="0"/>
          </a:p>
          <a:p>
            <a:r>
              <a:rPr lang="ru-RU" sz="1800" dirty="0" smtClean="0"/>
              <a:t>Работает на трех самых популярных версиях </a:t>
            </a:r>
            <a:r>
              <a:rPr lang="en-US" sz="1800" dirty="0" smtClean="0"/>
              <a:t>Windows - Windows XP(Service Pack 2 </a:t>
            </a:r>
            <a:r>
              <a:rPr lang="ru-RU" sz="1800" dirty="0" smtClean="0"/>
              <a:t>или </a:t>
            </a:r>
            <a:r>
              <a:rPr lang="en-US" sz="1800" dirty="0" smtClean="0"/>
              <a:t>Service Pack 3), Windows Vista(Gold, Service Pack 1, </a:t>
            </a:r>
            <a:r>
              <a:rPr lang="ru-RU" sz="1800" dirty="0" smtClean="0"/>
              <a:t>или </a:t>
            </a:r>
            <a:r>
              <a:rPr lang="en-US" sz="1800" dirty="0" smtClean="0"/>
              <a:t>Service Pack 2), Windows 7. </a:t>
            </a:r>
            <a:r>
              <a:rPr lang="ru-RU" sz="1800" dirty="0" smtClean="0"/>
              <a:t>Использует в работе любой из двух самых популярных браузеров: </a:t>
            </a:r>
            <a:r>
              <a:rPr lang="en-US" sz="1800" dirty="0" smtClean="0"/>
              <a:t>Windows Internet Explorer(</a:t>
            </a:r>
            <a:r>
              <a:rPr lang="ru-RU" sz="1800" dirty="0" smtClean="0"/>
              <a:t>Начиная от версии 6.0) или </a:t>
            </a:r>
            <a:r>
              <a:rPr lang="en-US" sz="1800" dirty="0" smtClean="0"/>
              <a:t>Mozilla Firefox(</a:t>
            </a:r>
            <a:r>
              <a:rPr lang="ru-RU" sz="1800" dirty="0" smtClean="0"/>
              <a:t>Начиная от версии 2.0).</a:t>
            </a:r>
          </a:p>
          <a:p>
            <a:r>
              <a:rPr lang="ru-RU" sz="1800" dirty="0" smtClean="0"/>
              <a:t>Согласно тестам ведущей экспертной группы (av-test.org), </a:t>
            </a:r>
            <a:r>
              <a:rPr lang="ru-RU" sz="1800" i="1" dirty="0" err="1" smtClean="0"/>
              <a:t>Microsoft</a:t>
            </a:r>
            <a:r>
              <a:rPr lang="ru-RU" sz="1800" i="1" dirty="0" smtClean="0"/>
              <a:t> </a:t>
            </a:r>
            <a:r>
              <a:rPr lang="ru-RU" sz="1800" i="1" dirty="0" err="1" smtClean="0"/>
              <a:t>Security</a:t>
            </a:r>
            <a:r>
              <a:rPr lang="ru-RU" sz="1800" i="1" dirty="0" smtClean="0"/>
              <a:t> </a:t>
            </a:r>
            <a:r>
              <a:rPr lang="ru-RU" sz="1800" i="1" dirty="0" err="1" smtClean="0"/>
              <a:t>Essentials</a:t>
            </a:r>
            <a:r>
              <a:rPr lang="ru-RU" sz="1800" i="1" dirty="0" smtClean="0"/>
              <a:t> защищает от 98,4% всех вирусов</a:t>
            </a:r>
            <a:r>
              <a:rPr lang="ru-RU" sz="1800" dirty="0" smtClean="0"/>
              <a:t>. Этот уровень сравним с платными конкурентами. При этом MSE абсолютно бесплатен для всех владельцев лицензионных копий </a:t>
            </a:r>
            <a:r>
              <a:rPr lang="ru-RU" sz="1800" dirty="0" err="1" smtClean="0"/>
              <a:t>Windows</a:t>
            </a:r>
            <a:r>
              <a:rPr lang="ru-RU" sz="1800" dirty="0" smtClean="0"/>
              <a:t>. Кроме того, по скорости сканирования </a:t>
            </a:r>
            <a:r>
              <a:rPr lang="ru-RU" sz="1800" dirty="0" err="1" smtClean="0"/>
              <a:t>Security</a:t>
            </a:r>
            <a:r>
              <a:rPr lang="ru-RU" sz="1800" dirty="0" smtClean="0"/>
              <a:t> </a:t>
            </a:r>
            <a:r>
              <a:rPr lang="ru-RU" sz="1800" dirty="0" err="1" smtClean="0"/>
              <a:t>Essentials</a:t>
            </a:r>
            <a:r>
              <a:rPr lang="ru-RU" sz="1800" dirty="0" smtClean="0"/>
              <a:t> показал результат, сравнимый с остальными платными антивирусами.</a:t>
            </a:r>
          </a:p>
          <a:p>
            <a:r>
              <a:rPr lang="ru-RU" sz="1800" dirty="0" smtClean="0"/>
              <a:t>Согласно большинству независимых тестов, </a:t>
            </a:r>
            <a:r>
              <a:rPr lang="ru-RU" sz="1800" dirty="0" err="1" smtClean="0"/>
              <a:t>Microsoft</a:t>
            </a:r>
            <a:r>
              <a:rPr lang="ru-RU" sz="1800" dirty="0" smtClean="0"/>
              <a:t> </a:t>
            </a:r>
            <a:r>
              <a:rPr lang="ru-RU" sz="1800" dirty="0" err="1" smtClean="0"/>
              <a:t>Security</a:t>
            </a:r>
            <a:r>
              <a:rPr lang="ru-RU" sz="1800" dirty="0" smtClean="0"/>
              <a:t> </a:t>
            </a:r>
            <a:r>
              <a:rPr lang="ru-RU" sz="1800" dirty="0" err="1" smtClean="0"/>
              <a:t>Essentials</a:t>
            </a:r>
            <a:r>
              <a:rPr lang="ru-RU" sz="1800" dirty="0" smtClean="0"/>
              <a:t> надежно защищает от </a:t>
            </a:r>
            <a:r>
              <a:rPr lang="ru-RU" sz="1800" dirty="0" err="1" smtClean="0"/>
              <a:t>руткитов</a:t>
            </a:r>
            <a:r>
              <a:rPr lang="ru-RU" sz="1800" dirty="0" smtClean="0"/>
              <a:t>, программ видоизменяющих ядро системы. Так в тестовых условиях, максимально приближенных к реальным, </a:t>
            </a:r>
            <a:r>
              <a:rPr lang="ru-RU" sz="1800" i="1" dirty="0" err="1" smtClean="0"/>
              <a:t>Microsoft</a:t>
            </a:r>
            <a:r>
              <a:rPr lang="ru-RU" sz="1800" i="1" dirty="0" smtClean="0"/>
              <a:t> </a:t>
            </a:r>
            <a:r>
              <a:rPr lang="ru-RU" sz="1800" i="1" dirty="0" err="1" smtClean="0"/>
              <a:t>Security</a:t>
            </a:r>
            <a:r>
              <a:rPr lang="ru-RU" sz="1800" i="1" dirty="0" smtClean="0"/>
              <a:t> </a:t>
            </a:r>
            <a:r>
              <a:rPr lang="ru-RU" sz="1800" i="1" dirty="0" err="1" smtClean="0"/>
              <a:t>Essentials</a:t>
            </a:r>
            <a:r>
              <a:rPr lang="ru-RU" sz="1800" i="1" dirty="0" smtClean="0"/>
              <a:t> удалил 25 </a:t>
            </a:r>
            <a:r>
              <a:rPr lang="ru-RU" sz="1800" i="1" dirty="0" err="1" smtClean="0"/>
              <a:t>руткитов</a:t>
            </a:r>
            <a:r>
              <a:rPr lang="ru-RU" sz="1800" i="1" dirty="0" smtClean="0"/>
              <a:t> из 25,</a:t>
            </a:r>
            <a:r>
              <a:rPr lang="ru-RU" sz="1800" dirty="0" smtClean="0"/>
              <a:t> т.е. уровень защиты - 100%</a:t>
            </a:r>
          </a:p>
          <a:p>
            <a:endParaRPr lang="ru-RU" sz="1800" dirty="0" smtClean="0"/>
          </a:p>
          <a:p>
            <a:endParaRPr lang="ru-RU" sz="18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340F4C-FE58-4706-AB61-320BBA3F2FB0}" type="slidenum">
              <a:rPr lang="ru-RU" smtClean="0"/>
              <a:pPr>
                <a:defRPr/>
              </a:pPr>
              <a:t>69</a:t>
            </a:fld>
            <a:endParaRPr lang="ru-RU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Microsoft Security Essentials </a:t>
            </a:r>
            <a:endParaRPr lang="ru-RU" smtClean="0"/>
          </a:p>
        </p:txBody>
      </p:sp>
      <p:sp>
        <p:nvSpPr>
          <p:cNvPr id="109571" name="Содержимое 2"/>
          <p:cNvSpPr>
            <a:spLocks noGrp="1"/>
          </p:cNvSpPr>
          <p:nvPr>
            <p:ph idx="1"/>
          </p:nvPr>
        </p:nvSpPr>
        <p:spPr>
          <a:xfrm>
            <a:off x="469900" y="1700776"/>
            <a:ext cx="8216900" cy="4644602"/>
          </a:xfrm>
        </p:spPr>
        <p:txBody>
          <a:bodyPr>
            <a:normAutofit fontScale="92500" lnSpcReduction="10000"/>
          </a:bodyPr>
          <a:lstStyle/>
          <a:p>
            <a:r>
              <a:rPr lang="ru-RU" sz="1800" dirty="0" smtClean="0"/>
              <a:t>После установки MSE нужно предоставить доступ в Интернет для того, чтобы антивирус мог обновить базу сигнатур. Если базы давно не обновлялись, кнопка </a:t>
            </a:r>
            <a:r>
              <a:rPr lang="ru-RU" sz="1800" dirty="0" err="1" smtClean="0"/>
              <a:t>Update</a:t>
            </a:r>
            <a:r>
              <a:rPr lang="ru-RU" sz="1800" dirty="0" smtClean="0"/>
              <a:t> становится красной</a:t>
            </a:r>
          </a:p>
          <a:p>
            <a:r>
              <a:rPr lang="ru-RU" sz="1800" dirty="0" smtClean="0"/>
              <a:t>В </a:t>
            </a:r>
            <a:r>
              <a:rPr lang="ru-RU" sz="1800" dirty="0" err="1" smtClean="0"/>
              <a:t>трее</a:t>
            </a:r>
            <a:r>
              <a:rPr lang="ru-RU" sz="1800" dirty="0" smtClean="0"/>
              <a:t>, несложно заметить, появляется значок в виде зеленого домика. Он информирует о том, что защита компьютера в реальном времени (</a:t>
            </a:r>
            <a:r>
              <a:rPr lang="ru-RU" sz="1800" dirty="0" err="1" smtClean="0"/>
              <a:t>Real-time</a:t>
            </a:r>
            <a:r>
              <a:rPr lang="ru-RU" sz="1800" dirty="0" smtClean="0"/>
              <a:t> </a:t>
            </a:r>
            <a:r>
              <a:rPr lang="ru-RU" sz="1800" dirty="0" err="1" smtClean="0"/>
              <a:t>protection</a:t>
            </a:r>
            <a:r>
              <a:rPr lang="ru-RU" sz="1800" dirty="0" smtClean="0"/>
              <a:t>) включена. После обновления автоматически запускается быстрое сканирование (</a:t>
            </a:r>
            <a:r>
              <a:rPr lang="ru-RU" sz="1800" dirty="0" err="1" smtClean="0"/>
              <a:t>Quick</a:t>
            </a:r>
            <a:r>
              <a:rPr lang="ru-RU" sz="1800" dirty="0" smtClean="0"/>
              <a:t> </a:t>
            </a:r>
            <a:r>
              <a:rPr lang="ru-RU" sz="1800" dirty="0" err="1" smtClean="0"/>
              <a:t>scan</a:t>
            </a:r>
            <a:r>
              <a:rPr lang="ru-RU" sz="1800" dirty="0" smtClean="0"/>
              <a:t>) компьютера. </a:t>
            </a:r>
            <a:endParaRPr lang="en-US" sz="1800" dirty="0" smtClean="0"/>
          </a:p>
          <a:p>
            <a:r>
              <a:rPr lang="ru-RU" sz="1800" dirty="0" smtClean="0"/>
              <a:t>Всего доступно три режима проверки:</a:t>
            </a:r>
          </a:p>
          <a:p>
            <a:pPr lvl="1"/>
            <a:r>
              <a:rPr lang="ru-RU" sz="1800" dirty="0" err="1" smtClean="0"/>
              <a:t>Quick</a:t>
            </a:r>
            <a:r>
              <a:rPr lang="ru-RU" sz="1800" dirty="0" smtClean="0"/>
              <a:t> </a:t>
            </a:r>
            <a:r>
              <a:rPr lang="ru-RU" sz="1800" dirty="0" err="1" smtClean="0"/>
              <a:t>scan</a:t>
            </a:r>
            <a:r>
              <a:rPr lang="ru-RU" sz="1800" dirty="0" smtClean="0"/>
              <a:t>: сканируются наиболее уязвимые места, которые чаще всего подвергаются вирусной атаке: реестр, оперативная память, различные системные файлы. </a:t>
            </a:r>
            <a:endParaRPr lang="en-US" sz="1800" dirty="0" smtClean="0"/>
          </a:p>
          <a:p>
            <a:pPr lvl="1"/>
            <a:r>
              <a:rPr lang="ru-RU" sz="1800" dirty="0" err="1" smtClean="0"/>
              <a:t>Full</a:t>
            </a:r>
            <a:r>
              <a:rPr lang="ru-RU" sz="1800" dirty="0" smtClean="0"/>
              <a:t> </a:t>
            </a:r>
            <a:r>
              <a:rPr lang="ru-RU" sz="1800" dirty="0" err="1" smtClean="0"/>
              <a:t>scan</a:t>
            </a:r>
            <a:r>
              <a:rPr lang="ru-RU" sz="1800" dirty="0" smtClean="0"/>
              <a:t>: полное сканирование всех областей и всех разделов жесткого диска</a:t>
            </a:r>
            <a:endParaRPr lang="en-US" sz="1800" dirty="0" smtClean="0"/>
          </a:p>
          <a:p>
            <a:pPr lvl="1"/>
            <a:r>
              <a:rPr lang="ru-RU" sz="1800" dirty="0" err="1" smtClean="0"/>
              <a:t>Custom</a:t>
            </a:r>
            <a:r>
              <a:rPr lang="ru-RU" sz="1800" dirty="0" smtClean="0"/>
              <a:t> </a:t>
            </a:r>
            <a:r>
              <a:rPr lang="ru-RU" sz="1800" dirty="0" err="1" smtClean="0"/>
              <a:t>scan</a:t>
            </a:r>
            <a:r>
              <a:rPr lang="ru-RU" sz="1800" dirty="0" smtClean="0"/>
              <a:t>: сканирование выбранных областей.</a:t>
            </a:r>
            <a:endParaRPr lang="en-US" sz="1800" dirty="0" smtClean="0"/>
          </a:p>
          <a:p>
            <a:r>
              <a:rPr lang="ru-RU" sz="1800" dirty="0" smtClean="0"/>
              <a:t>Кроме того, сканирование можно запустить из контекстного меню, где антивирус также «прописывается».</a:t>
            </a:r>
          </a:p>
          <a:p>
            <a:endParaRPr lang="ru-RU" sz="1800" dirty="0" smtClean="0"/>
          </a:p>
          <a:p>
            <a:endParaRPr lang="ru-RU" sz="18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6C5082-3DB2-424E-9156-58C6313BAC1A}" type="slidenum">
              <a:rPr lang="ru-RU" smtClean="0"/>
              <a:pPr>
                <a:defRPr/>
              </a:pPr>
              <a:t>70</a:t>
            </a:fld>
            <a:endParaRPr lang="ru-RU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007988"/>
          </a:xfrm>
        </p:spPr>
        <p:txBody>
          <a:bodyPr/>
          <a:lstStyle/>
          <a:p>
            <a:r>
              <a:rPr lang="en-US" dirty="0" smtClean="0"/>
              <a:t>MSRT</a:t>
            </a:r>
            <a:endParaRPr lang="ru-RU" dirty="0" smtClean="0"/>
          </a:p>
        </p:txBody>
      </p:sp>
      <p:sp>
        <p:nvSpPr>
          <p:cNvPr id="110595" name="Содержимое 2"/>
          <p:cNvSpPr>
            <a:spLocks noGrp="1"/>
          </p:cNvSpPr>
          <p:nvPr>
            <p:ph idx="1"/>
          </p:nvPr>
        </p:nvSpPr>
        <p:spPr>
          <a:xfrm>
            <a:off x="469900" y="1268720"/>
            <a:ext cx="8216900" cy="5184672"/>
          </a:xfrm>
        </p:spPr>
        <p:txBody>
          <a:bodyPr>
            <a:normAutofit fontScale="92500" lnSpcReduction="10000"/>
          </a:bodyPr>
          <a:lstStyle/>
          <a:p>
            <a:r>
              <a:rPr lang="ru-RU" sz="2000" dirty="0" smtClean="0"/>
              <a:t>MSRT представляет собой небольшой исполняемый модуль, который проверяет системы </a:t>
            </a:r>
            <a:r>
              <a:rPr lang="ru-RU" sz="2000" dirty="0" err="1" smtClean="0"/>
              <a:t>Windows</a:t>
            </a:r>
            <a:r>
              <a:rPr lang="ru-RU" sz="2000" dirty="0" smtClean="0"/>
              <a:t> на наличие шпионских и вредоносных программных средств, а также автоматически удаляет эти средства.</a:t>
            </a:r>
            <a:endParaRPr lang="en-US" sz="2000" dirty="0" smtClean="0"/>
          </a:p>
          <a:p>
            <a:r>
              <a:rPr lang="ru-RU" sz="2000" dirty="0" smtClean="0"/>
              <a:t>Какое-то время модуль MSRT был доступен для загрузки на </a:t>
            </a:r>
            <a:r>
              <a:rPr lang="ru-RU" sz="2000" dirty="0" err="1" smtClean="0"/>
              <a:t>Web</a:t>
            </a:r>
            <a:r>
              <a:rPr lang="ru-RU" sz="2000" dirty="0" smtClean="0"/>
              <a:t>-узле </a:t>
            </a:r>
            <a:r>
              <a:rPr lang="ru-RU" sz="2000" dirty="0" err="1" smtClean="0"/>
              <a:t>Microsoft</a:t>
            </a:r>
            <a:r>
              <a:rPr lang="ru-RU" sz="2000" dirty="0" smtClean="0"/>
              <a:t>, а теперь он интегрирован в Центр обновления </a:t>
            </a:r>
            <a:r>
              <a:rPr lang="en-US" sz="2000" dirty="0" smtClean="0"/>
              <a:t>Windows</a:t>
            </a:r>
            <a:endParaRPr lang="ru-RU" sz="2000" dirty="0" smtClean="0"/>
          </a:p>
          <a:p>
            <a:r>
              <a:rPr lang="ru-RU" sz="2000" dirty="0" smtClean="0"/>
              <a:t>Поскольку компьютеры, будучи зараженными, на первый взгляд могут работать нормально, специалисты из </a:t>
            </a:r>
            <a:r>
              <a:rPr lang="ru-RU" sz="2000" dirty="0" err="1" smtClean="0"/>
              <a:t>Microsoft</a:t>
            </a:r>
            <a:r>
              <a:rPr lang="ru-RU" sz="2000" dirty="0" smtClean="0"/>
              <a:t> рекомендуют запустить данное средство даже, если вам кажется, что с компьютером все в порядке. Утилита не требует инсталляции. С её помощью сканирование системы на наличие вирусов занимает всего несколько секунд. Из дополнительных опций можно отметить предоставление детальной информации о том или ином вирусе, распознаваемом утилитой (для этого нужно кликнуть мышкой на название вируса и перейти на сайт </a:t>
            </a:r>
            <a:r>
              <a:rPr lang="ru-RU" sz="2000" dirty="0" err="1" smtClean="0"/>
              <a:t>Microsoft</a:t>
            </a:r>
            <a:r>
              <a:rPr lang="ru-RU" sz="2000" dirty="0" smtClean="0"/>
              <a:t> с информацией о нём).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A2A8AB-5CCB-4F36-82F7-31DC6CFD97CD}" type="slidenum">
              <a:rPr lang="ru-RU" smtClean="0"/>
              <a:pPr>
                <a:defRPr/>
              </a:pPr>
              <a:t>71</a:t>
            </a:fld>
            <a:endParaRPr lang="ru-RU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007988"/>
          </a:xfrm>
        </p:spPr>
        <p:txBody>
          <a:bodyPr/>
          <a:lstStyle/>
          <a:p>
            <a:r>
              <a:rPr lang="en-US" dirty="0" smtClean="0"/>
              <a:t>MSRT</a:t>
            </a:r>
            <a:endParaRPr lang="ru-RU" dirty="0" smtClean="0"/>
          </a:p>
        </p:txBody>
      </p:sp>
      <p:sp>
        <p:nvSpPr>
          <p:cNvPr id="111619" name="Содержимое 2"/>
          <p:cNvSpPr>
            <a:spLocks noGrp="1"/>
          </p:cNvSpPr>
          <p:nvPr>
            <p:ph idx="1"/>
          </p:nvPr>
        </p:nvSpPr>
        <p:spPr>
          <a:xfrm>
            <a:off x="467468" y="1270000"/>
            <a:ext cx="8219332" cy="4856163"/>
          </a:xfrm>
        </p:spPr>
        <p:txBody>
          <a:bodyPr>
            <a:normAutofit/>
          </a:bodyPr>
          <a:lstStyle/>
          <a:p>
            <a:r>
              <a:rPr lang="ru-RU" dirty="0" smtClean="0"/>
              <a:t>После загрузки это средство запускается один раз для проверки компьютера на предмет наличия определенных вредоносных программ (включая </a:t>
            </a:r>
            <a:r>
              <a:rPr lang="ru-RU" dirty="0" err="1" smtClean="0"/>
              <a:t>Blaster</a:t>
            </a:r>
            <a:r>
              <a:rPr lang="ru-RU" dirty="0" smtClean="0"/>
              <a:t>, </a:t>
            </a:r>
            <a:r>
              <a:rPr lang="ru-RU" dirty="0" err="1" smtClean="0"/>
              <a:t>Sasser</a:t>
            </a:r>
            <a:r>
              <a:rPr lang="ru-RU" dirty="0" smtClean="0"/>
              <a:t> и </a:t>
            </a:r>
            <a:r>
              <a:rPr lang="ru-RU" dirty="0" err="1" smtClean="0"/>
              <a:t>Mydoom</a:t>
            </a:r>
            <a:r>
              <a:rPr lang="ru-RU" dirty="0" smtClean="0"/>
              <a:t>) </a:t>
            </a:r>
            <a:r>
              <a:rPr lang="ru-RU" dirty="0" err="1" smtClean="0"/>
              <a:t>и</a:t>
            </a:r>
            <a:r>
              <a:rPr lang="ru-RU" dirty="0" smtClean="0"/>
              <a:t> удаляет такие программы. </a:t>
            </a:r>
          </a:p>
          <a:p>
            <a:r>
              <a:rPr lang="ru-RU" dirty="0" smtClean="0"/>
              <a:t>Новая версия данного средства выпускается каждый месяц.</a:t>
            </a:r>
          </a:p>
          <a:p>
            <a:r>
              <a:rPr lang="ru-RU" dirty="0" smtClean="0"/>
              <a:t>Средство удаления вредоносных программ Майкрософт не заменяет антивирусных продуктов. Оно предназначено исключительно для удаления вредоносных программ с зараженного компьютера. Поэтому корпорация Майкрософт настоятельно рекомендует установить и использовать последнюю версию антивирусного продукта.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549E92-9155-441B-872D-C1DEC037330A}" type="slidenum">
              <a:rPr lang="ru-RU" smtClean="0"/>
              <a:pPr>
                <a:defRPr/>
              </a:pPr>
              <a:t>72</a:t>
            </a:fld>
            <a:endParaRPr lang="ru-RU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Windows Live Safety Center</a:t>
            </a:r>
            <a:endParaRPr lang="ru-RU" smtClean="0"/>
          </a:p>
        </p:txBody>
      </p:sp>
      <p:sp>
        <p:nvSpPr>
          <p:cNvPr id="11776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это бесплатный online-ресурс;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позволяет проверить свой компьютер на вирусы (если паразиты будут найдены, то их можно будет удалить);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получить информацию об угрозах своему ПК,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повысить производительность ПК;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избавиться от "мусора" на своем жестком диске. В общем, ресурс позволяет решить все те проблемы, которые </a:t>
            </a:r>
            <a:r>
              <a:rPr lang="ru-RU" dirty="0" err="1" smtClean="0"/>
              <a:t>Microsoft</a:t>
            </a:r>
            <a:r>
              <a:rPr lang="ru-RU" dirty="0" smtClean="0"/>
              <a:t> обещала решить еще давно с помощью своего будущего сервиса по комплексной защите и настройке ПК.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D8DF02-62A7-4A32-B4E8-CD8AE4A2EAE0}" type="slidenum">
              <a:rPr lang="ru-RU" smtClean="0"/>
              <a:pPr>
                <a:defRPr/>
              </a:pPr>
              <a:t>73</a:t>
            </a:fld>
            <a:endParaRPr lang="ru-RU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Windows Live Safety Center:</a:t>
            </a:r>
          </a:p>
        </p:txBody>
      </p:sp>
      <p:sp>
        <p:nvSpPr>
          <p:cNvPr id="118787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ru-RU" dirty="0" smtClean="0"/>
              <a:t>Компания </a:t>
            </a:r>
            <a:r>
              <a:rPr lang="en-US" dirty="0" smtClean="0"/>
              <a:t>Microsoft </a:t>
            </a:r>
            <a:r>
              <a:rPr lang="ru-RU" dirty="0" smtClean="0"/>
              <a:t>предлагает всем желающим воспользоваться новой услугой по адресу </a:t>
            </a:r>
            <a:r>
              <a:rPr lang="ru-RU" dirty="0" smtClean="0">
                <a:hlinkClick r:id="rId2"/>
              </a:rPr>
              <a:t>http://safety.live.com/</a:t>
            </a:r>
            <a:r>
              <a:rPr lang="ru-RU" dirty="0" smtClean="0"/>
              <a:t>, а также рассказывает о других возможностях </a:t>
            </a:r>
            <a:r>
              <a:rPr lang="ru-RU" dirty="0" err="1" smtClean="0"/>
              <a:t>Windows</a:t>
            </a:r>
            <a:r>
              <a:rPr lang="ru-RU" dirty="0" smtClean="0"/>
              <a:t> </a:t>
            </a:r>
            <a:r>
              <a:rPr lang="ru-RU" dirty="0" err="1" smtClean="0"/>
              <a:t>Live</a:t>
            </a:r>
            <a:r>
              <a:rPr lang="ru-RU" dirty="0" smtClean="0"/>
              <a:t> </a:t>
            </a:r>
            <a:r>
              <a:rPr lang="ru-RU" dirty="0" err="1" smtClean="0"/>
              <a:t>Safety</a:t>
            </a:r>
            <a:r>
              <a:rPr lang="ru-RU" dirty="0" smtClean="0"/>
              <a:t> </a:t>
            </a:r>
            <a:r>
              <a:rPr lang="ru-RU" dirty="0" err="1" smtClean="0"/>
              <a:t>Center</a:t>
            </a:r>
            <a:r>
              <a:rPr lang="ru-RU" dirty="0" smtClean="0"/>
              <a:t>:</a:t>
            </a:r>
          </a:p>
          <a:p>
            <a:pPr lvl="1"/>
            <a:r>
              <a:rPr lang="ru-RU" dirty="0" smtClean="0"/>
              <a:t>полная информация о возможных угрозах </a:t>
            </a:r>
            <a:r>
              <a:rPr lang="ru-RU" dirty="0" err="1" smtClean="0"/>
              <a:t>онлайн</a:t>
            </a:r>
            <a:r>
              <a:rPr lang="ru-RU" dirty="0" smtClean="0"/>
              <a:t>; </a:t>
            </a:r>
          </a:p>
          <a:p>
            <a:pPr lvl="1"/>
            <a:r>
              <a:rPr lang="ru-RU" dirty="0" smtClean="0"/>
              <a:t>возможность пользоваться бесплатной вирусной энциклопедией; </a:t>
            </a:r>
          </a:p>
          <a:p>
            <a:pPr lvl="1"/>
            <a:r>
              <a:rPr lang="ru-RU" dirty="0" smtClean="0"/>
              <a:t>ответы на вопросы о "здоровье" и безопасности компьютера; </a:t>
            </a:r>
          </a:p>
          <a:p>
            <a:pPr lvl="1"/>
            <a:r>
              <a:rPr lang="ru-RU" dirty="0" err="1" smtClean="0"/>
              <a:t>дополнтельное</a:t>
            </a:r>
            <a:r>
              <a:rPr lang="ru-RU" dirty="0" smtClean="0"/>
              <a:t> программы для обеспечения компьютерной безопасности.</a:t>
            </a: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0E40AC-15B1-417C-8A1B-665EF56F1995}" type="slidenum">
              <a:rPr lang="ru-RU" smtClean="0"/>
              <a:pPr>
                <a:defRPr/>
              </a:pPr>
              <a:t>74</a:t>
            </a:fld>
            <a:endParaRPr lang="ru-RU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771236-D5DF-4B09-8203-8CEA43DC7476}" type="slidenum">
              <a:rPr lang="ru-RU" smtClean="0"/>
              <a:pPr>
                <a:defRPr/>
              </a:pPr>
              <a:t>75</a:t>
            </a:fld>
            <a:endParaRPr lang="ru-RU"/>
          </a:p>
        </p:txBody>
      </p:sp>
      <p:pic>
        <p:nvPicPr>
          <p:cNvPr id="119811" name="Рисунок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95500" y="371475"/>
            <a:ext cx="4953000" cy="611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E25E98-5C90-4ED9-A278-854784D4FE74}" type="slidenum">
              <a:rPr lang="ru-RU" smtClean="0"/>
              <a:pPr>
                <a:defRPr/>
              </a:pPr>
              <a:t>76</a:t>
            </a:fld>
            <a:endParaRPr lang="ru-RU"/>
          </a:p>
        </p:txBody>
      </p:sp>
      <p:pic>
        <p:nvPicPr>
          <p:cNvPr id="120835" name="Рисунок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95500" y="371475"/>
            <a:ext cx="4953000" cy="611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2662CC-8B59-4D6B-9A0A-B89024C63020}" type="slidenum">
              <a:rPr lang="ru-RU" smtClean="0"/>
              <a:pPr>
                <a:defRPr/>
              </a:pPr>
              <a:t>77</a:t>
            </a:fld>
            <a:endParaRPr lang="ru-RU"/>
          </a:p>
        </p:txBody>
      </p:sp>
      <p:pic>
        <p:nvPicPr>
          <p:cNvPr id="121859" name="Рисунок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95500" y="371475"/>
            <a:ext cx="4953000" cy="611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A032-B00D-418E-AC5C-6657E576AD21}" type="slidenum">
              <a:rPr lang="ru-RU" smtClean="0"/>
              <a:pPr>
                <a:defRPr/>
              </a:pPr>
              <a:t>78</a:t>
            </a:fld>
            <a:endParaRPr lang="ru-RU"/>
          </a:p>
        </p:txBody>
      </p:sp>
      <p:pic>
        <p:nvPicPr>
          <p:cNvPr id="122883" name="Рисунок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95500" y="371475"/>
            <a:ext cx="4953000" cy="611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лавная">
  <a:themeElements>
    <a:clrScheme name="Главная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Главная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авная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6999</TotalTime>
  <Words>3129</Words>
  <Application>Microsoft Office PowerPoint</Application>
  <PresentationFormat>Экран (4:3)</PresentationFormat>
  <Paragraphs>363</Paragraphs>
  <Slides>78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78</vt:i4>
      </vt:variant>
    </vt:vector>
  </HeadingPairs>
  <TitlesOfParts>
    <vt:vector size="79" baseType="lpstr">
      <vt:lpstr>Главная</vt:lpstr>
      <vt:lpstr>Безопасность ОС Windows</vt:lpstr>
      <vt:lpstr>Зараженность ПК с различными версиями ОС Windows</vt:lpstr>
      <vt:lpstr>Зараженность ПК с различными версиями ОС Windows</vt:lpstr>
      <vt:lpstr>Управление политикой безопасности</vt:lpstr>
      <vt:lpstr>2 подхода к настройке политики безопасности</vt:lpstr>
      <vt:lpstr>Окно оснастки «Редактор объектов групповой политики»</vt:lpstr>
      <vt:lpstr>Окно оснастки «Локальная политика безопасности» (Панель управления | Администрирование)</vt:lpstr>
      <vt:lpstr>Политика учетных записей (политика паролей)</vt:lpstr>
      <vt:lpstr>Политика учетных записей (политика паролей)</vt:lpstr>
      <vt:lpstr>Политика учетных записей (политика паролей)</vt:lpstr>
      <vt:lpstr>Политика учетных записей (политики блокировки учетных записей)</vt:lpstr>
      <vt:lpstr>Политика учетных записей (политики блокировки учетных записей)</vt:lpstr>
      <vt:lpstr>Локальные политики</vt:lpstr>
      <vt:lpstr>Примеры прав пользователей</vt:lpstr>
      <vt:lpstr>Параметры безопасности </vt:lpstr>
      <vt:lpstr>Настройка политики аудита</vt:lpstr>
      <vt:lpstr>Оснастка «Шаблоны безопасности» </vt:lpstr>
      <vt:lpstr>Оснастка «Шаблоны безопасности» (возможности оснастки) </vt:lpstr>
      <vt:lpstr>Заранее определенные компанией Microsoft конфигурации безопасности</vt:lpstr>
      <vt:lpstr>Заранее определенные компанией Microsoft конфигурации безопасности</vt:lpstr>
      <vt:lpstr>Оснастка «Анализ и настройка безопасности»</vt:lpstr>
      <vt:lpstr>Создание базы данных для проведения анализа или настройки безопасности</vt:lpstr>
      <vt:lpstr>Выполнение анализа безопасности</vt:lpstr>
      <vt:lpstr>Просмотр результатов анализа</vt:lpstr>
      <vt:lpstr>Окно результатов анализа</vt:lpstr>
      <vt:lpstr>Редактор объектов групповой политики</vt:lpstr>
      <vt:lpstr>Режимы</vt:lpstr>
      <vt:lpstr>Пример – отключение Диспетчера задач</vt:lpstr>
      <vt:lpstr>Пример – отключение автоматического обновления Windows</vt:lpstr>
      <vt:lpstr>Центр обеспечения безопасности Windows (Центр поддержки – с версии 7)</vt:lpstr>
      <vt:lpstr>XP</vt:lpstr>
      <vt:lpstr>Windows 7</vt:lpstr>
      <vt:lpstr>Windows 8</vt:lpstr>
      <vt:lpstr>Брандмауэр</vt:lpstr>
      <vt:lpstr>Брандмауэр</vt:lpstr>
      <vt:lpstr>Панель управления\Брандмауэр Windows 7</vt:lpstr>
      <vt:lpstr>Панель управления\Брандмауэр Windows 8</vt:lpstr>
      <vt:lpstr>Оснастка «Брандмауэр Windows в режиме повышенной безопасности»</vt:lpstr>
      <vt:lpstr>Брандмауэр Windows</vt:lpstr>
      <vt:lpstr>Windows Defender (Защитник Windows)</vt:lpstr>
      <vt:lpstr>Центр обновления Windows</vt:lpstr>
      <vt:lpstr>UAC – User Account Control Контроль Учетных записей пользователей</vt:lpstr>
      <vt:lpstr>Управление Контролем учетных записей (UAC)</vt:lpstr>
      <vt:lpstr>UAC</vt:lpstr>
      <vt:lpstr>UAC</vt:lpstr>
      <vt:lpstr>UAC</vt:lpstr>
      <vt:lpstr>UAC</vt:lpstr>
      <vt:lpstr>Семейная безопасность (в Панели управления)</vt:lpstr>
      <vt:lpstr>Родительский контроль / Семейная безопасность  (решаемые задачи)</vt:lpstr>
      <vt:lpstr>Другие технологии, повышающие безопасность системы</vt:lpstr>
      <vt:lpstr>Подписание драйверов</vt:lpstr>
      <vt:lpstr>Функция Patchguard (64-разрядная Vista)</vt:lpstr>
      <vt:lpstr>Технология DEP</vt:lpstr>
      <vt:lpstr>Окно Система | Защита системы | Дополнительно | Параметры быстродействия</vt:lpstr>
      <vt:lpstr>Технология DEP</vt:lpstr>
      <vt:lpstr>NAP</vt:lpstr>
      <vt:lpstr>Усиление защиты служб</vt:lpstr>
      <vt:lpstr>Выполнение с минимальными правами</vt:lpstr>
      <vt:lpstr>Изоляция служб </vt:lpstr>
      <vt:lpstr>Изоляция сеанса 0 </vt:lpstr>
      <vt:lpstr>Защита данных </vt:lpstr>
      <vt:lpstr>Шифрование (EFS)</vt:lpstr>
      <vt:lpstr>BitLocker Drive Encryption</vt:lpstr>
      <vt:lpstr>Презентация PowerPoint</vt:lpstr>
      <vt:lpstr>Защита от вредоносного ПО</vt:lpstr>
      <vt:lpstr>Программы Ms  для борьбы с вредоносным кодом</vt:lpstr>
      <vt:lpstr>Режимы работы программ для защиты от антивирусного ПО </vt:lpstr>
      <vt:lpstr>Microsoft Security Essentials</vt:lpstr>
      <vt:lpstr>Microsoft Security Essentials </vt:lpstr>
      <vt:lpstr>Microsoft Security Essentials </vt:lpstr>
      <vt:lpstr>MSRT</vt:lpstr>
      <vt:lpstr>MSRT</vt:lpstr>
      <vt:lpstr>Windows Live Safety Center</vt:lpstr>
      <vt:lpstr>Windows Live Safety Center: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Eagles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Family</dc:creator>
  <cp:lastModifiedBy>Гатиша</cp:lastModifiedBy>
  <cp:revision>279</cp:revision>
  <dcterms:created xsi:type="dcterms:W3CDTF">2007-07-23T15:23:12Z</dcterms:created>
  <dcterms:modified xsi:type="dcterms:W3CDTF">2018-04-22T20:46:58Z</dcterms:modified>
</cp:coreProperties>
</file>