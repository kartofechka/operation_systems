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083" autoAdjust="0"/>
  </p:normalViewPr>
  <p:slideViewPr>
    <p:cSldViewPr>
      <p:cViewPr>
        <p:scale>
          <a:sx n="57" d="100"/>
          <a:sy n="57" d="100"/>
        </p:scale>
        <p:origin x="-87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84072-0D4F-4494-A872-7F5EEEC77C54}" type="datetimeFigureOut">
              <a:rPr lang="ru-RU" smtClean="0"/>
              <a:t>19.03.2017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45CF9-AA3E-4243-A1D5-FA492306A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5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простая UNIX-программа, копирующая один файл из файла-источника в файл-приемник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45CF9-AA3E-4243-A1D5-FA492306AA4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256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каждым файлом связывается структура данных, называемая i-узлом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index-node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индекс узел), содержащие атрибуты файла и адреса всех блоков файла.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45CF9-AA3E-4243-A1D5-FA492306AA4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489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Недостаток метода А состоит в том, что при удалении файла в каталоге остается промежуток произвольной длины, в который описатель следующего файла может и не поместиться. Эта проблема по сути аналогична проблеме хранения на диске непрерывных файлов, только здесь уплотнение каталога вполне осуществимо, поскольку он полностью находится в памяти. </a:t>
            </a:r>
          </a:p>
          <a:p>
            <a:r>
              <a:rPr lang="ru-RU" dirty="0" smtClean="0"/>
              <a:t>Другая проблема состоит в том, что какая-нибудь запись каталога может разместиться на нескольких страницах памяти и при чтении имени файла может произойти ошибка отсутствия страницы.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45CF9-AA3E-4243-A1D5-FA492306AA42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397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любом случае просматривается элемент таблицы, соответствующий полученному </a:t>
            </a:r>
          </a:p>
          <a:p>
            <a:r>
              <a:rPr lang="ru-RU" dirty="0" smtClean="0"/>
              <a:t>хэш-коду. Если элемент не используется, туда помещается указатель на запись о файле. </a:t>
            </a:r>
          </a:p>
          <a:p>
            <a:r>
              <a:rPr lang="ru-RU" dirty="0" smtClean="0"/>
              <a:t>Эти записи следуют сразу за хэш-таблицей. Если же элемент таблицы уже занят, то </a:t>
            </a:r>
          </a:p>
          <a:p>
            <a:r>
              <a:rPr lang="ru-RU" dirty="0" smtClean="0"/>
              <a:t>создается связанный список, объединяющий все записи о файлах, имеющих </a:t>
            </a:r>
            <a:r>
              <a:rPr lang="ru-RU" dirty="0" err="1" smtClean="0"/>
              <a:t>одинако</a:t>
            </a:r>
            <a:r>
              <a:rPr lang="ru-RU" dirty="0" smtClean="0"/>
              <a:t>-</a:t>
            </a:r>
          </a:p>
          <a:p>
            <a:r>
              <a:rPr lang="ru-RU" dirty="0" smtClean="0"/>
              <a:t>вые хэш-коды, и заголовок этого списка помещается в элемент таблицы.</a:t>
            </a:r>
          </a:p>
          <a:p>
            <a:r>
              <a:rPr lang="ru-RU" dirty="0" smtClean="0"/>
              <a:t>При поиске файла производится такая же процедура. Для выбора записи в хэш-таблице </a:t>
            </a:r>
          </a:p>
          <a:p>
            <a:r>
              <a:rPr lang="ru-RU" dirty="0" smtClean="0"/>
              <a:t>имя файла </a:t>
            </a:r>
            <a:r>
              <a:rPr lang="ru-RU" dirty="0" err="1" smtClean="0"/>
              <a:t>хэшируется</a:t>
            </a:r>
            <a:r>
              <a:rPr lang="ru-RU" dirty="0" smtClean="0"/>
              <a:t>. Затем на присутствие имени файла проверяются все записи </a:t>
            </a:r>
          </a:p>
          <a:p>
            <a:r>
              <a:rPr lang="ru-RU" dirty="0" smtClean="0"/>
              <a:t>в цепочке, чей заголовок помещен в элементе таблицы. Если искомое имя файла в этой </a:t>
            </a:r>
          </a:p>
          <a:p>
            <a:r>
              <a:rPr lang="ru-RU" dirty="0" smtClean="0"/>
              <a:t>цепочке отсутствует, значит, в каталоге файла с таким именем нет.</a:t>
            </a:r>
          </a:p>
          <a:p>
            <a:r>
              <a:rPr lang="ru-RU" dirty="0" smtClean="0"/>
              <a:t>Преимущество использования хэш-таблицы состоит в существенном увеличении </a:t>
            </a:r>
            <a:r>
              <a:rPr lang="ru-RU" dirty="0" err="1" smtClean="0"/>
              <a:t>ско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рости</a:t>
            </a:r>
            <a:r>
              <a:rPr lang="ru-RU" dirty="0" smtClean="0"/>
              <a:t> поиска, а недостаток заключается в усложнении процесса администрирования.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45CF9-AA3E-4243-A1D5-FA492306AA42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33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EDA7-E633-44F0-86CD-5E94AA2D0A01}" type="datetimeFigureOut">
              <a:rPr lang="ru-RU" smtClean="0"/>
              <a:t>19.03.2017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A875DA-B964-4F8F-B8F1-F9C8992DDBA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EDA7-E633-44F0-86CD-5E94AA2D0A01}" type="datetimeFigureOut">
              <a:rPr lang="ru-RU" smtClean="0"/>
              <a:t>19.03.2017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5DA-B964-4F8F-B8F1-F9C8992DDBA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EDA7-E633-44F0-86CD-5E94AA2D0A01}" type="datetimeFigureOut">
              <a:rPr lang="ru-RU" smtClean="0"/>
              <a:t>19.03.2017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A875DA-B964-4F8F-B8F1-F9C8992DDBA2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EDA7-E633-44F0-86CD-5E94AA2D0A01}" type="datetimeFigureOut">
              <a:rPr lang="ru-RU" smtClean="0"/>
              <a:t>19.03.2017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5DA-B964-4F8F-B8F1-F9C8992DDBA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EDA7-E633-44F0-86CD-5E94AA2D0A01}" type="datetimeFigureOut">
              <a:rPr lang="ru-RU" smtClean="0"/>
              <a:t>19.03.2017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5DA-B964-4F8F-B8F1-F9C8992DDBA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EDA7-E633-44F0-86CD-5E94AA2D0A01}" type="datetimeFigureOut">
              <a:rPr lang="ru-RU" smtClean="0"/>
              <a:t>19.03.2017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5DA-B964-4F8F-B8F1-F9C8992DDBA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EDA7-E633-44F0-86CD-5E94AA2D0A01}" type="datetimeFigureOut">
              <a:rPr lang="ru-RU" smtClean="0"/>
              <a:t>19.03.2017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5DA-B964-4F8F-B8F1-F9C8992DDBA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EDA7-E633-44F0-86CD-5E94AA2D0A01}" type="datetimeFigureOut">
              <a:rPr lang="ru-RU" smtClean="0"/>
              <a:t>19.03.2017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5DA-B964-4F8F-B8F1-F9C8992DDBA2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EDA7-E633-44F0-86CD-5E94AA2D0A01}" type="datetimeFigureOut">
              <a:rPr lang="ru-RU" smtClean="0"/>
              <a:t>19.03.2017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A875DA-B964-4F8F-B8F1-F9C8992DDBA2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EDA7-E633-44F0-86CD-5E94AA2D0A01}" type="datetimeFigureOut">
              <a:rPr lang="ru-RU" smtClean="0"/>
              <a:t>19.03.2017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5DA-B964-4F8F-B8F1-F9C8992DDBA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EDA7-E633-44F0-86CD-5E94AA2D0A01}" type="datetimeFigureOut">
              <a:rPr lang="ru-RU" smtClean="0"/>
              <a:t>19.03.2017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75DA-B964-4F8F-B8F1-F9C8992DDBA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66F0EDA7-E633-44F0-86CD-5E94AA2D0A01}" type="datetimeFigureOut">
              <a:rPr lang="ru-RU" smtClean="0"/>
              <a:t>19.03.2017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54A875DA-B964-4F8F-B8F1-F9C8992DDBA2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 dirty="0" smtClean="0"/>
              <a:t>Файловые системы</a:t>
            </a:r>
            <a:endParaRPr lang="ru-RU" sz="6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469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i="1" dirty="0" smtClean="0"/>
              <a:t>Файлами</a:t>
            </a:r>
            <a:r>
              <a:rPr lang="ru-RU" dirty="0" smtClean="0"/>
              <a:t> являются </a:t>
            </a:r>
            <a:r>
              <a:rPr lang="ru-RU" dirty="0"/>
              <a:t>логическими информационными блоками, создаваемыми </a:t>
            </a:r>
            <a:r>
              <a:rPr lang="ru-RU" dirty="0" smtClean="0"/>
              <a:t>процессами</a:t>
            </a:r>
            <a:r>
              <a:rPr lang="ru-RU" dirty="0"/>
              <a:t>. </a:t>
            </a:r>
          </a:p>
          <a:p>
            <a:r>
              <a:rPr lang="ru-RU" i="1" dirty="0"/>
              <a:t>Файл</a:t>
            </a:r>
            <a:r>
              <a:rPr lang="ru-RU" dirty="0"/>
              <a:t> (англ. </a:t>
            </a:r>
            <a:r>
              <a:rPr lang="ru-RU" i="1" dirty="0" err="1"/>
              <a:t>file</a:t>
            </a:r>
            <a:r>
              <a:rPr lang="ru-RU" dirty="0"/>
              <a:t>) — именованная область данных на носителе информации</a:t>
            </a:r>
            <a:r>
              <a:rPr lang="ru-RU" dirty="0" smtClean="0"/>
              <a:t>.</a:t>
            </a:r>
          </a:p>
          <a:p>
            <a:r>
              <a:rPr lang="ru-RU" sz="2100" i="1" dirty="0"/>
              <a:t>Файл </a:t>
            </a:r>
            <a:r>
              <a:rPr lang="ru-RU" dirty="0" smtClean="0"/>
              <a:t>— это информация, хранящаяся  на внешнем носителе и  объединенная общим именем.</a:t>
            </a:r>
            <a:endParaRPr lang="ru-RU" dirty="0"/>
          </a:p>
          <a:p>
            <a:r>
              <a:rPr lang="ru-RU" i="1" dirty="0"/>
              <a:t>Файл</a:t>
            </a:r>
            <a:r>
              <a:rPr lang="ru-RU" dirty="0"/>
              <a:t> является механизмом абстрагирования. Он предоставляет способ сохранения </a:t>
            </a:r>
            <a:r>
              <a:rPr lang="ru-RU" dirty="0" smtClean="0"/>
              <a:t>информации </a:t>
            </a:r>
            <a:r>
              <a:rPr lang="ru-RU" dirty="0"/>
              <a:t>на диске и последующего ее считывания, который должен оградить </a:t>
            </a:r>
            <a:r>
              <a:rPr lang="ru-RU" dirty="0" smtClean="0"/>
              <a:t>пользователя </a:t>
            </a:r>
            <a:r>
              <a:rPr lang="ru-RU" dirty="0"/>
              <a:t>от подробностей о способе и месте хранения информации и деталей </a:t>
            </a:r>
            <a:r>
              <a:rPr lang="ru-RU" dirty="0" smtClean="0"/>
              <a:t>фактической </a:t>
            </a:r>
            <a:r>
              <a:rPr lang="ru-RU" dirty="0"/>
              <a:t>работы дисковых устройств.</a:t>
            </a:r>
          </a:p>
        </p:txBody>
      </p:sp>
    </p:spTree>
    <p:extLst>
      <p:ext uri="{BB962C8B-B14F-4D97-AF65-F5344CB8AC3E}">
        <p14:creationId xmlns:p14="http://schemas.microsoft.com/office/powerpoint/2010/main" val="3083628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файла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Три наиболее </a:t>
            </a:r>
            <a:r>
              <a:rPr lang="ru-RU" dirty="0"/>
              <a:t>вероятные структуры показаны на </a:t>
            </a:r>
            <a:r>
              <a:rPr lang="ru-RU" dirty="0" smtClean="0"/>
              <a:t>рисунке. </a:t>
            </a:r>
            <a:r>
              <a:rPr lang="ru-RU" dirty="0"/>
              <a:t>Файл на рис. </a:t>
            </a:r>
            <a:r>
              <a:rPr lang="ru-RU" dirty="0" smtClean="0"/>
              <a:t>а </a:t>
            </a:r>
            <a:r>
              <a:rPr lang="ru-RU" dirty="0"/>
              <a:t>представляет </a:t>
            </a:r>
            <a:r>
              <a:rPr lang="ru-RU" dirty="0" smtClean="0"/>
              <a:t>собой </a:t>
            </a:r>
            <a:r>
              <a:rPr lang="ru-RU" dirty="0"/>
              <a:t>бессистемную последовательность байтов. В сущности, операционной системе все </a:t>
            </a:r>
            <a:r>
              <a:rPr lang="ru-RU" dirty="0" smtClean="0"/>
              <a:t>равно</a:t>
            </a:r>
            <a:r>
              <a:rPr lang="ru-RU" dirty="0"/>
              <a:t>, что содержится в этом файле, — она видит только байты. Какое-либо значение </a:t>
            </a:r>
            <a:r>
              <a:rPr lang="ru-RU" dirty="0" smtClean="0"/>
              <a:t>этим </a:t>
            </a:r>
            <a:r>
              <a:rPr lang="ru-RU" dirty="0"/>
              <a:t>байтам придают программы на уровне пользователя. Такой подход используется </a:t>
            </a:r>
            <a:r>
              <a:rPr lang="ru-RU" dirty="0" smtClean="0"/>
              <a:t>как </a:t>
            </a:r>
            <a:r>
              <a:rPr lang="ru-RU" dirty="0"/>
              <a:t>в UNIX, так и в </a:t>
            </a:r>
            <a:r>
              <a:rPr lang="ru-RU" dirty="0" err="1"/>
              <a:t>Windows</a:t>
            </a:r>
            <a:r>
              <a:rPr lang="ru-RU" dirty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933056"/>
            <a:ext cx="5472509" cy="2780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7636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файлов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Многие </a:t>
            </a:r>
            <a:r>
              <a:rPr lang="ru-RU" dirty="0" smtClean="0"/>
              <a:t>ОС поддерживают </a:t>
            </a:r>
            <a:r>
              <a:rPr lang="ru-RU" dirty="0"/>
              <a:t>несколько типов файлов. </a:t>
            </a:r>
            <a:endParaRPr lang="ru-RU" dirty="0" smtClean="0"/>
          </a:p>
          <a:p>
            <a:r>
              <a:rPr lang="ru-RU" dirty="0" smtClean="0"/>
              <a:t>К </a:t>
            </a:r>
            <a:r>
              <a:rPr lang="ru-RU" dirty="0"/>
              <a:t>примеру, </a:t>
            </a:r>
            <a:r>
              <a:rPr lang="ru-RU" dirty="0" smtClean="0"/>
              <a:t>в </a:t>
            </a:r>
            <a:r>
              <a:rPr lang="ru-RU" dirty="0"/>
              <a:t>системах UNIX </a:t>
            </a:r>
            <a:r>
              <a:rPr lang="ru-RU" dirty="0" smtClean="0"/>
              <a:t>(включая </a:t>
            </a:r>
            <a:r>
              <a:rPr lang="ru-RU" dirty="0"/>
              <a:t>OS X) и </a:t>
            </a:r>
            <a:r>
              <a:rPr lang="ru-RU" dirty="0" err="1"/>
              <a:t>Windows</a:t>
            </a:r>
            <a:r>
              <a:rPr lang="ru-RU" dirty="0"/>
              <a:t> имеются обычные файлы и </a:t>
            </a:r>
            <a:r>
              <a:rPr lang="ru-RU" dirty="0" smtClean="0"/>
              <a:t>каталоги</a:t>
            </a:r>
            <a:r>
              <a:rPr lang="ru-RU" dirty="0"/>
              <a:t>. </a:t>
            </a:r>
            <a:r>
              <a:rPr lang="ru-RU" dirty="0" smtClean="0"/>
              <a:t>В </a:t>
            </a:r>
            <a:r>
              <a:rPr lang="ru-RU" dirty="0"/>
              <a:t>системе UNIX имеются также символьные и блочные специальные файлы. </a:t>
            </a:r>
          </a:p>
          <a:p>
            <a:r>
              <a:rPr lang="ru-RU" i="1" dirty="0"/>
              <a:t>Обычными</a:t>
            </a:r>
            <a:r>
              <a:rPr lang="ru-RU" dirty="0"/>
              <a:t> считаются файлы, содержащие информацию пользователя</a:t>
            </a:r>
            <a:r>
              <a:rPr lang="ru-RU" dirty="0" smtClean="0"/>
              <a:t>.</a:t>
            </a:r>
          </a:p>
          <a:p>
            <a:r>
              <a:rPr lang="ru-RU" i="1" dirty="0"/>
              <a:t>Каталоги</a:t>
            </a:r>
            <a:r>
              <a:rPr lang="ru-RU" dirty="0"/>
              <a:t> — это системные файлы, предназначенные для </a:t>
            </a:r>
            <a:r>
              <a:rPr lang="ru-RU" dirty="0" smtClean="0"/>
              <a:t>поддержки </a:t>
            </a:r>
            <a:r>
              <a:rPr lang="ru-RU" dirty="0"/>
              <a:t>структуры файловой системы. </a:t>
            </a:r>
            <a:endParaRPr lang="ru-RU" dirty="0" smtClean="0"/>
          </a:p>
          <a:p>
            <a:r>
              <a:rPr lang="ru-RU" i="1" dirty="0"/>
              <a:t>Символьные </a:t>
            </a:r>
            <a:r>
              <a:rPr lang="ru-RU" i="1" dirty="0" smtClean="0"/>
              <a:t>специальные</a:t>
            </a:r>
            <a:r>
              <a:rPr lang="ru-RU" dirty="0" smtClean="0"/>
              <a:t> </a:t>
            </a:r>
            <a:r>
              <a:rPr lang="ru-RU" dirty="0"/>
              <a:t>файлы имеют отношение к вводу-выводу и используются для </a:t>
            </a:r>
            <a:r>
              <a:rPr lang="ru-RU" dirty="0" smtClean="0"/>
              <a:t>моделирования </a:t>
            </a:r>
            <a:r>
              <a:rPr lang="ru-RU" dirty="0"/>
              <a:t>последовательных устройств ввода-вывода, к которым относятся терминалы, </a:t>
            </a:r>
            <a:r>
              <a:rPr lang="ru-RU" dirty="0" smtClean="0"/>
              <a:t>принтеры </a:t>
            </a:r>
            <a:r>
              <a:rPr lang="ru-RU" dirty="0"/>
              <a:t>и сети. </a:t>
            </a:r>
            <a:endParaRPr lang="ru-RU" dirty="0" smtClean="0"/>
          </a:p>
          <a:p>
            <a:r>
              <a:rPr lang="ru-RU" i="1" dirty="0" smtClean="0"/>
              <a:t>Блочные </a:t>
            </a:r>
            <a:r>
              <a:rPr lang="ru-RU" i="1" dirty="0"/>
              <a:t>специальные</a:t>
            </a:r>
            <a:r>
              <a:rPr lang="ru-RU" dirty="0"/>
              <a:t> файлы используются для моделирования </a:t>
            </a:r>
            <a:r>
              <a:rPr lang="ru-RU" dirty="0" smtClean="0"/>
              <a:t>дисков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5980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Доступ к файлам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самых первых </a:t>
            </a:r>
            <a:r>
              <a:rPr lang="ru-RU" dirty="0" smtClean="0"/>
              <a:t>ОС предоставлялся </a:t>
            </a:r>
            <a:r>
              <a:rPr lang="ru-RU" dirty="0"/>
              <a:t>только один тип доступа </a:t>
            </a:r>
            <a:r>
              <a:rPr lang="ru-RU" dirty="0" smtClean="0"/>
              <a:t>к </a:t>
            </a:r>
            <a:r>
              <a:rPr lang="ru-RU" dirty="0"/>
              <a:t>файлам — </a:t>
            </a:r>
            <a:r>
              <a:rPr lang="ru-RU" i="1" dirty="0"/>
              <a:t>последовательный</a:t>
            </a:r>
            <a:r>
              <a:rPr lang="ru-RU" dirty="0"/>
              <a:t>. В этих системах процесс мог читать все байты или </a:t>
            </a:r>
            <a:r>
              <a:rPr lang="ru-RU" dirty="0" smtClean="0"/>
              <a:t>записи </a:t>
            </a:r>
            <a:r>
              <a:rPr lang="ru-RU" dirty="0"/>
              <a:t>файла только по порядку, с самого начала, но не мог перепрыгнуть и считать </a:t>
            </a:r>
            <a:r>
              <a:rPr lang="ru-RU" dirty="0" smtClean="0"/>
              <a:t>их </a:t>
            </a:r>
            <a:r>
              <a:rPr lang="ru-RU" dirty="0"/>
              <a:t>вне порядка их следования.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/>
              <a:t>Когда для хранения файлов стали использоваться диски, появилась возможность </a:t>
            </a:r>
            <a:r>
              <a:rPr lang="ru-RU" dirty="0" smtClean="0"/>
              <a:t>считывать </a:t>
            </a:r>
            <a:r>
              <a:rPr lang="ru-RU" dirty="0"/>
              <a:t>байты или записи файла вне порядка их размещения или получать доступ </a:t>
            </a:r>
            <a:r>
              <a:rPr lang="ru-RU" dirty="0" smtClean="0"/>
              <a:t>к </a:t>
            </a:r>
            <a:r>
              <a:rPr lang="ru-RU" dirty="0"/>
              <a:t>записям по ключу, а не по позиции. Файлы, в которых байты или записи могли быть </a:t>
            </a:r>
            <a:r>
              <a:rPr lang="ru-RU" dirty="0" smtClean="0"/>
              <a:t>считаны </a:t>
            </a:r>
            <a:r>
              <a:rPr lang="ru-RU" dirty="0"/>
              <a:t>в любом порядке, стали называть </a:t>
            </a:r>
            <a:r>
              <a:rPr lang="ru-RU" i="1" dirty="0"/>
              <a:t>файлами произвольного доступа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1748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 файлов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 каждого файла есть свои имя и данные. Вдобавок к этому </a:t>
            </a:r>
            <a:r>
              <a:rPr lang="ru-RU" dirty="0" smtClean="0"/>
              <a:t>все ОС связывают </a:t>
            </a:r>
            <a:r>
              <a:rPr lang="ru-RU" dirty="0"/>
              <a:t>с каждым файлом и другую информацию, к примеру дату и время </a:t>
            </a:r>
            <a:r>
              <a:rPr lang="ru-RU" dirty="0" smtClean="0"/>
              <a:t>последней </a:t>
            </a:r>
            <a:r>
              <a:rPr lang="ru-RU" dirty="0"/>
              <a:t>модификации файла и его размер. </a:t>
            </a:r>
            <a:endParaRPr lang="ru-RU" dirty="0" smtClean="0"/>
          </a:p>
          <a:p>
            <a:r>
              <a:rPr lang="ru-RU" dirty="0" smtClean="0"/>
              <a:t>Эти </a:t>
            </a:r>
            <a:r>
              <a:rPr lang="ru-RU" dirty="0"/>
              <a:t>дополнительные </a:t>
            </a:r>
            <a:r>
              <a:rPr lang="ru-RU" dirty="0" smtClean="0"/>
              <a:t>сведения называются </a:t>
            </a:r>
            <a:r>
              <a:rPr lang="ru-RU" i="1" dirty="0" smtClean="0"/>
              <a:t>атрибутами </a:t>
            </a:r>
            <a:r>
              <a:rPr lang="ru-RU" i="1" dirty="0"/>
              <a:t>файла. </a:t>
            </a:r>
            <a:r>
              <a:rPr lang="ru-RU" dirty="0"/>
              <a:t>Также их называют </a:t>
            </a:r>
            <a:r>
              <a:rPr lang="ru-RU" i="1" dirty="0"/>
              <a:t>метаданными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Список </a:t>
            </a:r>
            <a:r>
              <a:rPr lang="ru-RU" dirty="0"/>
              <a:t>атрибутов </a:t>
            </a:r>
            <a:r>
              <a:rPr lang="ru-RU" dirty="0" smtClean="0"/>
              <a:t>существенно </a:t>
            </a:r>
            <a:r>
              <a:rPr lang="ru-RU" dirty="0"/>
              <a:t>варьируется от системы к системе.</a:t>
            </a:r>
          </a:p>
        </p:txBody>
      </p:sp>
    </p:spTree>
    <p:extLst>
      <p:ext uri="{BB962C8B-B14F-4D97-AF65-F5344CB8AC3E}">
        <p14:creationId xmlns:p14="http://schemas.microsoft.com/office/powerpoint/2010/main" val="173651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Атрибуты файлов</a:t>
            </a:r>
            <a:br>
              <a:rPr lang="ru-RU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908719"/>
            <a:ext cx="5688632" cy="5878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3017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 файлами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484784"/>
            <a:ext cx="7992888" cy="5040560"/>
          </a:xfrm>
        </p:spPr>
        <p:txBody>
          <a:bodyPr>
            <a:no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lang="ru-RU" sz="1300" dirty="0"/>
              <a:t> </a:t>
            </a:r>
            <a:r>
              <a:rPr lang="ru-RU" sz="1300" dirty="0" smtClean="0"/>
              <a:t>Наиболее </a:t>
            </a:r>
            <a:r>
              <a:rPr lang="ru-RU" sz="1300" dirty="0"/>
              <a:t>распространенные </a:t>
            </a:r>
            <a:r>
              <a:rPr lang="ru-RU" sz="1300" dirty="0" smtClean="0"/>
              <a:t>системные </a:t>
            </a:r>
            <a:r>
              <a:rPr lang="ru-RU" sz="1300" dirty="0"/>
              <a:t>вызовы, относящиеся к работе с </a:t>
            </a:r>
            <a:r>
              <a:rPr lang="ru-RU" sz="1300" dirty="0" smtClean="0"/>
              <a:t>файлами:</a:t>
            </a:r>
          </a:p>
          <a:p>
            <a:pPr marL="171450" indent="-171450">
              <a:lnSpc>
                <a:spcPct val="120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ru-RU" sz="1300" dirty="0" err="1" smtClean="0"/>
              <a:t>Create</a:t>
            </a:r>
            <a:r>
              <a:rPr lang="ru-RU" sz="1300" dirty="0" smtClean="0"/>
              <a:t> </a:t>
            </a:r>
            <a:r>
              <a:rPr lang="ru-RU" sz="1300" dirty="0"/>
              <a:t>(Создать). </a:t>
            </a:r>
            <a:r>
              <a:rPr lang="ru-RU" sz="1300" dirty="0" err="1" smtClean="0"/>
              <a:t>Объявлениие</a:t>
            </a:r>
            <a:r>
              <a:rPr lang="ru-RU" sz="1300" dirty="0" smtClean="0"/>
              <a:t> о </a:t>
            </a:r>
            <a:r>
              <a:rPr lang="ru-RU" sz="1300" dirty="0"/>
              <a:t>появлении нового файла и установке ряда атрибутов.</a:t>
            </a:r>
          </a:p>
          <a:p>
            <a:pPr marL="171450" indent="-171450">
              <a:lnSpc>
                <a:spcPct val="120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ru-RU" sz="1300" dirty="0" err="1" smtClean="0"/>
              <a:t>Delete</a:t>
            </a:r>
            <a:r>
              <a:rPr lang="ru-RU" sz="1300" dirty="0" smtClean="0"/>
              <a:t> </a:t>
            </a:r>
            <a:r>
              <a:rPr lang="ru-RU" sz="1300" dirty="0"/>
              <a:t>(Удалить). Когда файл больше не нужен, его нужно удалить, чтобы </a:t>
            </a:r>
            <a:r>
              <a:rPr lang="ru-RU" sz="1300" dirty="0" smtClean="0"/>
              <a:t>освободить </a:t>
            </a:r>
            <a:r>
              <a:rPr lang="ru-RU" sz="1300" dirty="0"/>
              <a:t>дисковое пространство. </a:t>
            </a:r>
          </a:p>
          <a:p>
            <a:pPr marL="171450" indent="-171450">
              <a:lnSpc>
                <a:spcPct val="120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ru-RU" sz="1300" dirty="0" err="1" smtClean="0"/>
              <a:t>Open</a:t>
            </a:r>
            <a:r>
              <a:rPr lang="ru-RU" sz="1300" dirty="0" smtClean="0"/>
              <a:t> </a:t>
            </a:r>
            <a:r>
              <a:rPr lang="ru-RU" sz="1300" dirty="0"/>
              <a:t>(Открыть). Перед использованием файла процесс должен его открыть. </a:t>
            </a:r>
            <a:r>
              <a:rPr lang="ru-RU" sz="1300" dirty="0" smtClean="0"/>
              <a:t>Система извлекает </a:t>
            </a:r>
            <a:r>
              <a:rPr lang="ru-RU" sz="1300" dirty="0"/>
              <a:t>и </a:t>
            </a:r>
            <a:r>
              <a:rPr lang="ru-RU" sz="1300" dirty="0" smtClean="0"/>
              <a:t>помещает </a:t>
            </a:r>
            <a:r>
              <a:rPr lang="ru-RU" sz="1300" dirty="0"/>
              <a:t>в </a:t>
            </a:r>
            <a:r>
              <a:rPr lang="ru-RU" sz="1300" dirty="0" smtClean="0"/>
              <a:t>оперативную </a:t>
            </a:r>
            <a:r>
              <a:rPr lang="ru-RU" sz="1300" dirty="0"/>
              <a:t>память атрибуты и перечень адресов на диске, чтобы ускорить </a:t>
            </a:r>
            <a:r>
              <a:rPr lang="ru-RU" sz="1300" dirty="0" smtClean="0"/>
              <a:t>доступ при </a:t>
            </a:r>
            <a:r>
              <a:rPr lang="ru-RU" sz="1300" dirty="0"/>
              <a:t>последующих вызовах.</a:t>
            </a:r>
          </a:p>
          <a:p>
            <a:pPr marL="171450" indent="-171450">
              <a:lnSpc>
                <a:spcPct val="120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ru-RU" sz="1300" dirty="0" err="1" smtClean="0"/>
              <a:t>Close</a:t>
            </a:r>
            <a:r>
              <a:rPr lang="ru-RU" sz="1300" dirty="0" smtClean="0"/>
              <a:t> </a:t>
            </a:r>
            <a:r>
              <a:rPr lang="ru-RU" sz="1300" dirty="0"/>
              <a:t>(Закрыть). После завершения всех обращений к файлу потребность в его </a:t>
            </a:r>
            <a:r>
              <a:rPr lang="ru-RU" sz="1300" dirty="0" smtClean="0"/>
              <a:t>атрибутах </a:t>
            </a:r>
            <a:r>
              <a:rPr lang="ru-RU" sz="1300" dirty="0"/>
              <a:t>и адресах на диске уже отпадает, поэтому файл должен быть закрыт, </a:t>
            </a:r>
            <a:r>
              <a:rPr lang="ru-RU" sz="1300" dirty="0" smtClean="0"/>
              <a:t>чтобы </a:t>
            </a:r>
            <a:r>
              <a:rPr lang="ru-RU" sz="1300" dirty="0"/>
              <a:t>освободить место во внутренней </a:t>
            </a:r>
            <a:r>
              <a:rPr lang="ru-RU" sz="1300" dirty="0" smtClean="0"/>
              <a:t>таблице</a:t>
            </a:r>
          </a:p>
          <a:p>
            <a:pPr marL="171450" indent="-171450">
              <a:lnSpc>
                <a:spcPct val="120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ru-RU" sz="1300" dirty="0" err="1" smtClean="0"/>
              <a:t>Read</a:t>
            </a:r>
            <a:r>
              <a:rPr lang="ru-RU" sz="1300" dirty="0" smtClean="0"/>
              <a:t> </a:t>
            </a:r>
            <a:r>
              <a:rPr lang="ru-RU" sz="1300" dirty="0"/>
              <a:t>(Произвести чтение). Считывание данных из файла. </a:t>
            </a:r>
            <a:endParaRPr lang="ru-RU" sz="1300" dirty="0" smtClean="0"/>
          </a:p>
          <a:p>
            <a:pPr marL="171450" indent="-171450">
              <a:lnSpc>
                <a:spcPct val="120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ru-RU" sz="1300" dirty="0" err="1" smtClean="0"/>
              <a:t>Write</a:t>
            </a:r>
            <a:r>
              <a:rPr lang="ru-RU" sz="1300" dirty="0" smtClean="0"/>
              <a:t> </a:t>
            </a:r>
            <a:r>
              <a:rPr lang="ru-RU" sz="1300" dirty="0"/>
              <a:t>(Произвести запись). Запись данных в файл, как правило, с текущей позиции. </a:t>
            </a:r>
            <a:endParaRPr lang="ru-RU" sz="1300" dirty="0" smtClean="0"/>
          </a:p>
          <a:p>
            <a:pPr marL="171450" indent="-171450">
              <a:lnSpc>
                <a:spcPct val="120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ru-RU" sz="1300" dirty="0" err="1" smtClean="0"/>
              <a:t>Append</a:t>
            </a:r>
            <a:r>
              <a:rPr lang="ru-RU" sz="1300" dirty="0" smtClean="0"/>
              <a:t> </a:t>
            </a:r>
            <a:r>
              <a:rPr lang="ru-RU" sz="1300" dirty="0"/>
              <a:t>(Добавить). </a:t>
            </a:r>
            <a:r>
              <a:rPr lang="ru-RU" sz="1300" dirty="0" smtClean="0"/>
              <a:t>Добавление </a:t>
            </a:r>
            <a:r>
              <a:rPr lang="ru-RU" sz="1300" dirty="0" err="1" smtClean="0"/>
              <a:t>данныех</a:t>
            </a:r>
            <a:r>
              <a:rPr lang="ru-RU" sz="1300" dirty="0" smtClean="0"/>
              <a:t> в </a:t>
            </a:r>
            <a:r>
              <a:rPr lang="ru-RU" sz="1300" dirty="0"/>
              <a:t>конец </a:t>
            </a:r>
            <a:r>
              <a:rPr lang="ru-RU" sz="1300" dirty="0" smtClean="0"/>
              <a:t>файла</a:t>
            </a:r>
          </a:p>
          <a:p>
            <a:pPr marL="171450" indent="-171450">
              <a:lnSpc>
                <a:spcPct val="120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ru-RU" sz="1300" dirty="0" err="1" smtClean="0"/>
              <a:t>Seek</a:t>
            </a:r>
            <a:r>
              <a:rPr lang="ru-RU" sz="1300" dirty="0" smtClean="0"/>
              <a:t> </a:t>
            </a:r>
            <a:r>
              <a:rPr lang="ru-RU" sz="1300" dirty="0"/>
              <a:t>(Найти). При работе с файлами произвольного доступа нужен способ указания </a:t>
            </a:r>
            <a:r>
              <a:rPr lang="ru-RU" sz="1300" dirty="0" smtClean="0"/>
              <a:t>места</a:t>
            </a:r>
            <a:r>
              <a:rPr lang="ru-RU" sz="1300" dirty="0"/>
              <a:t>, с которого берутся данные. В</a:t>
            </a:r>
            <a:r>
              <a:rPr lang="ru-RU" sz="1300" dirty="0" smtClean="0"/>
              <a:t>ызов </a:t>
            </a:r>
            <a:r>
              <a:rPr lang="ru-RU" sz="1300" dirty="0" err="1" smtClean="0"/>
              <a:t>seek</a:t>
            </a:r>
            <a:r>
              <a:rPr lang="ru-RU" sz="1300" dirty="0" smtClean="0"/>
              <a:t> перемещает </a:t>
            </a:r>
            <a:r>
              <a:rPr lang="ru-RU" sz="1300" dirty="0"/>
              <a:t>указатель файла к </a:t>
            </a:r>
            <a:r>
              <a:rPr lang="ru-RU" sz="1300" dirty="0" smtClean="0"/>
              <a:t>определенной </a:t>
            </a:r>
            <a:r>
              <a:rPr lang="ru-RU" sz="1300" dirty="0"/>
              <a:t>позиции в </a:t>
            </a:r>
            <a:r>
              <a:rPr lang="ru-RU" sz="1300" dirty="0" smtClean="0"/>
              <a:t>файле.</a:t>
            </a:r>
            <a:endParaRPr lang="ru-RU" sz="1300" dirty="0"/>
          </a:p>
          <a:p>
            <a:pPr marL="171450" indent="-171450">
              <a:lnSpc>
                <a:spcPct val="120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ru-RU" sz="1300" dirty="0" err="1" smtClean="0"/>
              <a:t>Get</a:t>
            </a:r>
            <a:r>
              <a:rPr lang="ru-RU" sz="1300" dirty="0" smtClean="0"/>
              <a:t> </a:t>
            </a:r>
            <a:r>
              <a:rPr lang="ru-RU" sz="1300" dirty="0" err="1"/>
              <a:t>attributes</a:t>
            </a:r>
            <a:r>
              <a:rPr lang="ru-RU" sz="1300" dirty="0"/>
              <a:t> (Получить атрибуты). </a:t>
            </a:r>
            <a:endParaRPr lang="ru-RU" sz="1300" dirty="0" smtClean="0"/>
          </a:p>
          <a:p>
            <a:pPr marL="171450" indent="-171450">
              <a:lnSpc>
                <a:spcPct val="120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ru-RU" sz="1300" dirty="0" err="1" smtClean="0"/>
              <a:t>Set</a:t>
            </a:r>
            <a:r>
              <a:rPr lang="ru-RU" sz="1300" dirty="0" smtClean="0"/>
              <a:t> </a:t>
            </a:r>
            <a:r>
              <a:rPr lang="ru-RU" sz="1300" dirty="0" err="1"/>
              <a:t>attributes</a:t>
            </a:r>
            <a:r>
              <a:rPr lang="ru-RU" sz="1300" dirty="0"/>
              <a:t> (Установить атрибуты). </a:t>
            </a:r>
            <a:endParaRPr lang="ru-RU" sz="1300" dirty="0" smtClean="0"/>
          </a:p>
          <a:p>
            <a:pPr marL="171450" indent="-171450">
              <a:lnSpc>
                <a:spcPct val="120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ru-RU" sz="1300" dirty="0" err="1" smtClean="0"/>
              <a:t>Rename</a:t>
            </a:r>
            <a:r>
              <a:rPr lang="ru-RU" sz="1300" dirty="0" smtClean="0"/>
              <a:t> </a:t>
            </a:r>
            <a:r>
              <a:rPr lang="ru-RU" sz="1300" dirty="0"/>
              <a:t>(Переименовать). </a:t>
            </a:r>
          </a:p>
        </p:txBody>
      </p:sp>
    </p:spTree>
    <p:extLst>
      <p:ext uri="{BB962C8B-B14F-4D97-AF65-F5344CB8AC3E}">
        <p14:creationId xmlns:p14="http://schemas.microsoft.com/office/powerpoint/2010/main" val="1216255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571184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программы, использующей </a:t>
            </a:r>
            <a:r>
              <a:rPr lang="ru-RU" dirty="0" smtClean="0"/>
              <a:t>файловые </a:t>
            </a:r>
            <a:r>
              <a:rPr lang="ru-RU" dirty="0"/>
              <a:t>системные вызовы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7620000" cy="5373216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ru-RU" sz="1000" dirty="0">
                <a:latin typeface="Courier New" pitchFamily="49" charset="0"/>
                <a:cs typeface="Courier New" pitchFamily="49" charset="0"/>
              </a:rPr>
              <a:t>/* Программа копирования файла. Контроль ошибок и сообщения об их возникновении </a:t>
            </a:r>
          </a:p>
          <a:p>
            <a:pPr>
              <a:spcAft>
                <a:spcPts val="0"/>
              </a:spcAft>
            </a:pPr>
            <a:r>
              <a:rPr lang="ru-RU" sz="1000" dirty="0">
                <a:latin typeface="Courier New" pitchFamily="49" charset="0"/>
                <a:cs typeface="Courier New" pitchFamily="49" charset="0"/>
              </a:rPr>
              <a:t>сведены к минимуму.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*/</a:t>
            </a:r>
            <a:endParaRPr lang="ru-RU" sz="10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ru-RU" sz="1000" dirty="0"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include &lt;sys/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types.h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&gt;             /*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включение необходимых заголовочных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файлов*/</a:t>
            </a:r>
            <a:endParaRPr lang="ru-RU" sz="10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ru-RU" sz="1000" dirty="0"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include &lt;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fcntl.h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Aft>
                <a:spcPts val="0"/>
              </a:spcAft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stdlib.h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Aft>
                <a:spcPts val="0"/>
              </a:spcAft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unistd.h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&gt;</a:t>
            </a:r>
            <a:endParaRPr lang="en-US" sz="10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define BUF_SIZE 4096              /*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используется буфер размером 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4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096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байт */</a:t>
            </a:r>
          </a:p>
          <a:p>
            <a:pPr>
              <a:spcAft>
                <a:spcPts val="0"/>
              </a:spcAft>
            </a:pPr>
            <a:r>
              <a:rPr lang="ru-RU" sz="1000" dirty="0"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define OUTPUT_MODE 0700           /*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биты защиты для выходного файла */</a:t>
            </a:r>
          </a:p>
          <a:p>
            <a:pPr>
              <a:spcAft>
                <a:spcPts val="0"/>
              </a:spcAft>
            </a:pP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, char *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>
              <a:spcAft>
                <a:spcPts val="0"/>
              </a:spcAft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Aft>
                <a:spcPts val="0"/>
              </a:spcAft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in_fd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out_fd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rd_count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wt_count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Aft>
                <a:spcPts val="0"/>
              </a:spcAft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char buffer[BUF_SIZE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];</a:t>
            </a:r>
            <a:endParaRPr lang="en-US" sz="10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if (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!= 3) exit(1);        /*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если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не равен 3,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возникает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синтаксическая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ошибка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*/</a:t>
            </a:r>
            <a:endParaRPr lang="ru-RU" sz="10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in_fd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 open(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[1], O_RDONLY);        /*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открытие исходного файла */</a:t>
            </a:r>
          </a:p>
          <a:p>
            <a:pPr>
              <a:spcAft>
                <a:spcPts val="0"/>
              </a:spcAft>
            </a:pPr>
            <a:r>
              <a:rPr lang="ru-RU" sz="1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in_fd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&lt; 0) exit(2);                 /*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если он не открывается, выйти */</a:t>
            </a:r>
          </a:p>
          <a:p>
            <a:pPr>
              <a:spcAft>
                <a:spcPts val="0"/>
              </a:spcAft>
            </a:pPr>
            <a:r>
              <a:rPr lang="ru-RU" sz="1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out_fd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creat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[2], OUTPUT_MODE);   /*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создание файла-приемника */</a:t>
            </a:r>
          </a:p>
          <a:p>
            <a:pPr>
              <a:spcAft>
                <a:spcPts val="0"/>
              </a:spcAft>
            </a:pPr>
            <a:r>
              <a:rPr lang="ru-RU" sz="1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out_fd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&lt; 0) exit(3);                /*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если он не создается, выйти */</a:t>
            </a:r>
          </a:p>
          <a:p>
            <a:pPr>
              <a:spcAft>
                <a:spcPts val="0"/>
              </a:spcAft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while 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(TRUE) 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{		       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/*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Цикл копирования */</a:t>
            </a:r>
            <a:endParaRPr lang="en-US" sz="10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rd_count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= read(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in_fd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, buffer, BUF_SIZE); /*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чтение блока данных */</a:t>
            </a:r>
          </a:p>
          <a:p>
            <a:pPr>
              <a:spcAft>
                <a:spcPts val="0"/>
              </a:spcAft>
            </a:pPr>
            <a:r>
              <a:rPr lang="ru-RU" sz="1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rd_count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&lt;= 0) break;      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    /*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в конце файла или при ошибке – выйти из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цикла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*/</a:t>
            </a:r>
          </a:p>
          <a:p>
            <a:pPr>
              <a:spcAft>
                <a:spcPts val="0"/>
              </a:spcAft>
            </a:pPr>
            <a:r>
              <a:rPr lang="ru-RU" sz="10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wt_count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= write(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out_fd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, buffer,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rd_count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); /*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запись данных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*/</a:t>
            </a:r>
          </a:p>
          <a:p>
            <a:pPr>
              <a:spcAft>
                <a:spcPts val="0"/>
              </a:spcAft>
            </a:pP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wt_count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&lt;= 0) exit(4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);             /*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при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wt_count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&lt;= 0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возникает ошибка */</a:t>
            </a:r>
          </a:p>
          <a:p>
            <a:pPr>
              <a:spcAft>
                <a:spcPts val="0"/>
              </a:spcAft>
            </a:pPr>
            <a:r>
              <a:rPr lang="ru-RU" sz="1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0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close(</a:t>
            </a:r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in_fd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); 		        /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Закрытие файлов */</a:t>
            </a:r>
            <a:endParaRPr lang="en-US" sz="10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close(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out_fd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Aft>
                <a:spcPts val="0"/>
              </a:spcAft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if (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rd_count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== 0) exit(0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);   	        /*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при последнем чтении ошибки не возникло */</a:t>
            </a:r>
          </a:p>
          <a:p>
            <a:pPr>
              <a:spcAft>
                <a:spcPts val="0"/>
              </a:spcAft>
            </a:pP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else 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exit(5);                 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/* </a:t>
            </a:r>
            <a:r>
              <a:rPr lang="ru-RU" sz="1000" dirty="0">
                <a:latin typeface="Courier New" pitchFamily="49" charset="0"/>
                <a:cs typeface="Courier New" pitchFamily="49" charset="0"/>
              </a:rPr>
              <a:t>ошибка при последнем чтении */</a:t>
            </a:r>
          </a:p>
          <a:p>
            <a:pPr>
              <a:spcAft>
                <a:spcPts val="0"/>
              </a:spcAft>
            </a:pPr>
            <a:r>
              <a:rPr lang="ru-RU" sz="1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8411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системы каталогов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Системы с одноуровневыми </a:t>
            </a:r>
            <a:r>
              <a:rPr lang="ru-RU" dirty="0" smtClean="0"/>
              <a:t>каталогами.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Иерархические системы </a:t>
            </a:r>
            <a:r>
              <a:rPr lang="ru-RU" dirty="0" smtClean="0"/>
              <a:t>каталогов.</a:t>
            </a:r>
          </a:p>
          <a:p>
            <a:pPr marL="342900" indent="-342900">
              <a:buFont typeface="Arial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9889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43192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Системы с одноуровневыми каталогами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Самая простая форма системы каталогов состоит из одного каталога, содержащего </a:t>
            </a:r>
            <a:r>
              <a:rPr lang="ru-RU" dirty="0" smtClean="0"/>
              <a:t>все </a:t>
            </a:r>
            <a:r>
              <a:rPr lang="ru-RU" dirty="0"/>
              <a:t>файлы. Иногда он называется корневым каталогом, но поскольку он </a:t>
            </a:r>
            <a:r>
              <a:rPr lang="ru-RU" dirty="0" smtClean="0"/>
              <a:t>один-единственный</a:t>
            </a:r>
            <a:r>
              <a:rPr lang="ru-RU" dirty="0"/>
              <a:t>, то имя особого значения не имеет. </a:t>
            </a:r>
            <a:endParaRPr lang="ru-RU" dirty="0" smtClean="0"/>
          </a:p>
          <a:p>
            <a:r>
              <a:rPr lang="ru-RU" dirty="0" smtClean="0"/>
              <a:t>Эта </a:t>
            </a:r>
            <a:r>
              <a:rPr lang="ru-RU" dirty="0"/>
              <a:t>система была широко распространена </a:t>
            </a:r>
            <a:r>
              <a:rPr lang="ru-RU" dirty="0" smtClean="0"/>
              <a:t>на </a:t>
            </a:r>
            <a:r>
              <a:rPr lang="ru-RU" dirty="0"/>
              <a:t>первых </a:t>
            </a:r>
            <a:r>
              <a:rPr lang="ru-RU" dirty="0" smtClean="0"/>
              <a:t>ПК отчасти </a:t>
            </a:r>
            <a:r>
              <a:rPr lang="ru-RU" dirty="0"/>
              <a:t>из-за того, что у них был всего один </a:t>
            </a:r>
            <a:r>
              <a:rPr lang="ru-RU" dirty="0" smtClean="0"/>
              <a:t>пользователь</a:t>
            </a:r>
            <a:r>
              <a:rPr lang="ru-RU" dirty="0"/>
              <a:t>. Как ни странно, первый в мире суперкомпьютер, CDC 6600, также имел </a:t>
            </a:r>
            <a:r>
              <a:rPr lang="ru-RU" dirty="0" smtClean="0"/>
              <a:t>один </a:t>
            </a:r>
            <a:r>
              <a:rPr lang="ru-RU" dirty="0"/>
              <a:t>каталог для всех файлов, даже притом, что на нем одновременно работало много </a:t>
            </a:r>
            <a:r>
              <a:rPr lang="ru-RU" dirty="0" smtClean="0"/>
              <a:t>пользователей</a:t>
            </a:r>
            <a:r>
              <a:rPr lang="ru-RU" dirty="0"/>
              <a:t>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797152"/>
            <a:ext cx="3758648" cy="1499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8292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Иерархические системы каталогов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Такой </a:t>
            </a:r>
            <a:r>
              <a:rPr lang="ru-RU" dirty="0" smtClean="0"/>
              <a:t>подход позволяет </a:t>
            </a:r>
            <a:r>
              <a:rPr lang="ru-RU" dirty="0"/>
              <a:t>иметь столько каталогов, сколько необходимо для группировки файлов </a:t>
            </a:r>
            <a:r>
              <a:rPr lang="ru-RU" dirty="0" smtClean="0"/>
              <a:t>естественным </a:t>
            </a:r>
            <a:r>
              <a:rPr lang="ru-RU" dirty="0"/>
              <a:t>образом</a:t>
            </a:r>
            <a:r>
              <a:rPr lang="ru-RU" dirty="0" smtClean="0"/>
              <a:t>.</a:t>
            </a:r>
          </a:p>
          <a:p>
            <a:r>
              <a:rPr lang="ru-RU" dirty="0"/>
              <a:t>Возможность создания произвольного количества подкаталогов предоставляет </a:t>
            </a:r>
            <a:r>
              <a:rPr lang="ru-RU" dirty="0" smtClean="0"/>
              <a:t>пользователям </a:t>
            </a:r>
            <a:r>
              <a:rPr lang="ru-RU" dirty="0"/>
              <a:t>мощный инструмент структуризации, позволяющий организовать их работу. </a:t>
            </a:r>
            <a:r>
              <a:rPr lang="ru-RU" dirty="0" smtClean="0"/>
              <a:t>Поэтому </a:t>
            </a:r>
            <a:r>
              <a:rPr lang="ru-RU" dirty="0"/>
              <a:t>таким образом устроены практически все современные файловые системы.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340494"/>
            <a:ext cx="4818698" cy="2256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6047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Иерархические системы каталогов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Когда файловая система организована в виде дерева каталогов, нужен </a:t>
            </a:r>
            <a:r>
              <a:rPr lang="ru-RU" dirty="0" smtClean="0"/>
              <a:t>какой-нибудь способ </a:t>
            </a:r>
            <a:r>
              <a:rPr lang="ru-RU" dirty="0"/>
              <a:t>указания имен файлов. Чаще всего для этого используются два </a:t>
            </a:r>
            <a:r>
              <a:rPr lang="ru-RU" dirty="0" smtClean="0"/>
              <a:t>метода: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Каждому </a:t>
            </a:r>
            <a:r>
              <a:rPr lang="ru-RU" dirty="0"/>
              <a:t>файлу дается </a:t>
            </a:r>
            <a:r>
              <a:rPr lang="ru-RU" i="1" dirty="0"/>
              <a:t>абсолютное имя (полное имя)</a:t>
            </a:r>
            <a:r>
              <a:rPr lang="ru-RU" dirty="0"/>
              <a:t>, состоящее из пути от </a:t>
            </a:r>
            <a:r>
              <a:rPr lang="ru-RU" dirty="0"/>
              <a:t>корневого </a:t>
            </a:r>
            <a:r>
              <a:rPr lang="ru-RU" dirty="0"/>
              <a:t>каталога к файлу. </a:t>
            </a:r>
            <a:endParaRPr lang="ru-RU" dirty="0"/>
          </a:p>
          <a:p>
            <a:pPr marL="274320" lvl="1" indent="0">
              <a:buNone/>
            </a:pPr>
            <a:r>
              <a:rPr lang="ru-RU" dirty="0"/>
              <a:t>Абсолютные </a:t>
            </a:r>
            <a:r>
              <a:rPr lang="ru-RU" dirty="0"/>
              <a:t>имена файлов всегда начинаются </a:t>
            </a:r>
            <a:r>
              <a:rPr lang="ru-RU" dirty="0"/>
              <a:t>с </a:t>
            </a:r>
            <a:r>
              <a:rPr lang="ru-RU" dirty="0"/>
              <a:t>названия корневого каталога и являются уникальными </a:t>
            </a:r>
            <a:r>
              <a:rPr lang="ru-RU" dirty="0"/>
              <a:t>именами. В </a:t>
            </a:r>
            <a:r>
              <a:rPr lang="ru-RU" dirty="0"/>
              <a:t>системе UNIX </a:t>
            </a:r>
            <a:r>
              <a:rPr lang="ru-RU" dirty="0"/>
              <a:t>компоненты </a:t>
            </a:r>
            <a:r>
              <a:rPr lang="ru-RU" dirty="0"/>
              <a:t>пути разделяются символом «слеш» — /. В системе </a:t>
            </a:r>
            <a:r>
              <a:rPr lang="ru-RU" dirty="0" err="1"/>
              <a:t>Windows</a:t>
            </a:r>
            <a:r>
              <a:rPr lang="ru-RU" dirty="0"/>
              <a:t> </a:t>
            </a:r>
            <a:r>
              <a:rPr lang="ru-RU" dirty="0"/>
              <a:t>разделителем </a:t>
            </a:r>
            <a:r>
              <a:rPr lang="ru-RU" dirty="0"/>
              <a:t>служит символ «обратный слеш» — </a:t>
            </a:r>
            <a:r>
              <a:rPr lang="ru-RU" dirty="0"/>
              <a:t>\.</a:t>
            </a:r>
          </a:p>
          <a:p>
            <a:pPr marL="160020" indent="-342900">
              <a:buFont typeface="Arial" pitchFamily="34" charset="0"/>
              <a:buChar char="•"/>
            </a:pPr>
            <a:r>
              <a:rPr lang="ru-RU" b="1" i="1" dirty="0" smtClean="0"/>
              <a:t>Относительное </a:t>
            </a:r>
            <a:r>
              <a:rPr lang="ru-RU" b="1" i="1" dirty="0"/>
              <a:t>имя</a:t>
            </a:r>
            <a:r>
              <a:rPr lang="ru-RU" b="1" dirty="0"/>
              <a:t>. Оно используется </a:t>
            </a:r>
            <a:r>
              <a:rPr lang="ru-RU" b="1" dirty="0"/>
              <a:t>совместно </a:t>
            </a:r>
            <a:r>
              <a:rPr lang="ru-RU" b="1" dirty="0"/>
              <a:t>с понятием </a:t>
            </a:r>
            <a:r>
              <a:rPr lang="ru-RU" b="1" i="1" dirty="0" smtClean="0"/>
              <a:t>рабочего</a:t>
            </a:r>
            <a:r>
              <a:rPr lang="ru-RU" dirty="0" smtClean="0"/>
              <a:t>(</a:t>
            </a:r>
            <a:r>
              <a:rPr lang="ru-RU" i="1" dirty="0" smtClean="0"/>
              <a:t>текущего)</a:t>
            </a:r>
            <a:r>
              <a:rPr lang="ru-RU" b="1" i="1" dirty="0" smtClean="0"/>
              <a:t> каталога.</a:t>
            </a:r>
            <a:endParaRPr lang="ru-RU" b="1" dirty="0"/>
          </a:p>
          <a:p>
            <a:pPr marL="274320" lvl="1" indent="0">
              <a:buNone/>
            </a:pPr>
            <a:r>
              <a:rPr lang="ru-RU" dirty="0"/>
              <a:t>Пользователь может определить один каталог в качестве текущего, и тогда все имена </a:t>
            </a:r>
            <a:r>
              <a:rPr lang="ru-RU" dirty="0" smtClean="0"/>
              <a:t>файлов </a:t>
            </a:r>
            <a:r>
              <a:rPr lang="ru-RU" dirty="0"/>
              <a:t>станут рассматриваться относительно рабочего каталога и не будут начинаться </a:t>
            </a:r>
            <a:r>
              <a:rPr lang="ru-RU" dirty="0" smtClean="0"/>
              <a:t>с </a:t>
            </a:r>
            <a:r>
              <a:rPr lang="ru-RU" dirty="0"/>
              <a:t>корневого каталога. </a:t>
            </a:r>
            <a:endParaRPr lang="ru-RU" dirty="0"/>
          </a:p>
          <a:p>
            <a:pPr marL="274320" lvl="1" indent="0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148746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 каталогами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556792"/>
            <a:ext cx="7859216" cy="4968552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ru-RU" sz="1250" dirty="0"/>
              <a:t>Допустимые системные вызовы для управления каталогами имеют большее количество </a:t>
            </a:r>
            <a:r>
              <a:rPr lang="ru-RU" sz="1250" dirty="0" smtClean="0"/>
              <a:t>вариантов </a:t>
            </a:r>
            <a:r>
              <a:rPr lang="ru-RU" sz="1250" dirty="0"/>
              <a:t>от системы к системе, чем системные вызовы, управляющие файлами. </a:t>
            </a:r>
            <a:r>
              <a:rPr lang="ru-RU" sz="1250" dirty="0" smtClean="0"/>
              <a:t>Рассмотрим </a:t>
            </a:r>
            <a:r>
              <a:rPr lang="ru-RU" sz="1250" dirty="0"/>
              <a:t>примеры, дающие представление об этих системных вызовах и характере их </a:t>
            </a:r>
            <a:r>
              <a:rPr lang="ru-RU" sz="1250" dirty="0" smtClean="0"/>
              <a:t>работы </a:t>
            </a:r>
            <a:r>
              <a:rPr lang="ru-RU" sz="1250" dirty="0"/>
              <a:t>(взяты из системы UNIX</a:t>
            </a:r>
            <a:r>
              <a:rPr lang="ru-RU" sz="1250" dirty="0" smtClean="0"/>
              <a:t>):</a:t>
            </a:r>
            <a:endParaRPr lang="ru-RU" sz="1250" dirty="0"/>
          </a:p>
          <a:p>
            <a:pPr marL="285750" indent="-285750">
              <a:spcAft>
                <a:spcPts val="0"/>
              </a:spcAft>
              <a:buFont typeface="Arial" pitchFamily="34" charset="0"/>
              <a:buChar char="•"/>
            </a:pPr>
            <a:r>
              <a:rPr lang="ru-RU" sz="1250" dirty="0" err="1" smtClean="0"/>
              <a:t>Create</a:t>
            </a:r>
            <a:r>
              <a:rPr lang="ru-RU" sz="1250" dirty="0" smtClean="0"/>
              <a:t> </a:t>
            </a:r>
            <a:r>
              <a:rPr lang="ru-RU" sz="1250" dirty="0"/>
              <a:t>(Создать каталог). </a:t>
            </a:r>
            <a:r>
              <a:rPr lang="ru-RU" sz="1250" dirty="0" smtClean="0"/>
              <a:t>Каталог создается пустым.</a:t>
            </a:r>
          </a:p>
          <a:p>
            <a:pPr marL="285750" indent="-285750">
              <a:spcAft>
                <a:spcPts val="0"/>
              </a:spcAft>
              <a:buFont typeface="Arial" pitchFamily="34" charset="0"/>
              <a:buChar char="•"/>
            </a:pPr>
            <a:r>
              <a:rPr lang="ru-RU" sz="1250" dirty="0" err="1" smtClean="0"/>
              <a:t>Delete</a:t>
            </a:r>
            <a:r>
              <a:rPr lang="ru-RU" sz="1250" dirty="0" smtClean="0"/>
              <a:t> (Удалить каталог). Удалить можно только пустой каталог. Каталог, содержащий только точку и двойную точку, рассматривается как пустой, поскольку они не могут быть удалены.</a:t>
            </a:r>
          </a:p>
          <a:p>
            <a:pPr marL="285750" indent="-285750">
              <a:spcAft>
                <a:spcPts val="0"/>
              </a:spcAft>
              <a:buFont typeface="Arial" pitchFamily="34" charset="0"/>
              <a:buChar char="•"/>
            </a:pPr>
            <a:r>
              <a:rPr lang="ru-RU" sz="1250" dirty="0" err="1" smtClean="0"/>
              <a:t>Opendir</a:t>
            </a:r>
            <a:r>
              <a:rPr lang="ru-RU" sz="1250" dirty="0" smtClean="0"/>
              <a:t> </a:t>
            </a:r>
            <a:r>
              <a:rPr lang="ru-RU" sz="1250" dirty="0"/>
              <a:t>(Открыть каталог). Каталоги могут быть прочитаны. </a:t>
            </a:r>
            <a:r>
              <a:rPr lang="ru-RU" sz="1250" dirty="0" smtClean="0"/>
              <a:t>Перед </a:t>
            </a:r>
            <a:r>
              <a:rPr lang="ru-RU" sz="1250" dirty="0"/>
              <a:t>тем как каталог </a:t>
            </a:r>
            <a:r>
              <a:rPr lang="ru-RU" sz="1250" dirty="0" smtClean="0"/>
              <a:t>может быть </a:t>
            </a:r>
            <a:r>
              <a:rPr lang="ru-RU" sz="1250" dirty="0"/>
              <a:t>прочитан, он должен быть открыт по аналогии с открытием и чтением файла.</a:t>
            </a:r>
          </a:p>
          <a:p>
            <a:pPr marL="285750" indent="-285750">
              <a:spcAft>
                <a:spcPts val="0"/>
              </a:spcAft>
              <a:buFont typeface="Arial" pitchFamily="34" charset="0"/>
              <a:buChar char="•"/>
            </a:pPr>
            <a:r>
              <a:rPr lang="ru-RU" sz="1250" dirty="0" err="1" smtClean="0"/>
              <a:t>Closedir</a:t>
            </a:r>
            <a:r>
              <a:rPr lang="ru-RU" sz="1250" dirty="0" smtClean="0"/>
              <a:t> </a:t>
            </a:r>
            <a:r>
              <a:rPr lang="ru-RU" sz="1250" dirty="0"/>
              <a:t>(Закрыть каталог). Когда каталог прочитан, он должен быть закрыт, чтобы </a:t>
            </a:r>
            <a:r>
              <a:rPr lang="ru-RU" sz="1250" dirty="0" smtClean="0"/>
              <a:t>освободить </a:t>
            </a:r>
            <a:r>
              <a:rPr lang="ru-RU" sz="1250" dirty="0"/>
              <a:t>пространство во внутренних таблицах системы.</a:t>
            </a:r>
          </a:p>
          <a:p>
            <a:pPr marL="285750" indent="-285750">
              <a:spcAft>
                <a:spcPts val="0"/>
              </a:spcAft>
              <a:buFont typeface="Arial" pitchFamily="34" charset="0"/>
              <a:buChar char="•"/>
            </a:pPr>
            <a:r>
              <a:rPr lang="ru-RU" sz="1250" dirty="0" err="1" smtClean="0"/>
              <a:t>Readdir</a:t>
            </a:r>
            <a:r>
              <a:rPr lang="ru-RU" sz="1250" dirty="0" smtClean="0"/>
              <a:t> </a:t>
            </a:r>
            <a:r>
              <a:rPr lang="ru-RU" sz="1250" dirty="0"/>
              <a:t>(Прочитать каталог). Этот вызов возвращает следующую запись из </a:t>
            </a:r>
            <a:r>
              <a:rPr lang="ru-RU" sz="1250" dirty="0" smtClean="0"/>
              <a:t>открытого </a:t>
            </a:r>
            <a:r>
              <a:rPr lang="ru-RU" sz="1250" dirty="0"/>
              <a:t>каталога. </a:t>
            </a:r>
            <a:endParaRPr lang="ru-RU" sz="1250" dirty="0" smtClean="0"/>
          </a:p>
          <a:p>
            <a:pPr marL="285750" indent="-285750">
              <a:spcAft>
                <a:spcPts val="0"/>
              </a:spcAft>
              <a:buFont typeface="Arial" pitchFamily="34" charset="0"/>
              <a:buChar char="•"/>
            </a:pPr>
            <a:r>
              <a:rPr lang="ru-RU" sz="1250" dirty="0" err="1" smtClean="0"/>
              <a:t>Rename</a:t>
            </a:r>
            <a:r>
              <a:rPr lang="ru-RU" sz="1250" dirty="0" smtClean="0"/>
              <a:t> </a:t>
            </a:r>
            <a:r>
              <a:rPr lang="ru-RU" sz="1250" dirty="0"/>
              <a:t>(Переименовать каталог). </a:t>
            </a:r>
            <a:endParaRPr lang="ru-RU" sz="1250" dirty="0" smtClean="0"/>
          </a:p>
          <a:p>
            <a:pPr marL="285750" indent="-285750">
              <a:spcAft>
                <a:spcPts val="0"/>
              </a:spcAft>
              <a:buFont typeface="Arial" pitchFamily="34" charset="0"/>
              <a:buChar char="•"/>
            </a:pPr>
            <a:r>
              <a:rPr lang="ru-RU" sz="1250" dirty="0" err="1" smtClean="0"/>
              <a:t>Link</a:t>
            </a:r>
            <a:r>
              <a:rPr lang="ru-RU" sz="1250" dirty="0" smtClean="0"/>
              <a:t> </a:t>
            </a:r>
            <a:r>
              <a:rPr lang="ru-RU" sz="1250" dirty="0"/>
              <a:t>(Привязать). Привязка представляет собой технологию, позволяющую файлу </a:t>
            </a:r>
            <a:r>
              <a:rPr lang="ru-RU" sz="1250" dirty="0" smtClean="0"/>
              <a:t>появляться </a:t>
            </a:r>
            <a:r>
              <a:rPr lang="ru-RU" sz="1250" dirty="0"/>
              <a:t>более чем в одном каталоге. В этом системном вызове указываются </a:t>
            </a:r>
            <a:r>
              <a:rPr lang="ru-RU" sz="1250" dirty="0" smtClean="0"/>
              <a:t>существующий файл </a:t>
            </a:r>
            <a:r>
              <a:rPr lang="ru-RU" sz="1250" dirty="0"/>
              <a:t>и новое имя файла в некотором существующем каталоге </a:t>
            </a:r>
            <a:r>
              <a:rPr lang="ru-RU" sz="1250" dirty="0" smtClean="0"/>
              <a:t>и </a:t>
            </a:r>
            <a:r>
              <a:rPr lang="ru-RU" sz="1250" dirty="0"/>
              <a:t>создается привязка существующего файла к указанному каталогу с указанным </a:t>
            </a:r>
            <a:r>
              <a:rPr lang="ru-RU" sz="1250" dirty="0" smtClean="0"/>
              <a:t>новым </a:t>
            </a:r>
            <a:r>
              <a:rPr lang="ru-RU" sz="1250" dirty="0"/>
              <a:t>именем. Таким образом, один и тот же файл может появиться в нескольких </a:t>
            </a:r>
            <a:r>
              <a:rPr lang="ru-RU" sz="1250" dirty="0" smtClean="0"/>
              <a:t>каталогах</a:t>
            </a:r>
            <a:r>
              <a:rPr lang="ru-RU" sz="1250" dirty="0"/>
              <a:t>, возможно, под разными именами. </a:t>
            </a:r>
            <a:endParaRPr lang="ru-RU" sz="1250" dirty="0" smtClean="0"/>
          </a:p>
          <a:p>
            <a:pPr marL="285750" indent="-285750">
              <a:spcAft>
                <a:spcPts val="0"/>
              </a:spcAft>
              <a:buFont typeface="Arial" pitchFamily="34" charset="0"/>
              <a:buChar char="•"/>
            </a:pPr>
            <a:r>
              <a:rPr lang="ru-RU" sz="1250" dirty="0" err="1" smtClean="0"/>
              <a:t>Unlink</a:t>
            </a:r>
            <a:r>
              <a:rPr lang="ru-RU" sz="1250" dirty="0" smtClean="0"/>
              <a:t> </a:t>
            </a:r>
            <a:r>
              <a:rPr lang="ru-RU" sz="1250" dirty="0"/>
              <a:t>(Отвязать). </a:t>
            </a:r>
            <a:r>
              <a:rPr lang="ru-RU" sz="1250" dirty="0" smtClean="0"/>
              <a:t>Если </a:t>
            </a:r>
            <a:r>
              <a:rPr lang="ru-RU" sz="1250" dirty="0"/>
              <a:t>отвязываемый файл </a:t>
            </a:r>
            <a:r>
              <a:rPr lang="ru-RU" sz="1250" dirty="0" smtClean="0"/>
              <a:t>присутствует </a:t>
            </a:r>
            <a:r>
              <a:rPr lang="ru-RU" sz="1250" dirty="0"/>
              <a:t>только в одном каталоге (что чаще всего и бывает), то этот вызов удалит его из </a:t>
            </a:r>
            <a:r>
              <a:rPr lang="ru-RU" sz="1250" dirty="0" smtClean="0"/>
              <a:t>файловой </a:t>
            </a:r>
            <a:r>
              <a:rPr lang="ru-RU" sz="1250" dirty="0"/>
              <a:t>системы. Если он фигурирует в нескольких каталогах, то он будет </a:t>
            </a:r>
            <a:r>
              <a:rPr lang="ru-RU" sz="1250" dirty="0" smtClean="0"/>
              <a:t>удален </a:t>
            </a:r>
            <a:r>
              <a:rPr lang="ru-RU" sz="1250" dirty="0"/>
              <a:t>из каталога, который указан в имени файла. Все остальные записи останутся. </a:t>
            </a:r>
          </a:p>
        </p:txBody>
      </p:sp>
    </p:spTree>
    <p:extLst>
      <p:ext uri="{BB962C8B-B14F-4D97-AF65-F5344CB8AC3E}">
        <p14:creationId xmlns:p14="http://schemas.microsoft.com/office/powerpoint/2010/main" val="1068933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Структура файловой системы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4628728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Файловые системы хранятся на дисках. Большинство дисков может быть разбито на </a:t>
            </a:r>
            <a:r>
              <a:rPr lang="ru-RU" dirty="0" smtClean="0"/>
              <a:t>один </a:t>
            </a:r>
            <a:r>
              <a:rPr lang="ru-RU" dirty="0"/>
              <a:t>или несколько разделов, на каждом из которых будет независимая файловая </a:t>
            </a:r>
            <a:r>
              <a:rPr lang="ru-RU" dirty="0" smtClean="0"/>
              <a:t>система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Сектор </a:t>
            </a:r>
            <a:r>
              <a:rPr lang="ru-RU" dirty="0"/>
              <a:t>0 на диске называется </a:t>
            </a:r>
            <a:r>
              <a:rPr lang="ru-RU" i="1" dirty="0"/>
              <a:t>главной загрузочной записью </a:t>
            </a:r>
            <a:r>
              <a:rPr lang="ru-RU" dirty="0"/>
              <a:t>(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Boot</a:t>
            </a:r>
            <a:r>
              <a:rPr lang="ru-RU" dirty="0"/>
              <a:t> </a:t>
            </a:r>
            <a:r>
              <a:rPr lang="ru-RU" dirty="0" err="1" smtClean="0"/>
              <a:t>Record</a:t>
            </a:r>
            <a:r>
              <a:rPr lang="ru-RU" dirty="0" smtClean="0"/>
              <a:t> </a:t>
            </a:r>
            <a:r>
              <a:rPr lang="ru-RU" dirty="0"/>
              <a:t>(MBR)) и используется для загрузки компьютера. В конце MBR содержится </a:t>
            </a:r>
            <a:r>
              <a:rPr lang="ru-RU" dirty="0" smtClean="0"/>
              <a:t>таблица </a:t>
            </a:r>
            <a:r>
              <a:rPr lang="ru-RU" dirty="0"/>
              <a:t>разделов. Из этой таблицы берутся начальные и конечные адреса каждого </a:t>
            </a:r>
            <a:r>
              <a:rPr lang="ru-RU" dirty="0" smtClean="0"/>
              <a:t>раздела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Один </a:t>
            </a:r>
            <a:r>
              <a:rPr lang="ru-RU" dirty="0"/>
              <a:t>из разделов в этой таблице помечается как </a:t>
            </a:r>
            <a:r>
              <a:rPr lang="ru-RU" i="1" dirty="0"/>
              <a:t>активный</a:t>
            </a:r>
            <a:r>
              <a:rPr lang="ru-RU" dirty="0"/>
              <a:t>. При загрузке </a:t>
            </a:r>
            <a:r>
              <a:rPr lang="ru-RU" dirty="0" smtClean="0"/>
              <a:t>компьютера </a:t>
            </a:r>
            <a:r>
              <a:rPr lang="ru-RU" dirty="0"/>
              <a:t>BIOS (базовая система ввода-вывода) </a:t>
            </a:r>
            <a:r>
              <a:rPr lang="ru-RU" dirty="0" smtClean="0"/>
              <a:t>считывает </a:t>
            </a:r>
            <a:r>
              <a:rPr lang="ru-RU" dirty="0"/>
              <a:t>и выполняет MBR. </a:t>
            </a:r>
            <a:endParaRPr lang="ru-RU" dirty="0" smtClean="0"/>
          </a:p>
          <a:p>
            <a:r>
              <a:rPr lang="ru-RU" dirty="0" smtClean="0"/>
              <a:t>Сначала находится активный раздела, считывается его </a:t>
            </a:r>
            <a:r>
              <a:rPr lang="ru-RU" dirty="0"/>
              <a:t>первый блок, который называется </a:t>
            </a:r>
            <a:r>
              <a:rPr lang="ru-RU" i="1" dirty="0"/>
              <a:t>загрузочным</a:t>
            </a:r>
            <a:r>
              <a:rPr lang="ru-RU" dirty="0"/>
              <a:t>, и </a:t>
            </a:r>
            <a:r>
              <a:rPr lang="ru-RU" dirty="0" smtClean="0"/>
              <a:t>выполняется. </a:t>
            </a:r>
            <a:r>
              <a:rPr lang="ru-RU" dirty="0"/>
              <a:t>Программа в </a:t>
            </a:r>
            <a:r>
              <a:rPr lang="ru-RU" dirty="0" smtClean="0"/>
              <a:t>загрузочном </a:t>
            </a:r>
            <a:r>
              <a:rPr lang="ru-RU" dirty="0"/>
              <a:t>блоке </a:t>
            </a:r>
            <a:r>
              <a:rPr lang="ru-RU" dirty="0" smtClean="0"/>
              <a:t>загружает ОС, </a:t>
            </a:r>
            <a:r>
              <a:rPr lang="ru-RU" dirty="0"/>
              <a:t>содержащуюся в этом разделе</a:t>
            </a:r>
            <a:r>
              <a:rPr lang="ru-RU" dirty="0" smtClean="0"/>
              <a:t>.</a:t>
            </a:r>
          </a:p>
          <a:p>
            <a:r>
              <a:rPr lang="ru-RU" dirty="0"/>
              <a:t>Во всем остальном, кроме того, что раздел начинается с загрузочного блока, строение </a:t>
            </a:r>
            <a:r>
              <a:rPr lang="ru-RU" dirty="0" smtClean="0"/>
              <a:t>дискового </a:t>
            </a:r>
            <a:r>
              <a:rPr lang="ru-RU" dirty="0"/>
              <a:t>раздела значительно различается от системы к системе.</a:t>
            </a:r>
          </a:p>
        </p:txBody>
      </p:sp>
    </p:spTree>
    <p:extLst>
      <p:ext uri="{BB962C8B-B14F-4D97-AF65-F5344CB8AC3E}">
        <p14:creationId xmlns:p14="http://schemas.microsoft.com/office/powerpoint/2010/main" val="2085856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059016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Возможная Структура </a:t>
            </a:r>
            <a:r>
              <a:rPr lang="ru-RU" dirty="0"/>
              <a:t>файловой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869160"/>
            <a:ext cx="7620000" cy="1584176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В </a:t>
            </a:r>
            <a:r>
              <a:rPr lang="ru-RU" i="1" dirty="0" err="1" smtClean="0"/>
              <a:t>суперблоке</a:t>
            </a:r>
            <a:r>
              <a:rPr lang="ru-RU" dirty="0" smtClean="0"/>
              <a:t> содержатся </a:t>
            </a:r>
            <a:r>
              <a:rPr lang="ru-RU" dirty="0"/>
              <a:t>все ключевые параметры файловой </a:t>
            </a:r>
            <a:r>
              <a:rPr lang="ru-RU" dirty="0" smtClean="0"/>
              <a:t>системы</a:t>
            </a:r>
            <a:r>
              <a:rPr lang="ru-RU" dirty="0"/>
              <a:t>, которые считываются в память при загрузке компьютера или при первом </a:t>
            </a:r>
            <a:r>
              <a:rPr lang="ru-RU" dirty="0" smtClean="0"/>
              <a:t>обращении </a:t>
            </a:r>
            <a:r>
              <a:rPr lang="ru-RU" dirty="0"/>
              <a:t>к файловой системе. Обычно в информацию </a:t>
            </a:r>
            <a:r>
              <a:rPr lang="ru-RU" dirty="0" err="1"/>
              <a:t>суперблока</a:t>
            </a:r>
            <a:r>
              <a:rPr lang="ru-RU" dirty="0"/>
              <a:t> включаются «</a:t>
            </a:r>
            <a:r>
              <a:rPr lang="ru-RU" dirty="0" smtClean="0"/>
              <a:t>магическое</a:t>
            </a:r>
            <a:r>
              <a:rPr lang="ru-RU" dirty="0"/>
              <a:t>» число, позволяющее идентифицировать тип файловой системы, количество </a:t>
            </a:r>
            <a:r>
              <a:rPr lang="ru-RU" dirty="0" smtClean="0"/>
              <a:t>блоков </a:t>
            </a:r>
            <a:r>
              <a:rPr lang="ru-RU" dirty="0"/>
              <a:t>в файловой системе, а также другая важная административная информация.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26" y="1412776"/>
            <a:ext cx="7746003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5923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Реализация файлов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Возможно, самым важным вопросом при реализации файлового хранилища является </a:t>
            </a:r>
            <a:r>
              <a:rPr lang="ru-RU" dirty="0" smtClean="0"/>
              <a:t>отслеживание </a:t>
            </a:r>
            <a:r>
              <a:rPr lang="ru-RU" dirty="0"/>
              <a:t>соответствия файлам блоков на диске. В различных </a:t>
            </a:r>
            <a:r>
              <a:rPr lang="ru-RU" dirty="0" smtClean="0"/>
              <a:t>ОС используются </a:t>
            </a:r>
            <a:r>
              <a:rPr lang="ru-RU" dirty="0"/>
              <a:t>разные методы</a:t>
            </a:r>
            <a:r>
              <a:rPr lang="ru-RU" dirty="0" smtClean="0"/>
              <a:t>.</a:t>
            </a:r>
          </a:p>
          <a:p>
            <a:r>
              <a:rPr lang="ru-RU" dirty="0" smtClean="0"/>
              <a:t>Рассмотрим основные из них:</a:t>
            </a:r>
            <a:endParaRPr lang="ru-RU" dirty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Непрерывное размещение.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Размещение с использованием связанного </a:t>
            </a:r>
            <a:r>
              <a:rPr lang="ru-RU" dirty="0" smtClean="0"/>
              <a:t>списка.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Размещение с помощью связанного списка, </a:t>
            </a:r>
            <a:r>
              <a:rPr lang="ru-RU" dirty="0" smtClean="0"/>
              <a:t>использующего </a:t>
            </a:r>
            <a:r>
              <a:rPr lang="ru-RU" dirty="0"/>
              <a:t>таблицу в </a:t>
            </a:r>
            <a:r>
              <a:rPr lang="ru-RU" dirty="0" smtClean="0"/>
              <a:t>памяти.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I-</a:t>
            </a:r>
            <a:r>
              <a:rPr lang="ru-RU" dirty="0" smtClean="0"/>
              <a:t>узлы.</a:t>
            </a:r>
          </a:p>
          <a:p>
            <a:pPr marL="342900" indent="-342900">
              <a:buFont typeface="Arial" pitchFamily="34" charset="0"/>
              <a:buChar char="•"/>
            </a:pP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1824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Непрерывное </a:t>
            </a:r>
            <a:r>
              <a:rPr lang="ru-RU" dirty="0" smtClean="0"/>
              <a:t>размещение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5"/>
            <a:ext cx="7620000" cy="223224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Простейшая схема размещения заключается в хранении каждого файла на диске в </a:t>
            </a:r>
            <a:r>
              <a:rPr lang="ru-RU" dirty="0" smtClean="0"/>
              <a:t>виде непрерывной </a:t>
            </a:r>
            <a:r>
              <a:rPr lang="ru-RU" dirty="0"/>
              <a:t>последовательности блоков. </a:t>
            </a:r>
            <a:endParaRPr lang="ru-RU" dirty="0" smtClean="0"/>
          </a:p>
          <a:p>
            <a:r>
              <a:rPr lang="ru-RU" dirty="0" smtClean="0"/>
              <a:t>Таким </a:t>
            </a:r>
            <a:r>
              <a:rPr lang="ru-RU" dirty="0"/>
              <a:t>образом, на диске с блоками, </a:t>
            </a:r>
            <a:r>
              <a:rPr lang="ru-RU" dirty="0" smtClean="0"/>
              <a:t>имеющими </a:t>
            </a:r>
            <a:r>
              <a:rPr lang="ru-RU" dirty="0"/>
              <a:t>размер 1 Кбайт, файл размером 50 Кбайт займет 50 </a:t>
            </a:r>
            <a:r>
              <a:rPr lang="ru-RU" dirty="0" smtClean="0"/>
              <a:t>последовательных </a:t>
            </a:r>
            <a:r>
              <a:rPr lang="ru-RU" dirty="0"/>
              <a:t>блоков. </a:t>
            </a:r>
            <a:r>
              <a:rPr lang="ru-RU" dirty="0" smtClean="0"/>
              <a:t>При </a:t>
            </a:r>
            <a:r>
              <a:rPr lang="ru-RU" dirty="0"/>
              <a:t>блоках, имеющих размер 2 Кбайт, под него будет выделено 25 последовательных </a:t>
            </a:r>
            <a:r>
              <a:rPr lang="ru-RU" dirty="0" smtClean="0"/>
              <a:t>блоков</a:t>
            </a:r>
            <a:r>
              <a:rPr lang="ru-RU" dirty="0"/>
              <a:t>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312368"/>
            <a:ext cx="6249621" cy="3573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7990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Непрерывное размещение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У непрерывного распределения дискового пространства есть два существенных </a:t>
            </a:r>
            <a:r>
              <a:rPr lang="ru-RU" dirty="0" smtClean="0"/>
              <a:t>преимущества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Во-первых</a:t>
            </a:r>
            <a:r>
              <a:rPr lang="ru-RU" dirty="0"/>
              <a:t>, его просто реализовать, поскольку отслеживание </a:t>
            </a:r>
            <a:r>
              <a:rPr lang="ru-RU" dirty="0" smtClean="0"/>
              <a:t>местонахождения </a:t>
            </a:r>
            <a:r>
              <a:rPr lang="ru-RU" dirty="0"/>
              <a:t>принадлежащих файлу блоков сводится всего лишь к запоминанию двух чисел: </a:t>
            </a:r>
            <a:r>
              <a:rPr lang="ru-RU" dirty="0" smtClean="0"/>
              <a:t>дискового </a:t>
            </a:r>
            <a:r>
              <a:rPr lang="ru-RU" dirty="0"/>
              <a:t>адреса первого блока и количества блоков в файле. </a:t>
            </a:r>
            <a:endParaRPr lang="ru-RU" dirty="0" smtClean="0"/>
          </a:p>
          <a:p>
            <a:r>
              <a:rPr lang="ru-RU" dirty="0"/>
              <a:t>Во-вторых, у него превосходная производительность считывания, поскольку весь файл </a:t>
            </a:r>
            <a:r>
              <a:rPr lang="ru-RU" dirty="0" smtClean="0"/>
              <a:t>может </a:t>
            </a:r>
            <a:r>
              <a:rPr lang="ru-RU" dirty="0"/>
              <a:t>быть считан с диска за одну операцию. </a:t>
            </a:r>
            <a:endParaRPr lang="ru-RU" dirty="0" smtClean="0"/>
          </a:p>
          <a:p>
            <a:r>
              <a:rPr lang="ru-RU" dirty="0"/>
              <a:t>К </a:t>
            </a:r>
            <a:r>
              <a:rPr lang="ru-RU" dirty="0" smtClean="0"/>
              <a:t>сожалению, есть </a:t>
            </a:r>
            <a:r>
              <a:rPr lang="ru-RU" dirty="0"/>
              <a:t>также очень серьезный недостаток: </a:t>
            </a:r>
            <a:r>
              <a:rPr lang="ru-RU" dirty="0" smtClean="0"/>
              <a:t>со </a:t>
            </a:r>
            <a:r>
              <a:rPr lang="ru-RU" dirty="0"/>
              <a:t>временем диск становится фрагментированным. Немедленное уплотнение файлов на диске для устранения такой последовательности </a:t>
            </a:r>
            <a:r>
              <a:rPr lang="ru-RU" dirty="0" smtClean="0"/>
              <a:t>свободных </a:t>
            </a:r>
            <a:r>
              <a:rPr lang="ru-RU" dirty="0"/>
              <a:t>блоков («дыры») не осуществляется, поскольку для этого потребуется </a:t>
            </a:r>
            <a:r>
              <a:rPr lang="ru-RU" dirty="0" smtClean="0"/>
              <a:t>скопировать </a:t>
            </a:r>
            <a:r>
              <a:rPr lang="ru-RU" dirty="0"/>
              <a:t>все </a:t>
            </a:r>
            <a:r>
              <a:rPr lang="ru-RU" dirty="0" smtClean="0"/>
              <a:t>блоки.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158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Непрерывное размещение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Есть </a:t>
            </a:r>
            <a:r>
              <a:rPr lang="ru-RU" dirty="0"/>
              <a:t>одна сфера применения, в которой непрерывное размещение </a:t>
            </a:r>
            <a:r>
              <a:rPr lang="ru-RU" dirty="0" smtClean="0"/>
              <a:t>вполне </a:t>
            </a:r>
            <a:r>
              <a:rPr lang="ru-RU" dirty="0"/>
              <a:t>приемлемо и все еще используется на практике, — это компакт-диски. Здесь все </a:t>
            </a:r>
            <a:r>
              <a:rPr lang="ru-RU" dirty="0" smtClean="0"/>
              <a:t>размеры </a:t>
            </a:r>
            <a:r>
              <a:rPr lang="ru-RU" dirty="0"/>
              <a:t>файлов известны заранее и никогда не изменяются в процессе </a:t>
            </a:r>
            <a:r>
              <a:rPr lang="ru-RU" dirty="0" smtClean="0"/>
              <a:t>дальнейшего использования </a:t>
            </a:r>
            <a:r>
              <a:rPr lang="ru-RU" dirty="0"/>
              <a:t>файловой системы компакт-диска.</a:t>
            </a:r>
          </a:p>
          <a:p>
            <a:r>
              <a:rPr lang="ru-RU" dirty="0"/>
              <a:t>С DVD ситуация складывается несколько сложнее. В принципе, 90-минутный фильм </a:t>
            </a:r>
            <a:r>
              <a:rPr lang="ru-RU" dirty="0" smtClean="0"/>
              <a:t>может </a:t>
            </a:r>
            <a:r>
              <a:rPr lang="ru-RU" dirty="0"/>
              <a:t>быть закодирован в виде одного-единственного файла длиной около 4,5 Гбайт, </a:t>
            </a:r>
            <a:r>
              <a:rPr lang="ru-RU" dirty="0" smtClean="0"/>
              <a:t>но </a:t>
            </a:r>
            <a:r>
              <a:rPr lang="ru-RU" dirty="0"/>
              <a:t>в используемой файловой системе UDF (</a:t>
            </a:r>
            <a:r>
              <a:rPr lang="ru-RU" dirty="0" err="1"/>
              <a:t>Universal</a:t>
            </a:r>
            <a:r>
              <a:rPr lang="ru-RU" dirty="0"/>
              <a:t> </a:t>
            </a:r>
            <a:r>
              <a:rPr lang="ru-RU" dirty="0" err="1"/>
              <a:t>Disk</a:t>
            </a:r>
            <a:r>
              <a:rPr lang="ru-RU" dirty="0"/>
              <a:t> </a:t>
            </a:r>
            <a:r>
              <a:rPr lang="ru-RU" dirty="0" err="1"/>
              <a:t>Format</a:t>
            </a:r>
            <a:r>
              <a:rPr lang="ru-RU" dirty="0"/>
              <a:t> — универсальный </a:t>
            </a:r>
            <a:r>
              <a:rPr lang="ru-RU" dirty="0" smtClean="0"/>
              <a:t>формат </a:t>
            </a:r>
            <a:r>
              <a:rPr lang="ru-RU" dirty="0"/>
              <a:t>диска) для представления длины файла применяется 30-разрядное число, </a:t>
            </a:r>
            <a:r>
              <a:rPr lang="ru-RU" dirty="0" smtClean="0"/>
              <a:t>которое </a:t>
            </a:r>
            <a:r>
              <a:rPr lang="ru-RU" dirty="0"/>
              <a:t>ограничивает длину файлов одним гигабайтом. Вследствие этого DVD-фильмы, как </a:t>
            </a:r>
            <a:r>
              <a:rPr lang="ru-RU" dirty="0" smtClean="0"/>
              <a:t>правило</a:t>
            </a:r>
            <a:r>
              <a:rPr lang="ru-RU" dirty="0"/>
              <a:t>, хранятся в виде трех-четырех файлов размером 1 Гбайт, каждый из которых </a:t>
            </a:r>
            <a:r>
              <a:rPr lang="ru-RU" dirty="0" smtClean="0"/>
              <a:t>является </a:t>
            </a:r>
            <a:r>
              <a:rPr lang="ru-RU" dirty="0"/>
              <a:t>непрерывным. Такие физические части одного </a:t>
            </a:r>
            <a:r>
              <a:rPr lang="ru-RU" dirty="0" smtClean="0"/>
              <a:t>логического </a:t>
            </a:r>
            <a:r>
              <a:rPr lang="ru-RU" dirty="0"/>
              <a:t>файла (фильма</a:t>
            </a:r>
            <a:r>
              <a:rPr lang="ru-RU" dirty="0" smtClean="0"/>
              <a:t>) называются </a:t>
            </a:r>
            <a:r>
              <a:rPr lang="ru-RU" dirty="0"/>
              <a:t>экстентами.</a:t>
            </a:r>
          </a:p>
        </p:txBody>
      </p:sp>
    </p:spTree>
    <p:extLst>
      <p:ext uri="{BB962C8B-B14F-4D97-AF65-F5344CB8AC3E}">
        <p14:creationId xmlns:p14="http://schemas.microsoft.com/office/powerpoint/2010/main" val="1210168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Размещение с использованием связанного списка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Метод заключается </a:t>
            </a:r>
            <a:r>
              <a:rPr lang="ru-RU" dirty="0"/>
              <a:t>в представлении каждого файла в виде </a:t>
            </a:r>
            <a:r>
              <a:rPr lang="ru-RU" dirty="0" smtClean="0"/>
              <a:t>связанного </a:t>
            </a:r>
            <a:r>
              <a:rPr lang="ru-RU" dirty="0"/>
              <a:t>списка дисковых </a:t>
            </a:r>
            <a:r>
              <a:rPr lang="ru-RU" dirty="0" smtClean="0"/>
              <a:t>блоков. </a:t>
            </a:r>
            <a:r>
              <a:rPr lang="ru-RU" dirty="0"/>
              <a:t>Первое слово каждого блока </a:t>
            </a:r>
            <a:r>
              <a:rPr lang="ru-RU" dirty="0" smtClean="0"/>
              <a:t>используется </a:t>
            </a:r>
            <a:r>
              <a:rPr lang="ru-RU" dirty="0"/>
              <a:t>в качестве указателя на следующий блок, а вся остальная часть блока </a:t>
            </a:r>
            <a:r>
              <a:rPr lang="ru-RU" dirty="0" smtClean="0"/>
              <a:t>предназначается </a:t>
            </a:r>
            <a:r>
              <a:rPr lang="ru-RU" dirty="0"/>
              <a:t>для хранения данных.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352178"/>
            <a:ext cx="4536504" cy="3389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0388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Размещение с использованием связанного списка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Потери </a:t>
            </a:r>
            <a:r>
              <a:rPr lang="ru-RU" dirty="0"/>
              <a:t>дискового пространства на фрагментацию </a:t>
            </a:r>
            <a:r>
              <a:rPr lang="ru-RU" dirty="0" smtClean="0"/>
              <a:t>отсутствуют.</a:t>
            </a:r>
          </a:p>
          <a:p>
            <a:r>
              <a:rPr lang="ru-RU" dirty="0" smtClean="0"/>
              <a:t>В </a:t>
            </a:r>
            <a:r>
              <a:rPr lang="ru-RU" dirty="0"/>
              <a:t>то же время по сравнению с простотой последовательного чтения файла </a:t>
            </a:r>
            <a:r>
              <a:rPr lang="ru-RU" dirty="0" smtClean="0"/>
              <a:t>произвольный </a:t>
            </a:r>
            <a:r>
              <a:rPr lang="ru-RU" dirty="0"/>
              <a:t>доступ является слишком медленным. Чтобы добраться до блока n, операционной </a:t>
            </a:r>
            <a:r>
              <a:rPr lang="ru-RU" dirty="0" smtClean="0"/>
              <a:t>системе </a:t>
            </a:r>
            <a:r>
              <a:rPr lang="ru-RU" dirty="0"/>
              <a:t>нужно начать со стартовой позиции и прочитать поочередно n − 1 </a:t>
            </a:r>
            <a:r>
              <a:rPr lang="ru-RU" dirty="0" smtClean="0"/>
              <a:t>предшествующих </a:t>
            </a:r>
            <a:r>
              <a:rPr lang="ru-RU" dirty="0"/>
              <a:t>блоков</a:t>
            </a:r>
            <a:r>
              <a:rPr lang="ru-RU" dirty="0" smtClean="0"/>
              <a:t>.</a:t>
            </a:r>
          </a:p>
          <a:p>
            <a:r>
              <a:rPr lang="ru-RU" dirty="0"/>
              <a:t>К тому же объем хранилища данных в блоках уже не кратен степени числа 2, поскольку </a:t>
            </a:r>
            <a:r>
              <a:rPr lang="ru-RU" dirty="0" smtClean="0"/>
              <a:t>несколько </a:t>
            </a:r>
            <a:r>
              <a:rPr lang="ru-RU" dirty="0"/>
              <a:t>байтов отнимает указатель. Хотя это и не смертельно, но необычный размер </a:t>
            </a:r>
            <a:r>
              <a:rPr lang="ru-RU" dirty="0" smtClean="0"/>
              <a:t>менее </a:t>
            </a:r>
            <a:r>
              <a:rPr lang="ru-RU" dirty="0"/>
              <a:t>эффективен, поскольку многие программы ведут чтение и запись блоками, </a:t>
            </a:r>
            <a:r>
              <a:rPr lang="ru-RU" dirty="0" smtClean="0"/>
              <a:t>размер </a:t>
            </a:r>
            <a:r>
              <a:rPr lang="ru-RU" dirty="0"/>
              <a:t>которых кратен степени числа 2.</a:t>
            </a:r>
          </a:p>
        </p:txBody>
      </p:sp>
    </p:spTree>
    <p:extLst>
      <p:ext uri="{BB962C8B-B14F-4D97-AF65-F5344CB8AC3E}">
        <p14:creationId xmlns:p14="http://schemas.microsoft.com/office/powerpoint/2010/main" val="1113942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17240"/>
            <a:ext cx="6995120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Размещение с помощью связанного списка, </a:t>
            </a:r>
            <a:r>
              <a:rPr lang="ru-RU" dirty="0" smtClean="0"/>
              <a:t>использующего </a:t>
            </a:r>
            <a:r>
              <a:rPr lang="ru-RU" dirty="0"/>
              <a:t>таблицу в памяти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132856"/>
            <a:ext cx="4277783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16833"/>
            <a:ext cx="4186808" cy="4608511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Оба недостатка размещения с помощью связанных списков могут быть устранены за </a:t>
            </a:r>
            <a:r>
              <a:rPr lang="ru-RU" dirty="0" smtClean="0"/>
              <a:t>счет </a:t>
            </a:r>
            <a:r>
              <a:rPr lang="ru-RU" dirty="0"/>
              <a:t>изъятия слова указателя из каждого дискового блока и помещения его в </a:t>
            </a:r>
            <a:r>
              <a:rPr lang="ru-RU" dirty="0" smtClean="0"/>
              <a:t>таблицу в </a:t>
            </a:r>
            <a:r>
              <a:rPr lang="ru-RU" dirty="0"/>
              <a:t>памяти. </a:t>
            </a:r>
            <a:endParaRPr lang="ru-RU" dirty="0" smtClean="0"/>
          </a:p>
          <a:p>
            <a:r>
              <a:rPr lang="ru-RU" dirty="0"/>
              <a:t>Используя таблицу, </a:t>
            </a:r>
            <a:r>
              <a:rPr lang="ru-RU" dirty="0" smtClean="0"/>
              <a:t>можно </a:t>
            </a:r>
            <a:r>
              <a:rPr lang="ru-RU" dirty="0"/>
              <a:t>пройти всю цепочку от начального </a:t>
            </a:r>
            <a:r>
              <a:rPr lang="ru-RU" dirty="0" smtClean="0"/>
              <a:t>блока </a:t>
            </a:r>
            <a:r>
              <a:rPr lang="ru-RU" dirty="0"/>
              <a:t>до самого </a:t>
            </a:r>
            <a:r>
              <a:rPr lang="ru-RU" dirty="0" smtClean="0"/>
              <a:t>конца</a:t>
            </a:r>
            <a:r>
              <a:rPr lang="ru-RU" dirty="0"/>
              <a:t>. </a:t>
            </a:r>
            <a:r>
              <a:rPr lang="ru-RU" dirty="0" smtClean="0"/>
              <a:t>Цепочки </a:t>
            </a:r>
            <a:r>
              <a:rPr lang="ru-RU" dirty="0"/>
              <a:t>заканчиваются </a:t>
            </a:r>
            <a:r>
              <a:rPr lang="ru-RU" dirty="0" smtClean="0"/>
              <a:t>специальным </a:t>
            </a:r>
            <a:r>
              <a:rPr lang="ru-RU" dirty="0"/>
              <a:t>маркером (например, –1), который не является допустимым </a:t>
            </a:r>
            <a:r>
              <a:rPr lang="ru-RU" dirty="0" smtClean="0"/>
              <a:t>номером блока</a:t>
            </a:r>
            <a:r>
              <a:rPr lang="ru-RU" dirty="0"/>
              <a:t>.</a:t>
            </a:r>
            <a:endParaRPr lang="ru-RU" dirty="0" smtClean="0"/>
          </a:p>
          <a:p>
            <a:r>
              <a:rPr lang="ru-RU" dirty="0"/>
              <a:t>Такая таблица, находящаяся в оперативной памяти, называется FAT (</a:t>
            </a:r>
            <a:r>
              <a:rPr lang="ru-RU" dirty="0" err="1"/>
              <a:t>File</a:t>
            </a:r>
            <a:r>
              <a:rPr lang="ru-RU" dirty="0"/>
              <a:t> </a:t>
            </a:r>
            <a:r>
              <a:rPr lang="ru-RU" dirty="0" err="1" smtClean="0"/>
              <a:t>Allocation</a:t>
            </a:r>
            <a:r>
              <a:rPr lang="ru-RU" dirty="0" smtClean="0"/>
              <a:t> </a:t>
            </a:r>
            <a:r>
              <a:rPr lang="ru-RU" dirty="0" err="1"/>
              <a:t>Table</a:t>
            </a:r>
            <a:r>
              <a:rPr lang="ru-RU" dirty="0"/>
              <a:t> — таблица размещения файлов).</a:t>
            </a:r>
          </a:p>
        </p:txBody>
      </p:sp>
    </p:spTree>
    <p:extLst>
      <p:ext uri="{BB962C8B-B14F-4D97-AF65-F5344CB8AC3E}">
        <p14:creationId xmlns:p14="http://schemas.microsoft.com/office/powerpoint/2010/main" val="512407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067128" cy="1980138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Размещение с помощью связанного списка, использующего таблицу в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060848"/>
            <a:ext cx="7620000" cy="4065315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При использовании такой организации для данных доступен весь блок. </a:t>
            </a:r>
            <a:endParaRPr lang="ru-RU" dirty="0" smtClean="0"/>
          </a:p>
          <a:p>
            <a:r>
              <a:rPr lang="ru-RU" dirty="0" smtClean="0"/>
              <a:t>Кроме </a:t>
            </a:r>
            <a:r>
              <a:rPr lang="ru-RU" dirty="0"/>
              <a:t>того, </a:t>
            </a:r>
            <a:r>
              <a:rPr lang="ru-RU" dirty="0" smtClean="0"/>
              <a:t>намного </a:t>
            </a:r>
            <a:r>
              <a:rPr lang="ru-RU" dirty="0"/>
              <a:t>упрощается произвольный доступ. Хотя для поиска заданного смещения в файле </a:t>
            </a:r>
            <a:r>
              <a:rPr lang="ru-RU" dirty="0" smtClean="0"/>
              <a:t>по-прежнему </a:t>
            </a:r>
            <a:r>
              <a:rPr lang="ru-RU" dirty="0"/>
              <a:t>нужно идти по цепочке, эта цепочка целиком находится в памяти, </a:t>
            </a:r>
            <a:r>
              <a:rPr lang="ru-RU" dirty="0" smtClean="0"/>
              <a:t>поэтому </a:t>
            </a:r>
            <a:r>
              <a:rPr lang="ru-RU" dirty="0"/>
              <a:t>проход по ней может осуществляться без обращений к диску. </a:t>
            </a:r>
            <a:endParaRPr lang="ru-RU" dirty="0" smtClean="0"/>
          </a:p>
          <a:p>
            <a:r>
              <a:rPr lang="ru-RU" dirty="0"/>
              <a:t>Основным недостатком этого метода является то, что для его работы вся таблица </a:t>
            </a:r>
            <a:r>
              <a:rPr lang="ru-RU" dirty="0" smtClean="0"/>
              <a:t>должна </a:t>
            </a:r>
            <a:r>
              <a:rPr lang="ru-RU" dirty="0"/>
              <a:t>постоянно находиться в памяти. Для 1-терабайтного диска, имеющего блоки </a:t>
            </a:r>
            <a:r>
              <a:rPr lang="ru-RU" dirty="0" smtClean="0"/>
              <a:t>размером </a:t>
            </a:r>
            <a:r>
              <a:rPr lang="ru-RU" dirty="0"/>
              <a:t>1 Кбайт, потребовалась бы таблица из 1 млрд записей, по одной для каждого </a:t>
            </a:r>
            <a:r>
              <a:rPr lang="ru-RU" dirty="0" smtClean="0"/>
              <a:t>из </a:t>
            </a:r>
            <a:r>
              <a:rPr lang="ru-RU" dirty="0"/>
              <a:t>1 млрд дисковых блоков. Каждая запись должна состоять как минимум из 3 байт</a:t>
            </a:r>
            <a:r>
              <a:rPr lang="ru-RU" dirty="0" smtClean="0"/>
              <a:t>. Для </a:t>
            </a:r>
            <a:r>
              <a:rPr lang="ru-RU" dirty="0"/>
              <a:t>ускорения поиска размер записей должен быть увеличен до 4 байт. Таким </a:t>
            </a:r>
            <a:r>
              <a:rPr lang="ru-RU" dirty="0" smtClean="0"/>
              <a:t>образом</a:t>
            </a:r>
            <a:r>
              <a:rPr lang="ru-RU" dirty="0"/>
              <a:t>, таблица будет постоянно занимать 3 Гбайт или 2,4 Гбайт оперативной памяти </a:t>
            </a:r>
            <a:r>
              <a:rPr lang="ru-RU" dirty="0" smtClean="0"/>
              <a:t>в </a:t>
            </a:r>
            <a:r>
              <a:rPr lang="ru-RU" dirty="0"/>
              <a:t>зависимости от того, как оптимизирована система, под экономию пространства или </a:t>
            </a:r>
            <a:r>
              <a:rPr lang="ru-RU" dirty="0" smtClean="0"/>
              <a:t>под </a:t>
            </a:r>
            <a:r>
              <a:rPr lang="ru-RU" dirty="0"/>
              <a:t>экономию времени, что с практической точки зрения выглядит не слишком </a:t>
            </a:r>
            <a:r>
              <a:rPr lang="ru-RU" dirty="0" smtClean="0"/>
              <a:t>привлекательно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3513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I-</a:t>
            </a:r>
            <a:r>
              <a:rPr lang="ru-RU" dirty="0"/>
              <a:t>узлы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1"/>
            <a:ext cx="7620000" cy="1676400"/>
          </a:xfrm>
        </p:spPr>
        <p:txBody>
          <a:bodyPr>
            <a:normAutofit fontScale="92500"/>
          </a:bodyPr>
          <a:lstStyle/>
          <a:p>
            <a:r>
              <a:rPr lang="ru-RU" dirty="0"/>
              <a:t>Последним из рассматриваемых методов отслеживания принадлежности конкретного </a:t>
            </a:r>
            <a:r>
              <a:rPr lang="ru-RU" dirty="0" smtClean="0"/>
              <a:t>блока </a:t>
            </a:r>
            <a:r>
              <a:rPr lang="ru-RU" dirty="0"/>
              <a:t>конкретному файлу является связь с каждым файлом структуры данных, </a:t>
            </a:r>
            <a:r>
              <a:rPr lang="ru-RU" dirty="0" smtClean="0"/>
              <a:t>называемой </a:t>
            </a:r>
            <a:r>
              <a:rPr lang="ru-RU" dirty="0"/>
              <a:t>i-узлом (</a:t>
            </a:r>
            <a:r>
              <a:rPr lang="ru-RU" dirty="0" err="1"/>
              <a:t>index-node</a:t>
            </a:r>
            <a:r>
              <a:rPr lang="ru-RU" dirty="0"/>
              <a:t> — индекс-узел), содержащей атрибуты файла и дисковые </a:t>
            </a:r>
            <a:r>
              <a:rPr lang="ru-RU" dirty="0" smtClean="0"/>
              <a:t>адреса </a:t>
            </a:r>
            <a:r>
              <a:rPr lang="ru-RU" dirty="0"/>
              <a:t>его блоков.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295718"/>
            <a:ext cx="3456384" cy="344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1666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I-</a:t>
            </a:r>
            <a:r>
              <a:rPr lang="ru-RU" dirty="0"/>
              <a:t>узлы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 использовании i-узла </a:t>
            </a:r>
            <a:r>
              <a:rPr lang="ru-RU" dirty="0" smtClean="0"/>
              <a:t>появляется </a:t>
            </a:r>
            <a:r>
              <a:rPr lang="ru-RU" dirty="0"/>
              <a:t>возможность найти все блоки файла. Большим преимуществом этой </a:t>
            </a:r>
            <a:r>
              <a:rPr lang="ru-RU" dirty="0" smtClean="0"/>
              <a:t>схемы является </a:t>
            </a:r>
            <a:r>
              <a:rPr lang="ru-RU" dirty="0"/>
              <a:t>то, что </a:t>
            </a:r>
            <a:r>
              <a:rPr lang="ru-RU" dirty="0" smtClean="0"/>
              <a:t>i-узел </a:t>
            </a:r>
            <a:r>
              <a:rPr lang="ru-RU" dirty="0"/>
              <a:t>должен быть в памяти только в том случае, когда открыт соответствующий файл. </a:t>
            </a:r>
          </a:p>
          <a:p>
            <a:r>
              <a:rPr lang="ru-RU" dirty="0"/>
              <a:t>Если каждый i-узел занимает n байт, а одновременно может быть открыто максимум </a:t>
            </a:r>
            <a:r>
              <a:rPr lang="ru-RU" dirty="0" smtClean="0"/>
              <a:t>k </a:t>
            </a:r>
            <a:r>
              <a:rPr lang="ru-RU" dirty="0"/>
              <a:t>файлов, общий объем памяти, занимаемой массивом, хранящим i-узлы открытых </a:t>
            </a:r>
            <a:r>
              <a:rPr lang="ru-RU" dirty="0" smtClean="0"/>
              <a:t>файлов</a:t>
            </a:r>
            <a:r>
              <a:rPr lang="ru-RU" dirty="0"/>
              <a:t>, составляет всего лишь </a:t>
            </a:r>
            <a:r>
              <a:rPr lang="ru-RU" dirty="0" err="1"/>
              <a:t>kn</a:t>
            </a:r>
            <a:r>
              <a:rPr lang="ru-RU" dirty="0"/>
              <a:t> байт.</a:t>
            </a:r>
          </a:p>
        </p:txBody>
      </p:sp>
    </p:spTree>
    <p:extLst>
      <p:ext uri="{BB962C8B-B14F-4D97-AF65-F5344CB8AC3E}">
        <p14:creationId xmlns:p14="http://schemas.microsoft.com/office/powerpoint/2010/main" val="250671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I-</a:t>
            </a:r>
            <a:r>
              <a:rPr lang="ru-RU" dirty="0"/>
              <a:t>узлы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 i-узлами связана одна проблема: если каждый узел имеет пространство для </a:t>
            </a:r>
            <a:r>
              <a:rPr lang="ru-RU" dirty="0" smtClean="0"/>
              <a:t>фиксированного </a:t>
            </a:r>
            <a:r>
              <a:rPr lang="ru-RU" dirty="0"/>
              <a:t>количества дисковых адресов, то что произойдет, когда файл перерастет </a:t>
            </a:r>
            <a:r>
              <a:rPr lang="ru-RU" dirty="0" smtClean="0"/>
              <a:t>этот </a:t>
            </a:r>
            <a:r>
              <a:rPr lang="ru-RU" dirty="0"/>
              <a:t>лимит? </a:t>
            </a:r>
            <a:endParaRPr lang="ru-RU" dirty="0" smtClean="0"/>
          </a:p>
          <a:p>
            <a:r>
              <a:rPr lang="ru-RU" dirty="0" smtClean="0"/>
              <a:t>Одно </a:t>
            </a:r>
            <a:r>
              <a:rPr lang="ru-RU" dirty="0"/>
              <a:t>из решений заключается в резервировании последнего дискового </a:t>
            </a:r>
            <a:r>
              <a:rPr lang="ru-RU" dirty="0" smtClean="0"/>
              <a:t>адреса </a:t>
            </a:r>
            <a:r>
              <a:rPr lang="ru-RU" dirty="0"/>
              <a:t>не для блока данных, а для блока, содержащего дополнительные адреса </a:t>
            </a:r>
            <a:r>
              <a:rPr lang="ru-RU" dirty="0" smtClean="0"/>
              <a:t>блоков.</a:t>
            </a:r>
          </a:p>
          <a:p>
            <a:r>
              <a:rPr lang="ru-RU" dirty="0"/>
              <a:t>Может </a:t>
            </a:r>
            <a:r>
              <a:rPr lang="ru-RU" dirty="0" smtClean="0"/>
              <a:t>потребоваться даже </a:t>
            </a:r>
            <a:r>
              <a:rPr lang="ru-RU" dirty="0"/>
              <a:t>дисковый блок, указывающий на другие, полные адресов дисковые блоки.  </a:t>
            </a:r>
          </a:p>
        </p:txBody>
      </p:sp>
    </p:spTree>
    <p:extLst>
      <p:ext uri="{BB962C8B-B14F-4D97-AF65-F5344CB8AC3E}">
        <p14:creationId xmlns:p14="http://schemas.microsoft.com/office/powerpoint/2010/main" val="3176720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каталогов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Основной функцией </a:t>
            </a:r>
            <a:r>
              <a:rPr lang="ru-RU" dirty="0"/>
              <a:t>системы каталогов является преобразование ASCII-имени файла в </a:t>
            </a:r>
            <a:r>
              <a:rPr lang="ru-RU" dirty="0" smtClean="0"/>
              <a:t>информацию</a:t>
            </a:r>
            <a:r>
              <a:rPr lang="ru-RU" dirty="0"/>
              <a:t>, </a:t>
            </a:r>
            <a:r>
              <a:rPr lang="ru-RU" dirty="0" smtClean="0"/>
              <a:t>необходимую </a:t>
            </a:r>
            <a:r>
              <a:rPr lang="ru-RU" dirty="0"/>
              <a:t>для определения местоположения данных</a:t>
            </a:r>
            <a:r>
              <a:rPr lang="ru-RU" dirty="0" smtClean="0"/>
              <a:t>.</a:t>
            </a:r>
          </a:p>
          <a:p>
            <a:r>
              <a:rPr lang="ru-RU" dirty="0"/>
              <a:t>Каждая файловая </a:t>
            </a:r>
            <a:r>
              <a:rPr lang="ru-RU" dirty="0" smtClean="0"/>
              <a:t>система </a:t>
            </a:r>
            <a:r>
              <a:rPr lang="ru-RU" dirty="0"/>
              <a:t>работает с различными атрибутами файлов, такими как имя владельца </a:t>
            </a:r>
            <a:r>
              <a:rPr lang="ru-RU" dirty="0" smtClean="0"/>
              <a:t>файла </a:t>
            </a:r>
            <a:r>
              <a:rPr lang="ru-RU" dirty="0"/>
              <a:t>и время создания, и их нужно где-то хранить. 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1385313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Реализация каталогов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1"/>
            <a:ext cx="7620000" cy="2684512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Одна из очевидных возможностей заключается в хранении их непосредственно в записи каталога. Именно так некоторые системы и делают. </a:t>
            </a:r>
          </a:p>
          <a:p>
            <a:r>
              <a:rPr lang="ru-RU" dirty="0" smtClean="0"/>
              <a:t>В </a:t>
            </a:r>
            <a:r>
              <a:rPr lang="ru-RU" dirty="0"/>
              <a:t>этой простой конструкции каталог </a:t>
            </a:r>
            <a:r>
              <a:rPr lang="ru-RU" dirty="0" smtClean="0"/>
              <a:t>состоит </a:t>
            </a:r>
            <a:r>
              <a:rPr lang="ru-RU" dirty="0"/>
              <a:t>из списка записей фиксированного размера, по одной записи на каждый файл, </a:t>
            </a:r>
            <a:r>
              <a:rPr lang="ru-RU" dirty="0" smtClean="0"/>
              <a:t>в </a:t>
            </a:r>
            <a:r>
              <a:rPr lang="ru-RU" dirty="0"/>
              <a:t>которой содержатся имя файла (фиксированной длины), структура атрибутов файла, </a:t>
            </a:r>
            <a:r>
              <a:rPr lang="ru-RU" dirty="0" smtClean="0"/>
              <a:t>а </a:t>
            </a:r>
            <a:r>
              <a:rPr lang="ru-RU" dirty="0"/>
              <a:t>также один или несколько дисковых адресов (вплоть до некоторого максимума), </a:t>
            </a:r>
            <a:r>
              <a:rPr lang="ru-RU" dirty="0" smtClean="0"/>
              <a:t>сообщающих</a:t>
            </a:r>
            <a:r>
              <a:rPr lang="ru-RU" dirty="0"/>
              <a:t>, где находятся соответствующие файлу блоки на диске.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857" y="4340447"/>
            <a:ext cx="6404511" cy="232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17722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Реализация каталогов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MS-DOS у файлов имелось основное имя, состоящее из 1–8 символов, и </a:t>
            </a:r>
            <a:r>
              <a:rPr lang="ru-RU" dirty="0" smtClean="0"/>
              <a:t>необязательное </a:t>
            </a:r>
            <a:r>
              <a:rPr lang="ru-RU" dirty="0"/>
              <a:t>расширение имени, состоящее из 1–3 символов. В UNIX версии 7 имена </a:t>
            </a:r>
            <a:r>
              <a:rPr lang="ru-RU" dirty="0" smtClean="0"/>
              <a:t>файлов </a:t>
            </a:r>
            <a:r>
              <a:rPr lang="ru-RU" dirty="0"/>
              <a:t>состояли из 1–14 символов, включая любые расширения. </a:t>
            </a:r>
            <a:endParaRPr lang="ru-RU" dirty="0" smtClean="0"/>
          </a:p>
          <a:p>
            <a:r>
              <a:rPr lang="ru-RU" dirty="0" smtClean="0"/>
              <a:t>Но </a:t>
            </a:r>
            <a:r>
              <a:rPr lang="ru-RU" dirty="0"/>
              <a:t>практически </a:t>
            </a:r>
            <a:r>
              <a:rPr lang="ru-RU" dirty="0" smtClean="0"/>
              <a:t>все </a:t>
            </a:r>
            <a:r>
              <a:rPr lang="ru-RU" dirty="0"/>
              <a:t>современные </a:t>
            </a:r>
            <a:r>
              <a:rPr lang="ru-RU" dirty="0" smtClean="0"/>
              <a:t>ОС поддерживают </a:t>
            </a:r>
            <a:r>
              <a:rPr lang="ru-RU" dirty="0"/>
              <a:t>длинные имена переменной </a:t>
            </a:r>
            <a:r>
              <a:rPr lang="ru-RU" dirty="0" smtClean="0"/>
              <a:t>длины</a:t>
            </a:r>
            <a:r>
              <a:rPr lang="ru-RU" dirty="0"/>
              <a:t>. Как это может быть реализовано</a:t>
            </a:r>
            <a:r>
              <a:rPr lang="ru-RU" dirty="0" smtClean="0"/>
              <a:t>?</a:t>
            </a:r>
          </a:p>
          <a:p>
            <a:r>
              <a:rPr lang="ru-RU" dirty="0"/>
              <a:t>Проще всего установить предел длины имени </a:t>
            </a:r>
            <a:r>
              <a:rPr lang="ru-RU" dirty="0" smtClean="0"/>
              <a:t>файла (как </a:t>
            </a:r>
            <a:r>
              <a:rPr lang="ru-RU" dirty="0"/>
              <a:t>правило, он составляет 255 </a:t>
            </a:r>
            <a:r>
              <a:rPr lang="ru-RU" dirty="0" smtClean="0"/>
              <a:t>символов) и отводить </a:t>
            </a:r>
            <a:r>
              <a:rPr lang="ru-RU" dirty="0"/>
              <a:t>по 255 символов под каждое имя. Этот подход при всей своей простоте </a:t>
            </a:r>
            <a:r>
              <a:rPr lang="ru-RU" dirty="0" smtClean="0"/>
              <a:t>ведет </a:t>
            </a:r>
            <a:r>
              <a:rPr lang="ru-RU" dirty="0"/>
              <a:t>к пустой трате пространства, занимаемого каталогом, поскольку такие длинные </a:t>
            </a:r>
            <a:r>
              <a:rPr lang="ru-RU" dirty="0" smtClean="0"/>
              <a:t>имена </a:t>
            </a:r>
            <a:r>
              <a:rPr lang="ru-RU" dirty="0"/>
              <a:t>бывают далеко не у всех файлов.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384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Реализация каталогов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Один из альтернативных подходов состоит в отказе от предположения о том, что все </a:t>
            </a:r>
            <a:r>
              <a:rPr lang="ru-RU" dirty="0" smtClean="0"/>
              <a:t>записи </a:t>
            </a:r>
            <a:r>
              <a:rPr lang="ru-RU" dirty="0"/>
              <a:t>в каталоге должны иметь один и тот же размер. 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/>
              <a:t>таком подходе каждая </a:t>
            </a:r>
            <a:r>
              <a:rPr lang="ru-RU" dirty="0" smtClean="0"/>
              <a:t>запись </a:t>
            </a:r>
            <a:r>
              <a:rPr lang="ru-RU" dirty="0"/>
              <a:t>в каталоге начинается с порции фиксированного размера, обычно </a:t>
            </a:r>
            <a:r>
              <a:rPr lang="ru-RU" dirty="0" smtClean="0"/>
              <a:t>начинающейся </a:t>
            </a:r>
            <a:r>
              <a:rPr lang="ru-RU" dirty="0"/>
              <a:t>с длины записи, за которой следуют данные в фиксированном формате, чаще </a:t>
            </a:r>
            <a:r>
              <a:rPr lang="ru-RU" dirty="0" smtClean="0"/>
              <a:t>всего </a:t>
            </a:r>
            <a:r>
              <a:rPr lang="ru-RU" dirty="0"/>
              <a:t>включающие идентификатор владельца, дату создания, информацию о защите </a:t>
            </a:r>
            <a:r>
              <a:rPr lang="ru-RU" dirty="0" smtClean="0"/>
              <a:t>и </a:t>
            </a:r>
            <a:r>
              <a:rPr lang="ru-RU" dirty="0"/>
              <a:t>прочие атрибуты. </a:t>
            </a:r>
            <a:endParaRPr lang="ru-RU" dirty="0" smtClean="0"/>
          </a:p>
          <a:p>
            <a:r>
              <a:rPr lang="ru-RU" dirty="0" smtClean="0"/>
              <a:t>Следом </a:t>
            </a:r>
            <a:r>
              <a:rPr lang="ru-RU" dirty="0"/>
              <a:t>за заголовком фиксированной длины идет часть </a:t>
            </a:r>
            <a:r>
              <a:rPr lang="ru-RU" dirty="0" smtClean="0"/>
              <a:t>записи </a:t>
            </a:r>
            <a:r>
              <a:rPr lang="ru-RU" dirty="0"/>
              <a:t>переменной длины, содержащая имя файла, каким бы длинным оно ни </a:t>
            </a:r>
            <a:r>
              <a:rPr lang="ru-RU" dirty="0" smtClean="0"/>
              <a:t>было, </a:t>
            </a:r>
            <a:r>
              <a:rPr lang="ru-RU" dirty="0"/>
              <a:t>с определенным для данной системы порядком следования </a:t>
            </a:r>
            <a:r>
              <a:rPr lang="ru-RU" dirty="0" smtClean="0"/>
              <a:t>байтов в </a:t>
            </a:r>
            <a:r>
              <a:rPr lang="ru-RU" dirty="0"/>
              <a:t>словах (например, для SPARC — начиная со старшего). </a:t>
            </a:r>
          </a:p>
        </p:txBody>
      </p:sp>
    </p:spTree>
    <p:extLst>
      <p:ext uri="{BB962C8B-B14F-4D97-AF65-F5344CB8AC3E}">
        <p14:creationId xmlns:p14="http://schemas.microsoft.com/office/powerpoint/2010/main" val="7500157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Реализация каталогов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7"/>
            <a:ext cx="7620000" cy="1728191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приведенном </a:t>
            </a:r>
            <a:r>
              <a:rPr lang="ru-RU" dirty="0" smtClean="0"/>
              <a:t>примере показаны </a:t>
            </a:r>
            <a:r>
              <a:rPr lang="ru-RU" dirty="0"/>
              <a:t>три файла: </a:t>
            </a:r>
            <a:r>
              <a:rPr lang="ru-RU" dirty="0" err="1"/>
              <a:t>project-budget</a:t>
            </a:r>
            <a:r>
              <a:rPr lang="ru-RU" dirty="0"/>
              <a:t>, </a:t>
            </a:r>
            <a:r>
              <a:rPr lang="ru-RU" dirty="0" err="1"/>
              <a:t>personnel</a:t>
            </a:r>
            <a:r>
              <a:rPr lang="ru-RU" dirty="0"/>
              <a:t> и </a:t>
            </a:r>
            <a:r>
              <a:rPr lang="ru-RU" dirty="0" err="1"/>
              <a:t>foo</a:t>
            </a:r>
            <a:r>
              <a:rPr lang="ru-RU" dirty="0"/>
              <a:t>. Имя каждого файла завершается </a:t>
            </a:r>
            <a:r>
              <a:rPr lang="ru-RU" dirty="0" smtClean="0"/>
              <a:t>специальным </a:t>
            </a:r>
            <a:r>
              <a:rPr lang="ru-RU" dirty="0"/>
              <a:t>символом (обычно 0), обозначенным на рисунке перечеркнутыми </a:t>
            </a:r>
            <a:r>
              <a:rPr lang="ru-RU" dirty="0" smtClean="0"/>
              <a:t>квадратиками</a:t>
            </a:r>
            <a:r>
              <a:rPr lang="ru-RU" dirty="0"/>
              <a:t>. Чтобы каждая запись в каталоге могла начинаться с границы слова, </a:t>
            </a:r>
            <a:r>
              <a:rPr lang="ru-RU" dirty="0" smtClean="0"/>
              <a:t>имя каждого </a:t>
            </a:r>
            <a:r>
              <a:rPr lang="ru-RU" dirty="0"/>
              <a:t>файла дополняется до целого числа слов байтами, показанными на рисунке </a:t>
            </a:r>
            <a:r>
              <a:rPr lang="ru-RU" dirty="0" smtClean="0"/>
              <a:t>закрашенными </a:t>
            </a:r>
            <a:r>
              <a:rPr lang="ru-RU" dirty="0"/>
              <a:t>прямоугольниками.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7" y="3068960"/>
            <a:ext cx="5810597" cy="3789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27395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Реализация каталогов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 всех рассмотренных до сих пор подходах к организации каталогов, когда </a:t>
            </a:r>
            <a:r>
              <a:rPr lang="ru-RU" dirty="0" smtClean="0"/>
              <a:t>нужно найти </a:t>
            </a:r>
            <a:r>
              <a:rPr lang="ru-RU" dirty="0"/>
              <a:t>имя файла, поиск в каталогах ведется линейно, от начала до конца. Линейный </a:t>
            </a:r>
            <a:r>
              <a:rPr lang="ru-RU" dirty="0" smtClean="0"/>
              <a:t>поиск </a:t>
            </a:r>
            <a:r>
              <a:rPr lang="ru-RU" dirty="0"/>
              <a:t>в очень длинных каталогах может выполняться довольно медленно. </a:t>
            </a:r>
            <a:endParaRPr lang="ru-RU" dirty="0" smtClean="0"/>
          </a:p>
          <a:p>
            <a:r>
              <a:rPr lang="ru-RU" dirty="0" smtClean="0"/>
              <a:t>Ускорить поиск </a:t>
            </a:r>
            <a:r>
              <a:rPr lang="ru-RU" dirty="0"/>
              <a:t>поможет присутствие в каждом каталоге хэш-таблицы. Пусть размер такой таблицы </a:t>
            </a:r>
            <a:r>
              <a:rPr lang="ru-RU" dirty="0" smtClean="0"/>
              <a:t>будет </a:t>
            </a:r>
            <a:r>
              <a:rPr lang="ru-RU" dirty="0"/>
              <a:t>равен n. При добавлении в каталог нового имени файла оно должно </a:t>
            </a:r>
            <a:r>
              <a:rPr lang="ru-RU" dirty="0" err="1"/>
              <a:t>хэшироваться</a:t>
            </a:r>
            <a:r>
              <a:rPr lang="ru-RU" dirty="0"/>
              <a:t> </a:t>
            </a:r>
            <a:r>
              <a:rPr lang="ru-RU" dirty="0" smtClean="0"/>
              <a:t>в </a:t>
            </a:r>
            <a:r>
              <a:rPr lang="ru-RU" dirty="0"/>
              <a:t>число от 0 до n – 1, к примеру, путем деления его на n и взятия остатка. В качестве </a:t>
            </a:r>
            <a:r>
              <a:rPr lang="ru-RU" dirty="0" smtClean="0"/>
              <a:t>альтернативы </a:t>
            </a:r>
            <a:r>
              <a:rPr lang="ru-RU" dirty="0"/>
              <a:t>можно сложить слова, составляющие имя файла, и получившуюся сумму </a:t>
            </a:r>
            <a:r>
              <a:rPr lang="ru-RU" dirty="0" smtClean="0"/>
              <a:t>разделить </a:t>
            </a:r>
            <a:r>
              <a:rPr lang="ru-RU" dirty="0"/>
              <a:t>на n или сделать еще что-либо </a:t>
            </a:r>
            <a:r>
              <a:rPr lang="ru-RU" dirty="0" smtClean="0"/>
              <a:t>подобное.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66409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779096" cy="1371600"/>
          </a:xfrm>
        </p:spPr>
        <p:txBody>
          <a:bodyPr>
            <a:noAutofit/>
          </a:bodyPr>
          <a:lstStyle/>
          <a:p>
            <a:r>
              <a:rPr lang="ru-RU" dirty="0"/>
              <a:t>Совместно используемые файлы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Когда над проектом вместе работают несколько пользователей, зачастую возникает </a:t>
            </a:r>
            <a:r>
              <a:rPr lang="ru-RU" dirty="0" smtClean="0"/>
              <a:t>потребность </a:t>
            </a:r>
            <a:r>
              <a:rPr lang="ru-RU" dirty="0"/>
              <a:t>в совместном использовании файлов. </a:t>
            </a:r>
            <a:endParaRPr lang="ru-RU" dirty="0" smtClean="0"/>
          </a:p>
          <a:p>
            <a:r>
              <a:rPr lang="ru-RU" dirty="0" smtClean="0"/>
              <a:t>Поэтому </a:t>
            </a:r>
            <a:r>
              <a:rPr lang="ru-RU" dirty="0"/>
              <a:t>нередко представляется </a:t>
            </a:r>
            <a:r>
              <a:rPr lang="ru-RU" dirty="0" smtClean="0"/>
              <a:t>удобным</a:t>
            </a:r>
            <a:r>
              <a:rPr lang="ru-RU" dirty="0"/>
              <a:t>, чтобы совместно используемые файлы одновременно появлялись в </a:t>
            </a:r>
            <a:r>
              <a:rPr lang="ru-RU" dirty="0" smtClean="0"/>
              <a:t>различных </a:t>
            </a:r>
            <a:r>
              <a:rPr lang="ru-RU" dirty="0"/>
              <a:t>каталогах, принадлежащих разным пользователям. </a:t>
            </a:r>
            <a:endParaRPr lang="ru-RU" dirty="0" smtClean="0"/>
          </a:p>
          <a:p>
            <a:r>
              <a:rPr lang="ru-RU" dirty="0" smtClean="0"/>
              <a:t>Файловая система в таком случае </a:t>
            </a:r>
            <a:r>
              <a:rPr lang="ru-RU" dirty="0"/>
              <a:t>представляет собой не дерево, а ориентированный ациклический граф </a:t>
            </a:r>
            <a:r>
              <a:rPr lang="ru-RU" dirty="0" smtClean="0"/>
              <a:t>(</a:t>
            </a:r>
            <a:r>
              <a:rPr lang="ru-RU" dirty="0" err="1"/>
              <a:t>Directed</a:t>
            </a:r>
            <a:r>
              <a:rPr lang="ru-RU" dirty="0"/>
              <a:t> </a:t>
            </a:r>
            <a:r>
              <a:rPr lang="ru-RU" dirty="0" err="1"/>
              <a:t>Acyclic</a:t>
            </a:r>
            <a:r>
              <a:rPr lang="ru-RU" dirty="0"/>
              <a:t> </a:t>
            </a:r>
            <a:r>
              <a:rPr lang="ru-RU" dirty="0" err="1"/>
              <a:t>Graph</a:t>
            </a:r>
            <a:r>
              <a:rPr lang="ru-RU" dirty="0"/>
              <a:t> (DAG)). Потребность в том, чтобы файловая система была </a:t>
            </a:r>
            <a:r>
              <a:rPr lang="ru-RU" dirty="0" smtClean="0"/>
              <a:t>представлена </a:t>
            </a:r>
            <a:r>
              <a:rPr lang="ru-RU" dirty="0"/>
              <a:t>как DAG, усложняет ее обслуживание, но такова жизнь.</a:t>
            </a:r>
          </a:p>
        </p:txBody>
      </p:sp>
    </p:spTree>
    <p:extLst>
      <p:ext uri="{BB962C8B-B14F-4D97-AF65-F5344CB8AC3E}">
        <p14:creationId xmlns:p14="http://schemas.microsoft.com/office/powerpoint/2010/main" val="34592393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707088" cy="1371600"/>
          </a:xfrm>
        </p:spPr>
        <p:txBody>
          <a:bodyPr>
            <a:normAutofit/>
          </a:bodyPr>
          <a:lstStyle/>
          <a:p>
            <a:r>
              <a:rPr lang="ru-RU" dirty="0"/>
              <a:t>Совместно используемые файлы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Один </a:t>
            </a:r>
            <a:r>
              <a:rPr lang="ru-RU" dirty="0"/>
              <a:t>из файлов, </a:t>
            </a:r>
            <a:r>
              <a:rPr lang="ru-RU" dirty="0" smtClean="0"/>
              <a:t>принадлежащих </a:t>
            </a:r>
            <a:r>
              <a:rPr lang="ru-RU" dirty="0"/>
              <a:t>пользователю C, представлен также в одном из каталогов, </a:t>
            </a:r>
            <a:r>
              <a:rPr lang="ru-RU" dirty="0" smtClean="0"/>
              <a:t>принадлежащих пользователю </a:t>
            </a:r>
            <a:r>
              <a:rPr lang="ru-RU" dirty="0"/>
              <a:t>B. Установленное при этом отношение между каталогом, </a:t>
            </a:r>
            <a:r>
              <a:rPr lang="ru-RU" dirty="0" smtClean="0"/>
              <a:t>принадлежащим </a:t>
            </a:r>
            <a:r>
              <a:rPr lang="ru-RU" dirty="0"/>
              <a:t>B, и совместно используемыми файлами называется связью.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356992"/>
            <a:ext cx="3776439" cy="3378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89066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067128" cy="1371600"/>
          </a:xfrm>
        </p:spPr>
        <p:txBody>
          <a:bodyPr>
            <a:noAutofit/>
          </a:bodyPr>
          <a:lstStyle/>
          <a:p>
            <a:r>
              <a:rPr lang="ru-RU" dirty="0"/>
              <a:t>Совместно используемые файлы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 всем удобстве совместное использование файлов вызывает ряд проблем. </a:t>
            </a:r>
            <a:endParaRPr lang="ru-RU" dirty="0" smtClean="0"/>
          </a:p>
          <a:p>
            <a:r>
              <a:rPr lang="ru-RU" dirty="0" smtClean="0"/>
              <a:t>Для начала </a:t>
            </a:r>
            <a:r>
              <a:rPr lang="ru-RU" dirty="0"/>
              <a:t>следует заметить: если собственно каталоги содержат адреса всех дисковых </a:t>
            </a:r>
            <a:r>
              <a:rPr lang="ru-RU" dirty="0" smtClean="0"/>
              <a:t>блоков </a:t>
            </a:r>
            <a:r>
              <a:rPr lang="ru-RU" dirty="0"/>
              <a:t>файла, то при установке связи с файлом они должны быть скопированы в </a:t>
            </a:r>
            <a:r>
              <a:rPr lang="ru-RU" dirty="0" smtClean="0"/>
              <a:t>каталог</a:t>
            </a:r>
            <a:r>
              <a:rPr lang="ru-RU" dirty="0"/>
              <a:t>, принадлежащий пользователю B.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кто-либо из пользователей, B или C, </a:t>
            </a:r>
            <a:r>
              <a:rPr lang="ru-RU" dirty="0" smtClean="0"/>
              <a:t>чуть </a:t>
            </a:r>
            <a:r>
              <a:rPr lang="ru-RU" dirty="0"/>
              <a:t>позже добавит к файлу какие-то новые данные, то новые блоки попадут в список </a:t>
            </a:r>
            <a:r>
              <a:rPr lang="ru-RU" dirty="0" smtClean="0"/>
              <a:t>каталога</a:t>
            </a:r>
            <a:r>
              <a:rPr lang="ru-RU" dirty="0"/>
              <a:t>, принадлежащего только тому пользователю, который производил </a:t>
            </a:r>
            <a:r>
              <a:rPr lang="ru-RU" dirty="0" smtClean="0"/>
              <a:t>дополнение</a:t>
            </a:r>
            <a:r>
              <a:rPr lang="ru-RU" dirty="0"/>
              <a:t>. Другому пользователю изменения будут не видны, и совместное использование </a:t>
            </a:r>
            <a:r>
              <a:rPr lang="ru-RU" dirty="0" smtClean="0"/>
              <a:t>потеряет </a:t>
            </a:r>
            <a:r>
              <a:rPr lang="ru-RU" dirty="0"/>
              <a:t>всякий смысл.</a:t>
            </a:r>
          </a:p>
        </p:txBody>
      </p:sp>
    </p:spTree>
    <p:extLst>
      <p:ext uri="{BB962C8B-B14F-4D97-AF65-F5344CB8AC3E}">
        <p14:creationId xmlns:p14="http://schemas.microsoft.com/office/powerpoint/2010/main" val="630704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15200" cy="1371600"/>
          </a:xfrm>
        </p:spPr>
        <p:txBody>
          <a:bodyPr/>
          <a:lstStyle/>
          <a:p>
            <a:r>
              <a:rPr lang="ru-RU" dirty="0"/>
              <a:t>Совместно используемые файлы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Эта проблема может быть решена двумя способами. </a:t>
            </a:r>
            <a:endParaRPr lang="ru-RU" dirty="0" smtClean="0"/>
          </a:p>
          <a:p>
            <a:r>
              <a:rPr lang="ru-RU" dirty="0" smtClean="0"/>
              <a:t>Первое </a:t>
            </a:r>
            <a:r>
              <a:rPr lang="ru-RU" dirty="0"/>
              <a:t>решение заключается </a:t>
            </a:r>
            <a:r>
              <a:rPr lang="ru-RU" dirty="0" smtClean="0"/>
              <a:t>в </a:t>
            </a:r>
            <a:r>
              <a:rPr lang="ru-RU" dirty="0"/>
              <a:t>том, что дисковые блоки не указываются в каталогах. Вместо этого с самим файлом </a:t>
            </a:r>
            <a:r>
              <a:rPr lang="ru-RU" dirty="0" smtClean="0"/>
              <a:t>связывается </a:t>
            </a:r>
            <a:r>
              <a:rPr lang="ru-RU" dirty="0"/>
              <a:t>некоторая небольшая структура данных. В этом случае каталоги должны </a:t>
            </a:r>
            <a:r>
              <a:rPr lang="ru-RU" dirty="0" smtClean="0"/>
              <a:t>лишь </a:t>
            </a:r>
            <a:r>
              <a:rPr lang="ru-RU" dirty="0"/>
              <a:t>указывать на эту структуру данных. Такой подход используется в UNIX (где </a:t>
            </a:r>
            <a:r>
              <a:rPr lang="ru-RU" dirty="0" smtClean="0"/>
              <a:t>в </a:t>
            </a:r>
            <a:r>
              <a:rPr lang="ru-RU" dirty="0"/>
              <a:t>качестве такой структуры данных выступает i-узел</a:t>
            </a:r>
            <a:r>
              <a:rPr lang="ru-RU" dirty="0" smtClean="0"/>
              <a:t>).</a:t>
            </a:r>
            <a:endParaRPr lang="ru-RU" dirty="0"/>
          </a:p>
          <a:p>
            <a:r>
              <a:rPr lang="ru-RU" dirty="0"/>
              <a:t>Второе решение заключается в том, что каталог пользователя B привязывается к </a:t>
            </a:r>
            <a:r>
              <a:rPr lang="ru-RU" dirty="0" smtClean="0"/>
              <a:t>одному </a:t>
            </a:r>
            <a:r>
              <a:rPr lang="ru-RU" dirty="0"/>
              <a:t>из файлов пользователя C, заставляя систему создать новый файл типа LINK </a:t>
            </a:r>
            <a:r>
              <a:rPr lang="ru-RU" dirty="0" smtClean="0"/>
              <a:t>и </a:t>
            </a:r>
            <a:r>
              <a:rPr lang="ru-RU" dirty="0"/>
              <a:t>включить этот файл в каталог пользователя B. Новый файл содержит только имя того </a:t>
            </a:r>
            <a:r>
              <a:rPr lang="ru-RU" dirty="0" smtClean="0"/>
              <a:t>файла</a:t>
            </a:r>
            <a:r>
              <a:rPr lang="ru-RU" dirty="0"/>
              <a:t>, с которым он связан. Когда пользователь B читает данные из связанного файла, </a:t>
            </a:r>
            <a:r>
              <a:rPr lang="ru-RU" dirty="0" smtClean="0"/>
              <a:t>операционная </a:t>
            </a:r>
            <a:r>
              <a:rPr lang="ru-RU" dirty="0"/>
              <a:t>система видит, что файл, из которого они считываются, относится к типу </a:t>
            </a:r>
            <a:r>
              <a:rPr lang="ru-RU" dirty="0" smtClean="0"/>
              <a:t>LINK</a:t>
            </a:r>
            <a:r>
              <a:rPr lang="ru-RU" dirty="0"/>
              <a:t>, находит в нем имя файла и читает данные из этого файла. Этот подход в </a:t>
            </a:r>
            <a:r>
              <a:rPr lang="ru-RU" dirty="0" smtClean="0"/>
              <a:t>отличие от </a:t>
            </a:r>
            <a:r>
              <a:rPr lang="ru-RU" dirty="0"/>
              <a:t>традиционной (жесткой) связи называется символической ссылкой.</a:t>
            </a:r>
          </a:p>
        </p:txBody>
      </p:sp>
    </p:spTree>
    <p:extLst>
      <p:ext uri="{BB962C8B-B14F-4D97-AF65-F5344CB8AC3E}">
        <p14:creationId xmlns:p14="http://schemas.microsoft.com/office/powerpoint/2010/main" val="34462440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355160" cy="1371600"/>
          </a:xfrm>
        </p:spPr>
        <p:txBody>
          <a:bodyPr>
            <a:normAutofit/>
          </a:bodyPr>
          <a:lstStyle/>
          <a:p>
            <a:r>
              <a:rPr lang="ru-RU" dirty="0" err="1"/>
              <a:t>Журналируемые</a:t>
            </a:r>
            <a:r>
              <a:rPr lang="ru-RU" dirty="0"/>
              <a:t> файловые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Основной принцип заключается в </a:t>
            </a:r>
            <a:r>
              <a:rPr lang="ru-RU" dirty="0" err="1"/>
              <a:t>журналировании</a:t>
            </a:r>
            <a:r>
              <a:rPr lang="ru-RU" dirty="0"/>
              <a:t> всех </a:t>
            </a:r>
            <a:r>
              <a:rPr lang="ru-RU" dirty="0" smtClean="0"/>
              <a:t>намерений </a:t>
            </a:r>
            <a:r>
              <a:rPr lang="ru-RU" dirty="0"/>
              <a:t>файловой системы перед их осуществлением. Поэтому, если система терпит </a:t>
            </a:r>
            <a:r>
              <a:rPr lang="ru-RU" dirty="0" smtClean="0"/>
              <a:t>аварию </a:t>
            </a:r>
            <a:r>
              <a:rPr lang="ru-RU" dirty="0"/>
              <a:t>еще до того, как у нее появляется возможность выполнить запланированные </a:t>
            </a:r>
            <a:r>
              <a:rPr lang="ru-RU" dirty="0" smtClean="0"/>
              <a:t>действия</a:t>
            </a:r>
            <a:r>
              <a:rPr lang="ru-RU" dirty="0"/>
              <a:t>, после перезагрузки она может посмотреть в журнал, определить, что она </a:t>
            </a:r>
            <a:r>
              <a:rPr lang="ru-RU" dirty="0" smtClean="0"/>
              <a:t>собиралась </a:t>
            </a:r>
            <a:r>
              <a:rPr lang="ru-RU" dirty="0"/>
              <a:t>сделать на момент аварии, и завершить свою работу. </a:t>
            </a:r>
            <a:endParaRPr lang="ru-RU" dirty="0" smtClean="0"/>
          </a:p>
          <a:p>
            <a:r>
              <a:rPr lang="ru-RU" dirty="0" smtClean="0"/>
              <a:t>Такие </a:t>
            </a:r>
            <a:r>
              <a:rPr lang="ru-RU" dirty="0"/>
              <a:t>файловые </a:t>
            </a:r>
            <a:r>
              <a:rPr lang="ru-RU" dirty="0" smtClean="0"/>
              <a:t>системы</a:t>
            </a:r>
            <a:r>
              <a:rPr lang="ru-RU" dirty="0"/>
              <a:t>, которые называются </a:t>
            </a:r>
            <a:r>
              <a:rPr lang="ru-RU" dirty="0" err="1"/>
              <a:t>журналируемыми</a:t>
            </a:r>
            <a:r>
              <a:rPr lang="ru-RU" dirty="0"/>
              <a:t> файловыми системами, нашли свое </a:t>
            </a:r>
            <a:r>
              <a:rPr lang="ru-RU" dirty="0" smtClean="0"/>
              <a:t>применение</a:t>
            </a:r>
            <a:r>
              <a:rPr lang="ru-RU" dirty="0"/>
              <a:t>. </a:t>
            </a:r>
            <a:r>
              <a:rPr lang="ru-RU" dirty="0" err="1"/>
              <a:t>Журналируемыми</a:t>
            </a:r>
            <a:r>
              <a:rPr lang="ru-RU" dirty="0"/>
              <a:t> являются файловая система NTFS, разработанная </a:t>
            </a:r>
            <a:r>
              <a:rPr lang="ru-RU" dirty="0" err="1" smtClean="0"/>
              <a:t>Microsoft</a:t>
            </a:r>
            <a:r>
              <a:rPr lang="ru-RU" dirty="0"/>
              <a:t>, а также файловые системы </a:t>
            </a:r>
            <a:r>
              <a:rPr lang="ru-RU" dirty="0" err="1"/>
              <a:t>Linux</a:t>
            </a:r>
            <a:r>
              <a:rPr lang="ru-RU" dirty="0"/>
              <a:t> ext3 и </a:t>
            </a:r>
            <a:r>
              <a:rPr lang="ru-RU" dirty="0" err="1"/>
              <a:t>ReiserFS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08284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563072" cy="1371600"/>
          </a:xfrm>
        </p:spPr>
        <p:txBody>
          <a:bodyPr>
            <a:normAutofit/>
          </a:bodyPr>
          <a:lstStyle/>
          <a:p>
            <a:r>
              <a:rPr lang="ru-RU" dirty="0" err="1"/>
              <a:t>Журналируемые</a:t>
            </a:r>
            <a:r>
              <a:rPr lang="ru-RU" dirty="0"/>
              <a:t> файловые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журналируемой</a:t>
            </a:r>
            <a:r>
              <a:rPr lang="ru-RU" dirty="0"/>
              <a:t> файловой системе сначала делается запись в журнале, в которой </a:t>
            </a:r>
            <a:r>
              <a:rPr lang="ru-RU" dirty="0" smtClean="0"/>
              <a:t>перечисляются </a:t>
            </a:r>
            <a:r>
              <a:rPr lang="ru-RU" dirty="0"/>
              <a:t>три намеченных к выполнению действия. </a:t>
            </a:r>
            <a:endParaRPr lang="ru-RU" dirty="0" smtClean="0"/>
          </a:p>
          <a:p>
            <a:r>
              <a:rPr lang="ru-RU" dirty="0" smtClean="0"/>
              <a:t>Затем </a:t>
            </a:r>
            <a:r>
              <a:rPr lang="ru-RU" dirty="0"/>
              <a:t>журнальная запись </a:t>
            </a:r>
            <a:r>
              <a:rPr lang="ru-RU" dirty="0" smtClean="0"/>
              <a:t>сбрасывается </a:t>
            </a:r>
            <a:r>
              <a:rPr lang="ru-RU" dirty="0"/>
              <a:t>на диск (дополнительно, возможно, эта же запись считывается с </a:t>
            </a:r>
            <a:r>
              <a:rPr lang="ru-RU" dirty="0" smtClean="0"/>
              <a:t>диска</a:t>
            </a:r>
            <a:r>
              <a:rPr lang="ru-RU" dirty="0"/>
              <a:t>, чтобы убедиться в том, что она было записана правильно). </a:t>
            </a:r>
            <a:endParaRPr lang="ru-RU" dirty="0" smtClean="0"/>
          </a:p>
          <a:p>
            <a:r>
              <a:rPr lang="ru-RU" dirty="0" smtClean="0"/>
              <a:t>И </a:t>
            </a:r>
            <a:r>
              <a:rPr lang="ru-RU" dirty="0"/>
              <a:t>только после сброса </a:t>
            </a:r>
            <a:r>
              <a:rPr lang="ru-RU" dirty="0" smtClean="0"/>
              <a:t>журнальной </a:t>
            </a:r>
            <a:r>
              <a:rPr lang="ru-RU" dirty="0"/>
              <a:t>записи на диск выполняются различные операции. После успешного </a:t>
            </a:r>
            <a:r>
              <a:rPr lang="ru-RU" dirty="0" smtClean="0"/>
              <a:t>завершения </a:t>
            </a:r>
            <a:r>
              <a:rPr lang="ru-RU" dirty="0"/>
              <a:t>операций журнальная запись удаляется. </a:t>
            </a:r>
          </a:p>
        </p:txBody>
      </p:sp>
    </p:spTree>
    <p:extLst>
      <p:ext uri="{BB962C8B-B14F-4D97-AF65-F5344CB8AC3E}">
        <p14:creationId xmlns:p14="http://schemas.microsoft.com/office/powerpoint/2010/main" val="31438887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923112" cy="1371600"/>
          </a:xfrm>
        </p:spPr>
        <p:txBody>
          <a:bodyPr>
            <a:normAutofit/>
          </a:bodyPr>
          <a:lstStyle/>
          <a:p>
            <a:r>
              <a:rPr lang="ru-RU" dirty="0"/>
              <a:t>Виртуальные файловые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Для </a:t>
            </a:r>
            <a:r>
              <a:rPr lang="ru-RU" dirty="0"/>
              <a:t>всех современных систем UNIX предпринимаются весьма </a:t>
            </a:r>
            <a:r>
              <a:rPr lang="ru-RU" dirty="0" smtClean="0"/>
              <a:t>серьезные </a:t>
            </a:r>
            <a:r>
              <a:rPr lang="ru-RU" dirty="0"/>
              <a:t>попытки интегрировать ряд файловых систем в единую структуру. </a:t>
            </a:r>
            <a:endParaRPr lang="ru-RU" dirty="0" smtClean="0"/>
          </a:p>
          <a:p>
            <a:r>
              <a:rPr lang="ru-RU" dirty="0" smtClean="0"/>
              <a:t>У </a:t>
            </a:r>
            <a:r>
              <a:rPr lang="ru-RU" dirty="0"/>
              <a:t>систем </a:t>
            </a:r>
            <a:r>
              <a:rPr lang="ru-RU" dirty="0" err="1" smtClean="0"/>
              <a:t>Linux</a:t>
            </a:r>
            <a:r>
              <a:rPr lang="ru-RU" dirty="0" smtClean="0"/>
              <a:t> </a:t>
            </a:r>
            <a:r>
              <a:rPr lang="ru-RU" dirty="0"/>
              <a:t>в качестве корневой файловой системы может выступать ext2, и она может иметь </a:t>
            </a:r>
            <a:r>
              <a:rPr lang="ru-RU" dirty="0" smtClean="0"/>
              <a:t>ext3-раздел</a:t>
            </a:r>
            <a:r>
              <a:rPr lang="ru-RU" dirty="0"/>
              <a:t>, подключенный к каталогу /</a:t>
            </a:r>
            <a:r>
              <a:rPr lang="ru-RU" dirty="0" err="1"/>
              <a:t>usr</a:t>
            </a:r>
            <a:r>
              <a:rPr lang="ru-RU" dirty="0"/>
              <a:t>, и второй жесткий диск, имеющий файловую </a:t>
            </a:r>
            <a:r>
              <a:rPr lang="ru-RU" dirty="0" smtClean="0"/>
              <a:t>систему </a:t>
            </a:r>
            <a:r>
              <a:rPr lang="ru-RU" dirty="0" err="1"/>
              <a:t>ReiserFS</a:t>
            </a:r>
            <a:r>
              <a:rPr lang="ru-RU" dirty="0"/>
              <a:t>, подключенный к каталогу /</a:t>
            </a:r>
            <a:r>
              <a:rPr lang="ru-RU" dirty="0" err="1"/>
              <a:t>home</a:t>
            </a:r>
            <a:r>
              <a:rPr lang="ru-RU" dirty="0"/>
              <a:t>, а также компакт-диск, отвечающий </a:t>
            </a:r>
            <a:r>
              <a:rPr lang="ru-RU" dirty="0" smtClean="0"/>
              <a:t>стандарту </a:t>
            </a:r>
            <a:r>
              <a:rPr lang="ru-RU" dirty="0"/>
              <a:t>ISO 9660, временно подключенный к каталогу /</a:t>
            </a:r>
            <a:r>
              <a:rPr lang="ru-RU" dirty="0" err="1"/>
              <a:t>mnt</a:t>
            </a:r>
            <a:r>
              <a:rPr lang="ru-RU" dirty="0"/>
              <a:t>. С пользовательской точки </a:t>
            </a:r>
            <a:r>
              <a:rPr lang="ru-RU" dirty="0" smtClean="0"/>
              <a:t>зрения </a:t>
            </a:r>
            <a:r>
              <a:rPr lang="ru-RU" dirty="0"/>
              <a:t>это будет единая иерархическая файловая система, поскольку объединение </a:t>
            </a:r>
            <a:r>
              <a:rPr lang="ru-RU" dirty="0" smtClean="0"/>
              <a:t>нескольких </a:t>
            </a:r>
            <a:r>
              <a:rPr lang="ru-RU" dirty="0"/>
              <a:t>несовместимых файловых систем невидимо для пользователей или процессов.</a:t>
            </a:r>
          </a:p>
        </p:txBody>
      </p:sp>
    </p:spTree>
    <p:extLst>
      <p:ext uri="{BB962C8B-B14F-4D97-AF65-F5344CB8AC3E}">
        <p14:creationId xmlns:p14="http://schemas.microsoft.com/office/powerpoint/2010/main" val="109237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779096" cy="1371600"/>
          </a:xfrm>
        </p:spPr>
        <p:txBody>
          <a:bodyPr>
            <a:normAutofit/>
          </a:bodyPr>
          <a:lstStyle/>
          <a:p>
            <a:r>
              <a:rPr lang="ru-RU" dirty="0"/>
              <a:t>Виртуальные файловые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Существование нескольких файловых систем </a:t>
            </a:r>
            <a:r>
              <a:rPr lang="ru-RU" dirty="0" smtClean="0"/>
              <a:t>стало необходимостью</a:t>
            </a:r>
            <a:r>
              <a:rPr lang="ru-RU" dirty="0"/>
              <a:t>, и </a:t>
            </a:r>
            <a:r>
              <a:rPr lang="ru-RU" dirty="0" smtClean="0"/>
              <a:t>начиная с </a:t>
            </a:r>
            <a:r>
              <a:rPr lang="ru-RU" dirty="0"/>
              <a:t>передовой разработки </a:t>
            </a:r>
            <a:r>
              <a:rPr lang="ru-RU" dirty="0" err="1"/>
              <a:t>Sun</a:t>
            </a:r>
            <a:r>
              <a:rPr lang="ru-RU" dirty="0"/>
              <a:t> </a:t>
            </a:r>
            <a:r>
              <a:rPr lang="ru-RU" dirty="0" err="1"/>
              <a:t>Microsystems</a:t>
            </a:r>
            <a:r>
              <a:rPr lang="ru-RU" dirty="0"/>
              <a:t> (</a:t>
            </a:r>
            <a:r>
              <a:rPr lang="ru-RU" dirty="0" err="1"/>
              <a:t>Kleiman</a:t>
            </a:r>
            <a:r>
              <a:rPr lang="ru-RU" dirty="0"/>
              <a:t>, 1986) большинство </a:t>
            </a:r>
            <a:r>
              <a:rPr lang="ru-RU" dirty="0" smtClean="0"/>
              <a:t>UNIX-систем, пытаясь </a:t>
            </a:r>
            <a:r>
              <a:rPr lang="ru-RU" dirty="0"/>
              <a:t>интегрировать несколько файловых систем в упорядоченную структуру, </a:t>
            </a:r>
            <a:r>
              <a:rPr lang="ru-RU" dirty="0" smtClean="0"/>
              <a:t>использовали </a:t>
            </a:r>
            <a:r>
              <a:rPr lang="ru-RU" dirty="0"/>
              <a:t>концепцию </a:t>
            </a:r>
            <a:r>
              <a:rPr lang="ru-RU" i="1" dirty="0"/>
              <a:t>виртуальной файловой системы </a:t>
            </a:r>
            <a:r>
              <a:rPr lang="ru-RU" dirty="0"/>
              <a:t>(</a:t>
            </a:r>
            <a:r>
              <a:rPr lang="ru-RU" dirty="0" err="1"/>
              <a:t>virtual</a:t>
            </a:r>
            <a:r>
              <a:rPr lang="ru-RU" dirty="0"/>
              <a:t> </a:t>
            </a:r>
            <a:r>
              <a:rPr lang="ru-RU" dirty="0" err="1"/>
              <a:t>file</a:t>
            </a:r>
            <a:r>
              <a:rPr lang="ru-RU" dirty="0"/>
              <a:t> </a:t>
            </a:r>
            <a:r>
              <a:rPr lang="ru-RU" dirty="0" err="1"/>
              <a:t>system</a:t>
            </a:r>
            <a:r>
              <a:rPr lang="ru-RU" dirty="0"/>
              <a:t> (VFS)). </a:t>
            </a:r>
          </a:p>
          <a:p>
            <a:r>
              <a:rPr lang="ru-RU" dirty="0"/>
              <a:t>Ключевая идея состоит в том, чтобы выделить какую-то часть файловой системы, </a:t>
            </a:r>
            <a:r>
              <a:rPr lang="ru-RU" dirty="0" smtClean="0"/>
              <a:t>являющуюся </a:t>
            </a:r>
            <a:r>
              <a:rPr lang="ru-RU" dirty="0"/>
              <a:t>общей для всех файловых систем, и поместить ее код на отдельный уровень, </a:t>
            </a:r>
            <a:r>
              <a:rPr lang="ru-RU" dirty="0" smtClean="0"/>
              <a:t>из </a:t>
            </a:r>
            <a:r>
              <a:rPr lang="ru-RU" dirty="0"/>
              <a:t>которого вызываются расположенные ниже конкретные файловые системы с целью </a:t>
            </a:r>
            <a:r>
              <a:rPr lang="ru-RU" dirty="0" smtClean="0"/>
              <a:t>фактического </a:t>
            </a:r>
            <a:r>
              <a:rPr lang="ru-RU" dirty="0"/>
              <a:t>управления 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28358702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635080" cy="1371600"/>
          </a:xfrm>
        </p:spPr>
        <p:txBody>
          <a:bodyPr>
            <a:normAutofit/>
          </a:bodyPr>
          <a:lstStyle/>
          <a:p>
            <a:r>
              <a:rPr lang="ru-RU" dirty="0"/>
              <a:t>Виртуальные файловые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199" y="1484785"/>
            <a:ext cx="7937957" cy="295232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Все относящиеся к файлам системные вызовы направляются для первичной обработки </a:t>
            </a:r>
            <a:r>
              <a:rPr lang="ru-RU" dirty="0" smtClean="0"/>
              <a:t>в </a:t>
            </a:r>
            <a:r>
              <a:rPr lang="ru-RU" dirty="0"/>
              <a:t>адрес виртуальной файловой системы. Эти вызовы, поступающие от пользовательских процессов, являются стандартными POSIX-вызовами, такими как </a:t>
            </a:r>
            <a:r>
              <a:rPr lang="ru-RU" dirty="0" err="1"/>
              <a:t>open</a:t>
            </a:r>
            <a:r>
              <a:rPr lang="ru-RU" dirty="0"/>
              <a:t>, </a:t>
            </a:r>
            <a:r>
              <a:rPr lang="ru-RU" dirty="0" err="1"/>
              <a:t>read</a:t>
            </a:r>
            <a:r>
              <a:rPr lang="ru-RU" dirty="0"/>
              <a:t>, </a:t>
            </a:r>
            <a:r>
              <a:rPr lang="ru-RU" dirty="0" err="1"/>
              <a:t>write</a:t>
            </a:r>
            <a:r>
              <a:rPr lang="ru-RU" dirty="0"/>
              <a:t>, </a:t>
            </a:r>
            <a:r>
              <a:rPr lang="ru-RU" dirty="0" err="1" smtClean="0"/>
              <a:t>lseek</a:t>
            </a:r>
            <a:r>
              <a:rPr lang="ru-RU" dirty="0" smtClean="0"/>
              <a:t> </a:t>
            </a:r>
            <a:r>
              <a:rPr lang="ru-RU" dirty="0"/>
              <a:t>и т. д. Таким образом, VFS обладает «верхним» интерфейсом к пользовательским </a:t>
            </a:r>
            <a:r>
              <a:rPr lang="ru-RU" dirty="0" smtClean="0"/>
              <a:t>процессам.</a:t>
            </a:r>
            <a:endParaRPr lang="ru-RU" dirty="0"/>
          </a:p>
          <a:p>
            <a:r>
              <a:rPr lang="ru-RU" dirty="0"/>
              <a:t>У VFS есть также «нижний» интерфейс к конкретной файловой системе, который на </a:t>
            </a:r>
            <a:r>
              <a:rPr lang="ru-RU" dirty="0" smtClean="0"/>
              <a:t>рисунке обозначен </a:t>
            </a:r>
            <a:r>
              <a:rPr lang="ru-RU" dirty="0"/>
              <a:t>как VFS-интерфейс. Этот интерфейс состоит из нескольких </a:t>
            </a:r>
            <a:r>
              <a:rPr lang="ru-RU" dirty="0" smtClean="0"/>
              <a:t>десятков </a:t>
            </a:r>
            <a:r>
              <a:rPr lang="ru-RU" dirty="0"/>
              <a:t>вызовов функций, которые VFS способна направлять к каждой файловой системе </a:t>
            </a:r>
            <a:r>
              <a:rPr lang="ru-RU" dirty="0" smtClean="0"/>
              <a:t>для </a:t>
            </a:r>
            <a:r>
              <a:rPr lang="ru-RU" dirty="0"/>
              <a:t>достижения конечного результата.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149080"/>
            <a:ext cx="5479341" cy="271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27175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491064" cy="1371600"/>
          </a:xfrm>
        </p:spPr>
        <p:txBody>
          <a:bodyPr>
            <a:normAutofit/>
          </a:bodyPr>
          <a:lstStyle/>
          <a:p>
            <a:r>
              <a:rPr lang="ru-RU" dirty="0"/>
              <a:t>Виртуальные файловые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самом деле исходной мотивацией для компании </a:t>
            </a:r>
            <a:r>
              <a:rPr lang="ru-RU" dirty="0" err="1" smtClean="0"/>
              <a:t>Sun</a:t>
            </a:r>
            <a:r>
              <a:rPr lang="ru-RU" dirty="0" smtClean="0"/>
              <a:t> </a:t>
            </a:r>
            <a:r>
              <a:rPr lang="ru-RU" dirty="0"/>
              <a:t>при создании VFS служила поддержка удаленных файловых систем, использующих </a:t>
            </a:r>
            <a:r>
              <a:rPr lang="ru-RU" dirty="0" smtClean="0"/>
              <a:t>протокол </a:t>
            </a:r>
            <a:r>
              <a:rPr lang="ru-RU" i="1" dirty="0"/>
              <a:t>сетевой файловой системы</a:t>
            </a:r>
            <a:r>
              <a:rPr lang="ru-RU" dirty="0"/>
              <a:t> (</a:t>
            </a:r>
            <a:r>
              <a:rPr lang="ru-RU" dirty="0" err="1"/>
              <a:t>Network</a:t>
            </a:r>
            <a:r>
              <a:rPr lang="ru-RU" dirty="0"/>
              <a:t> </a:t>
            </a:r>
            <a:r>
              <a:rPr lang="ru-RU" dirty="0" err="1"/>
              <a:t>File</a:t>
            </a:r>
            <a:r>
              <a:rPr lang="ru-RU" dirty="0"/>
              <a:t> </a:t>
            </a:r>
            <a:r>
              <a:rPr lang="ru-RU" dirty="0" err="1"/>
              <a:t>System</a:t>
            </a:r>
            <a:r>
              <a:rPr lang="ru-RU" dirty="0"/>
              <a:t> (NFS)). </a:t>
            </a:r>
            <a:endParaRPr lang="ru-RU" dirty="0" smtClean="0"/>
          </a:p>
          <a:p>
            <a:r>
              <a:rPr lang="ru-RU" dirty="0" smtClean="0"/>
              <a:t>Конструктивная особенность </a:t>
            </a:r>
            <a:r>
              <a:rPr lang="ru-RU" dirty="0"/>
              <a:t>VFS состоит в том, что пока конкретная файловая система предоставляет </a:t>
            </a:r>
            <a:r>
              <a:rPr lang="ru-RU" dirty="0" smtClean="0"/>
              <a:t>требуемые </a:t>
            </a:r>
            <a:r>
              <a:rPr lang="ru-RU" dirty="0"/>
              <a:t>VFS функции, VFS не знает или не заботится о том, где данные хранятся или </a:t>
            </a:r>
            <a:r>
              <a:rPr lang="ru-RU" dirty="0" smtClean="0"/>
              <a:t>что </a:t>
            </a:r>
            <a:r>
              <a:rPr lang="ru-RU" dirty="0"/>
              <a:t>собой представляет находящаяся под ней файловая система.</a:t>
            </a:r>
          </a:p>
        </p:txBody>
      </p:sp>
    </p:spTree>
    <p:extLst>
      <p:ext uri="{BB962C8B-B14F-4D97-AF65-F5344CB8AC3E}">
        <p14:creationId xmlns:p14="http://schemas.microsoft.com/office/powerpoint/2010/main" val="31877299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ая">
  <a:themeElements>
    <a:clrScheme name="Главная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Главная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ая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280</TotalTime>
  <Words>4073</Words>
  <Application>Microsoft Office PowerPoint</Application>
  <PresentationFormat>Экран (4:3)</PresentationFormat>
  <Paragraphs>211</Paragraphs>
  <Slides>43</Slides>
  <Notes>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4" baseType="lpstr">
      <vt:lpstr>Главная</vt:lpstr>
      <vt:lpstr>Файловые системы</vt:lpstr>
      <vt:lpstr>Файлы</vt:lpstr>
      <vt:lpstr>Структура файла</vt:lpstr>
      <vt:lpstr>Типы файлов</vt:lpstr>
      <vt:lpstr>Доступ к файлам</vt:lpstr>
      <vt:lpstr>Атрибуты файлов</vt:lpstr>
      <vt:lpstr>Атрибуты файлов </vt:lpstr>
      <vt:lpstr>Операции с файлами</vt:lpstr>
      <vt:lpstr>Пример программы, использующей файловые системные вызовы</vt:lpstr>
      <vt:lpstr>системы каталогов</vt:lpstr>
      <vt:lpstr>Системы с одноуровневыми каталогами</vt:lpstr>
      <vt:lpstr>Иерархические системы каталогов</vt:lpstr>
      <vt:lpstr>Иерархические системы каталогов</vt:lpstr>
      <vt:lpstr>Операции с каталогами</vt:lpstr>
      <vt:lpstr>Структура файловой системы</vt:lpstr>
      <vt:lpstr>Возможная Структура файловой системы</vt:lpstr>
      <vt:lpstr>Реализация файлов</vt:lpstr>
      <vt:lpstr>Непрерывное размещение</vt:lpstr>
      <vt:lpstr>Непрерывное размещение</vt:lpstr>
      <vt:lpstr>Непрерывное размещение</vt:lpstr>
      <vt:lpstr>Размещение с использованием связанного списка</vt:lpstr>
      <vt:lpstr>Размещение с использованием связанного списка</vt:lpstr>
      <vt:lpstr>Размещение с помощью связанного списка, использующего таблицу в памяти</vt:lpstr>
      <vt:lpstr>Размещение с помощью связанного списка, использующего таблицу в памяти</vt:lpstr>
      <vt:lpstr>I-узлы</vt:lpstr>
      <vt:lpstr>I-узлы</vt:lpstr>
      <vt:lpstr>I-узлы</vt:lpstr>
      <vt:lpstr>Реализация каталогов</vt:lpstr>
      <vt:lpstr>Реализация каталогов</vt:lpstr>
      <vt:lpstr>Реализация каталогов</vt:lpstr>
      <vt:lpstr>Реализация каталогов</vt:lpstr>
      <vt:lpstr>Реализация каталогов</vt:lpstr>
      <vt:lpstr>Реализация каталогов</vt:lpstr>
      <vt:lpstr>Совместно используемые файлы</vt:lpstr>
      <vt:lpstr>Совместно используемые файлы</vt:lpstr>
      <vt:lpstr>Совместно используемые файлы</vt:lpstr>
      <vt:lpstr>Совместно используемые файлы</vt:lpstr>
      <vt:lpstr>Журналируемые файловые системы</vt:lpstr>
      <vt:lpstr>Журналируемые файловые системы</vt:lpstr>
      <vt:lpstr>Виртуальные файловые системы</vt:lpstr>
      <vt:lpstr>Виртуальные файловые системы</vt:lpstr>
      <vt:lpstr>Виртуальные файловые системы</vt:lpstr>
      <vt:lpstr>Виртуальные файловые системы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Файловые системы</dc:title>
  <dc:creator>kate</dc:creator>
  <cp:lastModifiedBy>kate</cp:lastModifiedBy>
  <cp:revision>37</cp:revision>
  <dcterms:created xsi:type="dcterms:W3CDTF">2017-03-19T12:25:17Z</dcterms:created>
  <dcterms:modified xsi:type="dcterms:W3CDTF">2017-03-19T17:05:21Z</dcterms:modified>
</cp:coreProperties>
</file>