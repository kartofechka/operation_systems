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74"/>
  </p:notesMasterIdLst>
  <p:sldIdLst>
    <p:sldId id="283" r:id="rId2"/>
    <p:sldId id="258" r:id="rId3"/>
    <p:sldId id="285" r:id="rId4"/>
    <p:sldId id="286" r:id="rId5"/>
    <p:sldId id="287" r:id="rId6"/>
    <p:sldId id="288" r:id="rId7"/>
    <p:sldId id="355" r:id="rId8"/>
    <p:sldId id="289" r:id="rId9"/>
    <p:sldId id="291" r:id="rId10"/>
    <p:sldId id="292" r:id="rId11"/>
    <p:sldId id="293" r:id="rId12"/>
    <p:sldId id="290" r:id="rId13"/>
    <p:sldId id="295" r:id="rId14"/>
    <p:sldId id="294" r:id="rId15"/>
    <p:sldId id="296" r:id="rId16"/>
    <p:sldId id="297" r:id="rId17"/>
    <p:sldId id="298" r:id="rId18"/>
    <p:sldId id="299" r:id="rId19"/>
    <p:sldId id="300" r:id="rId20"/>
    <p:sldId id="303" r:id="rId21"/>
    <p:sldId id="301" r:id="rId22"/>
    <p:sldId id="302" r:id="rId23"/>
    <p:sldId id="311" r:id="rId24"/>
    <p:sldId id="304" r:id="rId25"/>
    <p:sldId id="310" r:id="rId26"/>
    <p:sldId id="305" r:id="rId27"/>
    <p:sldId id="306" r:id="rId28"/>
    <p:sldId id="307" r:id="rId29"/>
    <p:sldId id="308"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30" r:id="rId48"/>
    <p:sldId id="331" r:id="rId49"/>
    <p:sldId id="329" r:id="rId50"/>
    <p:sldId id="332" r:id="rId51"/>
    <p:sldId id="333" r:id="rId52"/>
    <p:sldId id="334" r:id="rId53"/>
    <p:sldId id="335" r:id="rId54"/>
    <p:sldId id="336" r:id="rId55"/>
    <p:sldId id="337" r:id="rId56"/>
    <p:sldId id="338" r:id="rId57"/>
    <p:sldId id="339" r:id="rId58"/>
    <p:sldId id="340" r:id="rId59"/>
    <p:sldId id="341" r:id="rId60"/>
    <p:sldId id="342" r:id="rId61"/>
    <p:sldId id="343" r:id="rId62"/>
    <p:sldId id="344" r:id="rId63"/>
    <p:sldId id="345" r:id="rId64"/>
    <p:sldId id="346" r:id="rId65"/>
    <p:sldId id="347" r:id="rId66"/>
    <p:sldId id="348" r:id="rId67"/>
    <p:sldId id="349" r:id="rId68"/>
    <p:sldId id="350" r:id="rId69"/>
    <p:sldId id="351" r:id="rId70"/>
    <p:sldId id="352" r:id="rId71"/>
    <p:sldId id="353" r:id="rId72"/>
    <p:sldId id="354" r:id="rId7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6387" autoAdjust="0"/>
  </p:normalViewPr>
  <p:slideViewPr>
    <p:cSldViewPr>
      <p:cViewPr>
        <p:scale>
          <a:sx n="50" d="100"/>
          <a:sy n="50" d="100"/>
        </p:scale>
        <p:origin x="-1956" y="-402"/>
      </p:cViewPr>
      <p:guideLst>
        <p:guide orient="horz" pos="2160"/>
        <p:guide pos="2880"/>
      </p:guideLst>
    </p:cSldViewPr>
  </p:slideViewPr>
  <p:outlineViewPr>
    <p:cViewPr>
      <p:scale>
        <a:sx n="33" d="100"/>
        <a:sy n="33" d="100"/>
      </p:scale>
      <p:origin x="0" y="934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924178-7C1F-4552-B989-DC026EF15969}" type="datetimeFigureOut">
              <a:rPr lang="ru-RU" smtClean="0"/>
              <a:t>25.02.2018</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C216F-C92D-43DC-846A-68AA0B0379E9}" type="slidenum">
              <a:rPr lang="ru-RU" smtClean="0"/>
              <a:t>‹#›</a:t>
            </a:fld>
            <a:endParaRPr lang="ru-RU"/>
          </a:p>
        </p:txBody>
      </p:sp>
    </p:spTree>
    <p:extLst>
      <p:ext uri="{BB962C8B-B14F-4D97-AF65-F5344CB8AC3E}">
        <p14:creationId xmlns:p14="http://schemas.microsoft.com/office/powerpoint/2010/main" val="189964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Процессы — это одна из самых старых и наиболее важных абстракций, присущих </a:t>
            </a:r>
          </a:p>
          <a:p>
            <a:r>
              <a:rPr lang="ru-RU" dirty="0" smtClean="0"/>
              <a:t>операционной системе. Они поддерживают возможность осуществления (псевдо) па-</a:t>
            </a:r>
          </a:p>
          <a:p>
            <a:r>
              <a:rPr lang="ru-RU" dirty="0" err="1" smtClean="0"/>
              <a:t>раллельных</a:t>
            </a:r>
            <a:r>
              <a:rPr lang="ru-RU" dirty="0" smtClean="0"/>
              <a:t> операций даже при наличии всего одного центрального процессора. </a:t>
            </a:r>
          </a:p>
          <a:p>
            <a:endParaRPr lang="ru-RU" dirty="0" smtClean="0"/>
          </a:p>
          <a:p>
            <a:r>
              <a:rPr lang="ru-RU" dirty="0" smtClean="0"/>
              <a:t>Пример: Представим себе веб-сервер. К нему отовсюду </a:t>
            </a:r>
          </a:p>
          <a:p>
            <a:r>
              <a:rPr lang="ru-RU" dirty="0" smtClean="0"/>
              <a:t>приходят запросы, требующие предоставления веб-страниц. Когда приходит запрос, </a:t>
            </a:r>
          </a:p>
          <a:p>
            <a:r>
              <a:rPr lang="ru-RU" dirty="0" smtClean="0"/>
              <a:t>сервер проверяет, нет ли нужной страницы в кэше. Если она там присутствует, он </a:t>
            </a:r>
          </a:p>
          <a:p>
            <a:r>
              <a:rPr lang="ru-RU" dirty="0" smtClean="0"/>
              <a:t>отправляет эту страницу; если ее там нет, осуществляется запрос к диску для ее из-</a:t>
            </a:r>
          </a:p>
          <a:p>
            <a:r>
              <a:rPr lang="ru-RU" dirty="0" smtClean="0"/>
              <a:t>влечения. Но с точки зрения центрального процессора запрос информации с диска </a:t>
            </a:r>
          </a:p>
          <a:p>
            <a:r>
              <a:rPr lang="ru-RU" dirty="0" smtClean="0"/>
              <a:t>занимает целую вечность. За время ожидания результатов запроса информации с диска </a:t>
            </a:r>
          </a:p>
          <a:p>
            <a:r>
              <a:rPr lang="ru-RU" dirty="0" smtClean="0"/>
              <a:t>может поступить множество других запросов. Если в системе установлено несколько </a:t>
            </a:r>
          </a:p>
          <a:p>
            <a:r>
              <a:rPr lang="ru-RU" dirty="0" smtClean="0"/>
              <a:t>дисков, то некоторые из новых запросов или все они могут быть направлены на другие </a:t>
            </a:r>
          </a:p>
          <a:p>
            <a:r>
              <a:rPr lang="ru-RU" dirty="0" smtClean="0"/>
              <a:t>диски задолго до того, как будет удовлетворен первый запрос. Понятно, что нужен </a:t>
            </a:r>
          </a:p>
          <a:p>
            <a:r>
              <a:rPr lang="ru-RU" dirty="0" smtClean="0"/>
              <a:t>какой-нибудь способ, чтобы смоделировать эту параллельную работу и управлять ею. </a:t>
            </a:r>
          </a:p>
          <a:p>
            <a:r>
              <a:rPr lang="ru-RU" dirty="0" smtClean="0"/>
              <a:t>Справиться с этим помогают процессы (и особенно потоки).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a:t>
            </a:fld>
            <a:endParaRPr lang="ru-RU"/>
          </a:p>
        </p:txBody>
      </p:sp>
    </p:spTree>
    <p:extLst>
      <p:ext uri="{BB962C8B-B14F-4D97-AF65-F5344CB8AC3E}">
        <p14:creationId xmlns:p14="http://schemas.microsoft.com/office/powerpoint/2010/main" val="2969971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Разработчики операционных систем за прошедшие годы создали концептуальную модель последовательных процессов, упрощающую работу с параллельными вычислениями.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3</a:t>
            </a:fld>
            <a:endParaRPr lang="ru-RU"/>
          </a:p>
        </p:txBody>
      </p:sp>
    </p:spTree>
    <p:extLst>
      <p:ext uri="{BB962C8B-B14F-4D97-AF65-F5344CB8AC3E}">
        <p14:creationId xmlns:p14="http://schemas.microsoft.com/office/powerpoint/2010/main" val="111785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vi-VN" sz="1200" b="1" i="0" kern="1200" dirty="0" smtClean="0">
                <a:solidFill>
                  <a:schemeClr val="tx1"/>
                </a:solidFill>
                <a:effectLst/>
                <a:latin typeface="+mn-lt"/>
                <a:ea typeface="+mn-ea"/>
                <a:cs typeface="+mn-cs"/>
              </a:rPr>
              <a:t>Счётчик</a:t>
            </a:r>
            <a:r>
              <a:rPr lang="vi-VN" sz="1200" b="0"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команд</a:t>
            </a:r>
            <a:r>
              <a:rPr lang="ru-RU" sz="1200" b="0" i="0" kern="1200" baseline="0" dirty="0" smtClean="0">
                <a:solidFill>
                  <a:schemeClr val="tx1"/>
                </a:solidFill>
                <a:effectLst/>
                <a:latin typeface="+mn-lt"/>
                <a:ea typeface="+mn-ea"/>
                <a:cs typeface="+mn-cs"/>
              </a:rPr>
              <a:t> </a:t>
            </a:r>
            <a:r>
              <a:rPr lang="vi-VN" sz="1200" b="0" i="0" kern="1200" dirty="0" smtClean="0">
                <a:solidFill>
                  <a:schemeClr val="tx1"/>
                </a:solidFill>
                <a:effectLst/>
                <a:latin typeface="+mn-lt"/>
                <a:ea typeface="+mn-ea"/>
                <a:cs typeface="+mn-cs"/>
              </a:rPr>
              <a:t>— регистр процессора, который указывает, какую</a:t>
            </a:r>
            <a:r>
              <a:rPr lang="ru-RU" sz="1200" b="0" i="0" kern="1200" dirty="0" smtClean="0">
                <a:solidFill>
                  <a:schemeClr val="tx1"/>
                </a:solidFill>
                <a:effectLst/>
                <a:latin typeface="+mn-lt"/>
                <a:ea typeface="+mn-ea"/>
                <a:cs typeface="+mn-cs"/>
              </a:rPr>
              <a:t> </a:t>
            </a:r>
            <a:r>
              <a:rPr lang="vi-VN" sz="1200" b="1" i="0" kern="1200" dirty="0" smtClean="0">
                <a:solidFill>
                  <a:schemeClr val="tx1"/>
                </a:solidFill>
                <a:effectLst/>
                <a:latin typeface="+mn-lt"/>
                <a:ea typeface="+mn-ea"/>
                <a:cs typeface="+mn-cs"/>
              </a:rPr>
              <a:t>команду</a:t>
            </a:r>
            <a:r>
              <a:rPr lang="vi-VN" sz="1200" b="0" i="0" kern="1200" dirty="0" smtClean="0">
                <a:solidFill>
                  <a:schemeClr val="tx1"/>
                </a:solidFill>
                <a:effectLst/>
                <a:latin typeface="+mn-lt"/>
                <a:ea typeface="+mn-ea"/>
                <a:cs typeface="+mn-cs"/>
              </a:rPr>
              <a:t> нужно выполнять следующей.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a:t>
            </a:fld>
            <a:endParaRPr lang="ru-RU"/>
          </a:p>
        </p:txBody>
      </p:sp>
    </p:spTree>
    <p:extLst>
      <p:ext uri="{BB962C8B-B14F-4D97-AF65-F5344CB8AC3E}">
        <p14:creationId xmlns:p14="http://schemas.microsoft.com/office/powerpoint/2010/main" val="4149066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a:t>
            </a:fld>
            <a:endParaRPr lang="ru-RU"/>
          </a:p>
        </p:txBody>
      </p:sp>
    </p:spTree>
    <p:extLst>
      <p:ext uri="{BB962C8B-B14F-4D97-AF65-F5344CB8AC3E}">
        <p14:creationId xmlns:p14="http://schemas.microsoft.com/office/powerpoint/2010/main" val="1210596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6</a:t>
            </a:fld>
            <a:endParaRPr lang="ru-RU"/>
          </a:p>
        </p:txBody>
      </p:sp>
    </p:spTree>
    <p:extLst>
      <p:ext uri="{BB962C8B-B14F-4D97-AF65-F5344CB8AC3E}">
        <p14:creationId xmlns:p14="http://schemas.microsoft.com/office/powerpoint/2010/main" val="40761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10</a:t>
            </a:fld>
            <a:endParaRPr lang="ru-RU"/>
          </a:p>
        </p:txBody>
      </p:sp>
    </p:spTree>
    <p:extLst>
      <p:ext uri="{BB962C8B-B14F-4D97-AF65-F5344CB8AC3E}">
        <p14:creationId xmlns:p14="http://schemas.microsoft.com/office/powerpoint/2010/main" val="380882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 запуске в </a:t>
            </a:r>
            <a:r>
              <a:rPr lang="ru-RU" dirty="0" err="1" smtClean="0"/>
              <a:t>Microsoft</a:t>
            </a:r>
            <a:r>
              <a:rPr lang="ru-RU" dirty="0" smtClean="0"/>
              <a:t> </a:t>
            </a:r>
            <a:r>
              <a:rPr lang="ru-RU" dirty="0" err="1" smtClean="0"/>
              <a:t>Windows</a:t>
            </a:r>
            <a:r>
              <a:rPr lang="ru-RU" dirty="0" smtClean="0"/>
              <a:t> процесс не имеет окна, но он может создать одно или несколько окон, и в большинстве случаев так и происходит.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11</a:t>
            </a:fld>
            <a:endParaRPr lang="ru-RU"/>
          </a:p>
        </p:txBody>
      </p:sp>
    </p:spTree>
    <p:extLst>
      <p:ext uri="{BB962C8B-B14F-4D97-AF65-F5344CB8AC3E}">
        <p14:creationId xmlns:p14="http://schemas.microsoft.com/office/powerpoint/2010/main" val="639112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В обеих системах,  UNIX и </a:t>
            </a:r>
            <a:r>
              <a:rPr lang="ru-RU" dirty="0" err="1" smtClean="0"/>
              <a:t>Windows</a:t>
            </a:r>
            <a:r>
              <a:rPr lang="ru-RU" dirty="0" smtClean="0"/>
              <a:t>, после создания процесса родительский и дочерний процессы обладают своими собственными, отдельными адресными пространствами.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15</a:t>
            </a:fld>
            <a:endParaRPr lang="ru-RU"/>
          </a:p>
        </p:txBody>
      </p:sp>
    </p:spTree>
    <p:extLst>
      <p:ext uri="{BB962C8B-B14F-4D97-AF65-F5344CB8AC3E}">
        <p14:creationId xmlns:p14="http://schemas.microsoft.com/office/powerpoint/2010/main" val="2599801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В UNIX процесс, все его дочерние процессы и более отдаленные потомки образуют группу процессов. Когда пользователь отправляет сигнал с клавиатуры, тот достигает всех участников этой группы процессов, связанных на тот момент времени с клавиатурой (обычно это все действующие процессы, которые были созданы в текущем окне). </a:t>
            </a:r>
          </a:p>
          <a:p>
            <a:r>
              <a:rPr lang="ru-RU" dirty="0" smtClean="0"/>
              <a:t>В </a:t>
            </a:r>
            <a:r>
              <a:rPr lang="ru-RU" dirty="0" err="1" smtClean="0"/>
              <a:t>Windows</a:t>
            </a:r>
            <a:r>
              <a:rPr lang="ru-RU" dirty="0" smtClean="0"/>
              <a:t> не существует понятия иерархии процессов, и все процессы являются равнозначными. Единственным намеком на иерархию процессов можно считать присвоение родительскому процессу, создающему новый процесс, специального маркера (называемого дескриптором), который может им использоваться для управления дочерним процессом. Но он может свободно передавать этот маркер какому-нибудь другому процессу, нарушая тем самым иерархию. А в UNIX процессы не могут лишаться наследственной связи со своими дочерними процессами.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18</a:t>
            </a:fld>
            <a:endParaRPr lang="ru-RU"/>
          </a:p>
        </p:txBody>
      </p:sp>
    </p:spTree>
    <p:extLst>
      <p:ext uri="{BB962C8B-B14F-4D97-AF65-F5344CB8AC3E}">
        <p14:creationId xmlns:p14="http://schemas.microsoft.com/office/powerpoint/2010/main" val="1596635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Логически первые два состояния похожи друг на друга. В обоих случаях процесс желает выполняться, но во втором состоянии временно отсутствует доступный для этого процессор. Третье состояние коренным образом отличается от первых двух тем, что процесс не может выполняться, даже если процессору кроме него больше нечем заняться.</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19</a:t>
            </a:fld>
            <a:endParaRPr lang="ru-RU"/>
          </a:p>
        </p:txBody>
      </p:sp>
    </p:spTree>
    <p:extLst>
      <p:ext uri="{BB962C8B-B14F-4D97-AF65-F5344CB8AC3E}">
        <p14:creationId xmlns:p14="http://schemas.microsoft.com/office/powerpoint/2010/main" val="2226855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Переход 1 происходит в том случае, если операционная система определит, что процесс в данный момент выполняться не может. В некоторых системах для перехода в заблокированное состояние процесс может осуществить такой системный вызов, как </a:t>
            </a:r>
            <a:r>
              <a:rPr lang="ru-RU" dirty="0" err="1" smtClean="0"/>
              <a:t>pause</a:t>
            </a:r>
            <a:r>
              <a:rPr lang="ru-RU" dirty="0" smtClean="0"/>
              <a:t>. В других системах, включая UNIX, когда процесс </a:t>
            </a:r>
            <a:r>
              <a:rPr lang="ru-RU" dirty="0" err="1" smtClean="0"/>
              <a:t>существляет</a:t>
            </a:r>
            <a:r>
              <a:rPr lang="ru-RU" dirty="0" smtClean="0"/>
              <a:t> чтение из канала или специального файла (например, с терминала) и доступные входные данные отсутствуют, процесс блокируется автоматически.</a:t>
            </a:r>
          </a:p>
          <a:p>
            <a:r>
              <a:rPr lang="ru-RU" dirty="0" smtClean="0"/>
              <a:t>Переходы 2 и 3 вызываются планировщиком процессов, который является частью операционной системы, без какого-либо оповещения самого процесса. Переход 2 происходит, когда планировщик решит, что выполняемый процесс продвинулся достаточно далеко и настало время позволить другому процессу получить долю рабочего времени</a:t>
            </a:r>
            <a:r>
              <a:rPr lang="ru-RU" baseline="0" dirty="0" smtClean="0"/>
              <a:t> </a:t>
            </a:r>
            <a:r>
              <a:rPr lang="ru-RU" dirty="0" smtClean="0"/>
              <a:t>центрального процессора. Переход 3 происходит, когда все другие процессы получили причитающуюся им долю времени и настал момент предоставить центральный процессор первому процессу для возобновления его выполнения. </a:t>
            </a:r>
          </a:p>
          <a:p>
            <a:r>
              <a:rPr lang="ru-RU" dirty="0" smtClean="0"/>
              <a:t>Переход 4 осуществляется в том случае, если происходит внешнее событие, ожидавшееся процессом (к примеру, поступление входных данных). Если к этому моменту нет других выполняемых процессов, будет вызван переход 3 и процесс возобновится. В противном случае ему придется немного подождать в состоянии готовности, пока не станет доступен центральный процессор и не придет его очередь.</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20</a:t>
            </a:fld>
            <a:endParaRPr lang="ru-RU"/>
          </a:p>
        </p:txBody>
      </p:sp>
    </p:spTree>
    <p:extLst>
      <p:ext uri="{BB962C8B-B14F-4D97-AF65-F5344CB8AC3E}">
        <p14:creationId xmlns:p14="http://schemas.microsoft.com/office/powerpoint/2010/main" val="3122784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Поля первого столбца </a:t>
            </a:r>
          </a:p>
          <a:p>
            <a:r>
              <a:rPr lang="ru-RU" dirty="0" smtClean="0"/>
              <a:t>относятся к управлению процессами. Поля остальных двух столбцов относятся </a:t>
            </a:r>
          </a:p>
          <a:p>
            <a:r>
              <a:rPr lang="ru-RU" dirty="0" smtClean="0"/>
              <a:t>к управлению памятью и файлами соответственно. Следует заметить, что наличие </a:t>
            </a:r>
          </a:p>
          <a:p>
            <a:r>
              <a:rPr lang="ru-RU" dirty="0" smtClean="0"/>
              <a:t>тех или иных полей в таблице процессов в большей степени зависит от системы, но </a:t>
            </a:r>
          </a:p>
          <a:p>
            <a:r>
              <a:rPr lang="ru-RU" dirty="0" smtClean="0"/>
              <a:t>в этой таблице изложено основное представление о типе необходимой информации.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22</a:t>
            </a:fld>
            <a:endParaRPr lang="ru-RU"/>
          </a:p>
        </p:txBody>
      </p:sp>
    </p:spTree>
    <p:extLst>
      <p:ext uri="{BB962C8B-B14F-4D97-AF65-F5344CB8AC3E}">
        <p14:creationId xmlns:p14="http://schemas.microsoft.com/office/powerpoint/2010/main" val="3794673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Теперь, после изучения таблицы процессов, появилась возможность чуть лучше объяснить, как создается иллюзия нескольких последовательных процессов, выполняемых на одном центральном процессоре.</a:t>
            </a:r>
          </a:p>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23</a:t>
            </a:fld>
            <a:endParaRPr lang="ru-RU"/>
          </a:p>
        </p:txBody>
      </p:sp>
    </p:spTree>
    <p:extLst>
      <p:ext uri="{BB962C8B-B14F-4D97-AF65-F5344CB8AC3E}">
        <p14:creationId xmlns:p14="http://schemas.microsoft.com/office/powerpoint/2010/main" val="1132125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Счетчик команд процесса, слово состояния программы, а иногда и один или несколько регистров помещаются в текущий стек аппаратными средствами прерывания. </a:t>
            </a:r>
          </a:p>
          <a:p>
            <a:r>
              <a:rPr lang="ru-RU" dirty="0" smtClean="0"/>
              <a:t>Затем компьютер переходит на адрес, указанный в векторе прерывания. На этом работа аппаратных средств заканчивается и вступает в действие программное обеспечение, а именно процедура обслуживания прерывания.</a:t>
            </a:r>
          </a:p>
          <a:p>
            <a:r>
              <a:rPr lang="ru-RU" dirty="0" smtClean="0"/>
              <a:t>Все прерывания сначала сохраняют состояния регистров, зачастую используя для этого запись текущего процесса в таблице процессов. </a:t>
            </a:r>
          </a:p>
          <a:p>
            <a:r>
              <a:rPr lang="ru-RU" dirty="0" smtClean="0"/>
              <a:t>Затем информация, помещенная в стек прерыванием, удаляется и указатель стека переустанавливается на временный стек, используемый обработчиком прерывания.</a:t>
            </a:r>
          </a:p>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24</a:t>
            </a:fld>
            <a:endParaRPr lang="ru-RU"/>
          </a:p>
        </p:txBody>
      </p:sp>
    </p:spTree>
    <p:extLst>
      <p:ext uri="{BB962C8B-B14F-4D97-AF65-F5344CB8AC3E}">
        <p14:creationId xmlns:p14="http://schemas.microsoft.com/office/powerpoint/2010/main" val="3932327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Судя по рисунку, если процесс тратит 80 % своего времени на ожидание завершения ввода-вывода, то для снижения простоя процессора до уровня не более 10 % в памяти могут одновременно находиться по крайней мере 10 процессов.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26</a:t>
            </a:fld>
            <a:endParaRPr lang="ru-RU"/>
          </a:p>
        </p:txBody>
      </p:sp>
    </p:spTree>
    <p:extLst>
      <p:ext uri="{BB962C8B-B14F-4D97-AF65-F5344CB8AC3E}">
        <p14:creationId xmlns:p14="http://schemas.microsoft.com/office/powerpoint/2010/main" val="3181535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Рассмотрим в качестве первого примера текстовый процессор. Обычно эти программы отображают создаваемый документ на экране в том виде, в каком он будет выводиться на печать. В частности, все концы строк и концы страниц находятся именно там, где они в результате и появятся на бумаге, чтобы пользователь мог при необходимости их проверить и подправить.</a:t>
            </a:r>
          </a:p>
          <a:p>
            <a:r>
              <a:rPr lang="ru-RU" dirty="0" smtClean="0"/>
              <a:t>Предположим, что пользователь пишет какую-то книгу. С авторской точки зрения проще всего всю книгу иметь в одном файле, облегчая поиск тем, выполнение глобальных замен и т. д.</a:t>
            </a:r>
          </a:p>
          <a:p>
            <a:r>
              <a:rPr lang="ru-RU" dirty="0" smtClean="0"/>
              <a:t>Теперь представим себе, что происходит, когда пользователь вдруг удаляет одно предложение на первой странице 800-страничного документа. Теперь, проверив внесенные изменения, он хочет внести еще одну поправку на 600-й странице и набирает команду, предписывающую текстовому процессору перейти на эту страницу (возможно, посредством поиска фразы, которая только там и встречается). Теперь текстовый процессор вынужден немедленно переформатировать всю книгу вплоть до 600-й страницы, поскольку он не знает, какой будет первая строка на 600-й странице, пока не обработает всех предыдущие страницы. Перед отображением 600-й страницы может произойти существенная задержка, вызывающая недовольство пользователя.</a:t>
            </a:r>
          </a:p>
          <a:p>
            <a:r>
              <a:rPr lang="ru-RU" dirty="0" smtClean="0"/>
              <a:t>И здесь на помощь могут прийти потоки. Предположим, что текстовый процессор написан как </a:t>
            </a:r>
            <a:r>
              <a:rPr lang="ru-RU" dirty="0" err="1" smtClean="0"/>
              <a:t>двухпоточная</a:t>
            </a:r>
            <a:r>
              <a:rPr lang="ru-RU" dirty="0" smtClean="0"/>
              <a:t> программа. Один из потоков взаимодействует с пользователем, а другой занимается переформатированием в фоновом режиме. Как только предложение с первой страницы будет удалено, поток, отвечающий за взаимодействие с пользователем, приказывает потоку, отвечающему за формат, переформатировать всю </a:t>
            </a:r>
          </a:p>
          <a:p>
            <a:r>
              <a:rPr lang="ru-RU" dirty="0" smtClean="0"/>
              <a:t>книгу. Пока взаимодействующий поток продолжает отслеживать события клавиатуры и мыши, реагируя на простые команды вроде прокрутки первой страницы, второй поток с большой скоростью выполняет вычисления. Если немного повезет, то переформатирование закончится как раз перед тем, как пользователь запросит просмотр 600-й страницы, которая тут же сможет быть отображена.</a:t>
            </a:r>
          </a:p>
          <a:p>
            <a:r>
              <a:rPr lang="ru-RU" dirty="0" smtClean="0"/>
              <a:t>Ну раз уж начали, то почему бы не добавить и третий поток? Многие текстовые процессоры обладают свойством автоматического сохранения всего файла на диск каждые несколько минут, чтобы уберечь пользователя от утраты его дневной работы в случае программных или системных сбоев или отключения электропитания. Третий поток может заниматься созданием резервных копий на диске, не мешая первым двум. </a:t>
            </a:r>
          </a:p>
          <a:p>
            <a:r>
              <a:rPr lang="ru-RU" dirty="0" smtClean="0"/>
              <a:t>Вполне очевидно, что три отдельных процесса так работать не будут, поскольку с документом необходимо работать всем трем потокам. Три потока вместо трех процессов используют общую память, таким образом, все они имеют доступ к редактируемому документу. При использовании трех процессов такое было бы невозможно.</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29</a:t>
            </a:fld>
            <a:endParaRPr lang="ru-RU"/>
          </a:p>
        </p:txBody>
      </p:sp>
    </p:spTree>
    <p:extLst>
      <p:ext uri="{BB962C8B-B14F-4D97-AF65-F5344CB8AC3E}">
        <p14:creationId xmlns:p14="http://schemas.microsoft.com/office/powerpoint/2010/main" val="2184718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Элементы в первом столбце относятся к свойствам процесса, а не потоков. Например, если один из потоков открывает файл, этот файл становится видимым в других потоках, принадлежащих процессу, и они могут производить с этим файлом операции чтения-записи. Это вполне логично, поскольку именно процесс, а не поток является элементом управления ресурсами.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33</a:t>
            </a:fld>
            <a:endParaRPr lang="ru-RU"/>
          </a:p>
        </p:txBody>
      </p:sp>
    </p:spTree>
    <p:extLst>
      <p:ext uri="{BB962C8B-B14F-4D97-AF65-F5344CB8AC3E}">
        <p14:creationId xmlns:p14="http://schemas.microsoft.com/office/powerpoint/2010/main" val="2875431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Выполняемый поток занимает центральный процессор </a:t>
            </a:r>
          </a:p>
          <a:p>
            <a:r>
              <a:rPr lang="ru-RU" dirty="0" smtClean="0"/>
              <a:t>и является активным в данный момент. В отличие от этого, заблокированный поток ожидает события, которое его разблокирует. Например, когда поток выполняет системный вызов для чтения с клавиатуры, он блокируется до тех пор, пока на ней не будет что-нибудь набрано. Поток может быть заблокирован в ожидании какого-то</a:t>
            </a:r>
            <a:r>
              <a:rPr lang="ru-RU" baseline="0" dirty="0" smtClean="0"/>
              <a:t> </a:t>
            </a:r>
            <a:r>
              <a:rPr lang="ru-RU" dirty="0" smtClean="0"/>
              <a:t>внешнего события или его разблокировки другим потоком. Готовый поток планируется к выполнению и будет выполнен, как только подойдет его очередь. </a:t>
            </a:r>
          </a:p>
          <a:p>
            <a:r>
              <a:rPr lang="ru-RU" dirty="0" smtClean="0"/>
              <a:t>Переходы между состояниями потока аналогичны переходам между состояниями процесса.</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34</a:t>
            </a:fld>
            <a:endParaRPr lang="ru-RU"/>
          </a:p>
        </p:txBody>
      </p:sp>
    </p:spTree>
    <p:extLst>
      <p:ext uri="{BB962C8B-B14F-4D97-AF65-F5344CB8AC3E}">
        <p14:creationId xmlns:p14="http://schemas.microsoft.com/office/powerpoint/2010/main" val="2641565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Иногда потоки имеют иерархическую структуру, при которой у них устанавливаются взаимоотношения между родительскими и дочерними потоками, но чаще всего такие взаимоотношения отсутствуют и все потоки считаются равнозначными. </a:t>
            </a:r>
          </a:p>
        </p:txBody>
      </p:sp>
      <p:sp>
        <p:nvSpPr>
          <p:cNvPr id="4" name="Номер слайда 3"/>
          <p:cNvSpPr>
            <a:spLocks noGrp="1"/>
          </p:cNvSpPr>
          <p:nvPr>
            <p:ph type="sldNum" sz="quarter" idx="10"/>
          </p:nvPr>
        </p:nvSpPr>
        <p:spPr/>
        <p:txBody>
          <a:bodyPr/>
          <a:lstStyle/>
          <a:p>
            <a:fld id="{4C0C216F-C92D-43DC-846A-68AA0B0379E9}" type="slidenum">
              <a:rPr lang="ru-RU" smtClean="0"/>
              <a:t>37</a:t>
            </a:fld>
            <a:endParaRPr lang="ru-RU"/>
          </a:p>
        </p:txBody>
      </p:sp>
    </p:spTree>
    <p:extLst>
      <p:ext uri="{BB962C8B-B14F-4D97-AF65-F5344CB8AC3E}">
        <p14:creationId xmlns:p14="http://schemas.microsoft.com/office/powerpoint/2010/main" val="3813622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В некоторых использующих потоки системах какой-нибудь поток для выполнения выхода может ожидать выхода из какого-нибудь другого (указанного) потока после вызова процедуры, к примеру </a:t>
            </a:r>
            <a:r>
              <a:rPr lang="ru-RU" dirty="0" err="1" smtClean="0"/>
              <a:t>thread_join</a:t>
            </a:r>
            <a:r>
              <a:rPr lang="ru-RU" dirty="0" smtClean="0"/>
              <a:t>. Эта процедура блокирует вызывающий поток до тех пор, пока не будет осуществлен выход из другого (указанного) потока.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38</a:t>
            </a:fld>
            <a:endParaRPr lang="ru-RU"/>
          </a:p>
        </p:txBody>
      </p:sp>
    </p:spTree>
    <p:extLst>
      <p:ext uri="{BB962C8B-B14F-4D97-AF65-F5344CB8AC3E}">
        <p14:creationId xmlns:p14="http://schemas.microsoft.com/office/powerpoint/2010/main" val="3971788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Все потоки имеют определенные свойства. У каждого потока есть свои идентификатор, набор регистров (включая счетчик команд) и набор атрибутов, которые сохраняются в определенной структуре. Атрибуты включают размер стека, параметры планирования и другие элементы, необходимые при использовании потока.</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40</a:t>
            </a:fld>
            <a:endParaRPr lang="ru-RU"/>
          </a:p>
        </p:txBody>
      </p:sp>
    </p:spTree>
    <p:extLst>
      <p:ext uri="{BB962C8B-B14F-4D97-AF65-F5344CB8AC3E}">
        <p14:creationId xmlns:p14="http://schemas.microsoft.com/office/powerpoint/2010/main" val="2880353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 создании поток выводит однострочное сообщение, объявляя о своем существовании, после чего осуществляет выход. Порядок, в котором выводятся различные сообщения, не определен и при нескольких запусках программы может быть разным.</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43</a:t>
            </a:fld>
            <a:endParaRPr lang="ru-RU"/>
          </a:p>
        </p:txBody>
      </p:sp>
    </p:spTree>
    <p:extLst>
      <p:ext uri="{BB962C8B-B14F-4D97-AF65-F5344CB8AC3E}">
        <p14:creationId xmlns:p14="http://schemas.microsoft.com/office/powerpoint/2010/main" val="11171188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Под эту категорию подпадают все ОС, даже те, которые еще находятся в разработке. </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45</a:t>
            </a:fld>
            <a:endParaRPr lang="ru-RU"/>
          </a:p>
        </p:txBody>
      </p:sp>
    </p:spTree>
    <p:extLst>
      <p:ext uri="{BB962C8B-B14F-4D97-AF65-F5344CB8AC3E}">
        <p14:creationId xmlns:p14="http://schemas.microsoft.com/office/powerpoint/2010/main" val="2043803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У всех этих реализаций одна и та же общая структура.</a:t>
            </a:r>
            <a:r>
              <a:rPr lang="ru-RU" baseline="0" dirty="0" smtClean="0"/>
              <a:t> </a:t>
            </a:r>
            <a:r>
              <a:rPr lang="ru-RU" dirty="0" smtClean="0"/>
              <a:t>Потоки запускаются поверх системы поддержки исполнения программ, которая представляет собой набор процедур, управляющих потоками.</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Когда потоки управляются в пользовательском пространстве, каждому процессу необходимо иметь собственную таблицу потоков, чтобы отслеживать потоки, имеющиеся в этом процессе. </a:t>
            </a:r>
          </a:p>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46</a:t>
            </a:fld>
            <a:endParaRPr lang="ru-RU"/>
          </a:p>
        </p:txBody>
      </p:sp>
    </p:spTree>
    <p:extLst>
      <p:ext uri="{BB962C8B-B14F-4D97-AF65-F5344CB8AC3E}">
        <p14:creationId xmlns:p14="http://schemas.microsoft.com/office/powerpoint/2010/main" val="3285623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Другой наиболее сильный аргумент против потоков, реализованных на пользовательском уровне, состоит в том, что программистам потоки обычно требуются именно в тех приложениях, где они часто блокируются, как, к примеру, в многопоточном веб-сервере. </a:t>
            </a:r>
          </a:p>
          <a:p>
            <a:r>
              <a:rPr lang="ru-RU" dirty="0" smtClean="0"/>
              <a:t>Зачем вообще использовать потоки в тех приложениях, которые, по существу, полностью завязаны на </a:t>
            </a:r>
          </a:p>
          <a:p>
            <a:r>
              <a:rPr lang="ru-RU" dirty="0" smtClean="0"/>
              <a:t>скорость работы центрального процессора и редко используют блокировку? Никто не станет всерьез предлагать использование потоков при вычислении первых n простых чисел или при игре в шахматы, поскольку в данных случаях от них будет мало проку.</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48</a:t>
            </a:fld>
            <a:endParaRPr lang="ru-RU"/>
          </a:p>
        </p:txBody>
      </p:sp>
    </p:spTree>
    <p:extLst>
      <p:ext uri="{BB962C8B-B14F-4D97-AF65-F5344CB8AC3E}">
        <p14:creationId xmlns:p14="http://schemas.microsoft.com/office/powerpoint/2010/main" val="41736412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Здесь уже не нужна система поддержки исполнения программ. Также здесь нет и таблицы процессов в каждом потоке. Вместо этого у ядра есть таблица потоков, в которой отслеживаются все потоки, имеющиеся </a:t>
            </a:r>
          </a:p>
          <a:p>
            <a:r>
              <a:rPr lang="ru-RU" dirty="0" smtClean="0"/>
              <a:t>в системе. Когда потоку необходимо создать новый или уничтожить существующий поток, он обращается к ядру, которое и создает или разрушает путем обновления таблицы потоков в ядре.</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49</a:t>
            </a:fld>
            <a:endParaRPr lang="ru-RU"/>
          </a:p>
        </p:txBody>
      </p:sp>
    </p:spTree>
    <p:extLst>
      <p:ext uri="{BB962C8B-B14F-4D97-AF65-F5344CB8AC3E}">
        <p14:creationId xmlns:p14="http://schemas.microsoft.com/office/powerpoint/2010/main" val="2531515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Повторное использование потоков допустимо и на пользовательском уровне, но для этого нет достаточно веских оснований, поскольку издержки на управление потоками там значительно меньше.</a:t>
            </a:r>
          </a:p>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51</a:t>
            </a:fld>
            <a:endParaRPr lang="ru-RU"/>
          </a:p>
        </p:txBody>
      </p:sp>
    </p:spTree>
    <p:extLst>
      <p:ext uri="{BB962C8B-B14F-4D97-AF65-F5344CB8AC3E}">
        <p14:creationId xmlns:p14="http://schemas.microsoft.com/office/powerpoint/2010/main" val="1840958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Что будет, к примеру, когда произойдет разветвление многопоточного процесса? Будет ли у нового процесса столько же потоков, сколько у старого, или только один поток? Во многих случаях наилучший выбор зависит от того, выполнение какого процесса запланировано следующим.</a:t>
            </a:r>
          </a:p>
          <a:p>
            <a:r>
              <a:rPr lang="ru-RU" dirty="0" smtClean="0"/>
              <a:t>Другой проблемой являются сигналы. Стоит вспомнить, что сигналы посылаются процессам, а не потокам, по крайней мере, так делается в классической модели. Какой из потоков должен обработать поступающий сигнал? Может быть, потоки должны зарегистрировать свои интересы в конкретных сигналах, чтобы при поступлении сигнала он передавался потоку, который заявил о своей заинтересованности в этом сигнале? </a:t>
            </a:r>
          </a:p>
          <a:p>
            <a:r>
              <a:rPr lang="ru-RU" dirty="0" smtClean="0"/>
              <a:t>Тогда возникает вопрос: что будет, если на один и тот же сигнал зарегистрировались два или более двух потоков? И это только две проблемы, создаваемые потоками, а ведь на самом деле их значительно больше.</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52</a:t>
            </a:fld>
            <a:endParaRPr lang="ru-RU"/>
          </a:p>
        </p:txBody>
      </p:sp>
    </p:spTree>
    <p:extLst>
      <p:ext uri="{BB962C8B-B14F-4D97-AF65-F5344CB8AC3E}">
        <p14:creationId xmlns:p14="http://schemas.microsoft.com/office/powerpoint/2010/main" val="2243982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При таком подходе ядру известно только о потоках самого ядра, работу которых оно и планирует. У некоторых из этих потоков могут быть несколько потоков на пользовательском уровне, которые расходятся от их вершины. Создание, удаление и планирование выполнения этих потоков осуществляется точно так же, как и у пользовательских потоков, принадлежащих процессу, запущенному под управлением операционной </a:t>
            </a:r>
          </a:p>
          <a:p>
            <a:r>
              <a:rPr lang="ru-RU" dirty="0" smtClean="0"/>
              <a:t>системы, не способной на многопоточную работу. В этой модели каждый поток </a:t>
            </a:r>
            <a:r>
              <a:rPr lang="ru-RU" smtClean="0"/>
              <a:t>на уровне </a:t>
            </a:r>
            <a:r>
              <a:rPr lang="ru-RU" dirty="0" smtClean="0"/>
              <a:t>ядра обладает определенным набором потоков на уровне пользователя, </a:t>
            </a:r>
            <a:r>
              <a:rPr lang="ru-RU" smtClean="0"/>
              <a:t>которые используют </a:t>
            </a:r>
            <a:r>
              <a:rPr lang="ru-RU" dirty="0" smtClean="0"/>
              <a:t>его по очереди.</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54</a:t>
            </a:fld>
            <a:endParaRPr lang="ru-RU"/>
          </a:p>
        </p:txBody>
      </p:sp>
    </p:spTree>
    <p:extLst>
      <p:ext uri="{BB962C8B-B14F-4D97-AF65-F5344CB8AC3E}">
        <p14:creationId xmlns:p14="http://schemas.microsoft.com/office/powerpoint/2010/main" val="895849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u="none" strike="noStrike" kern="1200" baseline="0" dirty="0" smtClean="0">
                <a:solidFill>
                  <a:schemeClr val="tx1"/>
                </a:solidFill>
                <a:latin typeface="+mn-lt"/>
                <a:ea typeface="+mn-ea"/>
                <a:cs typeface="+mn-cs"/>
              </a:rPr>
              <a:t>Следует отметить, что два из этих трех вопросов также применимы и к потокам. Первый из них, касающийся передачи информации, применительно к потокам решается значительно легче, поскольку потоки имеют общее адресное пространство (взаимодействующие потоки, реализованные в различных адресных пространствах, подпадают под категорию взаимодействия процессов). А вот два других вопроса — относительно исключения взаимных помех и правильной последовательности — в полной мере применимы и к потокам: сходные проблемы и сходные методы их решения. Далее проблемы будут рассматриваться в контексте процессов, но нужно иметь в виду, что те же проблемы и решения применяются и в отношении потоков.</a:t>
            </a:r>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55</a:t>
            </a:fld>
            <a:endParaRPr lang="ru-RU"/>
          </a:p>
        </p:txBody>
      </p:sp>
    </p:spTree>
    <p:extLst>
      <p:ext uri="{BB962C8B-B14F-4D97-AF65-F5344CB8AC3E}">
        <p14:creationId xmlns:p14="http://schemas.microsoft.com/office/powerpoint/2010/main" val="1775531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4C0C216F-C92D-43DC-846A-68AA0B0379E9}" type="slidenum">
              <a:rPr lang="ru-RU" smtClean="0"/>
              <a:t>56</a:t>
            </a:fld>
            <a:endParaRPr lang="ru-RU"/>
          </a:p>
        </p:txBody>
      </p:sp>
    </p:spTree>
    <p:extLst>
      <p:ext uri="{BB962C8B-B14F-4D97-AF65-F5344CB8AC3E}">
        <p14:creationId xmlns:p14="http://schemas.microsoft.com/office/powerpoint/2010/main" val="3436835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F3122538-4006-4605-AB18-5ABDF380A1ED}" type="datetimeFigureOut">
              <a:rPr lang="ru-RU" smtClean="0"/>
              <a:t>25.02.2018</a:t>
            </a:fld>
            <a:endParaRPr lang="ru-RU"/>
          </a:p>
        </p:txBody>
      </p:sp>
      <p:sp>
        <p:nvSpPr>
          <p:cNvPr id="5" name="Footer Placeholder 4"/>
          <p:cNvSpPr>
            <a:spLocks noGrp="1"/>
          </p:cNvSpPr>
          <p:nvPr>
            <p:ph type="ftr" sz="quarter" idx="11"/>
          </p:nvPr>
        </p:nvSpPr>
        <p:spPr/>
        <p:txBody>
          <a:bodyPr/>
          <a:lstStyle/>
          <a:p>
            <a:endParaRPr lang="ru-RU"/>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4EC8658-723D-42C7-A5C6-261DCA4E0C0B}"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F3122538-4006-4605-AB18-5ABDF380A1ED}" type="datetimeFigureOut">
              <a:rPr lang="ru-RU" smtClean="0"/>
              <a:t>25.02.2018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7" name="Date Placeholder 6"/>
          <p:cNvSpPr>
            <a:spLocks noGrp="1"/>
          </p:cNvSpPr>
          <p:nvPr>
            <p:ph type="dt" sz="half" idx="10"/>
          </p:nvPr>
        </p:nvSpPr>
        <p:spPr/>
        <p:txBody>
          <a:bodyPr/>
          <a:lstStyle/>
          <a:p>
            <a:fld id="{F3122538-4006-4605-AB18-5ABDF380A1ED}" type="datetimeFigureOut">
              <a:rPr lang="ru-RU" smtClean="0"/>
              <a:t>25.02.2018</a:t>
            </a:fld>
            <a:endParaRPr lang="ru-RU"/>
          </a:p>
        </p:txBody>
      </p:sp>
      <p:sp>
        <p:nvSpPr>
          <p:cNvPr id="8" name="Slide Number Placeholder 7"/>
          <p:cNvSpPr>
            <a:spLocks noGrp="1"/>
          </p:cNvSpPr>
          <p:nvPr>
            <p:ph type="sldNum" sz="quarter" idx="11"/>
          </p:nvPr>
        </p:nvSpPr>
        <p:spPr/>
        <p:txBody>
          <a:bodyPr/>
          <a:lstStyle/>
          <a:p>
            <a:fld id="{44EC8658-723D-42C7-A5C6-261DCA4E0C0B}" type="slidenum">
              <a:rPr lang="ru-RU" smtClean="0"/>
              <a:t>‹#›</a:t>
            </a:fld>
            <a:endParaRPr lang="ru-RU"/>
          </a:p>
        </p:txBody>
      </p:sp>
      <p:sp>
        <p:nvSpPr>
          <p:cNvPr id="9" name="Footer Placeholder 8"/>
          <p:cNvSpPr>
            <a:spLocks noGrp="1"/>
          </p:cNvSpPr>
          <p:nvPr>
            <p:ph type="ftr" sz="quarter" idx="12"/>
          </p:nvPr>
        </p:nvSpPr>
        <p:spPr/>
        <p:txBody>
          <a:body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F3122538-4006-4605-AB18-5ABDF380A1ED}" type="datetimeFigureOut">
              <a:rPr lang="ru-RU" smtClean="0"/>
              <a:t>25.02.2018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ru-RU" smtClean="0"/>
              <a:t>Образец текста</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F3122538-4006-4605-AB18-5ABDF380A1ED}" type="datetimeFigureOut">
              <a:rPr lang="ru-RU" smtClean="0"/>
              <a:t>25.02.2018</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F3122538-4006-4605-AB18-5ABDF380A1ED}" type="datetimeFigureOut">
              <a:rPr lang="ru-RU" smtClean="0"/>
              <a:t>25.02.2018</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122538-4006-4605-AB18-5ABDF380A1ED}" type="datetimeFigureOut">
              <a:rPr lang="ru-RU" smtClean="0"/>
              <a:t>25.02.2018</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3122538-4006-4605-AB18-5ABDF380A1ED}" type="datetimeFigureOut">
              <a:rPr lang="ru-RU" smtClean="0"/>
              <a:t>25.02.2018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4EC8658-723D-42C7-A5C6-261DCA4E0C0B}" type="slidenum">
              <a:rPr lang="ru-RU" smtClean="0"/>
              <a:t>‹#›</a:t>
            </a:fld>
            <a:endParaRPr lang="ru-RU"/>
          </a:p>
        </p:txBody>
      </p:sp>
      <p:sp>
        <p:nvSpPr>
          <p:cNvPr id="8" name="Title 7"/>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F3122538-4006-4605-AB18-5ABDF380A1ED}" type="datetimeFigureOut">
              <a:rPr lang="ru-RU" smtClean="0"/>
              <a:t>25.02.2018</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44EC8658-723D-42C7-A5C6-261DCA4E0C0B}" type="slidenum">
              <a:rPr lang="ru-RU" smtClean="0"/>
              <a:t>‹#›</a:t>
            </a:fld>
            <a:endParaRPr lang="ru-RU"/>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ru-RU" smtClean="0"/>
              <a:t>Образец заголовка</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F3122538-4006-4605-AB18-5ABDF380A1ED}" type="datetimeFigureOut">
              <a:rPr lang="ru-RU" smtClean="0"/>
              <a:t>25.02.2018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smtClean="0"/>
              <a:t>Образец заголовка</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F3122538-4006-4605-AB18-5ABDF380A1ED}" type="datetimeFigureOut">
              <a:rPr lang="ru-RU" smtClean="0"/>
              <a:t>25.02.2018</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4EC8658-723D-42C7-A5C6-261DCA4E0C0B}"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F3122538-4006-4605-AB18-5ABDF380A1ED}" type="datetimeFigureOut">
              <a:rPr lang="ru-RU" smtClean="0"/>
              <a:t>25.02.2018</a:t>
            </a:fld>
            <a:endParaRPr lang="ru-RU"/>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ru-RU"/>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44EC8658-723D-42C7-A5C6-261DCA4E0C0B}" type="slidenum">
              <a:rPr lang="ru-RU" smtClean="0"/>
              <a:t>‹#›</a:t>
            </a:fld>
            <a:endParaRPr lang="ru-RU"/>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sz="4800" dirty="0" smtClean="0"/>
              <a:t>Процессы и потоки</a:t>
            </a:r>
            <a:endParaRPr lang="ru-RU" sz="4800" dirty="0"/>
          </a:p>
        </p:txBody>
      </p:sp>
    </p:spTree>
    <p:extLst>
      <p:ext uri="{BB962C8B-B14F-4D97-AF65-F5344CB8AC3E}">
        <p14:creationId xmlns:p14="http://schemas.microsoft.com/office/powerpoint/2010/main" val="35775095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p:txBody>
          <a:bodyPr>
            <a:normAutofit/>
          </a:bodyPr>
          <a:lstStyle/>
          <a:p>
            <a:pPr>
              <a:lnSpc>
                <a:spcPct val="80000"/>
              </a:lnSpc>
            </a:pPr>
            <a:r>
              <a:rPr lang="ru-RU" dirty="0"/>
              <a:t>Основным понятием в любой </a:t>
            </a:r>
            <a:r>
              <a:rPr lang="ru-RU" dirty="0" smtClean="0"/>
              <a:t>ОС </a:t>
            </a:r>
            <a:r>
              <a:rPr lang="ru-RU" dirty="0"/>
              <a:t>является процесс: </a:t>
            </a:r>
          </a:p>
          <a:p>
            <a:pPr>
              <a:lnSpc>
                <a:spcPct val="80000"/>
              </a:lnSpc>
            </a:pPr>
            <a:r>
              <a:rPr lang="ru-RU" dirty="0"/>
              <a:t>абстракция, описывающая выполняющуюся программу</a:t>
            </a:r>
            <a:r>
              <a:rPr lang="ru-RU" dirty="0" smtClean="0"/>
              <a:t>.</a:t>
            </a:r>
          </a:p>
          <a:p>
            <a:pPr>
              <a:lnSpc>
                <a:spcPct val="80000"/>
              </a:lnSpc>
            </a:pPr>
            <a:endParaRPr lang="ru-RU" dirty="0"/>
          </a:p>
          <a:p>
            <a:pPr>
              <a:lnSpc>
                <a:spcPct val="80000"/>
              </a:lnSpc>
            </a:pPr>
            <a:r>
              <a:rPr lang="ru-RU" dirty="0"/>
              <a:t>В любой многозадачной системе центральный процессор быстро переключается </a:t>
            </a:r>
            <a:r>
              <a:rPr lang="ru-RU" dirty="0" smtClean="0"/>
              <a:t>между </a:t>
            </a:r>
            <a:r>
              <a:rPr lang="ru-RU" dirty="0"/>
              <a:t>процессами, предоставляя каждому из них десятки или сотни миллисекунд. </a:t>
            </a:r>
          </a:p>
          <a:p>
            <a:pPr>
              <a:lnSpc>
                <a:spcPct val="80000"/>
              </a:lnSpc>
            </a:pPr>
            <a:r>
              <a:rPr lang="ru-RU" dirty="0"/>
              <a:t>При </a:t>
            </a:r>
            <a:r>
              <a:rPr lang="ru-RU" dirty="0" smtClean="0"/>
              <a:t>этом </a:t>
            </a:r>
            <a:r>
              <a:rPr lang="ru-RU" dirty="0"/>
              <a:t>в каждый конкретный момент времени центральный процессор </a:t>
            </a:r>
            <a:r>
              <a:rPr lang="ru-RU" dirty="0" smtClean="0"/>
              <a:t>работает </a:t>
            </a:r>
            <a:r>
              <a:rPr lang="ru-RU" dirty="0"/>
              <a:t>только с одним </a:t>
            </a:r>
            <a:r>
              <a:rPr lang="ru-RU" dirty="0" smtClean="0"/>
              <a:t>процессом.</a:t>
            </a:r>
          </a:p>
          <a:p>
            <a:pPr>
              <a:lnSpc>
                <a:spcPct val="80000"/>
              </a:lnSpc>
            </a:pPr>
            <a:endParaRPr lang="ru-RU" dirty="0"/>
          </a:p>
          <a:p>
            <a:pPr>
              <a:lnSpc>
                <a:spcPct val="80000"/>
              </a:lnSpc>
            </a:pPr>
            <a:r>
              <a:rPr lang="ru-RU" dirty="0" smtClean="0"/>
              <a:t>В </a:t>
            </a:r>
            <a:r>
              <a:rPr lang="ru-RU" dirty="0"/>
              <a:t>этом случае </a:t>
            </a:r>
            <a:r>
              <a:rPr lang="ru-RU" dirty="0" smtClean="0"/>
              <a:t>говорят </a:t>
            </a:r>
            <a:r>
              <a:rPr lang="ru-RU" dirty="0"/>
              <a:t>о </a:t>
            </a:r>
            <a:r>
              <a:rPr lang="ru-RU" u="sng" dirty="0" err="1"/>
              <a:t>псевдопараллелизме</a:t>
            </a:r>
            <a:r>
              <a:rPr lang="ru-RU" dirty="0"/>
              <a:t> в отличие от настоящего аппаратного параллелизма </a:t>
            </a:r>
            <a:r>
              <a:rPr lang="ru-RU" dirty="0" smtClean="0"/>
              <a:t>в </a:t>
            </a:r>
            <a:r>
              <a:rPr lang="ru-RU" u="sng" dirty="0"/>
              <a:t>многопроцессорных</a:t>
            </a:r>
            <a:r>
              <a:rPr lang="ru-RU" dirty="0"/>
              <a:t> системах</a:t>
            </a:r>
          </a:p>
        </p:txBody>
      </p:sp>
    </p:spTree>
    <p:extLst>
      <p:ext uri="{BB962C8B-B14F-4D97-AF65-F5344CB8AC3E}">
        <p14:creationId xmlns:p14="http://schemas.microsoft.com/office/powerpoint/2010/main" val="373803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p:txBody>
          <a:bodyPr/>
          <a:lstStyle/>
          <a:p>
            <a:r>
              <a:rPr lang="ru-RU" dirty="0" smtClean="0"/>
              <a:t>Все </a:t>
            </a:r>
            <a:r>
              <a:rPr lang="ru-RU" dirty="0"/>
              <a:t>выполняемое на компьютере </a:t>
            </a:r>
            <a:r>
              <a:rPr lang="ru-RU" dirty="0" smtClean="0"/>
              <a:t>ПО, </a:t>
            </a:r>
            <a:r>
              <a:rPr lang="ru-RU" dirty="0"/>
              <a:t>иногда </a:t>
            </a:r>
            <a:r>
              <a:rPr lang="ru-RU" dirty="0" smtClean="0"/>
              <a:t>включая ОС, </a:t>
            </a:r>
            <a:r>
              <a:rPr lang="ru-RU" dirty="0"/>
              <a:t>сведено к ряду последовательных процессов, или, для </a:t>
            </a:r>
            <a:r>
              <a:rPr lang="ru-RU" dirty="0" smtClean="0"/>
              <a:t>краткости</a:t>
            </a:r>
            <a:r>
              <a:rPr lang="ru-RU" dirty="0"/>
              <a:t>, просто процессов. </a:t>
            </a:r>
            <a:endParaRPr lang="ru-RU" dirty="0" smtClean="0"/>
          </a:p>
          <a:p>
            <a:r>
              <a:rPr lang="ru-RU" dirty="0" smtClean="0"/>
              <a:t>Процесс </a:t>
            </a:r>
            <a:r>
              <a:rPr lang="ru-RU" dirty="0"/>
              <a:t>— это просто экземпляр выполняемой </a:t>
            </a:r>
            <a:r>
              <a:rPr lang="ru-RU" dirty="0" smtClean="0"/>
              <a:t>программы</a:t>
            </a:r>
            <a:r>
              <a:rPr lang="ru-RU" dirty="0"/>
              <a:t>, включая текущие значения счетчика команд, регистров и переменных. </a:t>
            </a:r>
            <a:endParaRPr lang="ru-RU" dirty="0" smtClean="0"/>
          </a:p>
          <a:p>
            <a:r>
              <a:rPr lang="ru-RU" dirty="0" smtClean="0"/>
              <a:t>Концептуально </a:t>
            </a:r>
            <a:r>
              <a:rPr lang="ru-RU" dirty="0"/>
              <a:t>у каждого процесса есть </a:t>
            </a:r>
            <a:r>
              <a:rPr lang="ru-RU" dirty="0" smtClean="0"/>
              <a:t>свой, виртуальный</a:t>
            </a:r>
            <a:r>
              <a:rPr lang="ru-RU" dirty="0"/>
              <a:t>, центральный процессор.</a:t>
            </a:r>
          </a:p>
        </p:txBody>
      </p:sp>
    </p:spTree>
    <p:extLst>
      <p:ext uri="{BB962C8B-B14F-4D97-AF65-F5344CB8AC3E}">
        <p14:creationId xmlns:p14="http://schemas.microsoft.com/office/powerpoint/2010/main" val="2787887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p:txBody>
          <a:bodyPr/>
          <a:lstStyle/>
          <a:p>
            <a:r>
              <a:rPr lang="ru-RU" dirty="0" smtClean="0"/>
              <a:t>Компьютер</a:t>
            </a:r>
            <a:r>
              <a:rPr lang="ru-RU" dirty="0"/>
              <a:t>, работающий в многозадачном режиме и имеющий </a:t>
            </a:r>
            <a:r>
              <a:rPr lang="ru-RU" dirty="0" smtClean="0"/>
              <a:t>в </a:t>
            </a:r>
            <a:r>
              <a:rPr lang="ru-RU" dirty="0"/>
              <a:t>памяти четыре программы</a:t>
            </a:r>
            <a:r>
              <a:rPr lang="ru-RU" dirty="0" smtClean="0"/>
              <a:t>.</a:t>
            </a:r>
          </a:p>
          <a:p>
            <a:endParaRPr lang="ru-RU" dirty="0" smtClean="0"/>
          </a:p>
          <a:p>
            <a:r>
              <a:rPr lang="ru-RU" dirty="0" smtClean="0"/>
              <a:t> </a:t>
            </a:r>
            <a:endParaRPr lang="ru-RU"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073" y="2708920"/>
            <a:ext cx="3160071" cy="3027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6471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a:xfrm>
            <a:off x="457200" y="1556792"/>
            <a:ext cx="8219256" cy="3044155"/>
          </a:xfrm>
        </p:spPr>
        <p:txBody>
          <a:bodyPr>
            <a:normAutofit fontScale="92500"/>
          </a:bodyPr>
          <a:lstStyle/>
          <a:p>
            <a:r>
              <a:rPr lang="ru-RU" dirty="0" smtClean="0"/>
              <a:t>Четыре </a:t>
            </a:r>
            <a:r>
              <a:rPr lang="ru-RU" dirty="0"/>
              <a:t>процесса, каждый из </a:t>
            </a:r>
            <a:r>
              <a:rPr lang="ru-RU" dirty="0" smtClean="0"/>
              <a:t>которых </a:t>
            </a:r>
            <a:r>
              <a:rPr lang="ru-RU" dirty="0"/>
              <a:t>имеет собственный алгоритм управления (то есть собственный логический </a:t>
            </a:r>
            <a:r>
              <a:rPr lang="ru-RU" dirty="0" smtClean="0"/>
              <a:t>счетчик </a:t>
            </a:r>
            <a:r>
              <a:rPr lang="ru-RU" dirty="0"/>
              <a:t>команд) и работает независимо от всех </a:t>
            </a:r>
            <a:r>
              <a:rPr lang="ru-RU" dirty="0" smtClean="0"/>
              <a:t>остальных</a:t>
            </a:r>
            <a:r>
              <a:rPr lang="ru-RU" dirty="0"/>
              <a:t>. </a:t>
            </a:r>
            <a:endParaRPr lang="ru-RU" dirty="0" smtClean="0"/>
          </a:p>
          <a:p>
            <a:r>
              <a:rPr lang="ru-RU" dirty="0"/>
              <a:t>Понятно, что на самом деле имеется только один физический счетчик команд, поэтому при запуске каждого процесса его логический счетчик команд загружается в реальный счетчик. Когда работа с процессом будет на некоторое время прекращена, значение физического счетчика команд сохраняется в логическом счетчике команд, размещаемом процессом в памяти.</a:t>
            </a:r>
          </a:p>
          <a:p>
            <a:endParaRPr lang="ru-RU" dirty="0" smtClean="0"/>
          </a:p>
          <a:p>
            <a:endParaRPr lang="ru-RU"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044" y="4499967"/>
            <a:ext cx="3881847" cy="2241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5759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p:txBody>
          <a:bodyPr>
            <a:normAutofit/>
          </a:bodyPr>
          <a:lstStyle/>
          <a:p>
            <a:r>
              <a:rPr lang="ru-RU" dirty="0"/>
              <a:t>Разница между процессом и программой довольно тонкая, но весьма существенная. </a:t>
            </a:r>
            <a:endParaRPr lang="ru-RU" dirty="0" smtClean="0"/>
          </a:p>
          <a:p>
            <a:r>
              <a:rPr lang="ru-RU" dirty="0" smtClean="0"/>
              <a:t>Процесс </a:t>
            </a:r>
            <a:r>
              <a:rPr lang="ru-RU" dirty="0"/>
              <a:t>— это своего рода действия. У него есть </a:t>
            </a:r>
            <a:r>
              <a:rPr lang="ru-RU" dirty="0" smtClean="0"/>
              <a:t>программа</a:t>
            </a:r>
            <a:r>
              <a:rPr lang="ru-RU" dirty="0"/>
              <a:t>, входные и выходные данные и состояние. Один процессор может совместно </a:t>
            </a:r>
            <a:r>
              <a:rPr lang="ru-RU" dirty="0" smtClean="0"/>
              <a:t>использоваться </a:t>
            </a:r>
            <a:r>
              <a:rPr lang="ru-RU" dirty="0"/>
              <a:t>несколькими процессами в соответствии с неким алгоритмом </a:t>
            </a:r>
            <a:r>
              <a:rPr lang="ru-RU" dirty="0" smtClean="0"/>
              <a:t>планирования</a:t>
            </a:r>
            <a:r>
              <a:rPr lang="ru-RU" dirty="0"/>
              <a:t>, который используется для определения того, когда остановить один процесс </a:t>
            </a:r>
            <a:r>
              <a:rPr lang="ru-RU" dirty="0" smtClean="0"/>
              <a:t>и </a:t>
            </a:r>
            <a:r>
              <a:rPr lang="ru-RU" dirty="0"/>
              <a:t>обслужить другой. В отличие от процесса программа может быть сохранена на диске </a:t>
            </a:r>
            <a:r>
              <a:rPr lang="ru-RU" dirty="0" smtClean="0"/>
              <a:t>и </a:t>
            </a:r>
            <a:r>
              <a:rPr lang="ru-RU" dirty="0"/>
              <a:t>вообще ничего не делать</a:t>
            </a:r>
            <a:r>
              <a:rPr lang="ru-RU" dirty="0" smtClean="0"/>
              <a:t>.</a:t>
            </a:r>
          </a:p>
          <a:p>
            <a:r>
              <a:rPr lang="ru-RU" dirty="0"/>
              <a:t>Стоит отметить, что если программа запущена дважды, то считается, что ею заняты два </a:t>
            </a:r>
            <a:r>
              <a:rPr lang="ru-RU" dirty="0" smtClean="0"/>
              <a:t>процесса</a:t>
            </a:r>
            <a:r>
              <a:rPr lang="ru-RU" dirty="0"/>
              <a:t>.</a:t>
            </a:r>
          </a:p>
        </p:txBody>
      </p:sp>
    </p:spTree>
    <p:extLst>
      <p:ext uri="{BB962C8B-B14F-4D97-AF65-F5344CB8AC3E}">
        <p14:creationId xmlns:p14="http://schemas.microsoft.com/office/powerpoint/2010/main" val="2016614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Объект 2"/>
          <p:cNvSpPr>
            <a:spLocks noGrp="1"/>
          </p:cNvSpPr>
          <p:nvPr>
            <p:ph idx="1"/>
          </p:nvPr>
        </p:nvSpPr>
        <p:spPr>
          <a:xfrm>
            <a:off x="457200" y="1556792"/>
            <a:ext cx="7931224" cy="5301208"/>
          </a:xfrm>
        </p:spPr>
        <p:txBody>
          <a:bodyPr>
            <a:normAutofit fontScale="92500" lnSpcReduction="20000"/>
          </a:bodyPr>
          <a:lstStyle/>
          <a:p>
            <a:r>
              <a:rPr lang="ru-RU" dirty="0"/>
              <a:t>Представим себе программиста, решившего заняться кулинарией и испечь пирог. У него есть рецепт пирога, а на кухне есть все ингредиенты: мука, яйца, сахар и т. д. В данной аналогии рецепт — это программа (то есть алгоритм, выраженный в некой удобной форме записи), программист — это центральный процессор, а ингредиенты пирога — это входные данные. Процесс — это действия, состоящие из чтения рецепта, выбора ингредиентов и выпечки пирога.</a:t>
            </a:r>
          </a:p>
          <a:p>
            <a:r>
              <a:rPr lang="ru-RU" dirty="0"/>
              <a:t>Теперь представим, что на кухню вбегает сын программиста и кричит, что его ужалила пчела. Программист записывает, на каком месте рецепта он остановился (сохраняется состояние текущего процесса), достает книгу советов по оказанию первой помощи и приступает к выполнению изложенных в ней инструкций. Перед нами процессор, переключенный с одного процесса (выпечки) на другой процесс, имеющий более высокую степень приоритета (оказание медицинской помощи), и у каждого из процессов есть своя программа (рецепт против справочника по оказанию первой помощи). После извлечения пчелиного жала программист возвращается к пирогу, продолжая выполнять действия с того места, на котором остановился.</a:t>
            </a:r>
          </a:p>
          <a:p>
            <a:endParaRPr lang="ru-RU" dirty="0"/>
          </a:p>
        </p:txBody>
      </p:sp>
    </p:spTree>
    <p:extLst>
      <p:ext uri="{BB962C8B-B14F-4D97-AF65-F5344CB8AC3E}">
        <p14:creationId xmlns:p14="http://schemas.microsoft.com/office/powerpoint/2010/main" val="662948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lstStyle/>
          <a:p>
            <a:r>
              <a:rPr lang="ru-RU" dirty="0"/>
              <a:t>Существуют четыре основных события, приводящих к созданию процессов.</a:t>
            </a:r>
          </a:p>
          <a:p>
            <a:r>
              <a:rPr lang="ru-RU" dirty="0"/>
              <a:t>1. Инициализация системы.</a:t>
            </a:r>
          </a:p>
          <a:p>
            <a:r>
              <a:rPr lang="ru-RU" dirty="0"/>
              <a:t>2. Выполнение работающим процессом системного вызова, предназначенного для </a:t>
            </a:r>
            <a:r>
              <a:rPr lang="ru-RU" dirty="0" smtClean="0"/>
              <a:t>создания </a:t>
            </a:r>
            <a:r>
              <a:rPr lang="ru-RU" dirty="0"/>
              <a:t>процесса.</a:t>
            </a:r>
          </a:p>
          <a:p>
            <a:r>
              <a:rPr lang="ru-RU" dirty="0"/>
              <a:t>3. Запрос пользователя на создание нового процесса.</a:t>
            </a:r>
          </a:p>
          <a:p>
            <a:r>
              <a:rPr lang="ru-RU" dirty="0"/>
              <a:t>4. Инициация пакетного задания.</a:t>
            </a:r>
          </a:p>
        </p:txBody>
      </p:sp>
    </p:spTree>
    <p:extLst>
      <p:ext uri="{BB962C8B-B14F-4D97-AF65-F5344CB8AC3E}">
        <p14:creationId xmlns:p14="http://schemas.microsoft.com/office/powerpoint/2010/main" val="3718658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normAutofit/>
          </a:bodyPr>
          <a:lstStyle/>
          <a:p>
            <a:r>
              <a:rPr lang="ru-RU" dirty="0"/>
              <a:t>При запуске </a:t>
            </a:r>
            <a:r>
              <a:rPr lang="ru-RU" dirty="0" smtClean="0"/>
              <a:t>ОС создаются</a:t>
            </a:r>
            <a:r>
              <a:rPr lang="ru-RU" dirty="0"/>
              <a:t>, как правило, несколько процессов. </a:t>
            </a:r>
          </a:p>
          <a:p>
            <a:r>
              <a:rPr lang="ru-RU" dirty="0"/>
              <a:t>Некоторые из них представляют собой высокоприоритетные </a:t>
            </a:r>
            <a:r>
              <a:rPr lang="ru-RU" dirty="0" smtClean="0"/>
              <a:t>процессы. </a:t>
            </a:r>
          </a:p>
          <a:p>
            <a:r>
              <a:rPr lang="ru-RU" dirty="0" smtClean="0"/>
              <a:t>Остальные </a:t>
            </a:r>
            <a:r>
              <a:rPr lang="ru-RU" dirty="0"/>
              <a:t>являются фоновыми процессами, не связанными с конкретными </a:t>
            </a:r>
            <a:r>
              <a:rPr lang="ru-RU" dirty="0" smtClean="0"/>
              <a:t>пользователями</a:t>
            </a:r>
            <a:r>
              <a:rPr lang="ru-RU" dirty="0"/>
              <a:t>, но выполняющими ряд специфических функций</a:t>
            </a:r>
            <a:r>
              <a:rPr lang="ru-RU" dirty="0" smtClean="0"/>
              <a:t>.</a:t>
            </a:r>
          </a:p>
          <a:p>
            <a:r>
              <a:rPr lang="ru-RU" dirty="0"/>
              <a:t>Фоновые </a:t>
            </a:r>
            <a:r>
              <a:rPr lang="ru-RU" dirty="0" smtClean="0"/>
              <a:t>процессы</a:t>
            </a:r>
            <a:r>
              <a:rPr lang="ru-RU" dirty="0"/>
              <a:t>, предназначенные для обработки какой-либо активной деятельности, связанной, </a:t>
            </a:r>
            <a:r>
              <a:rPr lang="ru-RU" dirty="0" smtClean="0"/>
              <a:t>например</a:t>
            </a:r>
            <a:r>
              <a:rPr lang="ru-RU" dirty="0"/>
              <a:t>, с электронной почтой, веб-страницами, новостями, выводом информации </a:t>
            </a:r>
            <a:r>
              <a:rPr lang="ru-RU" dirty="0" smtClean="0"/>
              <a:t>на </a:t>
            </a:r>
            <a:r>
              <a:rPr lang="ru-RU" dirty="0"/>
              <a:t>печать и т. д., называются </a:t>
            </a:r>
            <a:r>
              <a:rPr lang="ru-RU" u="sng" dirty="0"/>
              <a:t>демонами</a:t>
            </a:r>
            <a:r>
              <a:rPr lang="ru-RU" dirty="0"/>
              <a:t>. </a:t>
            </a:r>
          </a:p>
        </p:txBody>
      </p:sp>
    </p:spTree>
    <p:extLst>
      <p:ext uri="{BB962C8B-B14F-4D97-AF65-F5344CB8AC3E}">
        <p14:creationId xmlns:p14="http://schemas.microsoft.com/office/powerpoint/2010/main" val="4123827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a:xfrm>
            <a:off x="457200" y="1752600"/>
            <a:ext cx="7643192" cy="4772744"/>
          </a:xfrm>
        </p:spPr>
        <p:txBody>
          <a:bodyPr>
            <a:normAutofit lnSpcReduction="10000"/>
          </a:bodyPr>
          <a:lstStyle/>
          <a:p>
            <a:r>
              <a:rPr lang="ru-RU" dirty="0"/>
              <a:t>Часто бывает так, что работающий процесс осуществляет системный </a:t>
            </a:r>
            <a:r>
              <a:rPr lang="ru-RU" dirty="0" smtClean="0"/>
              <a:t>вызов </a:t>
            </a:r>
            <a:r>
              <a:rPr lang="ru-RU" dirty="0"/>
              <a:t>для создания одного или более новых вспомогательных процессов. </a:t>
            </a:r>
            <a:endParaRPr lang="ru-RU" dirty="0" smtClean="0"/>
          </a:p>
          <a:p>
            <a:r>
              <a:rPr lang="ru-RU" dirty="0" smtClean="0"/>
              <a:t>Создание новых </a:t>
            </a:r>
            <a:r>
              <a:rPr lang="ru-RU" dirty="0"/>
              <a:t>процессов особенно полезно, когда выполняемая работа может быть легко </a:t>
            </a:r>
            <a:r>
              <a:rPr lang="ru-RU" dirty="0" smtClean="0"/>
              <a:t>выражена </a:t>
            </a:r>
            <a:r>
              <a:rPr lang="ru-RU" dirty="0"/>
              <a:t>в понятиях нескольких связанных друг с другом, но в остальном независимых </a:t>
            </a:r>
            <a:r>
              <a:rPr lang="ru-RU" dirty="0" smtClean="0"/>
              <a:t>друг </a:t>
            </a:r>
            <a:r>
              <a:rPr lang="ru-RU" dirty="0"/>
              <a:t>от друга взаимодействующих процессов. </a:t>
            </a:r>
            <a:endParaRPr lang="ru-RU" dirty="0" smtClean="0"/>
          </a:p>
          <a:p>
            <a:r>
              <a:rPr lang="ru-RU" dirty="0"/>
              <a:t>Например, если из сети выбирается большой объем данных для последующей обработки, наверное, будет удобно создать один процесс для выборки данных и помещения их в общий буфер, чтобы в то же время второй процесс забирал элементы данных и проводил их обработку. Также можно ускорить выполнение работы, если на многопроцессорной системе разрешить каждому процессу работать на разных центральных процессорах</a:t>
            </a:r>
            <a:r>
              <a:rPr lang="ru-RU" dirty="0" smtClean="0"/>
              <a:t>.</a:t>
            </a:r>
            <a:endParaRPr lang="ru-RU" dirty="0"/>
          </a:p>
        </p:txBody>
      </p:sp>
    </p:spTree>
    <p:extLst>
      <p:ext uri="{BB962C8B-B14F-4D97-AF65-F5344CB8AC3E}">
        <p14:creationId xmlns:p14="http://schemas.microsoft.com/office/powerpoint/2010/main" val="1998312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lstStyle/>
          <a:p>
            <a:r>
              <a:rPr lang="ru-RU" dirty="0"/>
              <a:t>В интерактивных системах пользователи могут запустить программу вводом команды </a:t>
            </a:r>
            <a:r>
              <a:rPr lang="ru-RU" dirty="0" smtClean="0"/>
              <a:t>или </a:t>
            </a:r>
            <a:r>
              <a:rPr lang="ru-RU" dirty="0"/>
              <a:t>щелчком (двойным щелчком) на значке. </a:t>
            </a:r>
            <a:endParaRPr lang="ru-RU" dirty="0" smtClean="0"/>
          </a:p>
          <a:p>
            <a:r>
              <a:rPr lang="ru-RU" dirty="0" smtClean="0"/>
              <a:t>Любое </a:t>
            </a:r>
            <a:r>
              <a:rPr lang="ru-RU" dirty="0"/>
              <a:t>из этих действий дает начало </a:t>
            </a:r>
            <a:r>
              <a:rPr lang="ru-RU" dirty="0" smtClean="0"/>
              <a:t>новому </a:t>
            </a:r>
            <a:r>
              <a:rPr lang="ru-RU" dirty="0"/>
              <a:t>процессу и запускает в нем выбранную программу.</a:t>
            </a:r>
          </a:p>
        </p:txBody>
      </p:sp>
    </p:spTree>
    <p:extLst>
      <p:ext uri="{BB962C8B-B14F-4D97-AF65-F5344CB8AC3E}">
        <p14:creationId xmlns:p14="http://schemas.microsoft.com/office/powerpoint/2010/main" val="3636038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lstStyle/>
          <a:p>
            <a:r>
              <a:rPr lang="ru-RU" dirty="0"/>
              <a:t>Последнее событие, приводящее к созданию процесса, применимо только к системам </a:t>
            </a:r>
            <a:r>
              <a:rPr lang="ru-RU" dirty="0" smtClean="0"/>
              <a:t>пакетной </a:t>
            </a:r>
            <a:r>
              <a:rPr lang="ru-RU" dirty="0"/>
              <a:t>обработки данных, имеющимся на больших универсальных машинах</a:t>
            </a:r>
            <a:r>
              <a:rPr lang="ru-RU" dirty="0" smtClean="0"/>
              <a:t>.</a:t>
            </a:r>
          </a:p>
          <a:p>
            <a:r>
              <a:rPr lang="ru-RU" dirty="0"/>
              <a:t>Когда </a:t>
            </a:r>
            <a:r>
              <a:rPr lang="ru-RU" dirty="0" smtClean="0"/>
              <a:t>ОС решает</a:t>
            </a:r>
            <a:r>
              <a:rPr lang="ru-RU" dirty="0"/>
              <a:t>, что у нее достаточно ресурсов </a:t>
            </a:r>
            <a:r>
              <a:rPr lang="ru-RU" dirty="0" smtClean="0"/>
              <a:t>для </a:t>
            </a:r>
            <a:r>
              <a:rPr lang="ru-RU" dirty="0"/>
              <a:t>запуска еще одного задания, она создает новый процесс и запускает новое задание </a:t>
            </a:r>
            <a:r>
              <a:rPr lang="ru-RU" dirty="0" smtClean="0"/>
              <a:t>из </a:t>
            </a:r>
            <a:r>
              <a:rPr lang="ru-RU" dirty="0"/>
              <a:t>имеющейся у нее очереди входящих заданий.</a:t>
            </a:r>
          </a:p>
        </p:txBody>
      </p:sp>
    </p:spTree>
    <p:extLst>
      <p:ext uri="{BB962C8B-B14F-4D97-AF65-F5344CB8AC3E}">
        <p14:creationId xmlns:p14="http://schemas.microsoft.com/office/powerpoint/2010/main" val="3193286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normAutofit/>
          </a:bodyPr>
          <a:lstStyle/>
          <a:p>
            <a:r>
              <a:rPr lang="ru-RU" dirty="0"/>
              <a:t>С технической точки зрения во всех этих случаях новый процесс создается за счет уже </a:t>
            </a:r>
            <a:r>
              <a:rPr lang="ru-RU" dirty="0" smtClean="0"/>
              <a:t>существующего </a:t>
            </a:r>
            <a:r>
              <a:rPr lang="ru-RU" dirty="0"/>
              <a:t>процесса, который выполняет системный вызов, предназначенный для </a:t>
            </a:r>
            <a:r>
              <a:rPr lang="ru-RU" dirty="0" smtClean="0"/>
              <a:t>создания </a:t>
            </a:r>
            <a:r>
              <a:rPr lang="ru-RU" dirty="0"/>
              <a:t>процесса. </a:t>
            </a:r>
            <a:endParaRPr lang="ru-RU" dirty="0" smtClean="0"/>
          </a:p>
          <a:p>
            <a:r>
              <a:rPr lang="ru-RU" dirty="0" smtClean="0"/>
              <a:t>Этот </a:t>
            </a:r>
            <a:r>
              <a:rPr lang="ru-RU" dirty="0"/>
              <a:t>системный вызов </a:t>
            </a:r>
            <a:r>
              <a:rPr lang="ru-RU" dirty="0" smtClean="0"/>
              <a:t>предписывает ОС </a:t>
            </a:r>
            <a:r>
              <a:rPr lang="ru-RU" dirty="0"/>
              <a:t>создать новый процесс и прямо или косвенно указывает, какую программу </a:t>
            </a:r>
            <a:r>
              <a:rPr lang="ru-RU" dirty="0" smtClean="0"/>
              <a:t>в </a:t>
            </a:r>
            <a:r>
              <a:rPr lang="ru-RU" dirty="0"/>
              <a:t>нем запустить</a:t>
            </a:r>
            <a:r>
              <a:rPr lang="ru-RU" dirty="0" smtClean="0"/>
              <a:t>.</a:t>
            </a:r>
          </a:p>
        </p:txBody>
      </p:sp>
    </p:spTree>
    <p:extLst>
      <p:ext uri="{BB962C8B-B14F-4D97-AF65-F5344CB8AC3E}">
        <p14:creationId xmlns:p14="http://schemas.microsoft.com/office/powerpoint/2010/main" val="1142175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lstStyle/>
          <a:p>
            <a:r>
              <a:rPr lang="ru-RU" dirty="0"/>
              <a:t>В UNIX существует только один системный вызов для создания нового процесса — </a:t>
            </a:r>
            <a:r>
              <a:rPr lang="ru-RU" u="sng" dirty="0" err="1"/>
              <a:t>fork</a:t>
            </a:r>
            <a:r>
              <a:rPr lang="ru-RU" dirty="0"/>
              <a:t>. Этот вызов создает точную копию вызывающего процесса. </a:t>
            </a:r>
            <a:endParaRPr lang="ru-RU" dirty="0" smtClean="0"/>
          </a:p>
          <a:p>
            <a:r>
              <a:rPr lang="ru-RU" dirty="0" smtClean="0"/>
              <a:t>После </a:t>
            </a:r>
            <a:r>
              <a:rPr lang="ru-RU" dirty="0"/>
              <a:t>выполнения системного вызова </a:t>
            </a:r>
            <a:r>
              <a:rPr lang="ru-RU" dirty="0" err="1"/>
              <a:t>fork</a:t>
            </a:r>
            <a:r>
              <a:rPr lang="ru-RU" dirty="0"/>
              <a:t> два процесса, родительский и дочерний, имеют единый образ памяти, единые строки описания конфигурации и одни и те же открытые файлы. </a:t>
            </a:r>
            <a:r>
              <a:rPr lang="ru-RU" dirty="0" smtClean="0"/>
              <a:t>И </a:t>
            </a:r>
            <a:r>
              <a:rPr lang="ru-RU" dirty="0"/>
              <a:t>больше ничего. </a:t>
            </a:r>
            <a:endParaRPr lang="ru-RU" dirty="0" smtClean="0"/>
          </a:p>
          <a:p>
            <a:r>
              <a:rPr lang="ru-RU" dirty="0" smtClean="0"/>
              <a:t>Обычно </a:t>
            </a:r>
            <a:r>
              <a:rPr lang="ru-RU" dirty="0"/>
              <a:t>после этого дочерний процесс изменяет образ памяти </a:t>
            </a:r>
            <a:r>
              <a:rPr lang="ru-RU" dirty="0" smtClean="0"/>
              <a:t>и </a:t>
            </a:r>
            <a:r>
              <a:rPr lang="ru-RU" dirty="0"/>
              <a:t>запускает новую программу, выполняя системный вызов </a:t>
            </a:r>
            <a:r>
              <a:rPr lang="ru-RU" dirty="0" err="1"/>
              <a:t>execve</a:t>
            </a:r>
            <a:r>
              <a:rPr lang="ru-RU" dirty="0"/>
              <a:t> или ему подобный. </a:t>
            </a:r>
          </a:p>
          <a:p>
            <a:endParaRPr lang="ru-RU" dirty="0"/>
          </a:p>
        </p:txBody>
      </p:sp>
    </p:spTree>
    <p:extLst>
      <p:ext uri="{BB962C8B-B14F-4D97-AF65-F5344CB8AC3E}">
        <p14:creationId xmlns:p14="http://schemas.microsoft.com/office/powerpoint/2010/main" val="402877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Создание процесса</a:t>
            </a:r>
            <a:endParaRPr lang="ru-RU" dirty="0"/>
          </a:p>
        </p:txBody>
      </p:sp>
      <p:sp>
        <p:nvSpPr>
          <p:cNvPr id="3" name="Объект 2"/>
          <p:cNvSpPr>
            <a:spLocks noGrp="1"/>
          </p:cNvSpPr>
          <p:nvPr>
            <p:ph idx="1"/>
          </p:nvPr>
        </p:nvSpPr>
        <p:spPr/>
        <p:txBody>
          <a:bodyPr>
            <a:normAutofit fontScale="92500" lnSpcReduction="20000"/>
          </a:bodyPr>
          <a:lstStyle/>
          <a:p>
            <a:r>
              <a:rPr lang="ru-RU" dirty="0"/>
              <a:t>В </a:t>
            </a:r>
            <a:r>
              <a:rPr lang="ru-RU" dirty="0" err="1"/>
              <a:t>Windows</a:t>
            </a:r>
            <a:r>
              <a:rPr lang="ru-RU" dirty="0"/>
              <a:t> все происходит иначе: </a:t>
            </a:r>
            <a:endParaRPr lang="ru-RU" dirty="0" smtClean="0"/>
          </a:p>
          <a:p>
            <a:r>
              <a:rPr lang="ru-RU" dirty="0" smtClean="0"/>
              <a:t>одним </a:t>
            </a:r>
            <a:r>
              <a:rPr lang="ru-RU" dirty="0"/>
              <a:t>вызовом функции Win32 </a:t>
            </a:r>
            <a:r>
              <a:rPr lang="ru-RU" u="sng" dirty="0" err="1"/>
              <a:t>CreateProcess</a:t>
            </a:r>
            <a:r>
              <a:rPr lang="ru-RU" dirty="0"/>
              <a:t> </a:t>
            </a:r>
            <a:r>
              <a:rPr lang="ru-RU" dirty="0" smtClean="0"/>
              <a:t>создается </a:t>
            </a:r>
            <a:r>
              <a:rPr lang="ru-RU" dirty="0"/>
              <a:t>процесс, и в него загружается нужная программа. У этого вызова имеется </a:t>
            </a:r>
            <a:r>
              <a:rPr lang="ru-RU" dirty="0" smtClean="0"/>
              <a:t>10 </a:t>
            </a:r>
            <a:r>
              <a:rPr lang="ru-RU" dirty="0"/>
              <a:t>параметров, включая выполняемую программу, параметры командной строки </a:t>
            </a:r>
            <a:r>
              <a:rPr lang="ru-RU" dirty="0" smtClean="0"/>
              <a:t>для </a:t>
            </a:r>
            <a:r>
              <a:rPr lang="ru-RU" dirty="0"/>
              <a:t>этой программы, различные параметры безопасности, биты, управляющие </a:t>
            </a:r>
            <a:r>
              <a:rPr lang="ru-RU" dirty="0" smtClean="0"/>
              <a:t>наследованием </a:t>
            </a:r>
            <a:r>
              <a:rPr lang="ru-RU" dirty="0"/>
              <a:t>открытых файлов, информацию о приоритетах, спецификацию окна, </a:t>
            </a:r>
            <a:r>
              <a:rPr lang="ru-RU" dirty="0" smtClean="0"/>
              <a:t>создаваемого </a:t>
            </a:r>
            <a:r>
              <a:rPr lang="ru-RU" dirty="0"/>
              <a:t>для процесса (если оно используется), и указатель на структуру, в </a:t>
            </a:r>
            <a:r>
              <a:rPr lang="ru-RU" dirty="0" smtClean="0"/>
              <a:t>которой </a:t>
            </a:r>
            <a:r>
              <a:rPr lang="ru-RU" dirty="0"/>
              <a:t>вызывающей программе будет возвращена информация о только что </a:t>
            </a:r>
            <a:r>
              <a:rPr lang="ru-RU" dirty="0" smtClean="0"/>
              <a:t>созданном процессе</a:t>
            </a:r>
            <a:r>
              <a:rPr lang="ru-RU" dirty="0"/>
              <a:t>. </a:t>
            </a:r>
            <a:endParaRPr lang="ru-RU" dirty="0" smtClean="0"/>
          </a:p>
          <a:p>
            <a:r>
              <a:rPr lang="ru-RU" dirty="0" smtClean="0"/>
              <a:t>В </a:t>
            </a:r>
            <a:r>
              <a:rPr lang="ru-RU" dirty="0"/>
              <a:t>дополнение к функции </a:t>
            </a:r>
            <a:r>
              <a:rPr lang="ru-RU" dirty="0" err="1"/>
              <a:t>CreateProcess</a:t>
            </a:r>
            <a:r>
              <a:rPr lang="ru-RU" dirty="0"/>
              <a:t> в Win32 имеется около 100 других </a:t>
            </a:r>
            <a:r>
              <a:rPr lang="ru-RU" dirty="0" smtClean="0"/>
              <a:t>функций </a:t>
            </a:r>
            <a:r>
              <a:rPr lang="ru-RU" dirty="0"/>
              <a:t>для управления процессами и их синхронизации, а также выполнения всего, </a:t>
            </a:r>
            <a:r>
              <a:rPr lang="ru-RU" dirty="0" smtClean="0"/>
              <a:t>что </a:t>
            </a:r>
            <a:r>
              <a:rPr lang="ru-RU" dirty="0"/>
              <a:t>с этим </a:t>
            </a:r>
            <a:r>
              <a:rPr lang="ru-RU" dirty="0" smtClean="0"/>
              <a:t>связано</a:t>
            </a:r>
            <a:r>
              <a:rPr lang="ru-RU" dirty="0"/>
              <a:t>.</a:t>
            </a:r>
          </a:p>
        </p:txBody>
      </p:sp>
    </p:spTree>
    <p:extLst>
      <p:ext uri="{BB962C8B-B14F-4D97-AF65-F5344CB8AC3E}">
        <p14:creationId xmlns:p14="http://schemas.microsoft.com/office/powerpoint/2010/main" val="3491737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Завершение процесса</a:t>
            </a:r>
            <a:endParaRPr lang="ru-RU" dirty="0"/>
          </a:p>
        </p:txBody>
      </p:sp>
      <p:sp>
        <p:nvSpPr>
          <p:cNvPr id="3" name="Объект 2"/>
          <p:cNvSpPr>
            <a:spLocks noGrp="1"/>
          </p:cNvSpPr>
          <p:nvPr>
            <p:ph idx="1"/>
          </p:nvPr>
        </p:nvSpPr>
        <p:spPr/>
        <p:txBody>
          <a:bodyPr/>
          <a:lstStyle/>
          <a:p>
            <a:r>
              <a:rPr lang="ru-RU" dirty="0"/>
              <a:t>Рано или поздно </a:t>
            </a:r>
            <a:r>
              <a:rPr lang="ru-RU" dirty="0" smtClean="0"/>
              <a:t>процессы </a:t>
            </a:r>
            <a:r>
              <a:rPr lang="ru-RU" dirty="0"/>
              <a:t>будут завершены, обычно </a:t>
            </a:r>
            <a:r>
              <a:rPr lang="ru-RU" dirty="0" smtClean="0"/>
              <a:t>в </a:t>
            </a:r>
            <a:r>
              <a:rPr lang="ru-RU" dirty="0"/>
              <a:t>силу следующих обстоятельств:</a:t>
            </a:r>
          </a:p>
          <a:p>
            <a:pPr marL="342900" indent="-342900">
              <a:buFont typeface="Arial" pitchFamily="34" charset="0"/>
              <a:buChar char="•"/>
            </a:pPr>
            <a:r>
              <a:rPr lang="ru-RU" dirty="0" smtClean="0"/>
              <a:t>обычного </a:t>
            </a:r>
            <a:r>
              <a:rPr lang="ru-RU" dirty="0"/>
              <a:t>выхода (добровольно</a:t>
            </a:r>
            <a:r>
              <a:rPr lang="ru-RU" dirty="0" smtClean="0"/>
              <a:t>);</a:t>
            </a:r>
          </a:p>
          <a:p>
            <a:pPr marL="342900" indent="-342900">
              <a:buFont typeface="Arial" pitchFamily="34" charset="0"/>
              <a:buChar char="•"/>
            </a:pPr>
            <a:r>
              <a:rPr lang="ru-RU" dirty="0" smtClean="0"/>
              <a:t>выхода </a:t>
            </a:r>
            <a:r>
              <a:rPr lang="ru-RU" dirty="0"/>
              <a:t>при возникновении ошибки (добровольно);</a:t>
            </a:r>
          </a:p>
          <a:p>
            <a:pPr marL="342900" indent="-342900">
              <a:buFont typeface="Arial" pitchFamily="34" charset="0"/>
              <a:buChar char="•"/>
            </a:pPr>
            <a:r>
              <a:rPr lang="ru-RU" dirty="0" smtClean="0"/>
              <a:t>возникновения </a:t>
            </a:r>
            <a:r>
              <a:rPr lang="ru-RU" dirty="0"/>
              <a:t>фатальной ошибки (принудительно);</a:t>
            </a:r>
          </a:p>
          <a:p>
            <a:pPr marL="342900" indent="-342900">
              <a:buFont typeface="Arial" pitchFamily="34" charset="0"/>
              <a:buChar char="•"/>
            </a:pPr>
            <a:r>
              <a:rPr lang="ru-RU" dirty="0" smtClean="0"/>
              <a:t>уничтожения </a:t>
            </a:r>
            <a:r>
              <a:rPr lang="ru-RU" dirty="0"/>
              <a:t>другим процессом (принудительно).</a:t>
            </a:r>
          </a:p>
        </p:txBody>
      </p:sp>
    </p:spTree>
    <p:extLst>
      <p:ext uri="{BB962C8B-B14F-4D97-AF65-F5344CB8AC3E}">
        <p14:creationId xmlns:p14="http://schemas.microsoft.com/office/powerpoint/2010/main" val="4211247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Завершение процесса</a:t>
            </a:r>
            <a:endParaRPr lang="ru-RU" dirty="0"/>
          </a:p>
        </p:txBody>
      </p:sp>
      <p:sp>
        <p:nvSpPr>
          <p:cNvPr id="3" name="Объект 2"/>
          <p:cNvSpPr>
            <a:spLocks noGrp="1"/>
          </p:cNvSpPr>
          <p:nvPr>
            <p:ph idx="1"/>
          </p:nvPr>
        </p:nvSpPr>
        <p:spPr/>
        <p:txBody>
          <a:bodyPr/>
          <a:lstStyle/>
          <a:p>
            <a:r>
              <a:rPr lang="ru-RU" dirty="0"/>
              <a:t>Большинство процессов завершаются по окончании своей работы. </a:t>
            </a:r>
            <a:endParaRPr lang="ru-RU" dirty="0" smtClean="0"/>
          </a:p>
          <a:p>
            <a:r>
              <a:rPr lang="ru-RU" dirty="0" smtClean="0"/>
              <a:t>Когда </a:t>
            </a:r>
            <a:r>
              <a:rPr lang="ru-RU" dirty="0"/>
              <a:t>компилятор </a:t>
            </a:r>
            <a:r>
              <a:rPr lang="ru-RU" dirty="0" smtClean="0"/>
              <a:t>откомпилирует </a:t>
            </a:r>
            <a:r>
              <a:rPr lang="ru-RU" dirty="0"/>
              <a:t>заданную ему программу, он осуществляет системный вызов, </a:t>
            </a:r>
            <a:r>
              <a:rPr lang="ru-RU" dirty="0" smtClean="0"/>
              <a:t>сообщающий </a:t>
            </a:r>
            <a:r>
              <a:rPr lang="ru-RU" dirty="0"/>
              <a:t>операционной системе о завершении своей работы. </a:t>
            </a:r>
            <a:endParaRPr lang="ru-RU" dirty="0" smtClean="0"/>
          </a:p>
          <a:p>
            <a:r>
              <a:rPr lang="ru-RU" dirty="0" smtClean="0"/>
              <a:t>Этим </a:t>
            </a:r>
            <a:r>
              <a:rPr lang="ru-RU" dirty="0"/>
              <a:t>вызовом в UNIX </a:t>
            </a:r>
            <a:r>
              <a:rPr lang="ru-RU" dirty="0" smtClean="0"/>
              <a:t>является </a:t>
            </a:r>
            <a:r>
              <a:rPr lang="ru-RU" u="sng" dirty="0" err="1"/>
              <a:t>exit</a:t>
            </a:r>
            <a:r>
              <a:rPr lang="ru-RU" dirty="0"/>
              <a:t>, а в </a:t>
            </a:r>
            <a:r>
              <a:rPr lang="ru-RU" dirty="0" err="1"/>
              <a:t>Windows</a:t>
            </a:r>
            <a:r>
              <a:rPr lang="ru-RU" dirty="0"/>
              <a:t> — </a:t>
            </a:r>
            <a:r>
              <a:rPr lang="ru-RU" u="sng" dirty="0" err="1"/>
              <a:t>ExitProcess</a:t>
            </a:r>
            <a:r>
              <a:rPr lang="ru-RU" dirty="0"/>
              <a:t>. </a:t>
            </a:r>
            <a:endParaRPr lang="ru-RU" dirty="0" smtClean="0"/>
          </a:p>
          <a:p>
            <a:r>
              <a:rPr lang="ru-RU" dirty="0" smtClean="0"/>
              <a:t>Программы</a:t>
            </a:r>
            <a:r>
              <a:rPr lang="ru-RU" dirty="0"/>
              <a:t>, работающие с экраном, также </a:t>
            </a:r>
            <a:r>
              <a:rPr lang="ru-RU" dirty="0" smtClean="0"/>
              <a:t>поддерживают </a:t>
            </a:r>
            <a:r>
              <a:rPr lang="ru-RU" dirty="0"/>
              <a:t>добровольное завершение.</a:t>
            </a:r>
          </a:p>
        </p:txBody>
      </p:sp>
    </p:spTree>
    <p:extLst>
      <p:ext uri="{BB962C8B-B14F-4D97-AF65-F5344CB8AC3E}">
        <p14:creationId xmlns:p14="http://schemas.microsoft.com/office/powerpoint/2010/main" val="375075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иерархии процессов</a:t>
            </a:r>
            <a:endParaRPr lang="ru-RU" dirty="0"/>
          </a:p>
        </p:txBody>
      </p:sp>
      <p:sp>
        <p:nvSpPr>
          <p:cNvPr id="3" name="Объект 2"/>
          <p:cNvSpPr>
            <a:spLocks noGrp="1"/>
          </p:cNvSpPr>
          <p:nvPr>
            <p:ph idx="1"/>
          </p:nvPr>
        </p:nvSpPr>
        <p:spPr/>
        <p:txBody>
          <a:bodyPr/>
          <a:lstStyle/>
          <a:p>
            <a:r>
              <a:rPr lang="ru-RU" dirty="0"/>
              <a:t>В некоторых системах, когда процесс порождает другой процесс, родительский и </a:t>
            </a:r>
            <a:r>
              <a:rPr lang="ru-RU" dirty="0" smtClean="0"/>
              <a:t>дочерний </a:t>
            </a:r>
            <a:r>
              <a:rPr lang="ru-RU" dirty="0"/>
              <a:t>процессы продолжают оставаться определенным образом связанными друг </a:t>
            </a:r>
            <a:r>
              <a:rPr lang="ru-RU" dirty="0" smtClean="0"/>
              <a:t>с </a:t>
            </a:r>
            <a:r>
              <a:rPr lang="ru-RU" dirty="0"/>
              <a:t>другом. </a:t>
            </a:r>
            <a:endParaRPr lang="ru-RU" dirty="0" smtClean="0"/>
          </a:p>
          <a:p>
            <a:r>
              <a:rPr lang="ru-RU" dirty="0" smtClean="0"/>
              <a:t>Дочерний </a:t>
            </a:r>
            <a:r>
              <a:rPr lang="ru-RU" dirty="0"/>
              <a:t>процесс может и сам создать какие-нибудь процессы, формируя </a:t>
            </a:r>
            <a:r>
              <a:rPr lang="ru-RU" dirty="0" smtClean="0"/>
              <a:t>иерархию </a:t>
            </a:r>
            <a:r>
              <a:rPr lang="ru-RU" dirty="0"/>
              <a:t>процессов</a:t>
            </a:r>
            <a:r>
              <a:rPr lang="ru-RU" dirty="0" smtClean="0"/>
              <a:t>.</a:t>
            </a:r>
          </a:p>
          <a:p>
            <a:r>
              <a:rPr lang="ru-RU" dirty="0"/>
              <a:t>Следует </a:t>
            </a:r>
            <a:r>
              <a:rPr lang="ru-RU" dirty="0" smtClean="0"/>
              <a:t>заметить, </a:t>
            </a:r>
            <a:r>
              <a:rPr lang="ru-RU" dirty="0"/>
              <a:t>у процесса есть только один родитель (но </a:t>
            </a:r>
            <a:r>
              <a:rPr lang="ru-RU" dirty="0" smtClean="0"/>
              <a:t>0, 1, 2 или </a:t>
            </a:r>
            <a:r>
              <a:rPr lang="ru-RU" dirty="0"/>
              <a:t>более детей). </a:t>
            </a:r>
          </a:p>
        </p:txBody>
      </p:sp>
    </p:spTree>
    <p:extLst>
      <p:ext uri="{BB962C8B-B14F-4D97-AF65-F5344CB8AC3E}">
        <p14:creationId xmlns:p14="http://schemas.microsoft.com/office/powerpoint/2010/main" val="4100572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Состояния процессов</a:t>
            </a:r>
            <a:endParaRPr lang="ru-RU" dirty="0"/>
          </a:p>
        </p:txBody>
      </p:sp>
      <p:sp>
        <p:nvSpPr>
          <p:cNvPr id="3" name="Объект 2"/>
          <p:cNvSpPr>
            <a:spLocks noGrp="1"/>
          </p:cNvSpPr>
          <p:nvPr>
            <p:ph idx="1"/>
          </p:nvPr>
        </p:nvSpPr>
        <p:spPr/>
        <p:txBody>
          <a:bodyPr>
            <a:normAutofit/>
          </a:bodyPr>
          <a:lstStyle/>
          <a:p>
            <a:r>
              <a:rPr lang="ru-RU" dirty="0" smtClean="0"/>
              <a:t>Три состояния</a:t>
            </a:r>
            <a:r>
              <a:rPr lang="ru-RU" dirty="0"/>
              <a:t>, в которых может находиться процесс:</a:t>
            </a:r>
          </a:p>
          <a:p>
            <a:pPr marL="342900" indent="-342900">
              <a:buFont typeface="Arial" pitchFamily="34" charset="0"/>
              <a:buChar char="•"/>
            </a:pPr>
            <a:r>
              <a:rPr lang="ru-RU" dirty="0" smtClean="0"/>
              <a:t>выполняемый </a:t>
            </a:r>
            <a:r>
              <a:rPr lang="ru-RU" dirty="0"/>
              <a:t>(в данный момент использующий центральный процессор);</a:t>
            </a:r>
          </a:p>
          <a:p>
            <a:pPr marL="342900" indent="-342900">
              <a:buFont typeface="Arial" pitchFamily="34" charset="0"/>
              <a:buChar char="•"/>
            </a:pPr>
            <a:r>
              <a:rPr lang="ru-RU" dirty="0" smtClean="0"/>
              <a:t>готовый </a:t>
            </a:r>
            <a:r>
              <a:rPr lang="ru-RU" dirty="0"/>
              <a:t>(работоспособный, но временно приостановленный, чтобы дать </a:t>
            </a:r>
            <a:r>
              <a:rPr lang="ru-RU" dirty="0" smtClean="0"/>
              <a:t>возможность </a:t>
            </a:r>
            <a:r>
              <a:rPr lang="ru-RU" dirty="0"/>
              <a:t>выполнения другому </a:t>
            </a:r>
            <a:r>
              <a:rPr lang="ru-RU" dirty="0" smtClean="0"/>
              <a:t>процессу);</a:t>
            </a:r>
          </a:p>
          <a:p>
            <a:pPr marL="342900" indent="-342900">
              <a:buFont typeface="Arial" pitchFamily="34" charset="0"/>
              <a:buChar char="•"/>
            </a:pPr>
            <a:r>
              <a:rPr lang="ru-RU" dirty="0"/>
              <a:t>заблокированный (неспособный выполняться, пока не возникнет какое-нибудь </a:t>
            </a:r>
            <a:r>
              <a:rPr lang="ru-RU" dirty="0" smtClean="0"/>
              <a:t>внешнее </a:t>
            </a:r>
            <a:r>
              <a:rPr lang="ru-RU" dirty="0"/>
              <a:t>событие).</a:t>
            </a:r>
          </a:p>
        </p:txBody>
      </p:sp>
    </p:spTree>
    <p:extLst>
      <p:ext uri="{BB962C8B-B14F-4D97-AF65-F5344CB8AC3E}">
        <p14:creationId xmlns:p14="http://schemas.microsoft.com/office/powerpoint/2010/main" val="3536655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Состояния процессов</a:t>
            </a:r>
            <a:endParaRPr lang="ru-RU" dirty="0"/>
          </a:p>
        </p:txBody>
      </p:sp>
      <p:sp>
        <p:nvSpPr>
          <p:cNvPr id="3" name="Объект 2"/>
          <p:cNvSpPr>
            <a:spLocks noGrp="1"/>
          </p:cNvSpPr>
          <p:nvPr>
            <p:ph idx="1"/>
          </p:nvPr>
        </p:nvSpPr>
        <p:spPr/>
        <p:txBody>
          <a:bodyPr/>
          <a:lstStyle/>
          <a:p>
            <a:r>
              <a:rPr lang="ru-RU" dirty="0" smtClean="0"/>
              <a:t>Переходы:</a:t>
            </a:r>
          </a:p>
          <a:p>
            <a:pPr marL="457200" indent="-457200">
              <a:buAutoNum type="arabicPeriod"/>
            </a:pPr>
            <a:r>
              <a:rPr lang="ru-RU" dirty="0" smtClean="0"/>
              <a:t>Процесс заблокирован в ожидании.</a:t>
            </a:r>
          </a:p>
          <a:p>
            <a:pPr marL="457200" indent="-457200">
              <a:buAutoNum type="arabicPeriod"/>
            </a:pPr>
            <a:r>
              <a:rPr lang="ru-RU" dirty="0" smtClean="0"/>
              <a:t>Диспетчер выбрал другой процесс.</a:t>
            </a:r>
          </a:p>
          <a:p>
            <a:pPr marL="457200" indent="-457200">
              <a:buAutoNum type="arabicPeriod"/>
            </a:pPr>
            <a:r>
              <a:rPr lang="ru-RU" dirty="0" smtClean="0"/>
              <a:t>Диспетчер выбрал данный процесс.</a:t>
            </a:r>
          </a:p>
          <a:p>
            <a:pPr marL="457200" indent="-457200">
              <a:buAutoNum type="arabicPeriod"/>
            </a:pPr>
            <a:r>
              <a:rPr lang="ru-RU" dirty="0" smtClean="0"/>
              <a:t>Входные данные стали доступны.</a:t>
            </a:r>
            <a:endParaRPr lang="ru-RU"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005064"/>
            <a:ext cx="5112568" cy="227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2090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процессов</a:t>
            </a:r>
            <a:endParaRPr lang="ru-RU" dirty="0"/>
          </a:p>
        </p:txBody>
      </p:sp>
      <p:sp>
        <p:nvSpPr>
          <p:cNvPr id="3" name="Объект 2"/>
          <p:cNvSpPr>
            <a:spLocks noGrp="1"/>
          </p:cNvSpPr>
          <p:nvPr>
            <p:ph idx="1"/>
          </p:nvPr>
        </p:nvSpPr>
        <p:spPr/>
        <p:txBody>
          <a:bodyPr>
            <a:normAutofit/>
          </a:bodyPr>
          <a:lstStyle/>
          <a:p>
            <a:r>
              <a:rPr lang="ru-RU" dirty="0"/>
              <a:t>Для реализации модели </a:t>
            </a:r>
            <a:r>
              <a:rPr lang="ru-RU" dirty="0" smtClean="0"/>
              <a:t>процессов ОС ведет </a:t>
            </a:r>
            <a:r>
              <a:rPr lang="ru-RU" dirty="0"/>
              <a:t>таблицу (состоящую </a:t>
            </a:r>
            <a:r>
              <a:rPr lang="ru-RU" dirty="0" smtClean="0"/>
              <a:t>из </a:t>
            </a:r>
            <a:r>
              <a:rPr lang="ru-RU" dirty="0"/>
              <a:t>массива структур), называемую </a:t>
            </a:r>
            <a:r>
              <a:rPr lang="ru-RU" u="sng" dirty="0"/>
              <a:t>таблицей </a:t>
            </a:r>
            <a:r>
              <a:rPr lang="ru-RU" u="sng" dirty="0" smtClean="0"/>
              <a:t>процессов,</a:t>
            </a:r>
            <a:r>
              <a:rPr lang="ru-RU" dirty="0"/>
              <a:t> </a:t>
            </a:r>
            <a:r>
              <a:rPr lang="ru-RU" dirty="0" smtClean="0"/>
              <a:t>в </a:t>
            </a:r>
            <a:r>
              <a:rPr lang="ru-RU" dirty="0"/>
              <a:t>которой каждая запись </a:t>
            </a:r>
            <a:r>
              <a:rPr lang="ru-RU" dirty="0" smtClean="0"/>
              <a:t>соответствует </a:t>
            </a:r>
            <a:r>
              <a:rPr lang="ru-RU" dirty="0"/>
              <a:t>какому-нибудь процессу</a:t>
            </a:r>
            <a:r>
              <a:rPr lang="ru-RU" dirty="0" smtClean="0"/>
              <a:t>.</a:t>
            </a:r>
          </a:p>
          <a:p>
            <a:r>
              <a:rPr lang="ru-RU" dirty="0"/>
              <a:t>Эти записи содержат важную информацию о состоянии </a:t>
            </a:r>
            <a:r>
              <a:rPr lang="ru-RU" dirty="0" smtClean="0"/>
              <a:t>процесса, </a:t>
            </a:r>
            <a:r>
              <a:rPr lang="ru-RU" dirty="0"/>
              <a:t>его учетную и планировочную информацию и все остальное, касающееся </a:t>
            </a:r>
            <a:r>
              <a:rPr lang="ru-RU" dirty="0" smtClean="0"/>
              <a:t>процесса</a:t>
            </a:r>
            <a:r>
              <a:rPr lang="ru-RU" dirty="0"/>
              <a:t>, что должно быть сохранено, когда процесс переключается </a:t>
            </a:r>
            <a:r>
              <a:rPr lang="ru-RU" dirty="0" smtClean="0"/>
              <a:t>в </a:t>
            </a:r>
            <a:r>
              <a:rPr lang="ru-RU" dirty="0"/>
              <a:t>состояние готовности или блокировки, чтобы позже он мог </a:t>
            </a:r>
            <a:r>
              <a:rPr lang="ru-RU" dirty="0" smtClean="0"/>
              <a:t>возобновить выполнение</a:t>
            </a:r>
            <a:r>
              <a:rPr lang="ru-RU" dirty="0"/>
              <a:t>, как будто никогда не останавливался.</a:t>
            </a:r>
          </a:p>
        </p:txBody>
      </p:sp>
    </p:spTree>
    <p:extLst>
      <p:ext uri="{BB962C8B-B14F-4D97-AF65-F5344CB8AC3E}">
        <p14:creationId xmlns:p14="http://schemas.microsoft.com/office/powerpoint/2010/main" val="3488542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процессов</a:t>
            </a:r>
            <a:endParaRPr lang="ru-RU" dirty="0"/>
          </a:p>
        </p:txBody>
      </p:sp>
      <p:sp>
        <p:nvSpPr>
          <p:cNvPr id="3" name="Объект 2"/>
          <p:cNvSpPr>
            <a:spLocks noGrp="1"/>
          </p:cNvSpPr>
          <p:nvPr>
            <p:ph idx="1"/>
          </p:nvPr>
        </p:nvSpPr>
        <p:spPr/>
        <p:txBody>
          <a:bodyPr/>
          <a:lstStyle/>
          <a:p>
            <a:r>
              <a:rPr lang="ru-RU" dirty="0"/>
              <a:t>Некоторые из полей типичной записи таблицы процессов</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092449"/>
            <a:ext cx="7084398" cy="4504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6577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процессов</a:t>
            </a:r>
            <a:endParaRPr lang="ru-RU" dirty="0"/>
          </a:p>
        </p:txBody>
      </p:sp>
      <p:sp>
        <p:nvSpPr>
          <p:cNvPr id="3" name="Объект 2"/>
          <p:cNvSpPr>
            <a:spLocks noGrp="1"/>
          </p:cNvSpPr>
          <p:nvPr>
            <p:ph idx="1"/>
          </p:nvPr>
        </p:nvSpPr>
        <p:spPr/>
        <p:txBody>
          <a:bodyPr/>
          <a:lstStyle/>
          <a:p>
            <a:r>
              <a:rPr lang="ru-RU" dirty="0"/>
              <a:t>Существует область памяти, связанная с каждым классом устройств ввода-вывода, которая называется </a:t>
            </a:r>
            <a:r>
              <a:rPr lang="ru-RU" u="sng" dirty="0"/>
              <a:t>вектором прерывания.</a:t>
            </a:r>
            <a:r>
              <a:rPr lang="ru-RU" dirty="0"/>
              <a:t> </a:t>
            </a:r>
          </a:p>
          <a:p>
            <a:r>
              <a:rPr lang="ru-RU" dirty="0"/>
              <a:t>В ней содержится адрес процедуры, обслуживающей прерывание. </a:t>
            </a:r>
            <a:endParaRPr lang="ru-RU" dirty="0" smtClean="0"/>
          </a:p>
          <a:p>
            <a:r>
              <a:rPr lang="ru-RU" dirty="0"/>
              <a:t>Процесс во время своего выполнения может быть прерван тысячи раз, но ключевая </a:t>
            </a:r>
            <a:r>
              <a:rPr lang="ru-RU" dirty="0" smtClean="0"/>
              <a:t>идея </a:t>
            </a:r>
            <a:r>
              <a:rPr lang="ru-RU" dirty="0"/>
              <a:t>состоит в том, что после каждого прерывания прерванный процесс возвращается </a:t>
            </a:r>
            <a:r>
              <a:rPr lang="ru-RU" dirty="0" smtClean="0"/>
              <a:t>в </a:t>
            </a:r>
            <a:r>
              <a:rPr lang="ru-RU" dirty="0"/>
              <a:t>точности к такому же состоянию, в котором он был до того, как случилось прерывание.</a:t>
            </a:r>
          </a:p>
        </p:txBody>
      </p:sp>
    </p:spTree>
    <p:extLst>
      <p:ext uri="{BB962C8B-B14F-4D97-AF65-F5344CB8AC3E}">
        <p14:creationId xmlns:p14="http://schemas.microsoft.com/office/powerpoint/2010/main" val="4281738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процессов</a:t>
            </a:r>
            <a:endParaRPr lang="ru-RU" dirty="0"/>
          </a:p>
        </p:txBody>
      </p:sp>
      <p:sp>
        <p:nvSpPr>
          <p:cNvPr id="3" name="Объект 2"/>
          <p:cNvSpPr>
            <a:spLocks noGrp="1"/>
          </p:cNvSpPr>
          <p:nvPr>
            <p:ph idx="1"/>
          </p:nvPr>
        </p:nvSpPr>
        <p:spPr>
          <a:xfrm>
            <a:off x="457200" y="1752600"/>
            <a:ext cx="7787208" cy="4844752"/>
          </a:xfrm>
        </p:spPr>
        <p:txBody>
          <a:bodyPr>
            <a:normAutofit fontScale="85000" lnSpcReduction="10000"/>
          </a:bodyPr>
          <a:lstStyle/>
          <a:p>
            <a:r>
              <a:rPr lang="ru-RU" dirty="0"/>
              <a:t>Схема </a:t>
            </a:r>
            <a:r>
              <a:rPr lang="ru-RU" dirty="0" smtClean="0"/>
              <a:t>работы </a:t>
            </a:r>
            <a:r>
              <a:rPr lang="ru-RU" dirty="0"/>
              <a:t>низшего уровня операционной системы </a:t>
            </a:r>
            <a:r>
              <a:rPr lang="ru-RU" dirty="0" smtClean="0"/>
              <a:t>при </a:t>
            </a:r>
            <a:r>
              <a:rPr lang="ru-RU" dirty="0"/>
              <a:t>возникновении </a:t>
            </a:r>
            <a:r>
              <a:rPr lang="ru-RU" dirty="0" smtClean="0"/>
              <a:t>прерывания:</a:t>
            </a:r>
            <a:endParaRPr lang="ru-RU" dirty="0"/>
          </a:p>
          <a:p>
            <a:r>
              <a:rPr lang="ru-RU" dirty="0" smtClean="0"/>
              <a:t>1 </a:t>
            </a:r>
            <a:r>
              <a:rPr lang="ru-RU" dirty="0"/>
              <a:t>Оборудование помещает в стек счетчик команд и т. п.</a:t>
            </a:r>
          </a:p>
          <a:p>
            <a:r>
              <a:rPr lang="ru-RU" dirty="0"/>
              <a:t>2 Оборудование загружает новый счетчик команд из вектора прерывания</a:t>
            </a:r>
          </a:p>
          <a:p>
            <a:r>
              <a:rPr lang="ru-RU" dirty="0"/>
              <a:t>3 Процедура на ассемблере сохраняет регистры</a:t>
            </a:r>
          </a:p>
          <a:p>
            <a:r>
              <a:rPr lang="ru-RU" dirty="0"/>
              <a:t>4 Процедура на ассемблере устанавливает указатель на новый стек</a:t>
            </a:r>
          </a:p>
          <a:p>
            <a:r>
              <a:rPr lang="ru-RU" dirty="0"/>
              <a:t>5 Запускается процедура на языке C, обслуживающая прерывание (как правило, она </a:t>
            </a:r>
            <a:r>
              <a:rPr lang="ru-RU" dirty="0" smtClean="0"/>
              <a:t>считывает </a:t>
            </a:r>
            <a:r>
              <a:rPr lang="ru-RU" dirty="0"/>
              <a:t>входные данные и помещает их в буфер)</a:t>
            </a:r>
          </a:p>
          <a:p>
            <a:r>
              <a:rPr lang="ru-RU" dirty="0"/>
              <a:t>6 Планировщик принимает решение, какой процесс запускать следующим</a:t>
            </a:r>
          </a:p>
          <a:p>
            <a:r>
              <a:rPr lang="ru-RU" dirty="0"/>
              <a:t>7 Процедура на языке C возвращает управление ассемблерному коду</a:t>
            </a:r>
          </a:p>
          <a:p>
            <a:r>
              <a:rPr lang="ru-RU" dirty="0"/>
              <a:t>8 Процедура на ассемблере запускает новый текущий процесс</a:t>
            </a:r>
          </a:p>
        </p:txBody>
      </p:sp>
    </p:spTree>
    <p:extLst>
      <p:ext uri="{BB962C8B-B14F-4D97-AF65-F5344CB8AC3E}">
        <p14:creationId xmlns:p14="http://schemas.microsoft.com/office/powerpoint/2010/main" val="770605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718"/>
            <a:ext cx="7139136" cy="1371600"/>
          </a:xfrm>
        </p:spPr>
        <p:txBody>
          <a:bodyPr>
            <a:normAutofit fontScale="90000"/>
          </a:bodyPr>
          <a:lstStyle/>
          <a:p>
            <a:r>
              <a:rPr lang="ru-RU" dirty="0"/>
              <a:t>Моделирование режима многозадачности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r>
                  <a:rPr lang="ru-RU" dirty="0" smtClean="0"/>
                  <a:t>Режим многозадачности позволяет использовать центральный процессор более рационально.</a:t>
                </a:r>
              </a:p>
              <a:p>
                <a:r>
                  <a:rPr lang="ru-RU" dirty="0"/>
                  <a:t>Предположим, что процесс проводит часть своего </a:t>
                </a:r>
                <a:r>
                  <a:rPr lang="ru-RU" dirty="0" smtClean="0"/>
                  <a:t>времени</a:t>
                </a:r>
                <a:r>
                  <a:rPr lang="en-US" dirty="0" smtClean="0"/>
                  <a:t> </a:t>
                </a:r>
                <a14:m>
                  <m:oMath xmlns:m="http://schemas.openxmlformats.org/officeDocument/2006/math">
                    <m:r>
                      <a:rPr lang="en-US" b="1" i="1" smtClean="0">
                        <a:latin typeface="Cambria Math"/>
                      </a:rPr>
                      <m:t>𝒑</m:t>
                    </m:r>
                  </m:oMath>
                </a14:m>
                <a:r>
                  <a:rPr lang="ru-RU" dirty="0" smtClean="0"/>
                  <a:t>. в </a:t>
                </a:r>
                <a:r>
                  <a:rPr lang="ru-RU" dirty="0"/>
                  <a:t>ожидании завершения операций ввода-вывода. При одновременном присутствии </a:t>
                </a:r>
                <a:r>
                  <a:rPr lang="ru-RU" dirty="0" smtClean="0"/>
                  <a:t>в </a:t>
                </a:r>
                <a:r>
                  <a:rPr lang="ru-RU" dirty="0"/>
                  <a:t>памяти </a:t>
                </a:r>
                <a:r>
                  <a:rPr lang="ru-RU" i="1" dirty="0"/>
                  <a:t>n</a:t>
                </a:r>
                <a:r>
                  <a:rPr lang="ru-RU" dirty="0"/>
                  <a:t> процессов вероятность того, что все n процессов ожидают завершения </a:t>
                </a:r>
                <a:r>
                  <a:rPr lang="ru-RU" dirty="0" smtClean="0"/>
                  <a:t>ввода-вывода </a:t>
                </a:r>
                <a:r>
                  <a:rPr lang="ru-RU" dirty="0"/>
                  <a:t>(в случае чего процессор простаивает), равна </a:t>
                </a:r>
                <a14:m>
                  <m:oMath xmlns:m="http://schemas.openxmlformats.org/officeDocument/2006/math">
                    <m:sSup>
                      <m:sSupPr>
                        <m:ctrlPr>
                          <a:rPr lang="ru-RU" i="1" dirty="0" smtClean="0">
                            <a:latin typeface="Cambria Math"/>
                          </a:rPr>
                        </m:ctrlPr>
                      </m:sSupPr>
                      <m:e>
                        <m:r>
                          <a:rPr lang="en-US" b="1" i="1" dirty="0" smtClean="0">
                            <a:latin typeface="Cambria Math"/>
                          </a:rPr>
                          <m:t>𝒑</m:t>
                        </m:r>
                      </m:e>
                      <m:sup>
                        <m:r>
                          <a:rPr lang="en-US" b="1" i="1" dirty="0" smtClean="0">
                            <a:latin typeface="Cambria Math"/>
                          </a:rPr>
                          <m:t>𝒏</m:t>
                        </m:r>
                      </m:sup>
                    </m:sSup>
                  </m:oMath>
                </a14:m>
                <a:r>
                  <a:rPr lang="ru-RU" dirty="0"/>
                  <a:t>. Тогда время задействования </a:t>
                </a:r>
                <a:r>
                  <a:rPr lang="ru-RU" dirty="0" smtClean="0"/>
                  <a:t>процессора </a:t>
                </a:r>
                <a:r>
                  <a:rPr lang="ru-RU" dirty="0"/>
                  <a:t>вычисляется по формуле</a:t>
                </a:r>
              </a:p>
              <a:p>
                <a:pPr algn="ctr"/>
                <a14:m>
                  <m:oMath xmlns:m="http://schemas.openxmlformats.org/officeDocument/2006/math">
                    <m:sSup>
                      <m:sSupPr>
                        <m:ctrlPr>
                          <a:rPr lang="ru-RU" i="1" dirty="0">
                            <a:latin typeface="Cambria Math"/>
                          </a:rPr>
                        </m:ctrlPr>
                      </m:sSupPr>
                      <m:e>
                        <m:r>
                          <a:rPr lang="en-US" b="1" i="1" dirty="0" smtClean="0">
                            <a:latin typeface="Cambria Math"/>
                          </a:rPr>
                          <m:t>𝟏</m:t>
                        </m:r>
                        <m:r>
                          <a:rPr lang="en-US" b="1" i="1" dirty="0" smtClean="0">
                            <a:latin typeface="Cambria Math"/>
                          </a:rPr>
                          <m:t>−</m:t>
                        </m:r>
                        <m:r>
                          <a:rPr lang="en-US" i="1" dirty="0">
                            <a:latin typeface="Cambria Math"/>
                          </a:rPr>
                          <m:t>𝒑</m:t>
                        </m:r>
                      </m:e>
                      <m:sup>
                        <m:r>
                          <a:rPr lang="en-US" i="1" dirty="0">
                            <a:latin typeface="Cambria Math"/>
                          </a:rPr>
                          <m:t>𝒏</m:t>
                        </m:r>
                      </m:sup>
                    </m:sSup>
                  </m:oMath>
                </a14:m>
                <a:r>
                  <a:rPr lang="ru-RU" dirty="0"/>
                  <a:t>.</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1">
                <a:blip r:embed="rId2"/>
                <a:stretch>
                  <a:fillRect l="-800" t="-558"/>
                </a:stretch>
              </a:blipFill>
            </p:spPr>
            <p:txBody>
              <a:bodyPr/>
              <a:lstStyle/>
              <a:p>
                <a:r>
                  <a:rPr lang="ru-RU">
                    <a:noFill/>
                  </a:rPr>
                  <a:t> </a:t>
                </a:r>
              </a:p>
            </p:txBody>
          </p:sp>
        </mc:Fallback>
      </mc:AlternateContent>
    </p:spTree>
    <p:extLst>
      <p:ext uri="{BB962C8B-B14F-4D97-AF65-F5344CB8AC3E}">
        <p14:creationId xmlns:p14="http://schemas.microsoft.com/office/powerpoint/2010/main" val="1941584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718"/>
            <a:ext cx="7211144" cy="1371600"/>
          </a:xfrm>
        </p:spPr>
        <p:txBody>
          <a:bodyPr>
            <a:normAutofit fontScale="90000"/>
          </a:bodyPr>
          <a:lstStyle/>
          <a:p>
            <a:r>
              <a:rPr lang="ru-RU" dirty="0"/>
              <a:t>Моделирование режима многозадачности</a:t>
            </a:r>
          </a:p>
        </p:txBody>
      </p:sp>
      <p:sp>
        <p:nvSpPr>
          <p:cNvPr id="3" name="Объект 2"/>
          <p:cNvSpPr>
            <a:spLocks noGrp="1"/>
          </p:cNvSpPr>
          <p:nvPr>
            <p:ph idx="1"/>
          </p:nvPr>
        </p:nvSpPr>
        <p:spPr>
          <a:xfrm>
            <a:off x="457200" y="4941168"/>
            <a:ext cx="7620000" cy="1184995"/>
          </a:xfrm>
        </p:spPr>
        <p:txBody>
          <a:bodyPr>
            <a:normAutofit/>
          </a:bodyPr>
          <a:lstStyle/>
          <a:p>
            <a:r>
              <a:rPr lang="ru-RU" dirty="0" smtClean="0"/>
              <a:t>Время </a:t>
            </a:r>
            <a:r>
              <a:rPr lang="ru-RU" dirty="0"/>
              <a:t>задействования центрального процессора в виде функции </a:t>
            </a:r>
            <a:r>
              <a:rPr lang="ru-RU" dirty="0" smtClean="0"/>
              <a:t>от </a:t>
            </a:r>
            <a:r>
              <a:rPr lang="ru-RU" dirty="0"/>
              <a:t>аргумента </a:t>
            </a:r>
            <a:r>
              <a:rPr lang="ru-RU" i="1" dirty="0"/>
              <a:t>n</a:t>
            </a:r>
            <a:r>
              <a:rPr lang="ru-RU" dirty="0"/>
              <a:t>, который называется степенью многозадачности.</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307" y="1484784"/>
            <a:ext cx="5795974"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6048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потоки</a:t>
            </a:r>
            <a:endParaRPr lang="ru-RU" dirty="0"/>
          </a:p>
        </p:txBody>
      </p:sp>
      <p:sp>
        <p:nvSpPr>
          <p:cNvPr id="3" name="Объект 2"/>
          <p:cNvSpPr>
            <a:spLocks noGrp="1"/>
          </p:cNvSpPr>
          <p:nvPr>
            <p:ph idx="1"/>
          </p:nvPr>
        </p:nvSpPr>
        <p:spPr/>
        <p:txBody>
          <a:bodyPr/>
          <a:lstStyle/>
          <a:p>
            <a:r>
              <a:rPr lang="ru-RU" dirty="0" smtClean="0"/>
              <a:t>Нередко </a:t>
            </a:r>
            <a:r>
              <a:rPr lang="ru-RU" dirty="0"/>
              <a:t>возникают ситуации, когда неплохо было бы иметь </a:t>
            </a:r>
            <a:r>
              <a:rPr lang="ru-RU" dirty="0" smtClean="0"/>
              <a:t>в </a:t>
            </a:r>
            <a:r>
              <a:rPr lang="ru-RU" dirty="0"/>
              <a:t>одном и том же адресном пространстве несколько потоков управления, </a:t>
            </a:r>
            <a:r>
              <a:rPr lang="ru-RU" dirty="0" smtClean="0"/>
              <a:t>выполняемых квазипараллельно</a:t>
            </a:r>
            <a:r>
              <a:rPr lang="ru-RU" dirty="0"/>
              <a:t>, как будто они являются чуть ли не обособленными процессами </a:t>
            </a:r>
            <a:r>
              <a:rPr lang="ru-RU" dirty="0" smtClean="0"/>
              <a:t>(</a:t>
            </a:r>
            <a:r>
              <a:rPr lang="ru-RU" dirty="0"/>
              <a:t>за исключением общего адресного пространства).</a:t>
            </a:r>
          </a:p>
        </p:txBody>
      </p:sp>
    </p:spTree>
    <p:extLst>
      <p:ext uri="{BB962C8B-B14F-4D97-AF65-F5344CB8AC3E}">
        <p14:creationId xmlns:p14="http://schemas.microsoft.com/office/powerpoint/2010/main" val="167153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Применение потоков</a:t>
            </a:r>
            <a:endParaRPr lang="ru-RU" dirty="0"/>
          </a:p>
        </p:txBody>
      </p:sp>
      <p:sp>
        <p:nvSpPr>
          <p:cNvPr id="3" name="Объект 2"/>
          <p:cNvSpPr>
            <a:spLocks noGrp="1"/>
          </p:cNvSpPr>
          <p:nvPr>
            <p:ph idx="1"/>
          </p:nvPr>
        </p:nvSpPr>
        <p:spPr/>
        <p:txBody>
          <a:bodyPr>
            <a:normAutofit/>
          </a:bodyPr>
          <a:lstStyle/>
          <a:p>
            <a:pPr marL="342900" indent="-342900">
              <a:buFont typeface="Arial" pitchFamily="34" charset="0"/>
              <a:buChar char="•"/>
            </a:pPr>
            <a:r>
              <a:rPr lang="ru-RU" dirty="0"/>
              <a:t>Основная причина использования </a:t>
            </a:r>
            <a:r>
              <a:rPr lang="ru-RU" dirty="0" smtClean="0"/>
              <a:t>потоков </a:t>
            </a:r>
            <a:r>
              <a:rPr lang="ru-RU" dirty="0"/>
              <a:t>заключается в том, что во многих приложениях одновременно происходит </a:t>
            </a:r>
            <a:r>
              <a:rPr lang="ru-RU" dirty="0" smtClean="0"/>
              <a:t>несколько </a:t>
            </a:r>
            <a:r>
              <a:rPr lang="ru-RU" dirty="0"/>
              <a:t>действий, часть которых может периодически быть </a:t>
            </a:r>
            <a:r>
              <a:rPr lang="ru-RU" dirty="0" smtClean="0"/>
              <a:t>заблокированной. Модель программирования </a:t>
            </a:r>
            <a:r>
              <a:rPr lang="ru-RU" dirty="0"/>
              <a:t>упрощается за счет разделения такого приложения на </a:t>
            </a:r>
            <a:r>
              <a:rPr lang="ru-RU" dirty="0" smtClean="0"/>
              <a:t>несколько последовательных </a:t>
            </a:r>
            <a:r>
              <a:rPr lang="ru-RU" dirty="0"/>
              <a:t>потоков, выполняемых в </a:t>
            </a:r>
            <a:r>
              <a:rPr lang="ru-RU" dirty="0" smtClean="0"/>
              <a:t>квазипараллельном </a:t>
            </a:r>
            <a:r>
              <a:rPr lang="ru-RU" dirty="0"/>
              <a:t>режиме</a:t>
            </a:r>
            <a:r>
              <a:rPr lang="ru-RU" dirty="0" smtClean="0"/>
              <a:t>.</a:t>
            </a:r>
          </a:p>
          <a:p>
            <a:pPr marL="342900" indent="-342900">
              <a:buFont typeface="Arial" pitchFamily="34" charset="0"/>
              <a:buChar char="•"/>
            </a:pPr>
            <a:r>
              <a:rPr lang="ru-RU" dirty="0"/>
              <a:t>Вторым аргументом в пользу потоков является легкость (то есть быстрота) их создания </a:t>
            </a:r>
            <a:r>
              <a:rPr lang="ru-RU" dirty="0" smtClean="0"/>
              <a:t>и </a:t>
            </a:r>
            <a:r>
              <a:rPr lang="ru-RU" dirty="0"/>
              <a:t>ликвидации по сравнению с более «тяжеловесными» процессами. Во многих </a:t>
            </a:r>
            <a:r>
              <a:rPr lang="ru-RU" dirty="0" smtClean="0"/>
              <a:t>системах </a:t>
            </a:r>
            <a:r>
              <a:rPr lang="ru-RU" dirty="0"/>
              <a:t>создание потоков осуществляется в 10–100 раз быстрее, чем создание процессов. </a:t>
            </a:r>
          </a:p>
        </p:txBody>
      </p:sp>
    </p:spTree>
    <p:extLst>
      <p:ext uri="{BB962C8B-B14F-4D97-AF65-F5344CB8AC3E}">
        <p14:creationId xmlns:p14="http://schemas.microsoft.com/office/powerpoint/2010/main" val="2646378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Применение потоков</a:t>
            </a:r>
            <a:endParaRPr lang="ru-RU" dirty="0"/>
          </a:p>
        </p:txBody>
      </p:sp>
      <p:sp>
        <p:nvSpPr>
          <p:cNvPr id="3" name="Объект 2"/>
          <p:cNvSpPr>
            <a:spLocks noGrp="1"/>
          </p:cNvSpPr>
          <p:nvPr>
            <p:ph idx="1"/>
          </p:nvPr>
        </p:nvSpPr>
        <p:spPr/>
        <p:txBody>
          <a:bodyPr>
            <a:normAutofit/>
          </a:bodyPr>
          <a:lstStyle/>
          <a:p>
            <a:pPr marL="342900" indent="-342900">
              <a:buFont typeface="Arial" pitchFamily="34" charset="0"/>
              <a:buChar char="•"/>
            </a:pPr>
            <a:r>
              <a:rPr lang="ru-RU" dirty="0"/>
              <a:t>Третий аргумент в пользу потоков также касается производительности. Когда потоки </a:t>
            </a:r>
            <a:r>
              <a:rPr lang="ru-RU" dirty="0" smtClean="0"/>
              <a:t>работают </a:t>
            </a:r>
            <a:r>
              <a:rPr lang="ru-RU" dirty="0"/>
              <a:t>в рамках одного центрального процессора, они не приносят никакого прироста </a:t>
            </a:r>
            <a:r>
              <a:rPr lang="ru-RU" dirty="0" smtClean="0"/>
              <a:t>производительности</a:t>
            </a:r>
            <a:r>
              <a:rPr lang="ru-RU" dirty="0"/>
              <a:t>, но когда выполняются значительные вычисления, а также </a:t>
            </a:r>
            <a:r>
              <a:rPr lang="ru-RU" dirty="0" smtClean="0"/>
              <a:t>значительная </a:t>
            </a:r>
            <a:r>
              <a:rPr lang="ru-RU" dirty="0"/>
              <a:t>часть времени тратится на ожидание ввода-вывода, наличие потоков позволяет </a:t>
            </a:r>
            <a:r>
              <a:rPr lang="ru-RU" dirty="0" smtClean="0"/>
              <a:t>этим </a:t>
            </a:r>
            <a:r>
              <a:rPr lang="ru-RU" dirty="0"/>
              <a:t>действиям перекрываться по времени, ускоряя работу приложения.</a:t>
            </a:r>
          </a:p>
          <a:p>
            <a:pPr marL="342900" indent="-342900">
              <a:buFont typeface="Arial" pitchFamily="34" charset="0"/>
              <a:buChar char="•"/>
            </a:pPr>
            <a:r>
              <a:rPr lang="ru-RU" dirty="0"/>
              <a:t>И наконец, потоки весьма полезны для систем, имеющих несколько центральных </a:t>
            </a:r>
            <a:r>
              <a:rPr lang="ru-RU" dirty="0" smtClean="0"/>
              <a:t>процессоров</a:t>
            </a:r>
            <a:r>
              <a:rPr lang="ru-RU" dirty="0"/>
              <a:t>, где есть реальная возможность параллельных вычислений.</a:t>
            </a:r>
          </a:p>
        </p:txBody>
      </p:sp>
    </p:spTree>
    <p:extLst>
      <p:ext uri="{BB962C8B-B14F-4D97-AF65-F5344CB8AC3E}">
        <p14:creationId xmlns:p14="http://schemas.microsoft.com/office/powerpoint/2010/main" val="3331824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Классическая модель потоков</a:t>
            </a:r>
            <a:endParaRPr lang="ru-RU" dirty="0"/>
          </a:p>
        </p:txBody>
      </p:sp>
      <p:sp>
        <p:nvSpPr>
          <p:cNvPr id="3" name="Объект 2"/>
          <p:cNvSpPr>
            <a:spLocks noGrp="1"/>
          </p:cNvSpPr>
          <p:nvPr>
            <p:ph idx="1"/>
          </p:nvPr>
        </p:nvSpPr>
        <p:spPr/>
        <p:txBody>
          <a:bodyPr>
            <a:normAutofit fontScale="92500" lnSpcReduction="10000"/>
          </a:bodyPr>
          <a:lstStyle/>
          <a:p>
            <a:r>
              <a:rPr lang="ru-RU" dirty="0"/>
              <a:t>Согласно одному из взглядов на процесс, он является способом группировки в единое </a:t>
            </a:r>
            <a:r>
              <a:rPr lang="ru-RU" dirty="0" smtClean="0"/>
              <a:t>целое </a:t>
            </a:r>
            <a:r>
              <a:rPr lang="ru-RU" dirty="0"/>
              <a:t>взаимосвязанных ресурсов</a:t>
            </a:r>
            <a:r>
              <a:rPr lang="ru-RU" dirty="0" smtClean="0"/>
              <a:t>.</a:t>
            </a:r>
          </a:p>
          <a:p>
            <a:r>
              <a:rPr lang="ru-RU" dirty="0"/>
              <a:t>Другое присущее процессу понятие — поток выполнения — обычно сокращается до слова </a:t>
            </a:r>
            <a:r>
              <a:rPr lang="ru-RU" dirty="0" smtClean="0"/>
              <a:t>поток</a:t>
            </a:r>
            <a:r>
              <a:rPr lang="ru-RU" dirty="0"/>
              <a:t>. У потока есть счетчик команд, отслеживающий, какую очередную инструкцию </a:t>
            </a:r>
            <a:r>
              <a:rPr lang="ru-RU" dirty="0" smtClean="0"/>
              <a:t>нужно </a:t>
            </a:r>
            <a:r>
              <a:rPr lang="ru-RU" dirty="0"/>
              <a:t>выполнять. У него есть регистры, в которых содержатся текущие рабочие </a:t>
            </a:r>
            <a:r>
              <a:rPr lang="ru-RU" dirty="0" smtClean="0"/>
              <a:t>переменные</a:t>
            </a:r>
            <a:r>
              <a:rPr lang="ru-RU" dirty="0"/>
              <a:t>. </a:t>
            </a:r>
            <a:r>
              <a:rPr lang="ru-RU" dirty="0" smtClean="0"/>
              <a:t>Хотя </a:t>
            </a:r>
            <a:r>
              <a:rPr lang="ru-RU" dirty="0"/>
              <a:t>поток может </a:t>
            </a:r>
            <a:r>
              <a:rPr lang="ru-RU" dirty="0" smtClean="0"/>
              <a:t>быть </a:t>
            </a:r>
            <a:r>
              <a:rPr lang="ru-RU" dirty="0"/>
              <a:t>выполнен в рамках какого-нибудь процесса, сам поток и его процесс являются </a:t>
            </a:r>
            <a:r>
              <a:rPr lang="ru-RU" dirty="0" smtClean="0"/>
              <a:t>разными </a:t>
            </a:r>
            <a:r>
              <a:rPr lang="ru-RU" dirty="0"/>
              <a:t>понятиями и должны рассматриваться по отдельности. </a:t>
            </a:r>
            <a:endParaRPr lang="ru-RU" dirty="0" smtClean="0"/>
          </a:p>
          <a:p>
            <a:r>
              <a:rPr lang="ru-RU" dirty="0" smtClean="0"/>
              <a:t>Процессы используются для </a:t>
            </a:r>
            <a:r>
              <a:rPr lang="ru-RU" dirty="0"/>
              <a:t>группировки ресурсов в единое образование, а потоки являются «сущностью», </a:t>
            </a:r>
            <a:r>
              <a:rPr lang="ru-RU" dirty="0" smtClean="0"/>
              <a:t>распределяемой </a:t>
            </a:r>
            <a:r>
              <a:rPr lang="ru-RU" dirty="0"/>
              <a:t>для выполнения на центральном процессоре.</a:t>
            </a:r>
          </a:p>
        </p:txBody>
      </p:sp>
    </p:spTree>
    <p:extLst>
      <p:ext uri="{BB962C8B-B14F-4D97-AF65-F5344CB8AC3E}">
        <p14:creationId xmlns:p14="http://schemas.microsoft.com/office/powerpoint/2010/main" val="2875713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Классическая модель потоков</a:t>
            </a:r>
            <a:endParaRPr lang="ru-RU" dirty="0"/>
          </a:p>
        </p:txBody>
      </p:sp>
      <p:sp>
        <p:nvSpPr>
          <p:cNvPr id="3" name="Объект 2"/>
          <p:cNvSpPr>
            <a:spLocks noGrp="1"/>
          </p:cNvSpPr>
          <p:nvPr>
            <p:ph idx="1"/>
          </p:nvPr>
        </p:nvSpPr>
        <p:spPr/>
        <p:txBody>
          <a:bodyPr>
            <a:normAutofit lnSpcReduction="10000"/>
          </a:bodyPr>
          <a:lstStyle/>
          <a:p>
            <a:r>
              <a:rPr lang="ru-RU" dirty="0"/>
              <a:t>Потоки добавляют к модели процесса возможность реализации нескольких в </a:t>
            </a:r>
            <a:r>
              <a:rPr lang="ru-RU" dirty="0" smtClean="0"/>
              <a:t>значительной </a:t>
            </a:r>
            <a:r>
              <a:rPr lang="ru-RU" dirty="0"/>
              <a:t>степени независимых друг от друга выполняемых задач в единой </a:t>
            </a:r>
            <a:r>
              <a:rPr lang="ru-RU" dirty="0" smtClean="0"/>
              <a:t>среде процесса</a:t>
            </a:r>
            <a:r>
              <a:rPr lang="ru-RU" dirty="0"/>
              <a:t>. </a:t>
            </a:r>
            <a:endParaRPr lang="ru-RU" dirty="0" smtClean="0"/>
          </a:p>
          <a:p>
            <a:r>
              <a:rPr lang="ru-RU" dirty="0" smtClean="0"/>
              <a:t>Наличие </a:t>
            </a:r>
            <a:r>
              <a:rPr lang="ru-RU" dirty="0"/>
              <a:t>нескольких потоков, выполняемых параллельно в рамках одного </a:t>
            </a:r>
            <a:r>
              <a:rPr lang="ru-RU" dirty="0" smtClean="0"/>
              <a:t>процесса</a:t>
            </a:r>
            <a:r>
              <a:rPr lang="ru-RU" dirty="0"/>
              <a:t>, является аналогией наличия нескольких процессов, выполняемых </a:t>
            </a:r>
            <a:r>
              <a:rPr lang="ru-RU" dirty="0" smtClean="0"/>
              <a:t>параллельно </a:t>
            </a:r>
            <a:r>
              <a:rPr lang="ru-RU" dirty="0"/>
              <a:t>на одном компьютере. </a:t>
            </a:r>
            <a:endParaRPr lang="ru-RU" dirty="0" smtClean="0"/>
          </a:p>
          <a:p>
            <a:r>
              <a:rPr lang="ru-RU" dirty="0" smtClean="0"/>
              <a:t>Поскольку </a:t>
            </a:r>
            <a:r>
              <a:rPr lang="ru-RU" dirty="0"/>
              <a:t>потоки обладают </a:t>
            </a:r>
            <a:r>
              <a:rPr lang="ru-RU" dirty="0" smtClean="0"/>
              <a:t>некоторыми </a:t>
            </a:r>
            <a:r>
              <a:rPr lang="ru-RU" dirty="0"/>
              <a:t>свойствами процессов, их иногда называют облегченными процессами. </a:t>
            </a:r>
            <a:endParaRPr lang="ru-RU" dirty="0" smtClean="0"/>
          </a:p>
          <a:p>
            <a:r>
              <a:rPr lang="ru-RU" dirty="0"/>
              <a:t>Когда многопоточный процесс выполняется на </a:t>
            </a:r>
            <a:r>
              <a:rPr lang="ru-RU" dirty="0" smtClean="0"/>
              <a:t>однопроцессорной </a:t>
            </a:r>
            <a:r>
              <a:rPr lang="ru-RU" dirty="0"/>
              <a:t>системе, потоки </a:t>
            </a:r>
            <a:r>
              <a:rPr lang="ru-RU" dirty="0" smtClean="0"/>
              <a:t>выполняются</a:t>
            </a:r>
            <a:r>
              <a:rPr lang="ru-RU" dirty="0"/>
              <a:t>, сменяя друг </a:t>
            </a:r>
            <a:r>
              <a:rPr lang="ru-RU" dirty="0" smtClean="0"/>
              <a:t>друга.</a:t>
            </a:r>
            <a:endParaRPr lang="ru-RU" dirty="0"/>
          </a:p>
        </p:txBody>
      </p:sp>
    </p:spTree>
    <p:extLst>
      <p:ext uri="{BB962C8B-B14F-4D97-AF65-F5344CB8AC3E}">
        <p14:creationId xmlns:p14="http://schemas.microsoft.com/office/powerpoint/2010/main" val="1968411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Классическая модель потоков</a:t>
            </a:r>
            <a:endParaRPr lang="ru-RU" dirty="0"/>
          </a:p>
        </p:txBody>
      </p:sp>
      <p:sp>
        <p:nvSpPr>
          <p:cNvPr id="3" name="Объект 2"/>
          <p:cNvSpPr>
            <a:spLocks noGrp="1"/>
          </p:cNvSpPr>
          <p:nvPr>
            <p:ph idx="1"/>
          </p:nvPr>
        </p:nvSpPr>
        <p:spPr/>
        <p:txBody>
          <a:bodyPr>
            <a:normAutofit/>
          </a:bodyPr>
          <a:lstStyle/>
          <a:p>
            <a:r>
              <a:rPr lang="ru-RU" dirty="0"/>
              <a:t>Различные потоки в процессе не обладают той независимостью, которая есть у </a:t>
            </a:r>
            <a:r>
              <a:rPr lang="ru-RU" dirty="0" smtClean="0"/>
              <a:t>различных </a:t>
            </a:r>
            <a:r>
              <a:rPr lang="ru-RU" dirty="0"/>
              <a:t>процессов. </a:t>
            </a:r>
            <a:endParaRPr lang="ru-RU" dirty="0" smtClean="0"/>
          </a:p>
          <a:p>
            <a:r>
              <a:rPr lang="ru-RU" dirty="0" smtClean="0"/>
              <a:t>У </a:t>
            </a:r>
            <a:r>
              <a:rPr lang="ru-RU" dirty="0"/>
              <a:t>всех потоков абсолютно одно и то же адресное пространство, а значит, </a:t>
            </a:r>
            <a:r>
              <a:rPr lang="ru-RU" dirty="0" smtClean="0"/>
              <a:t>они </a:t>
            </a:r>
            <a:r>
              <a:rPr lang="ru-RU" dirty="0"/>
              <a:t>так же совместно используют одни и те же глобальные переменные. Поскольку </a:t>
            </a:r>
            <a:r>
              <a:rPr lang="ru-RU" dirty="0" smtClean="0"/>
              <a:t>каждый </a:t>
            </a:r>
            <a:r>
              <a:rPr lang="ru-RU" dirty="0"/>
              <a:t>поток может иметь доступ к любому адресу памяти в пределах адресного </a:t>
            </a:r>
            <a:r>
              <a:rPr lang="ru-RU" dirty="0" smtClean="0"/>
              <a:t>пространства </a:t>
            </a:r>
            <a:r>
              <a:rPr lang="ru-RU" dirty="0"/>
              <a:t>процесса, один поток может считывать данные из стека другого потока, </a:t>
            </a:r>
            <a:r>
              <a:rPr lang="ru-RU" dirty="0" smtClean="0"/>
              <a:t>записывать </a:t>
            </a:r>
            <a:r>
              <a:rPr lang="ru-RU" dirty="0"/>
              <a:t>туда свои данные и даже стирать оттуда данные. </a:t>
            </a:r>
            <a:endParaRPr lang="ru-RU" dirty="0" smtClean="0"/>
          </a:p>
          <a:p>
            <a:r>
              <a:rPr lang="ru-RU" dirty="0" smtClean="0"/>
              <a:t>Защита </a:t>
            </a:r>
            <a:r>
              <a:rPr lang="ru-RU" dirty="0"/>
              <a:t>между потоками </a:t>
            </a:r>
            <a:r>
              <a:rPr lang="ru-RU" dirty="0" smtClean="0"/>
              <a:t>отсутствует</a:t>
            </a:r>
            <a:r>
              <a:rPr lang="ru-RU" dirty="0"/>
              <a:t>, потому что ее невозможно осуществить и в ней нет необходимости.</a:t>
            </a:r>
          </a:p>
        </p:txBody>
      </p:sp>
    </p:spTree>
    <p:extLst>
      <p:ext uri="{BB962C8B-B14F-4D97-AF65-F5344CB8AC3E}">
        <p14:creationId xmlns:p14="http://schemas.microsoft.com/office/powerpoint/2010/main" val="871987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48880"/>
            <a:ext cx="8988152" cy="2712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6955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sp>
        <p:nvSpPr>
          <p:cNvPr id="3" name="Объект 2"/>
          <p:cNvSpPr>
            <a:spLocks noGrp="1"/>
          </p:cNvSpPr>
          <p:nvPr>
            <p:ph idx="1"/>
          </p:nvPr>
        </p:nvSpPr>
        <p:spPr/>
        <p:txBody>
          <a:bodyPr/>
          <a:lstStyle/>
          <a:p>
            <a:r>
              <a:rPr lang="ru-RU" dirty="0"/>
              <a:t>Подобно традиционному процессу (то есть процессу только с одним потоком), поток </a:t>
            </a:r>
            <a:r>
              <a:rPr lang="ru-RU" dirty="0" smtClean="0"/>
              <a:t>должен </a:t>
            </a:r>
            <a:r>
              <a:rPr lang="ru-RU" dirty="0"/>
              <a:t>быть в одном из следующих состояний: </a:t>
            </a:r>
            <a:endParaRPr lang="ru-RU" dirty="0" smtClean="0"/>
          </a:p>
          <a:p>
            <a:pPr marL="342900" indent="-342900">
              <a:buFont typeface="Arial" pitchFamily="34" charset="0"/>
              <a:buChar char="•"/>
            </a:pPr>
            <a:r>
              <a:rPr lang="ru-RU" dirty="0" smtClean="0"/>
              <a:t>выполняемый</a:t>
            </a:r>
            <a:r>
              <a:rPr lang="ru-RU" dirty="0"/>
              <a:t>, </a:t>
            </a:r>
            <a:endParaRPr lang="ru-RU" dirty="0" smtClean="0"/>
          </a:p>
          <a:p>
            <a:pPr marL="342900" indent="-342900">
              <a:buFont typeface="Arial" pitchFamily="34" charset="0"/>
              <a:buChar char="•"/>
            </a:pPr>
            <a:r>
              <a:rPr lang="ru-RU" dirty="0" smtClean="0"/>
              <a:t>заблокированный</a:t>
            </a:r>
            <a:r>
              <a:rPr lang="ru-RU" dirty="0"/>
              <a:t>, </a:t>
            </a:r>
          </a:p>
          <a:p>
            <a:pPr marL="342900" indent="-342900">
              <a:buFont typeface="Arial" pitchFamily="34" charset="0"/>
              <a:buChar char="•"/>
            </a:pPr>
            <a:r>
              <a:rPr lang="ru-RU" dirty="0"/>
              <a:t>г</a:t>
            </a:r>
            <a:r>
              <a:rPr lang="ru-RU" dirty="0" smtClean="0"/>
              <a:t>отовый,</a:t>
            </a:r>
          </a:p>
          <a:p>
            <a:pPr marL="342900" indent="-342900">
              <a:buFont typeface="Arial" pitchFamily="34" charset="0"/>
              <a:buChar char="•"/>
            </a:pPr>
            <a:r>
              <a:rPr lang="ru-RU" dirty="0" smtClean="0"/>
              <a:t>завершенный</a:t>
            </a:r>
            <a:r>
              <a:rPr lang="ru-RU" dirty="0"/>
              <a:t>.</a:t>
            </a:r>
          </a:p>
        </p:txBody>
      </p:sp>
    </p:spTree>
    <p:extLst>
      <p:ext uri="{BB962C8B-B14F-4D97-AF65-F5344CB8AC3E}">
        <p14:creationId xmlns:p14="http://schemas.microsoft.com/office/powerpoint/2010/main" val="1157703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sp>
        <p:nvSpPr>
          <p:cNvPr id="3" name="Объект 2"/>
          <p:cNvSpPr>
            <a:spLocks noGrp="1"/>
          </p:cNvSpPr>
          <p:nvPr>
            <p:ph idx="1"/>
          </p:nvPr>
        </p:nvSpPr>
        <p:spPr/>
        <p:txBody>
          <a:bodyPr>
            <a:normAutofit lnSpcReduction="10000"/>
          </a:bodyPr>
          <a:lstStyle/>
          <a:p>
            <a:r>
              <a:rPr lang="ru-RU" dirty="0"/>
              <a:t>Следует учесть, что каждый поток имеет собственный </a:t>
            </a:r>
            <a:r>
              <a:rPr lang="ru-RU" dirty="0" smtClean="0"/>
              <a:t>стек. </a:t>
            </a:r>
          </a:p>
          <a:p>
            <a:r>
              <a:rPr lang="ru-RU" dirty="0" smtClean="0"/>
              <a:t>Стек </a:t>
            </a:r>
            <a:r>
              <a:rPr lang="ru-RU" dirty="0"/>
              <a:t>каждого </a:t>
            </a:r>
            <a:r>
              <a:rPr lang="ru-RU" dirty="0" smtClean="0"/>
              <a:t>потока </a:t>
            </a:r>
            <a:r>
              <a:rPr lang="ru-RU" dirty="0"/>
              <a:t>содержит по одному фрейму для каждой уже вызванной, но еще не возвратившей </a:t>
            </a:r>
            <a:r>
              <a:rPr lang="ru-RU" dirty="0" smtClean="0"/>
              <a:t>управление </a:t>
            </a:r>
            <a:r>
              <a:rPr lang="ru-RU" dirty="0"/>
              <a:t>процедуры. Такой фрейм содержит локальные переменные процедуры </a:t>
            </a:r>
            <a:r>
              <a:rPr lang="ru-RU" dirty="0" smtClean="0"/>
              <a:t>и </a:t>
            </a:r>
            <a:r>
              <a:rPr lang="ru-RU" dirty="0"/>
              <a:t>адрес возврата управления по завершении ее вызова. </a:t>
            </a:r>
            <a:endParaRPr lang="ru-RU" dirty="0" smtClean="0"/>
          </a:p>
          <a:p>
            <a:r>
              <a:rPr lang="ru-RU" dirty="0" smtClean="0"/>
              <a:t>Например</a:t>
            </a:r>
            <a:r>
              <a:rPr lang="ru-RU" dirty="0"/>
              <a:t>, если процедура X </a:t>
            </a:r>
            <a:r>
              <a:rPr lang="ru-RU" dirty="0" smtClean="0"/>
              <a:t>вызывает </a:t>
            </a:r>
            <a:r>
              <a:rPr lang="ru-RU" dirty="0"/>
              <a:t>процедуру Y, а Y вызывает процедуру Z, то при выполнении Z в стеке будут </a:t>
            </a:r>
            <a:r>
              <a:rPr lang="ru-RU" dirty="0" smtClean="0"/>
              <a:t>фреймы </a:t>
            </a:r>
            <a:r>
              <a:rPr lang="ru-RU" dirty="0"/>
              <a:t>для X, Y и Z. </a:t>
            </a:r>
            <a:endParaRPr lang="ru-RU" dirty="0" smtClean="0"/>
          </a:p>
          <a:p>
            <a:r>
              <a:rPr lang="ru-RU" dirty="0" smtClean="0"/>
              <a:t>Каждый </a:t>
            </a:r>
            <a:r>
              <a:rPr lang="ru-RU" dirty="0"/>
              <a:t>поток будет, как правило, вызывать различные процедуры </a:t>
            </a:r>
            <a:r>
              <a:rPr lang="ru-RU" dirty="0" smtClean="0"/>
              <a:t>и</a:t>
            </a:r>
            <a:r>
              <a:rPr lang="ru-RU" dirty="0"/>
              <a:t>, следовательно, иметь среду выполнения, отличающуюся от среды выполнения других </a:t>
            </a:r>
            <a:r>
              <a:rPr lang="ru-RU" dirty="0" smtClean="0"/>
              <a:t>потоков</a:t>
            </a:r>
            <a:r>
              <a:rPr lang="ru-RU" dirty="0"/>
              <a:t>. </a:t>
            </a:r>
          </a:p>
        </p:txBody>
      </p:sp>
    </p:spTree>
    <p:extLst>
      <p:ext uri="{BB962C8B-B14F-4D97-AF65-F5344CB8AC3E}">
        <p14:creationId xmlns:p14="http://schemas.microsoft.com/office/powerpoint/2010/main" val="2813511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328" y="1772816"/>
            <a:ext cx="6703900" cy="4096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5137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sp>
        <p:nvSpPr>
          <p:cNvPr id="3" name="Объект 2"/>
          <p:cNvSpPr>
            <a:spLocks noGrp="1"/>
          </p:cNvSpPr>
          <p:nvPr>
            <p:ph idx="1"/>
          </p:nvPr>
        </p:nvSpPr>
        <p:spPr/>
        <p:txBody>
          <a:bodyPr>
            <a:normAutofit/>
          </a:bodyPr>
          <a:lstStyle/>
          <a:p>
            <a:r>
              <a:rPr lang="ru-RU" dirty="0"/>
              <a:t>Когда используется </a:t>
            </a:r>
            <a:r>
              <a:rPr lang="ru-RU" dirty="0" err="1"/>
              <a:t>многопоточность</a:t>
            </a:r>
            <a:r>
              <a:rPr lang="ru-RU" dirty="0"/>
              <a:t>, процесс обычно начинается с использования </a:t>
            </a:r>
            <a:r>
              <a:rPr lang="ru-RU" dirty="0" smtClean="0"/>
              <a:t>одного </a:t>
            </a:r>
            <a:r>
              <a:rPr lang="ru-RU" dirty="0"/>
              <a:t>потока. Этот поток может создавать новые потоки, вызвав библиотечную </a:t>
            </a:r>
            <a:r>
              <a:rPr lang="ru-RU" dirty="0" smtClean="0"/>
              <a:t>процедуру</a:t>
            </a:r>
            <a:r>
              <a:rPr lang="ru-RU" dirty="0"/>
              <a:t>, к примеру </a:t>
            </a:r>
            <a:r>
              <a:rPr lang="ru-RU" dirty="0" err="1"/>
              <a:t>thread_create</a:t>
            </a:r>
            <a:r>
              <a:rPr lang="ru-RU" dirty="0"/>
              <a:t>. В параметре </a:t>
            </a:r>
            <a:r>
              <a:rPr lang="ru-RU" dirty="0" err="1"/>
              <a:t>thread_create</a:t>
            </a:r>
            <a:r>
              <a:rPr lang="ru-RU" dirty="0"/>
              <a:t> обычно указывается имя </a:t>
            </a:r>
            <a:r>
              <a:rPr lang="ru-RU" dirty="0" smtClean="0"/>
              <a:t>процедуры</a:t>
            </a:r>
            <a:r>
              <a:rPr lang="ru-RU" dirty="0"/>
              <a:t>, запускаемой в новом потоке. </a:t>
            </a:r>
            <a:endParaRPr lang="ru-RU" dirty="0" smtClean="0"/>
          </a:p>
          <a:p>
            <a:r>
              <a:rPr lang="ru-RU" dirty="0" smtClean="0"/>
              <a:t>Независимо </a:t>
            </a:r>
            <a:r>
              <a:rPr lang="ru-RU" dirty="0"/>
              <a:t>от наличия или </a:t>
            </a:r>
            <a:r>
              <a:rPr lang="ru-RU" dirty="0" smtClean="0"/>
              <a:t>отсутствия </a:t>
            </a:r>
            <a:r>
              <a:rPr lang="ru-RU" dirty="0"/>
              <a:t>иерархических взаимоотношений создающий поток обычно возвращает </a:t>
            </a:r>
            <a:r>
              <a:rPr lang="ru-RU" dirty="0" smtClean="0"/>
              <a:t>идентификатор </a:t>
            </a:r>
            <a:r>
              <a:rPr lang="ru-RU" dirty="0"/>
              <a:t>потока, который дает имя новому потоку.</a:t>
            </a:r>
          </a:p>
        </p:txBody>
      </p:sp>
    </p:spTree>
    <p:extLst>
      <p:ext uri="{BB962C8B-B14F-4D97-AF65-F5344CB8AC3E}">
        <p14:creationId xmlns:p14="http://schemas.microsoft.com/office/powerpoint/2010/main" val="3891312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Классическая модель потоков</a:t>
            </a:r>
          </a:p>
        </p:txBody>
      </p:sp>
      <p:sp>
        <p:nvSpPr>
          <p:cNvPr id="3" name="Объект 2"/>
          <p:cNvSpPr>
            <a:spLocks noGrp="1"/>
          </p:cNvSpPr>
          <p:nvPr>
            <p:ph idx="1"/>
          </p:nvPr>
        </p:nvSpPr>
        <p:spPr/>
        <p:txBody>
          <a:bodyPr/>
          <a:lstStyle/>
          <a:p>
            <a:r>
              <a:rPr lang="ru-RU" dirty="0"/>
              <a:t>Когда поток завершает свою работу, выход из него может быть осуществлен за счет </a:t>
            </a:r>
            <a:r>
              <a:rPr lang="ru-RU" dirty="0" smtClean="0"/>
              <a:t>вызова </a:t>
            </a:r>
            <a:r>
              <a:rPr lang="ru-RU" dirty="0"/>
              <a:t>библиотечной </a:t>
            </a:r>
            <a:r>
              <a:rPr lang="ru-RU" dirty="0" smtClean="0"/>
              <a:t>процедуры</a:t>
            </a:r>
            <a:r>
              <a:rPr lang="ru-RU" dirty="0"/>
              <a:t>, к примеру </a:t>
            </a:r>
            <a:r>
              <a:rPr lang="ru-RU" dirty="0" err="1"/>
              <a:t>thread_exit</a:t>
            </a:r>
            <a:r>
              <a:rPr lang="ru-RU" dirty="0"/>
              <a:t>. После этого он прекращает </a:t>
            </a:r>
            <a:r>
              <a:rPr lang="ru-RU" dirty="0" smtClean="0"/>
              <a:t>свое </a:t>
            </a:r>
            <a:r>
              <a:rPr lang="ru-RU" dirty="0"/>
              <a:t>существование и больше не фигурирует в работе планировщика. </a:t>
            </a:r>
          </a:p>
        </p:txBody>
      </p:sp>
    </p:spTree>
    <p:extLst>
      <p:ext uri="{BB962C8B-B14F-4D97-AF65-F5344CB8AC3E}">
        <p14:creationId xmlns:p14="http://schemas.microsoft.com/office/powerpoint/2010/main" val="2716351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Потоки в </a:t>
            </a:r>
            <a:r>
              <a:rPr lang="en-US" dirty="0"/>
              <a:t>POSIX</a:t>
            </a:r>
            <a:endParaRPr lang="ru-RU" dirty="0"/>
          </a:p>
        </p:txBody>
      </p:sp>
      <p:sp>
        <p:nvSpPr>
          <p:cNvPr id="3" name="Объект 2"/>
          <p:cNvSpPr>
            <a:spLocks noGrp="1"/>
          </p:cNvSpPr>
          <p:nvPr>
            <p:ph idx="1"/>
          </p:nvPr>
        </p:nvSpPr>
        <p:spPr/>
        <p:txBody>
          <a:bodyPr/>
          <a:lstStyle/>
          <a:p>
            <a:r>
              <a:rPr lang="ru-RU" dirty="0"/>
              <a:t>Чтобы предоставить возможность создания переносимых многопоточных программ, </a:t>
            </a:r>
            <a:r>
              <a:rPr lang="ru-RU" dirty="0" smtClean="0"/>
              <a:t>в </a:t>
            </a:r>
            <a:r>
              <a:rPr lang="ru-RU" dirty="0"/>
              <a:t>отношении потоков институтом IEEE был определен стандарт IEEE </a:t>
            </a:r>
            <a:r>
              <a:rPr lang="ru-RU" dirty="0" err="1"/>
              <a:t>standard</a:t>
            </a:r>
            <a:r>
              <a:rPr lang="ru-RU" dirty="0"/>
              <a:t> 1003.1c. </a:t>
            </a:r>
          </a:p>
          <a:p>
            <a:r>
              <a:rPr lang="ru-RU" dirty="0"/>
              <a:t>Определенный в нем пакет, касающийся потоков, называется </a:t>
            </a:r>
            <a:r>
              <a:rPr lang="ru-RU" dirty="0" err="1"/>
              <a:t>Pthreads</a:t>
            </a:r>
            <a:r>
              <a:rPr lang="ru-RU" dirty="0"/>
              <a:t>. Он </a:t>
            </a:r>
            <a:r>
              <a:rPr lang="ru-RU" dirty="0" smtClean="0"/>
              <a:t>поддерживается </a:t>
            </a:r>
            <a:r>
              <a:rPr lang="ru-RU" dirty="0"/>
              <a:t>большинством UNIX-систем. В стандарте определено более 60 вызовов </a:t>
            </a:r>
            <a:r>
              <a:rPr lang="ru-RU" dirty="0" smtClean="0"/>
              <a:t>функций</a:t>
            </a:r>
            <a:r>
              <a:rPr lang="ru-RU" dirty="0"/>
              <a:t>. </a:t>
            </a:r>
          </a:p>
        </p:txBody>
      </p:sp>
    </p:spTree>
    <p:extLst>
      <p:ext uri="{BB962C8B-B14F-4D97-AF65-F5344CB8AC3E}">
        <p14:creationId xmlns:p14="http://schemas.microsoft.com/office/powerpoint/2010/main" val="1470175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Потоки в </a:t>
            </a:r>
            <a:r>
              <a:rPr lang="en-US" dirty="0"/>
              <a:t>POSIX</a:t>
            </a:r>
            <a:endParaRPr lang="ru-RU"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71" y="2564904"/>
            <a:ext cx="8750409"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29145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Потоки в </a:t>
            </a:r>
            <a:r>
              <a:rPr lang="en-US" dirty="0"/>
              <a:t>POSIX</a:t>
            </a:r>
            <a:endParaRPr lang="ru-RU" dirty="0"/>
          </a:p>
        </p:txBody>
      </p:sp>
      <p:sp>
        <p:nvSpPr>
          <p:cNvPr id="3" name="Объект 2"/>
          <p:cNvSpPr>
            <a:spLocks noGrp="1"/>
          </p:cNvSpPr>
          <p:nvPr>
            <p:ph idx="1"/>
          </p:nvPr>
        </p:nvSpPr>
        <p:spPr/>
        <p:txBody>
          <a:bodyPr/>
          <a:lstStyle/>
          <a:p>
            <a:r>
              <a:rPr lang="ru-RU" dirty="0"/>
              <a:t>Основная программа </a:t>
            </a:r>
            <a:r>
              <a:rPr lang="ru-RU" dirty="0" smtClean="0"/>
              <a:t>примера </a:t>
            </a:r>
            <a:r>
              <a:rPr lang="ru-RU" dirty="0"/>
              <a:t>работает </a:t>
            </a:r>
            <a:r>
              <a:rPr lang="ru-RU" dirty="0" smtClean="0"/>
              <a:t>в </a:t>
            </a:r>
            <a:r>
              <a:rPr lang="ru-RU" dirty="0"/>
              <a:t>цикле столько раз, сколько указано в константе NUMBER_OF_THREADS (</a:t>
            </a:r>
            <a:r>
              <a:rPr lang="ru-RU" dirty="0" smtClean="0"/>
              <a:t>количество </a:t>
            </a:r>
            <a:r>
              <a:rPr lang="ru-RU" dirty="0"/>
              <a:t>потоков), создавая при каждой итерации новый поток и предварительно сообщив </a:t>
            </a:r>
            <a:r>
              <a:rPr lang="ru-RU" dirty="0" smtClean="0"/>
              <a:t>о </a:t>
            </a:r>
            <a:r>
              <a:rPr lang="ru-RU" dirty="0"/>
              <a:t>своих намерениях. </a:t>
            </a:r>
            <a:endParaRPr lang="ru-RU" dirty="0" smtClean="0"/>
          </a:p>
          <a:p>
            <a:r>
              <a:rPr lang="ru-RU" dirty="0" smtClean="0"/>
              <a:t>Если </a:t>
            </a:r>
            <a:r>
              <a:rPr lang="ru-RU" dirty="0"/>
              <a:t>создать поток не удастся, она выводит сообщение об ошибке </a:t>
            </a:r>
            <a:r>
              <a:rPr lang="ru-RU" dirty="0" smtClean="0"/>
              <a:t>и </a:t>
            </a:r>
            <a:r>
              <a:rPr lang="ru-RU" dirty="0"/>
              <a:t>выполняет выход</a:t>
            </a:r>
            <a:r>
              <a:rPr lang="ru-RU" dirty="0" smtClean="0"/>
              <a:t>.</a:t>
            </a:r>
          </a:p>
          <a:p>
            <a:r>
              <a:rPr lang="ru-RU" dirty="0" smtClean="0"/>
              <a:t>После </a:t>
            </a:r>
            <a:r>
              <a:rPr lang="ru-RU" dirty="0"/>
              <a:t>создания всех потоков осуществляется выход из основной </a:t>
            </a:r>
            <a:r>
              <a:rPr lang="ru-RU" dirty="0" smtClean="0"/>
              <a:t>программы</a:t>
            </a:r>
            <a:r>
              <a:rPr lang="ru-RU" dirty="0"/>
              <a:t>.</a:t>
            </a:r>
          </a:p>
        </p:txBody>
      </p:sp>
    </p:spTree>
    <p:extLst>
      <p:ext uri="{BB962C8B-B14F-4D97-AF65-F5344CB8AC3E}">
        <p14:creationId xmlns:p14="http://schemas.microsoft.com/office/powerpoint/2010/main" val="7458165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Потоки в </a:t>
            </a:r>
            <a:r>
              <a:rPr lang="en-US" dirty="0"/>
              <a:t>POSIX</a:t>
            </a:r>
            <a:endParaRPr lang="ru-RU" dirty="0"/>
          </a:p>
        </p:txBody>
      </p:sp>
      <p:sp>
        <p:nvSpPr>
          <p:cNvPr id="3" name="Объект 2"/>
          <p:cNvSpPr>
            <a:spLocks noGrp="1"/>
          </p:cNvSpPr>
          <p:nvPr>
            <p:ph idx="1"/>
          </p:nvPr>
        </p:nvSpPr>
        <p:spPr>
          <a:xfrm>
            <a:off x="457200" y="1752600"/>
            <a:ext cx="8219256" cy="4373563"/>
          </a:xfrm>
        </p:spPr>
        <p:txBody>
          <a:bodyPr>
            <a:normAutofit fontScale="92500" lnSpcReduction="20000"/>
          </a:bodyPr>
          <a:lstStyle/>
          <a:p>
            <a:r>
              <a:rPr lang="en-US" dirty="0"/>
              <a:t>#include &lt;</a:t>
            </a:r>
            <a:r>
              <a:rPr lang="en-US" dirty="0" err="1"/>
              <a:t>pthread.h</a:t>
            </a:r>
            <a:r>
              <a:rPr lang="en-US" dirty="0"/>
              <a:t>&gt;</a:t>
            </a:r>
          </a:p>
          <a:p>
            <a:r>
              <a:rPr lang="en-US" dirty="0"/>
              <a:t>#include &lt;</a:t>
            </a:r>
            <a:r>
              <a:rPr lang="en-US" dirty="0" err="1"/>
              <a:t>stdio.h</a:t>
            </a:r>
            <a:r>
              <a:rPr lang="en-US" dirty="0"/>
              <a:t>&gt;</a:t>
            </a:r>
          </a:p>
          <a:p>
            <a:r>
              <a:rPr lang="en-US" dirty="0"/>
              <a:t>#include &lt;</a:t>
            </a:r>
            <a:r>
              <a:rPr lang="en-US" dirty="0" err="1"/>
              <a:t>stdlib.h</a:t>
            </a:r>
            <a:r>
              <a:rPr lang="en-US" dirty="0"/>
              <a:t>&gt;</a:t>
            </a:r>
          </a:p>
          <a:p>
            <a:endParaRPr lang="en-US" dirty="0"/>
          </a:p>
          <a:p>
            <a:r>
              <a:rPr lang="en-US" dirty="0"/>
              <a:t>#define NUMBER_OF_THREADS 10</a:t>
            </a:r>
          </a:p>
          <a:p>
            <a:r>
              <a:rPr lang="en-US" dirty="0"/>
              <a:t>void *</a:t>
            </a:r>
            <a:r>
              <a:rPr lang="en-US" dirty="0" err="1"/>
              <a:t>print_hello_world</a:t>
            </a:r>
            <a:r>
              <a:rPr lang="en-US" dirty="0"/>
              <a:t>(void *</a:t>
            </a:r>
            <a:r>
              <a:rPr lang="en-US" dirty="0" err="1"/>
              <a:t>tid</a:t>
            </a:r>
            <a:r>
              <a:rPr lang="en-US" dirty="0"/>
              <a:t>)</a:t>
            </a:r>
          </a:p>
          <a:p>
            <a:r>
              <a:rPr lang="en-US" dirty="0"/>
              <a:t>{</a:t>
            </a:r>
          </a:p>
          <a:p>
            <a:r>
              <a:rPr lang="en-US" dirty="0"/>
              <a:t>    /* </a:t>
            </a:r>
            <a:r>
              <a:rPr lang="ru-RU" dirty="0"/>
              <a:t>Эта функция выводит идентификатор потока, а затем осуществляет выход */</a:t>
            </a:r>
          </a:p>
          <a:p>
            <a:r>
              <a:rPr lang="ru-RU" dirty="0"/>
              <a:t>    </a:t>
            </a:r>
            <a:r>
              <a:rPr lang="en-US" dirty="0" err="1"/>
              <a:t>printf</a:t>
            </a:r>
            <a:r>
              <a:rPr lang="en-US" dirty="0"/>
              <a:t>("</a:t>
            </a:r>
            <a:r>
              <a:rPr lang="ru-RU" dirty="0"/>
              <a:t>Привет, мир. Тебя приветствует поток №  %</a:t>
            </a:r>
            <a:r>
              <a:rPr lang="en-US" dirty="0"/>
              <a:t>d\n", </a:t>
            </a:r>
            <a:r>
              <a:rPr lang="en-US" dirty="0" err="1"/>
              <a:t>tid</a:t>
            </a:r>
            <a:r>
              <a:rPr lang="en-US" dirty="0"/>
              <a:t>);</a:t>
            </a:r>
          </a:p>
          <a:p>
            <a:r>
              <a:rPr lang="en-US" dirty="0"/>
              <a:t>    </a:t>
            </a:r>
            <a:r>
              <a:rPr lang="en-US" dirty="0" err="1"/>
              <a:t>pthread_exit</a:t>
            </a:r>
            <a:r>
              <a:rPr lang="en-US" dirty="0"/>
              <a:t>(NULL);</a:t>
            </a:r>
          </a:p>
          <a:p>
            <a:r>
              <a:rPr lang="en-US" dirty="0"/>
              <a:t>}</a:t>
            </a:r>
            <a:endParaRPr lang="ru-RU" dirty="0"/>
          </a:p>
        </p:txBody>
      </p:sp>
    </p:spTree>
    <p:extLst>
      <p:ext uri="{BB962C8B-B14F-4D97-AF65-F5344CB8AC3E}">
        <p14:creationId xmlns:p14="http://schemas.microsoft.com/office/powerpoint/2010/main" val="3100637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Потоки в </a:t>
            </a:r>
            <a:r>
              <a:rPr lang="en-US" dirty="0"/>
              <a:t>POSIX</a:t>
            </a:r>
            <a:endParaRPr lang="ru-RU" dirty="0"/>
          </a:p>
        </p:txBody>
      </p:sp>
      <p:sp>
        <p:nvSpPr>
          <p:cNvPr id="3" name="Объект 2"/>
          <p:cNvSpPr>
            <a:spLocks noGrp="1"/>
          </p:cNvSpPr>
          <p:nvPr>
            <p:ph idx="1"/>
          </p:nvPr>
        </p:nvSpPr>
        <p:spPr>
          <a:xfrm>
            <a:off x="457200" y="1484784"/>
            <a:ext cx="7620000" cy="5184576"/>
          </a:xfrm>
        </p:spPr>
        <p:txBody>
          <a:bodyPr>
            <a:noAutofit/>
          </a:bodyPr>
          <a:lstStyle/>
          <a:p>
            <a:r>
              <a:rPr lang="en-US" sz="1350" dirty="0" err="1"/>
              <a:t>int</a:t>
            </a:r>
            <a:r>
              <a:rPr lang="en-US" sz="1350" dirty="0"/>
              <a:t> main(</a:t>
            </a:r>
            <a:r>
              <a:rPr lang="en-US" sz="1350" dirty="0" err="1"/>
              <a:t>int</a:t>
            </a:r>
            <a:r>
              <a:rPr lang="en-US" sz="1350" dirty="0"/>
              <a:t> </a:t>
            </a:r>
            <a:r>
              <a:rPr lang="en-US" sz="1350" dirty="0" err="1"/>
              <a:t>argc</a:t>
            </a:r>
            <a:r>
              <a:rPr lang="en-US" sz="1350" dirty="0"/>
              <a:t>, char *</a:t>
            </a:r>
            <a:r>
              <a:rPr lang="en-US" sz="1350" dirty="0" err="1"/>
              <a:t>argv</a:t>
            </a:r>
            <a:r>
              <a:rPr lang="en-US" sz="1350" dirty="0"/>
              <a:t>[])</a:t>
            </a:r>
          </a:p>
          <a:p>
            <a:r>
              <a:rPr lang="en-US" sz="1350" dirty="0"/>
              <a:t>{</a:t>
            </a:r>
          </a:p>
          <a:p>
            <a:r>
              <a:rPr lang="en-US" sz="1350" dirty="0"/>
              <a:t>    /* </a:t>
            </a:r>
            <a:r>
              <a:rPr lang="ru-RU" sz="1350" dirty="0"/>
              <a:t>Основная программа создает 10 потоков, а затем осуществляет выход. */</a:t>
            </a:r>
          </a:p>
          <a:p>
            <a:r>
              <a:rPr lang="ru-RU" sz="1350" dirty="0"/>
              <a:t>    </a:t>
            </a:r>
            <a:r>
              <a:rPr lang="en-US" sz="1350" dirty="0" err="1"/>
              <a:t>pthread_t</a:t>
            </a:r>
            <a:r>
              <a:rPr lang="en-US" sz="1350" dirty="0"/>
              <a:t> threads[NUMBER_OF_THREADS];</a:t>
            </a:r>
          </a:p>
          <a:p>
            <a:r>
              <a:rPr lang="en-US" sz="1350" dirty="0"/>
              <a:t>    </a:t>
            </a:r>
            <a:r>
              <a:rPr lang="en-US" sz="1350" dirty="0" err="1"/>
              <a:t>int</a:t>
            </a:r>
            <a:r>
              <a:rPr lang="en-US" sz="1350" dirty="0"/>
              <a:t> status, i;</a:t>
            </a:r>
          </a:p>
          <a:p>
            <a:r>
              <a:rPr lang="en-US" sz="1350" dirty="0"/>
              <a:t>    for(i=0; i &lt; NUMBER_OF_THREADS; i++) {</a:t>
            </a:r>
          </a:p>
          <a:p>
            <a:r>
              <a:rPr lang="en-US" sz="1350" dirty="0"/>
              <a:t>        </a:t>
            </a:r>
            <a:r>
              <a:rPr lang="en-US" sz="1350" dirty="0" err="1"/>
              <a:t>printf</a:t>
            </a:r>
            <a:r>
              <a:rPr lang="en-US" sz="1350" dirty="0"/>
              <a:t>("</a:t>
            </a:r>
            <a:r>
              <a:rPr lang="ru-RU" sz="1350" dirty="0"/>
              <a:t>Это основная программа. Создание потока №  %</a:t>
            </a:r>
            <a:r>
              <a:rPr lang="en-US" sz="1350" dirty="0"/>
              <a:t>d\n"", i);</a:t>
            </a:r>
          </a:p>
          <a:p>
            <a:r>
              <a:rPr lang="en-US" sz="1350" dirty="0"/>
              <a:t>        status = </a:t>
            </a:r>
            <a:r>
              <a:rPr lang="en-US" sz="1350" dirty="0" err="1"/>
              <a:t>pthread_create</a:t>
            </a:r>
            <a:r>
              <a:rPr lang="en-US" sz="1350" dirty="0"/>
              <a:t>(&amp;threads[i], NULL, </a:t>
            </a:r>
            <a:r>
              <a:rPr lang="en-US" sz="1350" dirty="0" err="1"/>
              <a:t>print_hello_world</a:t>
            </a:r>
            <a:r>
              <a:rPr lang="en-US" sz="1350" dirty="0"/>
              <a:t>, </a:t>
            </a:r>
            <a:r>
              <a:rPr lang="en-US" sz="1350" dirty="0" smtClean="0"/>
              <a:t>  </a:t>
            </a:r>
            <a:r>
              <a:rPr lang="en-US" sz="1350" dirty="0"/>
              <a:t>(void *)i</a:t>
            </a:r>
            <a:r>
              <a:rPr lang="en-US" sz="1350" dirty="0" smtClean="0"/>
              <a:t>);</a:t>
            </a:r>
            <a:endParaRPr lang="en-US" sz="1350" dirty="0"/>
          </a:p>
          <a:p>
            <a:r>
              <a:rPr lang="en-US" sz="1350" dirty="0"/>
              <a:t>        if (status != 0) {</a:t>
            </a:r>
          </a:p>
          <a:p>
            <a:r>
              <a:rPr lang="en-US" sz="1350" dirty="0"/>
              <a:t>          </a:t>
            </a:r>
            <a:r>
              <a:rPr lang="en-US" sz="1350" dirty="0" err="1"/>
              <a:t>printf</a:t>
            </a:r>
            <a:r>
              <a:rPr lang="en-US" sz="1350" dirty="0"/>
              <a:t>("</a:t>
            </a:r>
            <a:r>
              <a:rPr lang="ru-RU" sz="1350" dirty="0"/>
              <a:t>Жаль, функция </a:t>
            </a:r>
            <a:r>
              <a:rPr lang="en-US" sz="1350" dirty="0" err="1"/>
              <a:t>pthread_create</a:t>
            </a:r>
            <a:r>
              <a:rPr lang="en-US" sz="1350" dirty="0"/>
              <a:t> </a:t>
            </a:r>
            <a:r>
              <a:rPr lang="ru-RU" sz="1350" dirty="0"/>
              <a:t>вернула код ошибки  %</a:t>
            </a:r>
            <a:r>
              <a:rPr lang="en-US" sz="1350" dirty="0"/>
              <a:t>d\n"", </a:t>
            </a:r>
          </a:p>
          <a:p>
            <a:r>
              <a:rPr lang="en-US" sz="1350" dirty="0"/>
              <a:t>                 status);</a:t>
            </a:r>
          </a:p>
          <a:p>
            <a:r>
              <a:rPr lang="en-US" sz="1350" dirty="0"/>
              <a:t>            exit(-1);</a:t>
            </a:r>
          </a:p>
          <a:p>
            <a:r>
              <a:rPr lang="en-US" sz="1350" dirty="0"/>
              <a:t>        }</a:t>
            </a:r>
          </a:p>
          <a:p>
            <a:r>
              <a:rPr lang="en-US" sz="1350" dirty="0"/>
              <a:t>    }</a:t>
            </a:r>
          </a:p>
          <a:p>
            <a:r>
              <a:rPr lang="en-US" sz="1350" dirty="0"/>
              <a:t>    exit(NULL);</a:t>
            </a:r>
          </a:p>
          <a:p>
            <a:r>
              <a:rPr lang="en-US" sz="1350" dirty="0"/>
              <a:t>}</a:t>
            </a:r>
            <a:endParaRPr lang="ru-RU" sz="1350" dirty="0"/>
          </a:p>
        </p:txBody>
      </p:sp>
    </p:spTree>
    <p:extLst>
      <p:ext uri="{BB962C8B-B14F-4D97-AF65-F5344CB8AC3E}">
        <p14:creationId xmlns:p14="http://schemas.microsoft.com/office/powerpoint/2010/main" val="16882379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потоков</a:t>
            </a:r>
            <a:endParaRPr lang="ru-RU" dirty="0"/>
          </a:p>
        </p:txBody>
      </p:sp>
      <p:sp>
        <p:nvSpPr>
          <p:cNvPr id="3" name="Объект 2"/>
          <p:cNvSpPr>
            <a:spLocks noGrp="1"/>
          </p:cNvSpPr>
          <p:nvPr>
            <p:ph idx="1"/>
          </p:nvPr>
        </p:nvSpPr>
        <p:spPr/>
        <p:txBody>
          <a:bodyPr/>
          <a:lstStyle/>
          <a:p>
            <a:r>
              <a:rPr lang="ru-RU" dirty="0"/>
              <a:t>Есть два основных места реализации набора потоков: </a:t>
            </a:r>
            <a:endParaRPr lang="ru-RU" dirty="0" smtClean="0"/>
          </a:p>
          <a:p>
            <a:pPr marL="342900" indent="-342900">
              <a:buFont typeface="Arial" pitchFamily="34" charset="0"/>
              <a:buChar char="•"/>
            </a:pPr>
            <a:r>
              <a:rPr lang="ru-RU" dirty="0" smtClean="0"/>
              <a:t>в </a:t>
            </a:r>
            <a:r>
              <a:rPr lang="ru-RU" dirty="0"/>
              <a:t>пользовательском </a:t>
            </a:r>
            <a:r>
              <a:rPr lang="ru-RU" dirty="0" smtClean="0"/>
              <a:t>пространстве</a:t>
            </a:r>
          </a:p>
          <a:p>
            <a:pPr marL="342900" indent="-342900">
              <a:buFont typeface="Arial" pitchFamily="34" charset="0"/>
              <a:buChar char="•"/>
            </a:pPr>
            <a:r>
              <a:rPr lang="ru-RU" dirty="0" smtClean="0"/>
              <a:t>в </a:t>
            </a:r>
            <a:r>
              <a:rPr lang="ru-RU" dirty="0"/>
              <a:t>ядре. </a:t>
            </a:r>
            <a:endParaRPr lang="ru-RU" dirty="0" smtClean="0"/>
          </a:p>
          <a:p>
            <a:r>
              <a:rPr lang="ru-RU" dirty="0" smtClean="0"/>
              <a:t>Это </a:t>
            </a:r>
            <a:r>
              <a:rPr lang="ru-RU" dirty="0"/>
              <a:t>утверждение носит несколько спорный характер, поскольку возможна еще </a:t>
            </a:r>
            <a:r>
              <a:rPr lang="ru-RU" dirty="0" smtClean="0"/>
              <a:t>и </a:t>
            </a:r>
            <a:r>
              <a:rPr lang="ru-RU" dirty="0"/>
              <a:t>гибридная реализация.</a:t>
            </a:r>
          </a:p>
        </p:txBody>
      </p:sp>
    </p:spTree>
    <p:extLst>
      <p:ext uri="{BB962C8B-B14F-4D97-AF65-F5344CB8AC3E}">
        <p14:creationId xmlns:p14="http://schemas.microsoft.com/office/powerpoint/2010/main" val="16747333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718"/>
            <a:ext cx="6707088" cy="1371600"/>
          </a:xfrm>
        </p:spPr>
        <p:txBody>
          <a:bodyPr>
            <a:normAutofit fontScale="90000"/>
          </a:bodyPr>
          <a:lstStyle/>
          <a:p>
            <a:r>
              <a:rPr lang="ru-RU" dirty="0" smtClean="0"/>
              <a:t>Реализация </a:t>
            </a:r>
            <a:br>
              <a:rPr lang="ru-RU" dirty="0" smtClean="0"/>
            </a:br>
            <a:r>
              <a:rPr lang="ru-RU" dirty="0" smtClean="0"/>
              <a:t>в </a:t>
            </a:r>
            <a:r>
              <a:rPr lang="ru-RU" dirty="0"/>
              <a:t>пользовательском </a:t>
            </a:r>
            <a:r>
              <a:rPr lang="ru-RU" dirty="0" smtClean="0"/>
              <a:t>пространстве</a:t>
            </a:r>
            <a:endParaRPr lang="ru-RU" dirty="0"/>
          </a:p>
        </p:txBody>
      </p:sp>
      <p:sp>
        <p:nvSpPr>
          <p:cNvPr id="3" name="Объект 2"/>
          <p:cNvSpPr>
            <a:spLocks noGrp="1"/>
          </p:cNvSpPr>
          <p:nvPr>
            <p:ph idx="1"/>
          </p:nvPr>
        </p:nvSpPr>
        <p:spPr/>
        <p:txBody>
          <a:bodyPr>
            <a:normAutofit/>
          </a:bodyPr>
          <a:lstStyle/>
          <a:p>
            <a:r>
              <a:rPr lang="ru-RU" dirty="0" smtClean="0"/>
              <a:t>Весь </a:t>
            </a:r>
            <a:r>
              <a:rPr lang="ru-RU" dirty="0"/>
              <a:t>набор потоков в пользовательском пространстве. О</a:t>
            </a:r>
            <a:r>
              <a:rPr lang="ru-RU" dirty="0" smtClean="0"/>
              <a:t>б </a:t>
            </a:r>
            <a:r>
              <a:rPr lang="ru-RU" dirty="0"/>
              <a:t>этом наборе ядру ничего не известно. </a:t>
            </a:r>
            <a:endParaRPr lang="ru-RU" dirty="0" smtClean="0"/>
          </a:p>
          <a:p>
            <a:r>
              <a:rPr lang="ru-RU" dirty="0" smtClean="0"/>
              <a:t>Что </a:t>
            </a:r>
            <a:r>
              <a:rPr lang="ru-RU" dirty="0"/>
              <a:t>касается ядра, оно управляет </a:t>
            </a:r>
            <a:r>
              <a:rPr lang="ru-RU" dirty="0" smtClean="0"/>
              <a:t>обычными, </a:t>
            </a:r>
            <a:r>
              <a:rPr lang="ru-RU" dirty="0" err="1" smtClean="0"/>
              <a:t>однопотоковыми</a:t>
            </a:r>
            <a:r>
              <a:rPr lang="ru-RU" dirty="0" smtClean="0"/>
              <a:t> </a:t>
            </a:r>
            <a:r>
              <a:rPr lang="ru-RU" dirty="0"/>
              <a:t>процессами. </a:t>
            </a:r>
            <a:endParaRPr lang="ru-RU" dirty="0" smtClean="0"/>
          </a:p>
          <a:p>
            <a:r>
              <a:rPr lang="ru-RU" dirty="0" smtClean="0"/>
              <a:t>Первое </a:t>
            </a:r>
            <a:r>
              <a:rPr lang="ru-RU" dirty="0"/>
              <a:t>и самое очевидное преимущество состоит в том, </a:t>
            </a:r>
            <a:r>
              <a:rPr lang="ru-RU" dirty="0" smtClean="0"/>
              <a:t>что </a:t>
            </a:r>
            <a:r>
              <a:rPr lang="ru-RU" dirty="0"/>
              <a:t>набор потоков на пользовательском уровне может быть реализован в </a:t>
            </a:r>
            <a:r>
              <a:rPr lang="ru-RU" dirty="0" smtClean="0"/>
              <a:t>ОС, </a:t>
            </a:r>
            <a:r>
              <a:rPr lang="ru-RU" dirty="0"/>
              <a:t>которая не поддерживает потоки</a:t>
            </a:r>
            <a:r>
              <a:rPr lang="ru-RU" dirty="0" smtClean="0"/>
              <a:t>.</a:t>
            </a:r>
          </a:p>
          <a:p>
            <a:r>
              <a:rPr lang="ru-RU" dirty="0" smtClean="0"/>
              <a:t>При </a:t>
            </a:r>
            <a:r>
              <a:rPr lang="ru-RU" dirty="0"/>
              <a:t>этом подходе потоки </a:t>
            </a:r>
            <a:r>
              <a:rPr lang="ru-RU" dirty="0" smtClean="0"/>
              <a:t>реализованы </a:t>
            </a:r>
            <a:r>
              <a:rPr lang="ru-RU" dirty="0"/>
              <a:t>с помощью библиотеки</a:t>
            </a:r>
            <a:r>
              <a:rPr lang="ru-RU" dirty="0" smtClean="0"/>
              <a:t>.</a:t>
            </a:r>
          </a:p>
        </p:txBody>
      </p:sp>
    </p:spTree>
    <p:extLst>
      <p:ext uri="{BB962C8B-B14F-4D97-AF65-F5344CB8AC3E}">
        <p14:creationId xmlns:p14="http://schemas.microsoft.com/office/powerpoint/2010/main" val="1844496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Реализация </a:t>
            </a:r>
            <a:br>
              <a:rPr lang="ru-RU" dirty="0"/>
            </a:br>
            <a:r>
              <a:rPr lang="ru-RU" dirty="0"/>
              <a:t>в пользовательском пространстве</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628800"/>
            <a:ext cx="5256584" cy="472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1663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Реализация </a:t>
            </a:r>
            <a:br>
              <a:rPr lang="ru-RU" dirty="0"/>
            </a:br>
            <a:r>
              <a:rPr lang="ru-RU" dirty="0"/>
              <a:t>в пользовательском пространстве</a:t>
            </a:r>
          </a:p>
        </p:txBody>
      </p:sp>
      <p:sp>
        <p:nvSpPr>
          <p:cNvPr id="3" name="Объект 2"/>
          <p:cNvSpPr>
            <a:spLocks noGrp="1"/>
          </p:cNvSpPr>
          <p:nvPr>
            <p:ph idx="1"/>
          </p:nvPr>
        </p:nvSpPr>
        <p:spPr/>
        <p:txBody>
          <a:bodyPr/>
          <a:lstStyle/>
          <a:p>
            <a:r>
              <a:rPr lang="ru-RU" dirty="0" smtClean="0"/>
              <a:t>Преимущества:</a:t>
            </a:r>
          </a:p>
          <a:p>
            <a:pPr marL="342900" indent="-342900">
              <a:buFont typeface="Arial" pitchFamily="34" charset="0"/>
              <a:buChar char="•"/>
            </a:pPr>
            <a:r>
              <a:rPr lang="ru-RU" dirty="0"/>
              <a:t>планировщик потоков </a:t>
            </a:r>
            <a:r>
              <a:rPr lang="ru-RU" dirty="0" smtClean="0"/>
              <a:t>работает </a:t>
            </a:r>
            <a:r>
              <a:rPr lang="ru-RU" dirty="0"/>
              <a:t>очень </a:t>
            </a:r>
            <a:r>
              <a:rPr lang="ru-RU" dirty="0" smtClean="0"/>
              <a:t>быстро;</a:t>
            </a:r>
          </a:p>
          <a:p>
            <a:pPr marL="342900" indent="-342900">
              <a:buFont typeface="Arial" pitchFamily="34" charset="0"/>
              <a:buChar char="•"/>
            </a:pPr>
            <a:r>
              <a:rPr lang="ru-RU" dirty="0" smtClean="0"/>
              <a:t>каждый процесс может </a:t>
            </a:r>
            <a:r>
              <a:rPr lang="ru-RU" dirty="0"/>
              <a:t>иметь собственные настройки алгоритма </a:t>
            </a:r>
            <a:r>
              <a:rPr lang="ru-RU" dirty="0" smtClean="0"/>
              <a:t>планирования;</a:t>
            </a:r>
          </a:p>
          <a:p>
            <a:pPr marL="342900" indent="-342900">
              <a:buFont typeface="Arial" pitchFamily="34" charset="0"/>
              <a:buChar char="•"/>
            </a:pPr>
            <a:r>
              <a:rPr lang="ru-RU" dirty="0"/>
              <a:t>лучше масштабируются, поскольку потоки </a:t>
            </a:r>
            <a:r>
              <a:rPr lang="ru-RU" dirty="0" smtClean="0"/>
              <a:t>в </a:t>
            </a:r>
            <a:r>
              <a:rPr lang="ru-RU" dirty="0"/>
              <a:t>памяти ядра безусловно требуют в ядре пространства для таблицы и стека, что при </a:t>
            </a:r>
            <a:r>
              <a:rPr lang="ru-RU" dirty="0" smtClean="0"/>
              <a:t>очень </a:t>
            </a:r>
            <a:r>
              <a:rPr lang="ru-RU" dirty="0"/>
              <a:t>большом количестве потоков может вызвать затруднения.</a:t>
            </a:r>
          </a:p>
        </p:txBody>
      </p:sp>
    </p:spTree>
    <p:extLst>
      <p:ext uri="{BB962C8B-B14F-4D97-AF65-F5344CB8AC3E}">
        <p14:creationId xmlns:p14="http://schemas.microsoft.com/office/powerpoint/2010/main" val="942745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Реализация </a:t>
            </a:r>
            <a:br>
              <a:rPr lang="ru-RU" dirty="0"/>
            </a:br>
            <a:r>
              <a:rPr lang="ru-RU" dirty="0"/>
              <a:t>в пользовательском пространстве</a:t>
            </a:r>
          </a:p>
        </p:txBody>
      </p:sp>
      <p:sp>
        <p:nvSpPr>
          <p:cNvPr id="3" name="Объект 2"/>
          <p:cNvSpPr>
            <a:spLocks noGrp="1"/>
          </p:cNvSpPr>
          <p:nvPr>
            <p:ph idx="1"/>
          </p:nvPr>
        </p:nvSpPr>
        <p:spPr/>
        <p:txBody>
          <a:bodyPr>
            <a:normAutofit/>
          </a:bodyPr>
          <a:lstStyle/>
          <a:p>
            <a:r>
              <a:rPr lang="ru-RU" dirty="0" smtClean="0"/>
              <a:t>Недостатки:</a:t>
            </a:r>
          </a:p>
          <a:p>
            <a:pPr marL="342900" indent="-342900">
              <a:buFont typeface="Arial" pitchFamily="34" charset="0"/>
              <a:buChar char="•"/>
            </a:pPr>
            <a:r>
              <a:rPr lang="ru-RU" dirty="0" smtClean="0"/>
              <a:t>Проблема реализации блокирующих системных вызовов. </a:t>
            </a:r>
            <a:r>
              <a:rPr lang="ru-RU" dirty="0"/>
              <a:t>Представьте, что поток считывает информацию </a:t>
            </a:r>
            <a:r>
              <a:rPr lang="ru-RU" dirty="0" smtClean="0"/>
              <a:t>с </a:t>
            </a:r>
            <a:r>
              <a:rPr lang="ru-RU" dirty="0"/>
              <a:t>клавиатуры перед нажатием какой-нибудь клавиши. Мы не можем разрешить </a:t>
            </a:r>
            <a:r>
              <a:rPr lang="ru-RU" dirty="0" smtClean="0"/>
              <a:t>потоку </a:t>
            </a:r>
            <a:r>
              <a:rPr lang="ru-RU" dirty="0"/>
              <a:t>осуществить настоящий системный вызов, поскольку это остановит выполнение </a:t>
            </a:r>
            <a:r>
              <a:rPr lang="ru-RU" dirty="0" smtClean="0"/>
              <a:t>всех </a:t>
            </a:r>
            <a:r>
              <a:rPr lang="ru-RU" dirty="0"/>
              <a:t>потоков. </a:t>
            </a:r>
          </a:p>
          <a:p>
            <a:pPr marL="342900" indent="-342900">
              <a:buFont typeface="Arial" pitchFamily="34" charset="0"/>
              <a:buChar char="•"/>
            </a:pPr>
            <a:r>
              <a:rPr lang="ru-RU" dirty="0"/>
              <a:t>Е</a:t>
            </a:r>
            <a:r>
              <a:rPr lang="ru-RU" dirty="0" smtClean="0"/>
              <a:t>сли </a:t>
            </a:r>
            <a:r>
              <a:rPr lang="ru-RU" dirty="0"/>
              <a:t>начинается выполнение одного из потоков, то никакой </a:t>
            </a:r>
            <a:r>
              <a:rPr lang="ru-RU" dirty="0" smtClean="0"/>
              <a:t>другой </a:t>
            </a:r>
            <a:r>
              <a:rPr lang="ru-RU" dirty="0"/>
              <a:t>поток, принадлежащий этому процессу, не сможет выполняться до тех пор, </a:t>
            </a:r>
            <a:r>
              <a:rPr lang="ru-RU" dirty="0" smtClean="0"/>
              <a:t>пока </a:t>
            </a:r>
            <a:r>
              <a:rPr lang="ru-RU" dirty="0"/>
              <a:t>первый поток добровольно не уступит центральный </a:t>
            </a:r>
            <a:r>
              <a:rPr lang="ru-RU" dirty="0" smtClean="0"/>
              <a:t>процессор.</a:t>
            </a:r>
            <a:endParaRPr lang="ru-RU" dirty="0"/>
          </a:p>
        </p:txBody>
      </p:sp>
    </p:spTree>
    <p:extLst>
      <p:ext uri="{BB962C8B-B14F-4D97-AF65-F5344CB8AC3E}">
        <p14:creationId xmlns:p14="http://schemas.microsoft.com/office/powerpoint/2010/main" val="3491909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Реализация потоков в ядре</a:t>
            </a:r>
            <a:endParaRPr lang="ru-RU"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5933" y="1772815"/>
            <a:ext cx="3922291" cy="463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92497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Реализация потоков в ядре</a:t>
            </a:r>
          </a:p>
        </p:txBody>
      </p:sp>
      <p:sp>
        <p:nvSpPr>
          <p:cNvPr id="3" name="Объект 2"/>
          <p:cNvSpPr>
            <a:spLocks noGrp="1"/>
          </p:cNvSpPr>
          <p:nvPr>
            <p:ph idx="1"/>
          </p:nvPr>
        </p:nvSpPr>
        <p:spPr/>
        <p:txBody>
          <a:bodyPr>
            <a:normAutofit/>
          </a:bodyPr>
          <a:lstStyle/>
          <a:p>
            <a:r>
              <a:rPr lang="ru-RU" dirty="0"/>
              <a:t>Все вызовы, способные заблокировать поток, реализованы как системные, с более </a:t>
            </a:r>
            <a:r>
              <a:rPr lang="ru-RU" dirty="0" smtClean="0"/>
              <a:t>существенными </a:t>
            </a:r>
            <a:r>
              <a:rPr lang="ru-RU" dirty="0"/>
              <a:t>затратами, чем вызов процедуры в системе поддержки </a:t>
            </a:r>
            <a:r>
              <a:rPr lang="ru-RU" dirty="0" smtClean="0"/>
              <a:t>исполнения программ</a:t>
            </a:r>
            <a:r>
              <a:rPr lang="ru-RU" dirty="0"/>
              <a:t>. </a:t>
            </a:r>
            <a:endParaRPr lang="ru-RU" dirty="0" smtClean="0"/>
          </a:p>
          <a:p>
            <a:r>
              <a:rPr lang="ru-RU" dirty="0" smtClean="0"/>
              <a:t>Когда </a:t>
            </a:r>
            <a:r>
              <a:rPr lang="ru-RU" dirty="0"/>
              <a:t>поток блокируется, ядро по своему выбору может запустить либо </a:t>
            </a:r>
            <a:r>
              <a:rPr lang="ru-RU" dirty="0" smtClean="0"/>
              <a:t>другой </a:t>
            </a:r>
            <a:r>
              <a:rPr lang="ru-RU" dirty="0"/>
              <a:t>поток из этого же самого процесса (если имеется готовый к выполнению </a:t>
            </a:r>
            <a:r>
              <a:rPr lang="ru-RU" dirty="0" smtClean="0"/>
              <a:t>поток</a:t>
            </a:r>
            <a:r>
              <a:rPr lang="ru-RU" dirty="0"/>
              <a:t>), либо поток из другого процесса. </a:t>
            </a:r>
          </a:p>
        </p:txBody>
      </p:sp>
    </p:spTree>
    <p:extLst>
      <p:ext uri="{BB962C8B-B14F-4D97-AF65-F5344CB8AC3E}">
        <p14:creationId xmlns:p14="http://schemas.microsoft.com/office/powerpoint/2010/main" val="1464061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Реализация потоков в ядре</a:t>
            </a:r>
          </a:p>
        </p:txBody>
      </p:sp>
      <p:sp>
        <p:nvSpPr>
          <p:cNvPr id="3" name="Объект 2"/>
          <p:cNvSpPr>
            <a:spLocks noGrp="1"/>
          </p:cNvSpPr>
          <p:nvPr>
            <p:ph idx="1"/>
          </p:nvPr>
        </p:nvSpPr>
        <p:spPr>
          <a:xfrm>
            <a:off x="457200" y="1752600"/>
            <a:ext cx="7620000" cy="4772744"/>
          </a:xfrm>
        </p:spPr>
        <p:txBody>
          <a:bodyPr>
            <a:normAutofit lnSpcReduction="10000"/>
          </a:bodyPr>
          <a:lstStyle/>
          <a:p>
            <a:r>
              <a:rPr lang="ru-RU" dirty="0"/>
              <a:t>Поскольку создание и уничтожение потоков в ядре требует относительно более </a:t>
            </a:r>
            <a:r>
              <a:rPr lang="ru-RU" dirty="0" smtClean="0"/>
              <a:t>весомых </a:t>
            </a:r>
            <a:r>
              <a:rPr lang="ru-RU" dirty="0"/>
              <a:t>затрат, некоторые системы с учетом складывающейся ситуации применяют более </a:t>
            </a:r>
            <a:r>
              <a:rPr lang="ru-RU" dirty="0" smtClean="0"/>
              <a:t>правильный </a:t>
            </a:r>
            <a:r>
              <a:rPr lang="ru-RU" dirty="0"/>
              <a:t>подход и используют свои потоки повторно. </a:t>
            </a:r>
            <a:endParaRPr lang="ru-RU" dirty="0" smtClean="0"/>
          </a:p>
          <a:p>
            <a:r>
              <a:rPr lang="ru-RU" dirty="0" smtClean="0"/>
              <a:t>При </a:t>
            </a:r>
            <a:r>
              <a:rPr lang="ru-RU" dirty="0"/>
              <a:t>уничтожении потока он </a:t>
            </a:r>
            <a:r>
              <a:rPr lang="ru-RU" dirty="0" smtClean="0"/>
              <a:t>помечается </a:t>
            </a:r>
            <a:r>
              <a:rPr lang="ru-RU" dirty="0"/>
              <a:t>как неспособный к выполнению, но это не влияет на его структуру данных, </a:t>
            </a:r>
            <a:r>
              <a:rPr lang="ru-RU" dirty="0" smtClean="0"/>
              <a:t>имеющуюся </a:t>
            </a:r>
            <a:r>
              <a:rPr lang="ru-RU" dirty="0"/>
              <a:t>в ядре. </a:t>
            </a:r>
            <a:endParaRPr lang="ru-RU" dirty="0" smtClean="0"/>
          </a:p>
          <a:p>
            <a:r>
              <a:rPr lang="ru-RU" dirty="0" smtClean="0"/>
              <a:t>Чуть </a:t>
            </a:r>
            <a:r>
              <a:rPr lang="ru-RU" dirty="0"/>
              <a:t>позже, когда должен быть создан новый поток, вместо этого </a:t>
            </a:r>
            <a:r>
              <a:rPr lang="ru-RU" dirty="0" smtClean="0"/>
              <a:t>повторно </a:t>
            </a:r>
            <a:r>
              <a:rPr lang="ru-RU" dirty="0"/>
              <a:t>активируется старый поток, что приводит к экономии времени. </a:t>
            </a:r>
            <a:endParaRPr lang="ru-RU" dirty="0" smtClean="0"/>
          </a:p>
          <a:p>
            <a:r>
              <a:rPr lang="ru-RU" dirty="0"/>
              <a:t>Для потоков, реализованных на уровне ядра, не требуется никаких новых, неблокирующих системных вызовов. </a:t>
            </a:r>
          </a:p>
          <a:p>
            <a:endParaRPr lang="ru-RU" dirty="0"/>
          </a:p>
        </p:txBody>
      </p:sp>
    </p:spTree>
    <p:extLst>
      <p:ext uri="{BB962C8B-B14F-4D97-AF65-F5344CB8AC3E}">
        <p14:creationId xmlns:p14="http://schemas.microsoft.com/office/powerpoint/2010/main" val="294877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Реализация потоков в ядре</a:t>
            </a:r>
          </a:p>
        </p:txBody>
      </p:sp>
      <p:sp>
        <p:nvSpPr>
          <p:cNvPr id="3" name="Объект 2"/>
          <p:cNvSpPr>
            <a:spLocks noGrp="1"/>
          </p:cNvSpPr>
          <p:nvPr>
            <p:ph idx="1"/>
          </p:nvPr>
        </p:nvSpPr>
        <p:spPr/>
        <p:txBody>
          <a:bodyPr/>
          <a:lstStyle/>
          <a:p>
            <a:r>
              <a:rPr lang="ru-RU" dirty="0" smtClean="0"/>
              <a:t>Главный </a:t>
            </a:r>
            <a:r>
              <a:rPr lang="ru-RU" dirty="0"/>
              <a:t>недостаток этих потоков состоит в весьма </a:t>
            </a:r>
            <a:r>
              <a:rPr lang="ru-RU" dirty="0" smtClean="0"/>
              <a:t>существенных </a:t>
            </a:r>
            <a:r>
              <a:rPr lang="ru-RU" dirty="0"/>
              <a:t>затратах времени на системный вызов, поэтому, если операции над </a:t>
            </a:r>
            <a:r>
              <a:rPr lang="ru-RU" dirty="0" smtClean="0"/>
              <a:t>потоками </a:t>
            </a:r>
            <a:r>
              <a:rPr lang="ru-RU" dirty="0"/>
              <a:t>(создание, удаление и т. п.) выполняются довольно часто, это влечет за собой </a:t>
            </a:r>
            <a:r>
              <a:rPr lang="ru-RU" dirty="0" smtClean="0"/>
              <a:t>более </a:t>
            </a:r>
            <a:r>
              <a:rPr lang="ru-RU" dirty="0"/>
              <a:t>существенные издержки.</a:t>
            </a:r>
          </a:p>
          <a:p>
            <a:r>
              <a:rPr lang="ru-RU" dirty="0"/>
              <a:t>Хотя потоки, создаваемые на уровне ядра, и позволяют решить ряд проблем, но </a:t>
            </a:r>
            <a:r>
              <a:rPr lang="ru-RU" dirty="0" smtClean="0"/>
              <a:t>справиться </a:t>
            </a:r>
            <a:r>
              <a:rPr lang="ru-RU" dirty="0"/>
              <a:t>со всеми существующими проблемами они не в состоянии.</a:t>
            </a:r>
          </a:p>
        </p:txBody>
      </p:sp>
    </p:spTree>
    <p:extLst>
      <p:ext uri="{BB962C8B-B14F-4D97-AF65-F5344CB8AC3E}">
        <p14:creationId xmlns:p14="http://schemas.microsoft.com/office/powerpoint/2010/main" val="22960773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Гибридная реализация</a:t>
            </a:r>
            <a:endParaRPr lang="ru-RU" dirty="0"/>
          </a:p>
        </p:txBody>
      </p:sp>
      <p:sp>
        <p:nvSpPr>
          <p:cNvPr id="3" name="Объект 2"/>
          <p:cNvSpPr>
            <a:spLocks noGrp="1"/>
          </p:cNvSpPr>
          <p:nvPr>
            <p:ph idx="1"/>
          </p:nvPr>
        </p:nvSpPr>
        <p:spPr/>
        <p:txBody>
          <a:bodyPr>
            <a:normAutofit/>
          </a:bodyPr>
          <a:lstStyle/>
          <a:p>
            <a:r>
              <a:rPr lang="ru-RU" dirty="0"/>
              <a:t>В попытках объединить преимущества создания потоков на уровне пользователя и на </a:t>
            </a:r>
            <a:r>
              <a:rPr lang="ru-RU" dirty="0" smtClean="0"/>
              <a:t>уровне </a:t>
            </a:r>
            <a:r>
              <a:rPr lang="ru-RU" dirty="0"/>
              <a:t>ядра была исследована масса различных путей. Один из них </a:t>
            </a:r>
            <a:r>
              <a:rPr lang="ru-RU" dirty="0" smtClean="0"/>
              <a:t>заключается </a:t>
            </a:r>
            <a:r>
              <a:rPr lang="ru-RU" dirty="0"/>
              <a:t>в использовании потоков на уровне ядра, а затем нескольких потоков на уровне </a:t>
            </a:r>
            <a:r>
              <a:rPr lang="ru-RU" dirty="0" smtClean="0"/>
              <a:t>пользователя </a:t>
            </a:r>
            <a:r>
              <a:rPr lang="ru-RU" dirty="0"/>
              <a:t>в рамках некоторых или всех потоков на уровне ядра. </a:t>
            </a:r>
            <a:endParaRPr lang="ru-RU" dirty="0" smtClean="0"/>
          </a:p>
          <a:p>
            <a:r>
              <a:rPr lang="ru-RU" dirty="0" smtClean="0"/>
              <a:t>При использовании </a:t>
            </a:r>
            <a:r>
              <a:rPr lang="ru-RU" dirty="0"/>
              <a:t>такого подхода программист может определить, сколько потоков использовать на </a:t>
            </a:r>
            <a:r>
              <a:rPr lang="ru-RU" dirty="0" smtClean="0"/>
              <a:t>уровне </a:t>
            </a:r>
            <a:r>
              <a:rPr lang="ru-RU" dirty="0"/>
              <a:t>ядра и на сколько потоков разделить каждый из них на уровне пользователя. </a:t>
            </a:r>
            <a:r>
              <a:rPr lang="ru-RU" dirty="0" smtClean="0"/>
              <a:t>Эта </a:t>
            </a:r>
            <a:r>
              <a:rPr lang="ru-RU" dirty="0"/>
              <a:t>модель обладает максимальной гибкостью.</a:t>
            </a:r>
          </a:p>
        </p:txBody>
      </p:sp>
    </p:spTree>
    <p:extLst>
      <p:ext uri="{BB962C8B-B14F-4D97-AF65-F5344CB8AC3E}">
        <p14:creationId xmlns:p14="http://schemas.microsoft.com/office/powerpoint/2010/main" val="1961753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Гибридная реализация</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1916832"/>
            <a:ext cx="7116811" cy="4025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640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Взаимодействие процессов</a:t>
            </a:r>
            <a:endParaRPr lang="ru-RU" dirty="0"/>
          </a:p>
        </p:txBody>
      </p:sp>
      <p:sp>
        <p:nvSpPr>
          <p:cNvPr id="3" name="Объект 2"/>
          <p:cNvSpPr>
            <a:spLocks noGrp="1"/>
          </p:cNvSpPr>
          <p:nvPr>
            <p:ph idx="1"/>
          </p:nvPr>
        </p:nvSpPr>
        <p:spPr/>
        <p:txBody>
          <a:bodyPr>
            <a:normAutofit/>
          </a:bodyPr>
          <a:lstStyle/>
          <a:p>
            <a:r>
              <a:rPr lang="ru-RU" sz="2100" dirty="0"/>
              <a:t>1. Передача информации между процессами.</a:t>
            </a:r>
          </a:p>
          <a:p>
            <a:r>
              <a:rPr lang="ru-RU" sz="2100" dirty="0"/>
              <a:t>2. Совместная работы процессов без создания взаимных помех, когда, к примеру, два процесса в системе бронирования авиабилетов одновременно пытаются захватить последнее место в самолете для разных клиентов.</a:t>
            </a:r>
          </a:p>
          <a:p>
            <a:r>
              <a:rPr lang="ru-RU" sz="2100" dirty="0"/>
              <a:t>3. Определения правильной последовательности на основе существующих </a:t>
            </a:r>
            <a:r>
              <a:rPr lang="ru-RU" sz="2100" dirty="0" smtClean="0"/>
              <a:t>взаимозависимостей</a:t>
            </a:r>
            <a:r>
              <a:rPr lang="ru-RU" sz="2100" dirty="0"/>
              <a:t>: если процесс А </a:t>
            </a:r>
            <a:r>
              <a:rPr lang="ru-RU" sz="2100" dirty="0" smtClean="0"/>
              <a:t>вырабатывает </a:t>
            </a:r>
            <a:r>
              <a:rPr lang="ru-RU" sz="2100" dirty="0"/>
              <a:t>данные, а процесс Б их </a:t>
            </a:r>
            <a:r>
              <a:rPr lang="ru-RU" sz="2100" dirty="0" smtClean="0"/>
              <a:t>распечатывает, то </a:t>
            </a:r>
            <a:r>
              <a:rPr lang="ru-RU" sz="2100" dirty="0"/>
              <a:t>процесс Б, перед тем как печатать, должен подождать, пока процесс А не </a:t>
            </a:r>
            <a:r>
              <a:rPr lang="ru-RU" sz="2100" dirty="0" smtClean="0"/>
              <a:t>выработает определенные данные.</a:t>
            </a:r>
            <a:endParaRPr lang="ru-RU" sz="2100" dirty="0"/>
          </a:p>
          <a:p>
            <a:endParaRPr lang="ru-RU" dirty="0"/>
          </a:p>
        </p:txBody>
      </p:sp>
    </p:spTree>
    <p:extLst>
      <p:ext uri="{BB962C8B-B14F-4D97-AF65-F5344CB8AC3E}">
        <p14:creationId xmlns:p14="http://schemas.microsoft.com/office/powerpoint/2010/main" val="26466886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Состязательная ситуация</a:t>
            </a:r>
            <a:endParaRPr lang="ru-RU" dirty="0"/>
          </a:p>
        </p:txBody>
      </p:sp>
      <p:sp>
        <p:nvSpPr>
          <p:cNvPr id="3" name="Объект 2"/>
          <p:cNvSpPr>
            <a:spLocks noGrp="1"/>
          </p:cNvSpPr>
          <p:nvPr>
            <p:ph idx="1"/>
          </p:nvPr>
        </p:nvSpPr>
        <p:spPr>
          <a:xfrm>
            <a:off x="457200" y="1484785"/>
            <a:ext cx="8075240" cy="3312368"/>
          </a:xfrm>
        </p:spPr>
        <p:txBody>
          <a:bodyPr>
            <a:normAutofit/>
          </a:bodyPr>
          <a:lstStyle/>
          <a:p>
            <a:r>
              <a:rPr lang="ru-RU" sz="2100" dirty="0"/>
              <a:t>К</a:t>
            </a:r>
            <a:r>
              <a:rPr lang="ru-RU" sz="2100" dirty="0" smtClean="0"/>
              <a:t>огда </a:t>
            </a:r>
            <a:r>
              <a:rPr lang="ru-RU" sz="2100" dirty="0"/>
              <a:t>два или более </a:t>
            </a:r>
            <a:r>
              <a:rPr lang="ru-RU" sz="2100" dirty="0" smtClean="0"/>
              <a:t>процесса считывают </a:t>
            </a:r>
            <a:r>
              <a:rPr lang="ru-RU" sz="2100" dirty="0"/>
              <a:t>или записывают какие-нибудь общие данные, а окончательный </a:t>
            </a:r>
            <a:r>
              <a:rPr lang="ru-RU" sz="2100" dirty="0" smtClean="0"/>
              <a:t>результат зависит </a:t>
            </a:r>
            <a:r>
              <a:rPr lang="ru-RU" sz="2100" dirty="0"/>
              <a:t>от того, какой процесс и когда именно выполняется, называется </a:t>
            </a:r>
            <a:r>
              <a:rPr lang="ru-RU" sz="2100" dirty="0" smtClean="0"/>
              <a:t>состязательной </a:t>
            </a:r>
            <a:r>
              <a:rPr lang="ru-RU" sz="2100" dirty="0"/>
              <a:t>ситуацией</a:t>
            </a:r>
            <a:r>
              <a:rPr lang="ru-RU" sz="2100" dirty="0" smtClean="0"/>
              <a:t>.</a:t>
            </a:r>
          </a:p>
          <a:p>
            <a:r>
              <a:rPr lang="ru-RU" sz="2100" dirty="0"/>
              <a:t>Описанные выше трудности </a:t>
            </a:r>
            <a:r>
              <a:rPr lang="ru-RU" sz="2100" dirty="0" smtClean="0"/>
              <a:t>произошли благодаря </a:t>
            </a:r>
            <a:r>
              <a:rPr lang="ru-RU" sz="2100" dirty="0"/>
              <a:t>тому, что процесс Б стал использовать общие </a:t>
            </a:r>
            <a:r>
              <a:rPr lang="ru-RU" sz="2100" dirty="0" smtClean="0"/>
              <a:t>переменные </a:t>
            </a:r>
            <a:r>
              <a:rPr lang="ru-RU" sz="2100" dirty="0"/>
              <a:t>еще до того, </a:t>
            </a:r>
            <a:r>
              <a:rPr lang="ru-RU" sz="2100" dirty="0" smtClean="0"/>
              <a:t>как процесс </a:t>
            </a:r>
            <a:r>
              <a:rPr lang="ru-RU" sz="2100" dirty="0"/>
              <a:t>А завершил работу с ними.</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4199"/>
          <a:stretch/>
        </p:blipFill>
        <p:spPr bwMode="auto">
          <a:xfrm>
            <a:off x="2411760" y="3933056"/>
            <a:ext cx="4260768" cy="268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48900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Критические области</a:t>
            </a:r>
            <a:endParaRPr lang="ru-RU" dirty="0"/>
          </a:p>
        </p:txBody>
      </p:sp>
      <p:sp>
        <p:nvSpPr>
          <p:cNvPr id="3" name="Объект 2"/>
          <p:cNvSpPr>
            <a:spLocks noGrp="1"/>
          </p:cNvSpPr>
          <p:nvPr>
            <p:ph idx="1"/>
          </p:nvPr>
        </p:nvSpPr>
        <p:spPr/>
        <p:txBody>
          <a:bodyPr>
            <a:normAutofit lnSpcReduction="10000"/>
          </a:bodyPr>
          <a:lstStyle/>
          <a:p>
            <a:r>
              <a:rPr lang="ru-RU" sz="2100" dirty="0"/>
              <a:t>Как избежать состязательной ситуации?</a:t>
            </a:r>
          </a:p>
          <a:p>
            <a:r>
              <a:rPr lang="ru-RU" sz="2100" dirty="0"/>
              <a:t>Ключом к предупреждению проблемы в этой и во многих других ситуациях использования общей памяти, общих файлов и вообще чего-нибудь общего может послужить определение способа, при котором в каждый конкретный момент времени доступ к общим данным для чтения и записи может получить только один процесс. </a:t>
            </a:r>
          </a:p>
          <a:p>
            <a:r>
              <a:rPr lang="ru-RU" sz="2100" dirty="0" smtClean="0"/>
              <a:t>Иными </a:t>
            </a:r>
            <a:r>
              <a:rPr lang="ru-RU" sz="2100" dirty="0"/>
              <a:t>словами, нам нужен способ </a:t>
            </a:r>
            <a:r>
              <a:rPr lang="ru-RU" sz="2100" u="sng" dirty="0" smtClean="0"/>
              <a:t>взаимного исключения</a:t>
            </a:r>
            <a:r>
              <a:rPr lang="ru-RU" sz="2100" dirty="0" smtClean="0"/>
              <a:t>.</a:t>
            </a:r>
            <a:endParaRPr lang="ru-RU" sz="2100" dirty="0"/>
          </a:p>
          <a:p>
            <a:r>
              <a:rPr lang="ru-RU" sz="2100" dirty="0"/>
              <a:t>Та часть программы, в </a:t>
            </a:r>
            <a:r>
              <a:rPr lang="ru-RU" sz="2100" dirty="0" smtClean="0"/>
              <a:t>которой используется </a:t>
            </a:r>
            <a:r>
              <a:rPr lang="ru-RU" sz="2100" dirty="0"/>
              <a:t>доступ к общей памяти, называется </a:t>
            </a:r>
            <a:r>
              <a:rPr lang="ru-RU" sz="2100" u="sng" dirty="0"/>
              <a:t>критической областью</a:t>
            </a:r>
            <a:r>
              <a:rPr lang="ru-RU" sz="2100" dirty="0"/>
              <a:t> или </a:t>
            </a:r>
            <a:r>
              <a:rPr lang="ru-RU" sz="2100" dirty="0" smtClean="0"/>
              <a:t>критической </a:t>
            </a:r>
            <a:r>
              <a:rPr lang="ru-RU" sz="2100" dirty="0"/>
              <a:t>секцией.</a:t>
            </a:r>
          </a:p>
        </p:txBody>
      </p:sp>
    </p:spTree>
    <p:extLst>
      <p:ext uri="{BB962C8B-B14F-4D97-AF65-F5344CB8AC3E}">
        <p14:creationId xmlns:p14="http://schemas.microsoft.com/office/powerpoint/2010/main" val="34005275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Критические области</a:t>
            </a:r>
            <a:endParaRPr lang="ru-RU" dirty="0"/>
          </a:p>
        </p:txBody>
      </p:sp>
      <p:sp>
        <p:nvSpPr>
          <p:cNvPr id="3" name="Объект 2"/>
          <p:cNvSpPr>
            <a:spLocks noGrp="1"/>
          </p:cNvSpPr>
          <p:nvPr>
            <p:ph idx="1"/>
          </p:nvPr>
        </p:nvSpPr>
        <p:spPr/>
        <p:txBody>
          <a:bodyPr>
            <a:normAutofit/>
          </a:bodyPr>
          <a:lstStyle/>
          <a:p>
            <a:r>
              <a:rPr lang="ru-RU" dirty="0" smtClean="0"/>
              <a:t>Для </a:t>
            </a:r>
            <a:r>
              <a:rPr lang="ru-RU" dirty="0"/>
              <a:t>приемлемого </a:t>
            </a:r>
            <a:r>
              <a:rPr lang="ru-RU" dirty="0" smtClean="0"/>
              <a:t>решения необходимо </a:t>
            </a:r>
            <a:r>
              <a:rPr lang="ru-RU" dirty="0"/>
              <a:t>соблюдение четырех условий:</a:t>
            </a:r>
          </a:p>
          <a:p>
            <a:r>
              <a:rPr lang="ru-RU" dirty="0"/>
              <a:t>1. Два процесса не могут одновременно находиться в своих критических областях.</a:t>
            </a:r>
          </a:p>
          <a:p>
            <a:r>
              <a:rPr lang="ru-RU" dirty="0"/>
              <a:t>2. Не должны выстраиваться никакие предположения по поводу скорости или </a:t>
            </a:r>
            <a:r>
              <a:rPr lang="ru-RU" dirty="0" smtClean="0"/>
              <a:t>количества </a:t>
            </a:r>
            <a:r>
              <a:rPr lang="ru-RU" dirty="0"/>
              <a:t>центральных процессоров.</a:t>
            </a:r>
          </a:p>
          <a:p>
            <a:r>
              <a:rPr lang="ru-RU" dirty="0"/>
              <a:t>3. Никакие процессы, выполняемые за пределами своих критических областей, </a:t>
            </a:r>
            <a:r>
              <a:rPr lang="ru-RU" dirty="0" smtClean="0"/>
              <a:t>не могут </a:t>
            </a:r>
            <a:r>
              <a:rPr lang="ru-RU" dirty="0"/>
              <a:t>блокироваться любым другим процессом.</a:t>
            </a:r>
          </a:p>
          <a:p>
            <a:r>
              <a:rPr lang="ru-RU" dirty="0"/>
              <a:t>4. Процессы не должны находиться в вечном ожидании входа в свои </a:t>
            </a:r>
            <a:r>
              <a:rPr lang="ru-RU" dirty="0" smtClean="0"/>
              <a:t>критические области</a:t>
            </a:r>
            <a:r>
              <a:rPr lang="ru-RU" dirty="0"/>
              <a:t>.</a:t>
            </a:r>
          </a:p>
        </p:txBody>
      </p:sp>
    </p:spTree>
    <p:extLst>
      <p:ext uri="{BB962C8B-B14F-4D97-AF65-F5344CB8AC3E}">
        <p14:creationId xmlns:p14="http://schemas.microsoft.com/office/powerpoint/2010/main" val="24630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Критические области</a:t>
            </a:r>
            <a:endParaRPr lang="ru-RU" dirty="0"/>
          </a:p>
        </p:txBody>
      </p:sp>
      <p:sp>
        <p:nvSpPr>
          <p:cNvPr id="3" name="Объект 2"/>
          <p:cNvSpPr>
            <a:spLocks noGrp="1"/>
          </p:cNvSpPr>
          <p:nvPr>
            <p:ph idx="1"/>
          </p:nvPr>
        </p:nvSpPr>
        <p:spPr/>
        <p:txBody>
          <a:bodyPr/>
          <a:lstStyle/>
          <a:p>
            <a:r>
              <a:rPr lang="ru-RU" dirty="0"/>
              <a:t>Взаимное исключение использования критических областей</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881" y="2348880"/>
            <a:ext cx="8545040"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0181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718"/>
            <a:ext cx="7931224" cy="1371600"/>
          </a:xfrm>
        </p:spPr>
        <p:txBody>
          <a:bodyPr>
            <a:normAutofit/>
          </a:bodyPr>
          <a:lstStyle/>
          <a:p>
            <a:r>
              <a:rPr lang="ru-RU" b="1" dirty="0"/>
              <a:t>Взаимное исключение с активным ожиданием</a:t>
            </a:r>
            <a:endParaRPr lang="ru-RU" dirty="0"/>
          </a:p>
        </p:txBody>
      </p:sp>
      <p:sp>
        <p:nvSpPr>
          <p:cNvPr id="3" name="Объект 2"/>
          <p:cNvSpPr>
            <a:spLocks noGrp="1"/>
          </p:cNvSpPr>
          <p:nvPr>
            <p:ph idx="1"/>
          </p:nvPr>
        </p:nvSpPr>
        <p:spPr/>
        <p:txBody>
          <a:bodyPr/>
          <a:lstStyle/>
          <a:p>
            <a:pPr marL="342900" indent="-342900">
              <a:buFont typeface="Arial" pitchFamily="34" charset="0"/>
              <a:buChar char="•"/>
            </a:pPr>
            <a:r>
              <a:rPr lang="ru-RU" dirty="0"/>
              <a:t>Запрещение </a:t>
            </a:r>
            <a:r>
              <a:rPr lang="ru-RU" dirty="0" smtClean="0"/>
              <a:t>прерываний</a:t>
            </a:r>
          </a:p>
          <a:p>
            <a:pPr marL="342900" indent="-342900">
              <a:buFont typeface="Arial" pitchFamily="34" charset="0"/>
              <a:buChar char="•"/>
            </a:pPr>
            <a:r>
              <a:rPr lang="ru-RU" dirty="0"/>
              <a:t>Блокирующие </a:t>
            </a:r>
            <a:r>
              <a:rPr lang="ru-RU" dirty="0" smtClean="0"/>
              <a:t>переменные</a:t>
            </a:r>
          </a:p>
          <a:p>
            <a:pPr marL="342900" indent="-342900">
              <a:buFont typeface="Arial" pitchFamily="34" charset="0"/>
              <a:buChar char="•"/>
            </a:pPr>
            <a:endParaRPr lang="ru-RU" dirty="0"/>
          </a:p>
        </p:txBody>
      </p:sp>
    </p:spTree>
    <p:extLst>
      <p:ext uri="{BB962C8B-B14F-4D97-AF65-F5344CB8AC3E}">
        <p14:creationId xmlns:p14="http://schemas.microsoft.com/office/powerpoint/2010/main" val="3888729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Запрещение прерываний</a:t>
            </a:r>
            <a:endParaRPr lang="ru-RU" dirty="0"/>
          </a:p>
        </p:txBody>
      </p:sp>
      <p:sp>
        <p:nvSpPr>
          <p:cNvPr id="3" name="Объект 2"/>
          <p:cNvSpPr>
            <a:spLocks noGrp="1"/>
          </p:cNvSpPr>
          <p:nvPr>
            <p:ph idx="1"/>
          </p:nvPr>
        </p:nvSpPr>
        <p:spPr/>
        <p:txBody>
          <a:bodyPr/>
          <a:lstStyle/>
          <a:p>
            <a:r>
              <a:rPr lang="ru-RU" dirty="0"/>
              <a:t>В однопроцессорных системах простейшим решением является запрещение всех </a:t>
            </a:r>
            <a:r>
              <a:rPr lang="ru-RU" dirty="0" smtClean="0"/>
              <a:t>прерываний </a:t>
            </a:r>
            <a:r>
              <a:rPr lang="ru-RU" dirty="0"/>
              <a:t>каждым процессом сразу после входа в критическую область и их </a:t>
            </a:r>
            <a:r>
              <a:rPr lang="ru-RU" dirty="0" smtClean="0"/>
              <a:t>разрешение сразу </a:t>
            </a:r>
            <a:r>
              <a:rPr lang="ru-RU" dirty="0"/>
              <a:t>же после выхода из критической области</a:t>
            </a:r>
            <a:r>
              <a:rPr lang="ru-RU" dirty="0" smtClean="0"/>
              <a:t>.</a:t>
            </a:r>
          </a:p>
          <a:p>
            <a:r>
              <a:rPr lang="ru-RU" dirty="0"/>
              <a:t>Но вообще-то этот подход не слишком привлекателен, поскольку абсолютно </a:t>
            </a:r>
            <a:r>
              <a:rPr lang="ru-RU" dirty="0" smtClean="0"/>
              <a:t>неразумно давать </a:t>
            </a:r>
            <a:r>
              <a:rPr lang="ru-RU" dirty="0"/>
              <a:t>пользовательским процессам полномочия выключать все прерывания. </a:t>
            </a:r>
            <a:r>
              <a:rPr lang="ru-RU" dirty="0" smtClean="0"/>
              <a:t>Представьте</a:t>
            </a:r>
            <a:r>
              <a:rPr lang="ru-RU" dirty="0"/>
              <a:t>, что получится, если один из них выключил и не включил прерывания? </a:t>
            </a:r>
            <a:r>
              <a:rPr lang="ru-RU" dirty="0" smtClean="0"/>
              <a:t>Это может </a:t>
            </a:r>
            <a:r>
              <a:rPr lang="ru-RU" dirty="0"/>
              <a:t>вызвать крах всей системы.</a:t>
            </a:r>
          </a:p>
        </p:txBody>
      </p:sp>
    </p:spTree>
    <p:extLst>
      <p:ext uri="{BB962C8B-B14F-4D97-AF65-F5344CB8AC3E}">
        <p14:creationId xmlns:p14="http://schemas.microsoft.com/office/powerpoint/2010/main" val="6026543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Блокирующие переменные</a:t>
            </a:r>
            <a:endParaRPr lang="ru-RU" dirty="0"/>
          </a:p>
        </p:txBody>
      </p:sp>
      <p:sp>
        <p:nvSpPr>
          <p:cNvPr id="3" name="Объект 2"/>
          <p:cNvSpPr>
            <a:spLocks noGrp="1"/>
          </p:cNvSpPr>
          <p:nvPr>
            <p:ph idx="1"/>
          </p:nvPr>
        </p:nvSpPr>
        <p:spPr/>
        <p:txBody>
          <a:bodyPr>
            <a:normAutofit fontScale="92500" lnSpcReduction="10000"/>
          </a:bodyPr>
          <a:lstStyle/>
          <a:p>
            <a:r>
              <a:rPr lang="ru-RU" dirty="0" smtClean="0"/>
              <a:t>Используется одна </a:t>
            </a:r>
            <a:r>
              <a:rPr lang="ru-RU" dirty="0"/>
              <a:t>общая (блокирующая) переменная, исходное значение которой равно нулю. </a:t>
            </a:r>
            <a:r>
              <a:rPr lang="ru-RU" dirty="0" smtClean="0"/>
              <a:t>Когда процессу </a:t>
            </a:r>
            <a:r>
              <a:rPr lang="ru-RU" dirty="0"/>
              <a:t>требуется войти в свою критическую область, сначала он проверяет </a:t>
            </a:r>
            <a:r>
              <a:rPr lang="ru-RU" dirty="0" smtClean="0"/>
              <a:t>значение блокирующей </a:t>
            </a:r>
            <a:r>
              <a:rPr lang="ru-RU" dirty="0"/>
              <a:t>переменной. Если оно равно 0, процесс устанавливает его в 1 и </a:t>
            </a:r>
            <a:r>
              <a:rPr lang="ru-RU" dirty="0" smtClean="0"/>
              <a:t>входит в </a:t>
            </a:r>
            <a:r>
              <a:rPr lang="ru-RU" dirty="0"/>
              <a:t>критическую область. Если значение уже равно 1, процесс просто ждет, пока оно </a:t>
            </a:r>
            <a:r>
              <a:rPr lang="ru-RU" dirty="0" smtClean="0"/>
              <a:t>не станет </a:t>
            </a:r>
            <a:r>
              <a:rPr lang="ru-RU" dirty="0"/>
              <a:t>равно нулю. </a:t>
            </a:r>
            <a:endParaRPr lang="ru-RU" dirty="0" smtClean="0"/>
          </a:p>
          <a:p>
            <a:r>
              <a:rPr lang="ru-RU" dirty="0" smtClean="0"/>
              <a:t>Таким </a:t>
            </a:r>
            <a:r>
              <a:rPr lang="ru-RU" dirty="0"/>
              <a:t>образом, нулевое значение показывает, что ни один из </a:t>
            </a:r>
            <a:r>
              <a:rPr lang="ru-RU" dirty="0" smtClean="0"/>
              <a:t>процессов </a:t>
            </a:r>
            <a:r>
              <a:rPr lang="ru-RU" dirty="0"/>
              <a:t>не находится в своей критической области, а единица — что какой-то </a:t>
            </a:r>
            <a:r>
              <a:rPr lang="ru-RU" dirty="0" smtClean="0"/>
              <a:t>процесс находится </a:t>
            </a:r>
            <a:r>
              <a:rPr lang="ru-RU" dirty="0"/>
              <a:t>в своей критической области</a:t>
            </a:r>
            <a:r>
              <a:rPr lang="ru-RU" dirty="0" smtClean="0"/>
              <a:t>.</a:t>
            </a:r>
          </a:p>
          <a:p>
            <a:r>
              <a:rPr lang="ru-RU" sz="2100" dirty="0"/>
              <a:t>Состязание возникнет в том случае, если второй процесс изменит значение блокирующей переменной сразу же после того, как первый процесс завершит повторную проверку ее значения.</a:t>
            </a:r>
          </a:p>
        </p:txBody>
      </p:sp>
    </p:spTree>
    <p:extLst>
      <p:ext uri="{BB962C8B-B14F-4D97-AF65-F5344CB8AC3E}">
        <p14:creationId xmlns:p14="http://schemas.microsoft.com/office/powerpoint/2010/main" val="21331550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Строгое чередование</a:t>
            </a:r>
            <a:endParaRPr lang="ru-RU" dirty="0"/>
          </a:p>
        </p:txBody>
      </p:sp>
      <p:sp>
        <p:nvSpPr>
          <p:cNvPr id="3" name="Объект 2"/>
          <p:cNvSpPr>
            <a:spLocks noGrp="1"/>
          </p:cNvSpPr>
          <p:nvPr>
            <p:ph idx="1"/>
          </p:nvPr>
        </p:nvSpPr>
        <p:spPr>
          <a:xfrm>
            <a:off x="457200" y="1752600"/>
            <a:ext cx="8003232" cy="4916760"/>
          </a:xfrm>
        </p:spPr>
        <p:txBody>
          <a:bodyPr>
            <a:normAutofit fontScale="92500" lnSpcReduction="20000"/>
          </a:bodyPr>
          <a:lstStyle/>
          <a:p>
            <a:r>
              <a:rPr lang="ru-RU" dirty="0"/>
              <a:t>Предлагаемое решение проблемы критической области: </a:t>
            </a:r>
            <a:r>
              <a:rPr lang="ru-RU" i="1" dirty="0"/>
              <a:t>а </a:t>
            </a:r>
            <a:r>
              <a:rPr lang="ru-RU" dirty="0"/>
              <a:t>— процесс 0</a:t>
            </a:r>
            <a:r>
              <a:rPr lang="ru-RU" dirty="0" smtClean="0"/>
              <a:t>; </a:t>
            </a:r>
            <a:r>
              <a:rPr lang="ru-RU" i="1" dirty="0" smtClean="0"/>
              <a:t>б </a:t>
            </a:r>
            <a:r>
              <a:rPr lang="ru-RU" dirty="0"/>
              <a:t>— процесс 1</a:t>
            </a:r>
            <a:r>
              <a:rPr lang="ru-RU" dirty="0" smtClean="0"/>
              <a:t>.</a:t>
            </a:r>
          </a:p>
          <a:p>
            <a:endParaRPr lang="ru-RU" dirty="0"/>
          </a:p>
          <a:p>
            <a:endParaRPr lang="ru-RU" dirty="0" smtClean="0"/>
          </a:p>
          <a:p>
            <a:endParaRPr lang="ru-RU" dirty="0"/>
          </a:p>
          <a:p>
            <a:endParaRPr lang="ru-RU" dirty="0" smtClean="0"/>
          </a:p>
          <a:p>
            <a:r>
              <a:rPr lang="ru-RU" dirty="0"/>
              <a:t>	 </a:t>
            </a:r>
            <a:r>
              <a:rPr lang="ru-RU" dirty="0" smtClean="0"/>
              <a:t>   </a:t>
            </a:r>
          </a:p>
          <a:p>
            <a:r>
              <a:rPr lang="ru-RU" dirty="0" smtClean="0"/>
              <a:t>  	        а					        б</a:t>
            </a:r>
          </a:p>
          <a:p>
            <a:r>
              <a:rPr lang="ru-RU" sz="2100" dirty="0" smtClean="0"/>
              <a:t>Изначально </a:t>
            </a:r>
            <a:r>
              <a:rPr lang="ru-RU" sz="2100" dirty="0"/>
              <a:t>целочисленная переменная </a:t>
            </a:r>
            <a:r>
              <a:rPr lang="ru-RU" sz="2100" dirty="0" err="1"/>
              <a:t>turn</a:t>
            </a:r>
            <a:r>
              <a:rPr lang="ru-RU" sz="2100" dirty="0"/>
              <a:t>, равна </a:t>
            </a:r>
            <a:r>
              <a:rPr lang="ru-RU" dirty="0" smtClean="0"/>
              <a:t>нулю и </a:t>
            </a:r>
            <a:r>
              <a:rPr lang="ru-RU" dirty="0"/>
              <a:t>отслеживает, чья настала очередь входить в критическую область и проверять </a:t>
            </a:r>
            <a:r>
              <a:rPr lang="ru-RU" dirty="0" smtClean="0"/>
              <a:t>или обновлять </a:t>
            </a:r>
            <a:r>
              <a:rPr lang="ru-RU" dirty="0"/>
              <a:t>общую память. Сначала процесс 0 проверяет значение </a:t>
            </a:r>
            <a:r>
              <a:rPr lang="ru-RU" i="1" dirty="0" err="1"/>
              <a:t>turn</a:t>
            </a:r>
            <a:r>
              <a:rPr lang="ru-RU" dirty="0"/>
              <a:t>, определяет, </a:t>
            </a:r>
            <a:r>
              <a:rPr lang="ru-RU" dirty="0" smtClean="0"/>
              <a:t>что оно </a:t>
            </a:r>
            <a:r>
              <a:rPr lang="ru-RU" dirty="0"/>
              <a:t>равно нулю, и входит в критическую область. Процесс 1 также определяет, что </a:t>
            </a:r>
            <a:r>
              <a:rPr lang="ru-RU" dirty="0" smtClean="0"/>
              <a:t>значение </a:t>
            </a:r>
            <a:r>
              <a:rPr lang="ru-RU" dirty="0"/>
              <a:t>этой переменной равно нулю, из-за чего находится в коротком цикле, </a:t>
            </a:r>
            <a:r>
              <a:rPr lang="ru-RU" dirty="0" smtClean="0"/>
              <a:t>постоянно проверяя</a:t>
            </a:r>
            <a:r>
              <a:rPr lang="ru-RU" dirty="0"/>
              <a:t>, когда </a:t>
            </a:r>
            <a:r>
              <a:rPr lang="ru-RU" i="1" dirty="0" err="1"/>
              <a:t>turn</a:t>
            </a:r>
            <a:r>
              <a:rPr lang="ru-RU" i="1" dirty="0"/>
              <a:t> </a:t>
            </a:r>
            <a:r>
              <a:rPr lang="ru-RU" dirty="0"/>
              <a:t>получит значение 1.</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348880"/>
            <a:ext cx="8712968" cy="1624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3913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Строгое чередование</a:t>
            </a:r>
            <a:endParaRPr lang="ru-RU" dirty="0"/>
          </a:p>
        </p:txBody>
      </p:sp>
      <p:sp>
        <p:nvSpPr>
          <p:cNvPr id="3" name="Объект 2"/>
          <p:cNvSpPr>
            <a:spLocks noGrp="1"/>
          </p:cNvSpPr>
          <p:nvPr>
            <p:ph idx="1"/>
          </p:nvPr>
        </p:nvSpPr>
        <p:spPr/>
        <p:txBody>
          <a:bodyPr/>
          <a:lstStyle/>
          <a:p>
            <a:r>
              <a:rPr lang="ru-RU" dirty="0"/>
              <a:t>Постоянная проверка значения </a:t>
            </a:r>
            <a:r>
              <a:rPr lang="ru-RU" dirty="0" smtClean="0"/>
              <a:t>переменной, пока </a:t>
            </a:r>
            <a:r>
              <a:rPr lang="ru-RU" dirty="0"/>
              <a:t>она не приобретет какое-нибудь значение, называется </a:t>
            </a:r>
            <a:r>
              <a:rPr lang="ru-RU" u="sng" dirty="0"/>
              <a:t>активным ожиданием</a:t>
            </a:r>
            <a:r>
              <a:rPr lang="ru-RU" dirty="0"/>
              <a:t>.</a:t>
            </a:r>
          </a:p>
          <a:p>
            <a:r>
              <a:rPr lang="ru-RU" dirty="0"/>
              <a:t>Как правило, этого ожидания следует избегать, поскольку оно тратит впустую </a:t>
            </a:r>
            <a:r>
              <a:rPr lang="ru-RU" dirty="0" smtClean="0"/>
              <a:t>время центрального </a:t>
            </a:r>
            <a:r>
              <a:rPr lang="ru-RU" dirty="0"/>
              <a:t>процессора. </a:t>
            </a:r>
            <a:endParaRPr lang="ru-RU" dirty="0" smtClean="0"/>
          </a:p>
          <a:p>
            <a:r>
              <a:rPr lang="ru-RU" dirty="0" smtClean="0"/>
              <a:t>Активное </a:t>
            </a:r>
            <a:r>
              <a:rPr lang="ru-RU" dirty="0"/>
              <a:t>ожидание используется только в том случае, </a:t>
            </a:r>
            <a:r>
              <a:rPr lang="ru-RU" dirty="0" smtClean="0"/>
              <a:t>если есть </a:t>
            </a:r>
            <a:r>
              <a:rPr lang="ru-RU" dirty="0"/>
              <a:t>основание полагать, что оно будет недолгим. </a:t>
            </a:r>
            <a:endParaRPr lang="ru-RU" dirty="0" smtClean="0"/>
          </a:p>
          <a:p>
            <a:r>
              <a:rPr lang="ru-RU" dirty="0" smtClean="0"/>
              <a:t>Блокировка</a:t>
            </a:r>
            <a:r>
              <a:rPr lang="ru-RU" dirty="0"/>
              <a:t>, использующая </a:t>
            </a:r>
            <a:r>
              <a:rPr lang="ru-RU" dirty="0" smtClean="0"/>
              <a:t>активное ожидание</a:t>
            </a:r>
            <a:r>
              <a:rPr lang="ru-RU" dirty="0"/>
              <a:t>, называется </a:t>
            </a:r>
            <a:r>
              <a:rPr lang="ru-RU" u="sng" dirty="0"/>
              <a:t>спин-блокировкой</a:t>
            </a:r>
            <a:r>
              <a:rPr lang="ru-RU" dirty="0"/>
              <a:t>.</a:t>
            </a:r>
          </a:p>
        </p:txBody>
      </p:sp>
    </p:spTree>
    <p:extLst>
      <p:ext uri="{BB962C8B-B14F-4D97-AF65-F5344CB8AC3E}">
        <p14:creationId xmlns:p14="http://schemas.microsoft.com/office/powerpoint/2010/main" val="34704439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Алгоритм </a:t>
            </a:r>
            <a:r>
              <a:rPr lang="ru-RU" b="1" dirty="0" err="1"/>
              <a:t>Петерсона</a:t>
            </a:r>
            <a:endParaRPr lang="ru-RU" dirty="0"/>
          </a:p>
        </p:txBody>
      </p:sp>
      <p:sp>
        <p:nvSpPr>
          <p:cNvPr id="3" name="Объект 2"/>
          <p:cNvSpPr>
            <a:spLocks noGrp="1"/>
          </p:cNvSpPr>
          <p:nvPr>
            <p:ph idx="1"/>
          </p:nvPr>
        </p:nvSpPr>
        <p:spPr/>
        <p:txBody>
          <a:bodyPr/>
          <a:lstStyle/>
          <a:p>
            <a:r>
              <a:rPr lang="ru-RU" dirty="0"/>
              <a:t>Используя сочетание идеи очередности с идеей блокирующих и </a:t>
            </a:r>
            <a:r>
              <a:rPr lang="ru-RU" dirty="0" smtClean="0"/>
              <a:t>предупреждающих переменных</a:t>
            </a:r>
            <a:r>
              <a:rPr lang="ru-RU" dirty="0"/>
              <a:t>, голландский математик </a:t>
            </a:r>
            <a:r>
              <a:rPr lang="ru-RU" dirty="0" err="1"/>
              <a:t>Деккер</a:t>
            </a:r>
            <a:r>
              <a:rPr lang="ru-RU" dirty="0"/>
              <a:t> (T. </a:t>
            </a:r>
            <a:r>
              <a:rPr lang="ru-RU" dirty="0" err="1"/>
              <a:t>Dekker</a:t>
            </a:r>
            <a:r>
              <a:rPr lang="ru-RU" dirty="0"/>
              <a:t>) стал первым, кто </a:t>
            </a:r>
            <a:r>
              <a:rPr lang="ru-RU" dirty="0" smtClean="0"/>
              <a:t>придумал программное </a:t>
            </a:r>
            <a:r>
              <a:rPr lang="ru-RU" dirty="0"/>
              <a:t>решение проблемы взаимного исключения, не требующее четкой </a:t>
            </a:r>
            <a:r>
              <a:rPr lang="ru-RU" dirty="0" smtClean="0"/>
              <a:t>очередности.</a:t>
            </a:r>
          </a:p>
          <a:p>
            <a:r>
              <a:rPr lang="ru-RU" dirty="0"/>
              <a:t>В 1981 году </a:t>
            </a:r>
            <a:r>
              <a:rPr lang="ru-RU" dirty="0" err="1"/>
              <a:t>Петерсон</a:t>
            </a:r>
            <a:r>
              <a:rPr lang="ru-RU" dirty="0"/>
              <a:t> придумал гораздо более простой способ достижения </a:t>
            </a:r>
            <a:r>
              <a:rPr lang="ru-RU" dirty="0" smtClean="0"/>
              <a:t>взаимного исключения</a:t>
            </a:r>
            <a:r>
              <a:rPr lang="ru-RU" dirty="0"/>
              <a:t>, которое перевело решение </a:t>
            </a:r>
            <a:r>
              <a:rPr lang="ru-RU" dirty="0" err="1"/>
              <a:t>Деккера</a:t>
            </a:r>
            <a:r>
              <a:rPr lang="ru-RU" dirty="0"/>
              <a:t> в разряд устаревших.</a:t>
            </a:r>
          </a:p>
        </p:txBody>
      </p:sp>
    </p:spTree>
    <p:extLst>
      <p:ext uri="{BB962C8B-B14F-4D97-AF65-F5344CB8AC3E}">
        <p14:creationId xmlns:p14="http://schemas.microsoft.com/office/powerpoint/2010/main" val="23123255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Алгоритм </a:t>
            </a:r>
            <a:r>
              <a:rPr lang="ru-RU" b="1" dirty="0" err="1"/>
              <a:t>Петерсона</a:t>
            </a:r>
            <a:endParaRPr lang="ru-RU" dirty="0"/>
          </a:p>
        </p:txBody>
      </p:sp>
      <p:sp>
        <p:nvSpPr>
          <p:cNvPr id="3" name="Объект 2"/>
          <p:cNvSpPr>
            <a:spLocks noGrp="1"/>
          </p:cNvSpPr>
          <p:nvPr>
            <p:ph idx="1"/>
          </p:nvPr>
        </p:nvSpPr>
        <p:spPr>
          <a:xfrm>
            <a:off x="457200" y="1484784"/>
            <a:ext cx="8003232" cy="4968552"/>
          </a:xfrm>
        </p:spPr>
        <p:txBody>
          <a:bodyPr>
            <a:normAutofit fontScale="62500" lnSpcReduction="20000"/>
          </a:bodyPr>
          <a:lstStyle/>
          <a:p>
            <a:r>
              <a:rPr lang="en-US" b="0" dirty="0">
                <a:latin typeface="Courier New" pitchFamily="49" charset="0"/>
                <a:cs typeface="Courier New" pitchFamily="49" charset="0"/>
              </a:rPr>
              <a:t>#define FALSE 0</a:t>
            </a:r>
          </a:p>
          <a:p>
            <a:r>
              <a:rPr lang="en-US" b="0" dirty="0">
                <a:latin typeface="Courier New" pitchFamily="49" charset="0"/>
                <a:cs typeface="Courier New" pitchFamily="49" charset="0"/>
              </a:rPr>
              <a:t>#define TRUE 1</a:t>
            </a:r>
          </a:p>
          <a:p>
            <a:r>
              <a:rPr lang="ru-RU" b="0" dirty="0">
                <a:latin typeface="Courier New" pitchFamily="49" charset="0"/>
                <a:cs typeface="Courier New" pitchFamily="49" charset="0"/>
              </a:rPr>
              <a:t>#</a:t>
            </a:r>
            <a:r>
              <a:rPr lang="ru-RU" b="0" dirty="0" err="1">
                <a:latin typeface="Courier New" pitchFamily="49" charset="0"/>
                <a:cs typeface="Courier New" pitchFamily="49" charset="0"/>
              </a:rPr>
              <a:t>define</a:t>
            </a:r>
            <a:r>
              <a:rPr lang="ru-RU" b="0" dirty="0">
                <a:latin typeface="Courier New" pitchFamily="49" charset="0"/>
                <a:cs typeface="Courier New" pitchFamily="49" charset="0"/>
              </a:rPr>
              <a:t> N 2 /* количество процессов */</a:t>
            </a:r>
          </a:p>
          <a:p>
            <a:r>
              <a:rPr lang="en-US" b="0" dirty="0" err="1">
                <a:latin typeface="Courier New" pitchFamily="49" charset="0"/>
                <a:cs typeface="Courier New" pitchFamily="49" charset="0"/>
              </a:rPr>
              <a:t>int</a:t>
            </a:r>
            <a:r>
              <a:rPr lang="en-US" b="0" dirty="0">
                <a:latin typeface="Courier New" pitchFamily="49" charset="0"/>
                <a:cs typeface="Courier New" pitchFamily="49" charset="0"/>
              </a:rPr>
              <a:t> turn; /* </a:t>
            </a:r>
            <a:r>
              <a:rPr lang="ru-RU" b="0" dirty="0">
                <a:latin typeface="Courier New" pitchFamily="49" charset="0"/>
                <a:cs typeface="Courier New" pitchFamily="49" charset="0"/>
              </a:rPr>
              <a:t>чья очередь? */</a:t>
            </a:r>
          </a:p>
          <a:p>
            <a:r>
              <a:rPr lang="ru-RU" b="0" dirty="0" err="1">
                <a:latin typeface="Courier New" pitchFamily="49" charset="0"/>
                <a:cs typeface="Courier New" pitchFamily="49" charset="0"/>
              </a:rPr>
              <a:t>int</a:t>
            </a:r>
            <a:r>
              <a:rPr lang="ru-RU" b="0" dirty="0">
                <a:latin typeface="Courier New" pitchFamily="49" charset="0"/>
                <a:cs typeface="Courier New" pitchFamily="49" charset="0"/>
              </a:rPr>
              <a:t> </a:t>
            </a:r>
            <a:r>
              <a:rPr lang="ru-RU" b="0" dirty="0" err="1">
                <a:latin typeface="Courier New" pitchFamily="49" charset="0"/>
                <a:cs typeface="Courier New" pitchFamily="49" charset="0"/>
              </a:rPr>
              <a:t>interested</a:t>
            </a:r>
            <a:r>
              <a:rPr lang="ru-RU" b="0" dirty="0">
                <a:latin typeface="Courier New" pitchFamily="49" charset="0"/>
                <a:cs typeface="Courier New" pitchFamily="49" charset="0"/>
              </a:rPr>
              <a:t>[N]; /* все исходные значения равны 0 (FALSE) */</a:t>
            </a:r>
          </a:p>
          <a:p>
            <a:r>
              <a:rPr lang="en-US" b="0" dirty="0">
                <a:latin typeface="Courier New" pitchFamily="49" charset="0"/>
                <a:cs typeface="Courier New" pitchFamily="49" charset="0"/>
              </a:rPr>
              <a:t>void </a:t>
            </a:r>
            <a:r>
              <a:rPr lang="en-US" b="0" dirty="0" err="1">
                <a:latin typeface="Courier New" pitchFamily="49" charset="0"/>
                <a:cs typeface="Courier New" pitchFamily="49" charset="0"/>
              </a:rPr>
              <a:t>enter_region</a:t>
            </a:r>
            <a:r>
              <a:rPr lang="en-US" b="0" dirty="0">
                <a:latin typeface="Courier New" pitchFamily="49" charset="0"/>
                <a:cs typeface="Courier New" pitchFamily="49" charset="0"/>
              </a:rPr>
              <a:t>(</a:t>
            </a:r>
            <a:r>
              <a:rPr lang="en-US" b="0" dirty="0" err="1">
                <a:latin typeface="Courier New" pitchFamily="49" charset="0"/>
                <a:cs typeface="Courier New" pitchFamily="49" charset="0"/>
              </a:rPr>
              <a:t>int</a:t>
            </a:r>
            <a:r>
              <a:rPr lang="en-US" b="0" dirty="0">
                <a:latin typeface="Courier New" pitchFamily="49" charset="0"/>
                <a:cs typeface="Courier New" pitchFamily="49" charset="0"/>
              </a:rPr>
              <a:t> process); /* process </a:t>
            </a:r>
            <a:r>
              <a:rPr lang="ru-RU" b="0" dirty="0">
                <a:latin typeface="Courier New" pitchFamily="49" charset="0"/>
                <a:cs typeface="Courier New" pitchFamily="49" charset="0"/>
              </a:rPr>
              <a:t>имеет значение 0 или 1 */</a:t>
            </a:r>
          </a:p>
          <a:p>
            <a:r>
              <a:rPr lang="ru-RU" b="0" dirty="0">
                <a:latin typeface="Courier New" pitchFamily="49" charset="0"/>
                <a:cs typeface="Courier New" pitchFamily="49" charset="0"/>
              </a:rPr>
              <a:t>{</a:t>
            </a:r>
          </a:p>
          <a:p>
            <a:r>
              <a:rPr lang="ru-RU" b="0" dirty="0" err="1">
                <a:latin typeface="Courier New" pitchFamily="49" charset="0"/>
                <a:cs typeface="Courier New" pitchFamily="49" charset="0"/>
              </a:rPr>
              <a:t>int</a:t>
            </a:r>
            <a:r>
              <a:rPr lang="ru-RU" b="0" dirty="0">
                <a:latin typeface="Courier New" pitchFamily="49" charset="0"/>
                <a:cs typeface="Courier New" pitchFamily="49" charset="0"/>
              </a:rPr>
              <a:t> </a:t>
            </a:r>
            <a:r>
              <a:rPr lang="ru-RU" b="0" dirty="0" err="1">
                <a:latin typeface="Courier New" pitchFamily="49" charset="0"/>
                <a:cs typeface="Courier New" pitchFamily="49" charset="0"/>
              </a:rPr>
              <a:t>other</a:t>
            </a:r>
            <a:r>
              <a:rPr lang="ru-RU" b="0" dirty="0">
                <a:latin typeface="Courier New" pitchFamily="49" charset="0"/>
                <a:cs typeface="Courier New" pitchFamily="49" charset="0"/>
              </a:rPr>
              <a:t>; /* номер другого процесса */</a:t>
            </a:r>
          </a:p>
          <a:p>
            <a:r>
              <a:rPr lang="ru-RU" b="0" dirty="0" err="1">
                <a:latin typeface="Courier New" pitchFamily="49" charset="0"/>
                <a:cs typeface="Courier New" pitchFamily="49" charset="0"/>
              </a:rPr>
              <a:t>other</a:t>
            </a:r>
            <a:r>
              <a:rPr lang="ru-RU" b="0" dirty="0">
                <a:latin typeface="Courier New" pitchFamily="49" charset="0"/>
                <a:cs typeface="Courier New" pitchFamily="49" charset="0"/>
              </a:rPr>
              <a:t> = 1 − </a:t>
            </a:r>
            <a:r>
              <a:rPr lang="ru-RU" b="0" dirty="0" err="1">
                <a:latin typeface="Courier New" pitchFamily="49" charset="0"/>
                <a:cs typeface="Courier New" pitchFamily="49" charset="0"/>
              </a:rPr>
              <a:t>process</a:t>
            </a:r>
            <a:r>
              <a:rPr lang="ru-RU" b="0" dirty="0">
                <a:latin typeface="Courier New" pitchFamily="49" charset="0"/>
                <a:cs typeface="Courier New" pitchFamily="49" charset="0"/>
              </a:rPr>
              <a:t>; /* противостоящий процесс */</a:t>
            </a:r>
          </a:p>
          <a:p>
            <a:r>
              <a:rPr lang="en-US" b="0" dirty="0">
                <a:latin typeface="Courier New" pitchFamily="49" charset="0"/>
                <a:cs typeface="Courier New" pitchFamily="49" charset="0"/>
              </a:rPr>
              <a:t>interested[process] = TRUE; /* </a:t>
            </a:r>
            <a:r>
              <a:rPr lang="ru-RU" b="0" dirty="0">
                <a:latin typeface="Courier New" pitchFamily="49" charset="0"/>
                <a:cs typeface="Courier New" pitchFamily="49" charset="0"/>
              </a:rPr>
              <a:t>демонстрация заинтересованности */</a:t>
            </a:r>
          </a:p>
          <a:p>
            <a:r>
              <a:rPr lang="en-US" b="0" dirty="0">
                <a:latin typeface="Courier New" pitchFamily="49" charset="0"/>
                <a:cs typeface="Courier New" pitchFamily="49" charset="0"/>
              </a:rPr>
              <a:t>turn = process; /* </a:t>
            </a:r>
            <a:r>
              <a:rPr lang="ru-RU" b="0" dirty="0">
                <a:latin typeface="Courier New" pitchFamily="49" charset="0"/>
                <a:cs typeface="Courier New" pitchFamily="49" charset="0"/>
              </a:rPr>
              <a:t>установка флажка */</a:t>
            </a:r>
          </a:p>
          <a:p>
            <a:r>
              <a:rPr lang="en-US" b="0" dirty="0">
                <a:latin typeface="Courier New" pitchFamily="49" charset="0"/>
                <a:cs typeface="Courier New" pitchFamily="49" charset="0"/>
              </a:rPr>
              <a:t>while (turn == process &amp;&amp; interested[other] == TRUE)/* </a:t>
            </a:r>
            <a:r>
              <a:rPr lang="en-US" b="0" dirty="0" err="1">
                <a:latin typeface="Courier New" pitchFamily="49" charset="0"/>
                <a:cs typeface="Courier New" pitchFamily="49" charset="0"/>
              </a:rPr>
              <a:t>цикл</a:t>
            </a:r>
            <a:r>
              <a:rPr lang="en-US" b="0" dirty="0">
                <a:latin typeface="Courier New" pitchFamily="49" charset="0"/>
                <a:cs typeface="Courier New" pitchFamily="49" charset="0"/>
              </a:rPr>
              <a:t> </a:t>
            </a:r>
            <a:r>
              <a:rPr lang="en-US" b="0" dirty="0" err="1">
                <a:latin typeface="Courier New" pitchFamily="49" charset="0"/>
                <a:cs typeface="Courier New" pitchFamily="49" charset="0"/>
              </a:rPr>
              <a:t>без</a:t>
            </a:r>
            <a:r>
              <a:rPr lang="en-US" b="0" dirty="0">
                <a:latin typeface="Courier New" pitchFamily="49" charset="0"/>
                <a:cs typeface="Courier New" pitchFamily="49" charset="0"/>
              </a:rPr>
              <a:t> </a:t>
            </a:r>
            <a:r>
              <a:rPr lang="en-US" b="0" dirty="0" err="1">
                <a:latin typeface="Courier New" pitchFamily="49" charset="0"/>
                <a:cs typeface="Courier New" pitchFamily="49" charset="0"/>
              </a:rPr>
              <a:t>инструкции</a:t>
            </a:r>
            <a:endParaRPr lang="en-US" b="0" dirty="0">
              <a:latin typeface="Courier New" pitchFamily="49" charset="0"/>
              <a:cs typeface="Courier New" pitchFamily="49" charset="0"/>
            </a:endParaRPr>
          </a:p>
          <a:p>
            <a:r>
              <a:rPr lang="ru-RU" b="0" dirty="0">
                <a:latin typeface="Courier New" pitchFamily="49" charset="0"/>
                <a:cs typeface="Courier New" pitchFamily="49" charset="0"/>
              </a:rPr>
              <a:t>*/;</a:t>
            </a:r>
          </a:p>
          <a:p>
            <a:r>
              <a:rPr lang="ru-RU" b="0" dirty="0">
                <a:latin typeface="Courier New" pitchFamily="49" charset="0"/>
                <a:cs typeface="Courier New" pitchFamily="49" charset="0"/>
              </a:rPr>
              <a:t>}</a:t>
            </a:r>
          </a:p>
          <a:p>
            <a:r>
              <a:rPr lang="ru-RU" b="0" dirty="0" err="1">
                <a:latin typeface="Courier New" pitchFamily="49" charset="0"/>
                <a:cs typeface="Courier New" pitchFamily="49" charset="0"/>
              </a:rPr>
              <a:t>void</a:t>
            </a:r>
            <a:r>
              <a:rPr lang="ru-RU" b="0" dirty="0">
                <a:latin typeface="Courier New" pitchFamily="49" charset="0"/>
                <a:cs typeface="Courier New" pitchFamily="49" charset="0"/>
              </a:rPr>
              <a:t> </a:t>
            </a:r>
            <a:r>
              <a:rPr lang="ru-RU" b="0" dirty="0" err="1">
                <a:latin typeface="Courier New" pitchFamily="49" charset="0"/>
                <a:cs typeface="Courier New" pitchFamily="49" charset="0"/>
              </a:rPr>
              <a:t>leave_region</a:t>
            </a:r>
            <a:r>
              <a:rPr lang="ru-RU" b="0" dirty="0">
                <a:latin typeface="Courier New" pitchFamily="49" charset="0"/>
                <a:cs typeface="Courier New" pitchFamily="49" charset="0"/>
              </a:rPr>
              <a:t>(</a:t>
            </a:r>
            <a:r>
              <a:rPr lang="ru-RU" b="0" dirty="0" err="1">
                <a:latin typeface="Courier New" pitchFamily="49" charset="0"/>
                <a:cs typeface="Courier New" pitchFamily="49" charset="0"/>
              </a:rPr>
              <a:t>int</a:t>
            </a:r>
            <a:r>
              <a:rPr lang="ru-RU" b="0" dirty="0">
                <a:latin typeface="Courier New" pitchFamily="49" charset="0"/>
                <a:cs typeface="Courier New" pitchFamily="49" charset="0"/>
              </a:rPr>
              <a:t> </a:t>
            </a:r>
            <a:r>
              <a:rPr lang="ru-RU" b="0" dirty="0" err="1">
                <a:latin typeface="Courier New" pitchFamily="49" charset="0"/>
                <a:cs typeface="Courier New" pitchFamily="49" charset="0"/>
              </a:rPr>
              <a:t>process</a:t>
            </a:r>
            <a:r>
              <a:rPr lang="ru-RU" b="0" dirty="0">
                <a:latin typeface="Courier New" pitchFamily="49" charset="0"/>
                <a:cs typeface="Courier New" pitchFamily="49" charset="0"/>
              </a:rPr>
              <a:t>) /* процесс, покидающий критическую область */</a:t>
            </a:r>
          </a:p>
          <a:p>
            <a:r>
              <a:rPr lang="ru-RU" b="0" dirty="0">
                <a:latin typeface="Courier New" pitchFamily="49" charset="0"/>
                <a:cs typeface="Courier New" pitchFamily="49" charset="0"/>
              </a:rPr>
              <a:t>{</a:t>
            </a:r>
          </a:p>
          <a:p>
            <a:r>
              <a:rPr lang="ru-RU" b="0" dirty="0" err="1">
                <a:latin typeface="Courier New" pitchFamily="49" charset="0"/>
                <a:cs typeface="Courier New" pitchFamily="49" charset="0"/>
              </a:rPr>
              <a:t>interested</a:t>
            </a:r>
            <a:r>
              <a:rPr lang="ru-RU" b="0" dirty="0">
                <a:latin typeface="Courier New" pitchFamily="49" charset="0"/>
                <a:cs typeface="Courier New" pitchFamily="49" charset="0"/>
              </a:rPr>
              <a:t>[</a:t>
            </a:r>
            <a:r>
              <a:rPr lang="ru-RU" b="0" dirty="0" err="1">
                <a:latin typeface="Courier New" pitchFamily="49" charset="0"/>
                <a:cs typeface="Courier New" pitchFamily="49" charset="0"/>
              </a:rPr>
              <a:t>process</a:t>
            </a:r>
            <a:r>
              <a:rPr lang="ru-RU" b="0" dirty="0">
                <a:latin typeface="Courier New" pitchFamily="49" charset="0"/>
                <a:cs typeface="Courier New" pitchFamily="49" charset="0"/>
              </a:rPr>
              <a:t>] = FALSE; /* признак выхода из критической области */ }</a:t>
            </a:r>
            <a:endParaRPr lang="ru-RU" dirty="0">
              <a:latin typeface="Courier New" pitchFamily="49" charset="0"/>
              <a:cs typeface="Courier New" pitchFamily="49" charset="0"/>
            </a:endParaRPr>
          </a:p>
        </p:txBody>
      </p:sp>
    </p:spTree>
    <p:extLst>
      <p:ext uri="{BB962C8B-B14F-4D97-AF65-F5344CB8AC3E}">
        <p14:creationId xmlns:p14="http://schemas.microsoft.com/office/powerpoint/2010/main" val="2987607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Команда </a:t>
            </a:r>
            <a:r>
              <a:rPr lang="en-US" b="1" dirty="0"/>
              <a:t>TSL</a:t>
            </a:r>
            <a:endParaRPr lang="ru-RU" dirty="0"/>
          </a:p>
        </p:txBody>
      </p:sp>
      <p:sp>
        <p:nvSpPr>
          <p:cNvPr id="3" name="Объект 2"/>
          <p:cNvSpPr>
            <a:spLocks noGrp="1"/>
          </p:cNvSpPr>
          <p:nvPr>
            <p:ph idx="1"/>
          </p:nvPr>
        </p:nvSpPr>
        <p:spPr/>
        <p:txBody>
          <a:bodyPr>
            <a:normAutofit fontScale="92500" lnSpcReduction="20000"/>
          </a:bodyPr>
          <a:lstStyle/>
          <a:p>
            <a:r>
              <a:rPr lang="ru-RU" dirty="0"/>
              <a:t>Некоторые компьютеры, в особенности </a:t>
            </a:r>
            <a:r>
              <a:rPr lang="ru-RU" dirty="0" smtClean="0"/>
              <a:t>те,</a:t>
            </a:r>
            <a:r>
              <a:rPr lang="en-US" dirty="0" smtClean="0"/>
              <a:t> </a:t>
            </a:r>
            <a:r>
              <a:rPr lang="ru-RU" dirty="0" smtClean="0"/>
              <a:t>которые </a:t>
            </a:r>
            <a:r>
              <a:rPr lang="ru-RU" dirty="0"/>
              <a:t>разрабатывались с прицелом на работу нескольких процессов, </a:t>
            </a:r>
            <a:r>
              <a:rPr lang="ru-RU" dirty="0" smtClean="0"/>
              <a:t>располагают</a:t>
            </a:r>
            <a:r>
              <a:rPr lang="en-US" dirty="0" smtClean="0"/>
              <a:t> </a:t>
            </a:r>
            <a:r>
              <a:rPr lang="ru-RU" dirty="0" smtClean="0"/>
              <a:t>командой</a:t>
            </a:r>
            <a:endParaRPr lang="ru-RU" dirty="0"/>
          </a:p>
          <a:p>
            <a:r>
              <a:rPr lang="en-US" dirty="0"/>
              <a:t>TSL RX,LOCK</a:t>
            </a:r>
          </a:p>
          <a:p>
            <a:r>
              <a:rPr lang="ru-RU" dirty="0"/>
              <a:t>(TSL — </a:t>
            </a:r>
            <a:r>
              <a:rPr lang="ru-RU" dirty="0" err="1"/>
              <a:t>Test</a:t>
            </a:r>
            <a:r>
              <a:rPr lang="ru-RU" dirty="0"/>
              <a:t> </a:t>
            </a:r>
            <a:r>
              <a:rPr lang="ru-RU" dirty="0" err="1"/>
              <a:t>and</a:t>
            </a:r>
            <a:r>
              <a:rPr lang="ru-RU" dirty="0"/>
              <a:t> </a:t>
            </a:r>
            <a:r>
              <a:rPr lang="ru-RU" dirty="0" err="1"/>
              <a:t>Set</a:t>
            </a:r>
            <a:r>
              <a:rPr lang="ru-RU" dirty="0"/>
              <a:t> </a:t>
            </a:r>
            <a:r>
              <a:rPr lang="ru-RU" dirty="0" err="1"/>
              <a:t>Lock</a:t>
            </a:r>
            <a:r>
              <a:rPr lang="ru-RU" dirty="0"/>
              <a:t>, то есть проверь и установи блокировку), которая </a:t>
            </a:r>
            <a:r>
              <a:rPr lang="ru-RU" dirty="0" smtClean="0"/>
              <a:t>работает</a:t>
            </a:r>
            <a:r>
              <a:rPr lang="en-US" dirty="0" smtClean="0"/>
              <a:t> </a:t>
            </a:r>
            <a:r>
              <a:rPr lang="ru-RU" dirty="0" smtClean="0"/>
              <a:t>следующим </a:t>
            </a:r>
            <a:r>
              <a:rPr lang="ru-RU" dirty="0"/>
              <a:t>образом. Она считывает содержимое слова памяти </a:t>
            </a:r>
            <a:r>
              <a:rPr lang="ru-RU" i="1" dirty="0" err="1"/>
              <a:t>lock</a:t>
            </a:r>
            <a:r>
              <a:rPr lang="ru-RU" i="1" dirty="0"/>
              <a:t> </a:t>
            </a:r>
            <a:r>
              <a:rPr lang="ru-RU" dirty="0"/>
              <a:t>в регистр RX, а </a:t>
            </a:r>
            <a:r>
              <a:rPr lang="ru-RU" dirty="0" smtClean="0"/>
              <a:t>по</a:t>
            </a:r>
            <a:r>
              <a:rPr lang="en-US" dirty="0" smtClean="0"/>
              <a:t> </a:t>
            </a:r>
            <a:r>
              <a:rPr lang="ru-RU" dirty="0" smtClean="0"/>
              <a:t>адресу </a:t>
            </a:r>
            <a:r>
              <a:rPr lang="ru-RU" dirty="0"/>
              <a:t>памяти, отведенному для </a:t>
            </a:r>
            <a:r>
              <a:rPr lang="ru-RU" i="1" dirty="0" err="1"/>
              <a:t>lock</a:t>
            </a:r>
            <a:r>
              <a:rPr lang="ru-RU" dirty="0"/>
              <a:t>, записывает ненулевое значение. </a:t>
            </a:r>
            <a:endParaRPr lang="en-US" dirty="0" smtClean="0"/>
          </a:p>
          <a:p>
            <a:r>
              <a:rPr lang="ru-RU" dirty="0" smtClean="0"/>
              <a:t>При </a:t>
            </a:r>
            <a:r>
              <a:rPr lang="ru-RU" dirty="0"/>
              <a:t>этом </a:t>
            </a:r>
            <a:r>
              <a:rPr lang="ru-RU" dirty="0" smtClean="0"/>
              <a:t>гарантируются </a:t>
            </a:r>
            <a:r>
              <a:rPr lang="ru-RU" dirty="0"/>
              <a:t>неделимость операций чтения слова и сохранение в нем нового значения </a:t>
            </a:r>
            <a:r>
              <a:rPr lang="ru-RU" dirty="0" smtClean="0"/>
              <a:t>—никакой </a:t>
            </a:r>
            <a:r>
              <a:rPr lang="ru-RU" dirty="0"/>
              <a:t>другой процесс не может получить доступ к слову в памяти, пока команда </a:t>
            </a:r>
            <a:r>
              <a:rPr lang="ru-RU" dirty="0" smtClean="0"/>
              <a:t>не</a:t>
            </a:r>
            <a:r>
              <a:rPr lang="en-US" dirty="0" smtClean="0"/>
              <a:t> </a:t>
            </a:r>
            <a:r>
              <a:rPr lang="ru-RU" dirty="0" smtClean="0"/>
              <a:t>завершит </a:t>
            </a:r>
            <a:r>
              <a:rPr lang="ru-RU" dirty="0"/>
              <a:t>свою работу. Центральный процессор, выполняющий команду </a:t>
            </a:r>
            <a:r>
              <a:rPr lang="ru-RU" i="1" dirty="0"/>
              <a:t>TSL</a:t>
            </a:r>
            <a:r>
              <a:rPr lang="ru-RU" dirty="0"/>
              <a:t>, </a:t>
            </a:r>
            <a:r>
              <a:rPr lang="ru-RU" dirty="0" smtClean="0"/>
              <a:t>блокирует</a:t>
            </a:r>
            <a:r>
              <a:rPr lang="en-US" dirty="0" smtClean="0"/>
              <a:t> </a:t>
            </a:r>
            <a:r>
              <a:rPr lang="ru-RU" dirty="0" smtClean="0"/>
              <a:t>шину </a:t>
            </a:r>
            <a:r>
              <a:rPr lang="ru-RU" dirty="0"/>
              <a:t>памяти, запрещая другим центральным процессорам доступ к памяти до тех </a:t>
            </a:r>
            <a:r>
              <a:rPr lang="ru-RU" dirty="0" smtClean="0"/>
              <a:t>пор,</a:t>
            </a:r>
            <a:r>
              <a:rPr lang="en-US" dirty="0" smtClean="0"/>
              <a:t> </a:t>
            </a:r>
            <a:r>
              <a:rPr lang="ru-RU" dirty="0" smtClean="0"/>
              <a:t>пока </a:t>
            </a:r>
            <a:r>
              <a:rPr lang="ru-RU" dirty="0"/>
              <a:t>не будет выполнена эта команда.</a:t>
            </a:r>
          </a:p>
        </p:txBody>
      </p:sp>
    </p:spTree>
    <p:extLst>
      <p:ext uri="{BB962C8B-B14F-4D97-AF65-F5344CB8AC3E}">
        <p14:creationId xmlns:p14="http://schemas.microsoft.com/office/powerpoint/2010/main" val="38938159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Приостановка и активизация</a:t>
            </a:r>
            <a:endParaRPr lang="ru-RU" dirty="0"/>
          </a:p>
        </p:txBody>
      </p:sp>
      <p:sp>
        <p:nvSpPr>
          <p:cNvPr id="3" name="Объект 2"/>
          <p:cNvSpPr>
            <a:spLocks noGrp="1"/>
          </p:cNvSpPr>
          <p:nvPr>
            <p:ph idx="1"/>
          </p:nvPr>
        </p:nvSpPr>
        <p:spPr/>
        <p:txBody>
          <a:bodyPr/>
          <a:lstStyle/>
          <a:p>
            <a:r>
              <a:rPr lang="ru-RU" dirty="0"/>
              <a:t>И алгоритм </a:t>
            </a:r>
            <a:r>
              <a:rPr lang="ru-RU" dirty="0" err="1"/>
              <a:t>Петерсона</a:t>
            </a:r>
            <a:r>
              <a:rPr lang="ru-RU" dirty="0"/>
              <a:t>, и решение, использующее команду </a:t>
            </a:r>
            <a:r>
              <a:rPr lang="ru-RU" i="1" dirty="0" smtClean="0"/>
              <a:t>TSL</a:t>
            </a:r>
            <a:r>
              <a:rPr lang="ru-RU" dirty="0" smtClean="0"/>
              <a:t>, </a:t>
            </a:r>
            <a:r>
              <a:rPr lang="ru-RU" dirty="0"/>
              <a:t>вполне </a:t>
            </a:r>
            <a:r>
              <a:rPr lang="ru-RU" dirty="0" smtClean="0"/>
              <a:t>работоспособны</a:t>
            </a:r>
            <a:r>
              <a:rPr lang="ru-RU" dirty="0"/>
              <a:t>, но у них есть один недостаток — необходимость пребывания в </a:t>
            </a:r>
            <a:r>
              <a:rPr lang="ru-RU" dirty="0" smtClean="0"/>
              <a:t>режиме</a:t>
            </a:r>
            <a:r>
              <a:rPr lang="en-US" dirty="0" smtClean="0"/>
              <a:t> </a:t>
            </a:r>
            <a:r>
              <a:rPr lang="ru-RU" dirty="0" smtClean="0"/>
              <a:t>активного </a:t>
            </a:r>
            <a:r>
              <a:rPr lang="ru-RU" dirty="0"/>
              <a:t>ожидания. </a:t>
            </a:r>
            <a:endParaRPr lang="en-US" dirty="0" smtClean="0"/>
          </a:p>
          <a:p>
            <a:r>
              <a:rPr lang="ru-RU" dirty="0" smtClean="0"/>
              <a:t>По </a:t>
            </a:r>
            <a:r>
              <a:rPr lang="ru-RU" dirty="0"/>
              <a:t>сути эти решения сводятся к следующему: когда </a:t>
            </a:r>
            <a:r>
              <a:rPr lang="ru-RU" dirty="0" smtClean="0"/>
              <a:t>процессу</a:t>
            </a:r>
            <a:r>
              <a:rPr lang="en-US" dirty="0" smtClean="0"/>
              <a:t> </a:t>
            </a:r>
            <a:r>
              <a:rPr lang="ru-RU" dirty="0" smtClean="0"/>
              <a:t>требуется </a:t>
            </a:r>
            <a:r>
              <a:rPr lang="ru-RU" dirty="0"/>
              <a:t>войти в критическую область, он </a:t>
            </a:r>
            <a:r>
              <a:rPr lang="ru-RU" dirty="0" smtClean="0"/>
              <a:t>проверяет,</a:t>
            </a:r>
            <a:r>
              <a:rPr lang="en-US" dirty="0" smtClean="0"/>
              <a:t> </a:t>
            </a:r>
            <a:r>
              <a:rPr lang="ru-RU" dirty="0" smtClean="0"/>
              <a:t>разрешен </a:t>
            </a:r>
            <a:r>
              <a:rPr lang="ru-RU" dirty="0"/>
              <a:t>ли этот вход. </a:t>
            </a:r>
            <a:r>
              <a:rPr lang="ru-RU" dirty="0" smtClean="0"/>
              <a:t>Если</a:t>
            </a:r>
            <a:r>
              <a:rPr lang="en-US" dirty="0" smtClean="0"/>
              <a:t> </a:t>
            </a:r>
            <a:r>
              <a:rPr lang="ru-RU" dirty="0" smtClean="0"/>
              <a:t>вход </a:t>
            </a:r>
            <a:r>
              <a:rPr lang="ru-RU" dirty="0"/>
              <a:t>запрещен, процесс просто входит в короткий цикл, ожидая разрешения.</a:t>
            </a:r>
          </a:p>
        </p:txBody>
      </p:sp>
    </p:spTree>
    <p:extLst>
      <p:ext uri="{BB962C8B-B14F-4D97-AF65-F5344CB8AC3E}">
        <p14:creationId xmlns:p14="http://schemas.microsoft.com/office/powerpoint/2010/main" val="1347103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Приостановка и активизация</a:t>
            </a:r>
            <a:endParaRPr lang="ru-RU" dirty="0"/>
          </a:p>
        </p:txBody>
      </p:sp>
      <p:sp>
        <p:nvSpPr>
          <p:cNvPr id="3" name="Объект 2"/>
          <p:cNvSpPr>
            <a:spLocks noGrp="1"/>
          </p:cNvSpPr>
          <p:nvPr>
            <p:ph idx="1"/>
          </p:nvPr>
        </p:nvSpPr>
        <p:spPr/>
        <p:txBody>
          <a:bodyPr>
            <a:normAutofit fontScale="92500" lnSpcReduction="10000"/>
          </a:bodyPr>
          <a:lstStyle/>
          <a:p>
            <a:r>
              <a:rPr lang="ru-RU" dirty="0"/>
              <a:t>Этот подход не только приводит к пустой трате процессорного времени, но и </a:t>
            </a:r>
            <a:r>
              <a:rPr lang="ru-RU" dirty="0" smtClean="0"/>
              <a:t>может</a:t>
            </a:r>
            <a:r>
              <a:rPr lang="en-US" dirty="0" smtClean="0"/>
              <a:t> </a:t>
            </a:r>
            <a:r>
              <a:rPr lang="ru-RU" dirty="0" smtClean="0"/>
              <a:t>иметь </a:t>
            </a:r>
            <a:r>
              <a:rPr lang="ru-RU" dirty="0"/>
              <a:t>совершенно неожиданные эффекты. Рассмотрим компьютер с двумя </a:t>
            </a:r>
            <a:r>
              <a:rPr lang="ru-RU" dirty="0" smtClean="0"/>
              <a:t>процессами</a:t>
            </a:r>
            <a:r>
              <a:rPr lang="ru-RU" dirty="0"/>
              <a:t>: </a:t>
            </a:r>
            <a:r>
              <a:rPr lang="ru-RU" i="1" dirty="0"/>
              <a:t>H </a:t>
            </a:r>
            <a:r>
              <a:rPr lang="ru-RU" dirty="0"/>
              <a:t>с высокой степенью приоритета и </a:t>
            </a:r>
            <a:r>
              <a:rPr lang="ru-RU" i="1" dirty="0"/>
              <a:t>L </a:t>
            </a:r>
            <a:r>
              <a:rPr lang="ru-RU" dirty="0"/>
              <a:t>с низкой степенью приоритета. </a:t>
            </a:r>
            <a:r>
              <a:rPr lang="ru-RU" dirty="0" smtClean="0"/>
              <a:t>Правила</a:t>
            </a:r>
            <a:r>
              <a:rPr lang="en-US" dirty="0" smtClean="0"/>
              <a:t> </a:t>
            </a:r>
            <a:r>
              <a:rPr lang="ru-RU" dirty="0" smtClean="0"/>
              <a:t>планирования </a:t>
            </a:r>
            <a:r>
              <a:rPr lang="ru-RU" dirty="0"/>
              <a:t>их работы предусматривают, что </a:t>
            </a:r>
            <a:r>
              <a:rPr lang="ru-RU" i="1" dirty="0"/>
              <a:t>H </a:t>
            </a:r>
            <a:r>
              <a:rPr lang="ru-RU" dirty="0"/>
              <a:t>выполняется сразу же после </a:t>
            </a:r>
            <a:r>
              <a:rPr lang="ru-RU" dirty="0" smtClean="0"/>
              <a:t>входа</a:t>
            </a:r>
            <a:r>
              <a:rPr lang="en-US" dirty="0" smtClean="0"/>
              <a:t> </a:t>
            </a:r>
            <a:r>
              <a:rPr lang="ru-RU" dirty="0" smtClean="0"/>
              <a:t>в </a:t>
            </a:r>
            <a:r>
              <a:rPr lang="ru-RU" dirty="0"/>
              <a:t>состояние готовности. В определенный момент, когда </a:t>
            </a:r>
            <a:r>
              <a:rPr lang="ru-RU" i="1" dirty="0"/>
              <a:t>L </a:t>
            </a:r>
            <a:r>
              <a:rPr lang="ru-RU" dirty="0"/>
              <a:t>находится в </a:t>
            </a:r>
            <a:r>
              <a:rPr lang="ru-RU" dirty="0" smtClean="0"/>
              <a:t>критической</a:t>
            </a:r>
            <a:r>
              <a:rPr lang="en-US" dirty="0" smtClean="0"/>
              <a:t> </a:t>
            </a:r>
            <a:r>
              <a:rPr lang="ru-RU" dirty="0" smtClean="0"/>
              <a:t>области</a:t>
            </a:r>
            <a:r>
              <a:rPr lang="ru-RU" dirty="0"/>
              <a:t>, </a:t>
            </a:r>
            <a:r>
              <a:rPr lang="ru-RU" i="1" dirty="0"/>
              <a:t>H </a:t>
            </a:r>
            <a:r>
              <a:rPr lang="ru-RU" dirty="0"/>
              <a:t>входит в состояние готовности (к примеру, после завершения </a:t>
            </a:r>
            <a:r>
              <a:rPr lang="ru-RU" dirty="0" smtClean="0"/>
              <a:t>операции</a:t>
            </a:r>
            <a:r>
              <a:rPr lang="en-US" dirty="0" smtClean="0"/>
              <a:t> </a:t>
            </a:r>
            <a:r>
              <a:rPr lang="ru-RU" dirty="0" smtClean="0"/>
              <a:t>ввода-вывода</a:t>
            </a:r>
            <a:r>
              <a:rPr lang="ru-RU" dirty="0"/>
              <a:t>). Теперь </a:t>
            </a:r>
            <a:r>
              <a:rPr lang="ru-RU" i="1" dirty="0"/>
              <a:t>H </a:t>
            </a:r>
            <a:r>
              <a:rPr lang="ru-RU" dirty="0"/>
              <a:t>входит в режим активного ожидания, но поскольку, пока </a:t>
            </a:r>
            <a:r>
              <a:rPr lang="ru-RU" dirty="0" smtClean="0"/>
              <a:t>выполняется </a:t>
            </a:r>
            <a:r>
              <a:rPr lang="ru-RU" dirty="0"/>
              <a:t>процесс </a:t>
            </a:r>
            <a:r>
              <a:rPr lang="ru-RU" i="1" dirty="0"/>
              <a:t>H</a:t>
            </a:r>
            <a:r>
              <a:rPr lang="ru-RU" dirty="0"/>
              <a:t>, выполнение </a:t>
            </a:r>
            <a:r>
              <a:rPr lang="ru-RU" i="1" dirty="0"/>
              <a:t>L </a:t>
            </a:r>
            <a:r>
              <a:rPr lang="ru-RU" dirty="0"/>
              <a:t>не планируется, у </a:t>
            </a:r>
            <a:r>
              <a:rPr lang="ru-RU" i="1" dirty="0"/>
              <a:t>L </a:t>
            </a:r>
            <a:r>
              <a:rPr lang="ru-RU" dirty="0"/>
              <a:t>не остается шансов </a:t>
            </a:r>
            <a:r>
              <a:rPr lang="ru-RU" dirty="0" smtClean="0"/>
              <a:t>выйти из</a:t>
            </a:r>
            <a:r>
              <a:rPr lang="en-US" dirty="0" smtClean="0"/>
              <a:t> </a:t>
            </a:r>
            <a:r>
              <a:rPr lang="ru-RU" dirty="0" smtClean="0"/>
              <a:t>своей </a:t>
            </a:r>
            <a:r>
              <a:rPr lang="ru-RU" dirty="0"/>
              <a:t>критической области, поэтому </a:t>
            </a:r>
            <a:r>
              <a:rPr lang="ru-RU" i="1" dirty="0"/>
              <a:t>H </a:t>
            </a:r>
            <a:r>
              <a:rPr lang="ru-RU" dirty="0"/>
              <a:t>пребывает в бесконечном цикле. На </a:t>
            </a:r>
            <a:r>
              <a:rPr lang="ru-RU" dirty="0" smtClean="0"/>
              <a:t>подобную</a:t>
            </a:r>
            <a:r>
              <a:rPr lang="en-US" dirty="0" smtClean="0"/>
              <a:t> </a:t>
            </a:r>
            <a:r>
              <a:rPr lang="ru-RU" dirty="0" smtClean="0"/>
              <a:t>ситуацию </a:t>
            </a:r>
            <a:r>
              <a:rPr lang="ru-RU" dirty="0"/>
              <a:t>иногда ссылаются как на </a:t>
            </a:r>
            <a:r>
              <a:rPr lang="ru-RU" u="sng" dirty="0"/>
              <a:t>проблему инверсии приоритета.</a:t>
            </a:r>
          </a:p>
        </p:txBody>
      </p:sp>
    </p:spTree>
    <p:extLst>
      <p:ext uri="{BB962C8B-B14F-4D97-AF65-F5344CB8AC3E}">
        <p14:creationId xmlns:p14="http://schemas.microsoft.com/office/powerpoint/2010/main" val="26095985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Приостановка и активизация</a:t>
            </a:r>
            <a:endParaRPr lang="ru-RU" dirty="0"/>
          </a:p>
        </p:txBody>
      </p:sp>
      <p:sp>
        <p:nvSpPr>
          <p:cNvPr id="3" name="Объект 2"/>
          <p:cNvSpPr>
            <a:spLocks noGrp="1"/>
          </p:cNvSpPr>
          <p:nvPr>
            <p:ph idx="1"/>
          </p:nvPr>
        </p:nvSpPr>
        <p:spPr/>
        <p:txBody>
          <a:bodyPr>
            <a:normAutofit/>
          </a:bodyPr>
          <a:lstStyle/>
          <a:p>
            <a:r>
              <a:rPr lang="ru-RU" dirty="0"/>
              <a:t>Теперь рассмотрим некоторые примитивы взаимодействия процессов, которые </a:t>
            </a:r>
            <a:r>
              <a:rPr lang="ru-RU" dirty="0" smtClean="0"/>
              <a:t>блокируют </a:t>
            </a:r>
            <a:r>
              <a:rPr lang="ru-RU" dirty="0"/>
              <a:t>работу, пока им не разрешается входить в критическую область, вместо </a:t>
            </a:r>
            <a:r>
              <a:rPr lang="ru-RU" dirty="0" err="1" smtClean="0"/>
              <a:t>напраснойтраты</a:t>
            </a:r>
            <a:r>
              <a:rPr lang="ru-RU" dirty="0" smtClean="0"/>
              <a:t> </a:t>
            </a:r>
            <a:r>
              <a:rPr lang="ru-RU" dirty="0"/>
              <a:t>времени центрального процессора. Представителями простейшей пары </a:t>
            </a:r>
            <a:r>
              <a:rPr lang="ru-RU" dirty="0" smtClean="0"/>
              <a:t>таких</a:t>
            </a:r>
            <a:r>
              <a:rPr lang="en-US" dirty="0" smtClean="0"/>
              <a:t> </a:t>
            </a:r>
            <a:r>
              <a:rPr lang="ru-RU" dirty="0" smtClean="0"/>
              <a:t>примитивов </a:t>
            </a:r>
            <a:r>
              <a:rPr lang="ru-RU" dirty="0"/>
              <a:t>являются </a:t>
            </a:r>
            <a:r>
              <a:rPr lang="ru-RU" i="1" dirty="0" err="1"/>
              <a:t>sleep</a:t>
            </a:r>
            <a:r>
              <a:rPr lang="ru-RU" i="1" dirty="0"/>
              <a:t> </a:t>
            </a:r>
            <a:r>
              <a:rPr lang="ru-RU" dirty="0"/>
              <a:t>и </a:t>
            </a:r>
            <a:r>
              <a:rPr lang="ru-RU" i="1" dirty="0" err="1"/>
              <a:t>wakeup</a:t>
            </a:r>
            <a:r>
              <a:rPr lang="ru-RU" dirty="0"/>
              <a:t>. Системный вызов </a:t>
            </a:r>
            <a:r>
              <a:rPr lang="ru-RU" i="1" dirty="0" err="1"/>
              <a:t>sleep</a:t>
            </a:r>
            <a:r>
              <a:rPr lang="ru-RU" i="1" dirty="0"/>
              <a:t> </a:t>
            </a:r>
            <a:r>
              <a:rPr lang="ru-RU" dirty="0"/>
              <a:t>блокирует </a:t>
            </a:r>
            <a:r>
              <a:rPr lang="ru-RU" dirty="0" err="1" smtClean="0"/>
              <a:t>вызывающийего</a:t>
            </a:r>
            <a:r>
              <a:rPr lang="ru-RU" dirty="0" smtClean="0"/>
              <a:t> </a:t>
            </a:r>
            <a:r>
              <a:rPr lang="ru-RU" dirty="0"/>
              <a:t>процесс, который приостанавливается до тех пор, пока его не активизирует </a:t>
            </a:r>
            <a:r>
              <a:rPr lang="ru-RU" dirty="0" smtClean="0"/>
              <a:t>другой</a:t>
            </a:r>
            <a:r>
              <a:rPr lang="en-US" dirty="0" smtClean="0"/>
              <a:t> </a:t>
            </a:r>
            <a:r>
              <a:rPr lang="ru-RU" dirty="0" smtClean="0"/>
              <a:t>процесс</a:t>
            </a:r>
            <a:r>
              <a:rPr lang="ru-RU" dirty="0"/>
              <a:t>. Активизирующий вызов </a:t>
            </a:r>
            <a:r>
              <a:rPr lang="ru-RU" i="1" dirty="0" err="1"/>
              <a:t>wakeup</a:t>
            </a:r>
            <a:r>
              <a:rPr lang="ru-RU" i="1" dirty="0"/>
              <a:t> </a:t>
            </a:r>
            <a:r>
              <a:rPr lang="ru-RU" dirty="0"/>
              <a:t>использует один аргумент — </a:t>
            </a:r>
            <a:r>
              <a:rPr lang="ru-RU" dirty="0" smtClean="0"/>
              <a:t>активизируемый</a:t>
            </a:r>
            <a:r>
              <a:rPr lang="en-US" dirty="0" smtClean="0"/>
              <a:t> </a:t>
            </a:r>
            <a:r>
              <a:rPr lang="ru-RU" dirty="0" smtClean="0"/>
              <a:t>процесс</a:t>
            </a:r>
            <a:r>
              <a:rPr lang="ru-RU" dirty="0"/>
              <a:t>. Дополнительно и </a:t>
            </a:r>
            <a:r>
              <a:rPr lang="ru-RU" i="1" dirty="0" err="1"/>
              <a:t>sleep</a:t>
            </a:r>
            <a:r>
              <a:rPr lang="ru-RU" i="1" dirty="0"/>
              <a:t> </a:t>
            </a:r>
            <a:r>
              <a:rPr lang="ru-RU" dirty="0"/>
              <a:t>и </a:t>
            </a:r>
            <a:r>
              <a:rPr lang="ru-RU" i="1" dirty="0" err="1"/>
              <a:t>wakeup</a:t>
            </a:r>
            <a:r>
              <a:rPr lang="ru-RU" i="1" dirty="0"/>
              <a:t> </a:t>
            </a:r>
            <a:r>
              <a:rPr lang="ru-RU" dirty="0"/>
              <a:t>используют еще один аргумент — адрес </a:t>
            </a:r>
            <a:r>
              <a:rPr lang="ru-RU" dirty="0" err="1" smtClean="0"/>
              <a:t>памяти,используемой</a:t>
            </a:r>
            <a:r>
              <a:rPr lang="ru-RU" dirty="0" smtClean="0"/>
              <a:t> </a:t>
            </a:r>
            <a:r>
              <a:rPr lang="ru-RU" dirty="0"/>
              <a:t>для соотнесения вызовов </a:t>
            </a:r>
            <a:r>
              <a:rPr lang="ru-RU" i="1" dirty="0" err="1"/>
              <a:t>sleep</a:t>
            </a:r>
            <a:r>
              <a:rPr lang="ru-RU" i="1" dirty="0"/>
              <a:t> </a:t>
            </a:r>
            <a:r>
              <a:rPr lang="ru-RU" dirty="0"/>
              <a:t>с вызовами </a:t>
            </a:r>
            <a:r>
              <a:rPr lang="ru-RU" i="1" dirty="0" err="1"/>
              <a:t>wakeup</a:t>
            </a:r>
            <a:r>
              <a:rPr lang="ru-RU" dirty="0"/>
              <a:t>.</a:t>
            </a:r>
          </a:p>
        </p:txBody>
      </p:sp>
    </p:spTree>
    <p:extLst>
      <p:ext uri="{BB962C8B-B14F-4D97-AF65-F5344CB8AC3E}">
        <p14:creationId xmlns:p14="http://schemas.microsoft.com/office/powerpoint/2010/main" val="20509197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Семафоры</a:t>
            </a:r>
            <a:endParaRPr lang="ru-RU" dirty="0"/>
          </a:p>
        </p:txBody>
      </p:sp>
      <p:sp>
        <p:nvSpPr>
          <p:cNvPr id="3" name="Объект 2"/>
          <p:cNvSpPr>
            <a:spLocks noGrp="1"/>
          </p:cNvSpPr>
          <p:nvPr>
            <p:ph idx="1"/>
          </p:nvPr>
        </p:nvSpPr>
        <p:spPr>
          <a:xfrm>
            <a:off x="457200" y="1752600"/>
            <a:ext cx="7931224" cy="4373563"/>
          </a:xfrm>
        </p:spPr>
        <p:txBody>
          <a:bodyPr>
            <a:noAutofit/>
          </a:bodyPr>
          <a:lstStyle/>
          <a:p>
            <a:r>
              <a:rPr lang="ru-RU" sz="1600" dirty="0"/>
              <a:t>В</a:t>
            </a:r>
            <a:r>
              <a:rPr lang="ru-RU" sz="1600" dirty="0" smtClean="0"/>
              <a:t> </a:t>
            </a:r>
            <a:r>
              <a:rPr lang="ru-RU" sz="1600" dirty="0"/>
              <a:t>1965 </a:t>
            </a:r>
            <a:r>
              <a:rPr lang="ru-RU" sz="1600" dirty="0" smtClean="0"/>
              <a:t>году </a:t>
            </a:r>
            <a:r>
              <a:rPr lang="ru-RU" sz="1600" dirty="0" err="1" smtClean="0"/>
              <a:t>Дейкстра</a:t>
            </a:r>
            <a:r>
              <a:rPr lang="ru-RU" sz="1600" dirty="0" smtClean="0"/>
              <a:t> предложил </a:t>
            </a:r>
            <a:r>
              <a:rPr lang="ru-RU" sz="1600" dirty="0"/>
              <a:t>учредить новый тип переменной — семафор (</a:t>
            </a:r>
            <a:r>
              <a:rPr lang="ru-RU" sz="1600" dirty="0" err="1"/>
              <a:t>semaphore</a:t>
            </a:r>
            <a:r>
              <a:rPr lang="ru-RU" sz="1600" dirty="0"/>
              <a:t>). </a:t>
            </a:r>
            <a:r>
              <a:rPr lang="ru-RU" sz="1600" dirty="0" smtClean="0"/>
              <a:t>Значение семафора </a:t>
            </a:r>
            <a:r>
              <a:rPr lang="ru-RU" sz="1600" dirty="0"/>
              <a:t>может быть равно 0, что будет свидетельствовать об отсутствии </a:t>
            </a:r>
            <a:r>
              <a:rPr lang="ru-RU" sz="1600" dirty="0" smtClean="0"/>
              <a:t>сохраненных активизаций</a:t>
            </a:r>
            <a:r>
              <a:rPr lang="ru-RU" sz="1600" dirty="0"/>
              <a:t>, или иметь какое-нибудь положительное значение, если ожидается </a:t>
            </a:r>
            <a:r>
              <a:rPr lang="ru-RU" sz="1600" dirty="0" smtClean="0"/>
              <a:t>не менее </a:t>
            </a:r>
            <a:r>
              <a:rPr lang="ru-RU" sz="1600" dirty="0"/>
              <a:t>одной активизации.</a:t>
            </a:r>
          </a:p>
          <a:p>
            <a:r>
              <a:rPr lang="ru-RU" sz="1600" dirty="0" smtClean="0"/>
              <a:t>Две </a:t>
            </a:r>
            <a:r>
              <a:rPr lang="ru-RU" sz="1600" dirty="0"/>
              <a:t>операции с семафорами, которые сейчас </a:t>
            </a:r>
            <a:r>
              <a:rPr lang="ru-RU" sz="1600" dirty="0" smtClean="0"/>
              <a:t>обычно называют </a:t>
            </a:r>
            <a:r>
              <a:rPr lang="ru-RU" sz="1600" i="1" dirty="0" err="1"/>
              <a:t>down</a:t>
            </a:r>
            <a:r>
              <a:rPr lang="ru-RU" sz="1600" i="1" dirty="0"/>
              <a:t> </a:t>
            </a:r>
            <a:r>
              <a:rPr lang="ru-RU" sz="1600" dirty="0"/>
              <a:t>и </a:t>
            </a:r>
            <a:r>
              <a:rPr lang="ru-RU" sz="1600" i="1" dirty="0" err="1" smtClean="0"/>
              <a:t>up</a:t>
            </a:r>
            <a:r>
              <a:rPr lang="ru-RU" sz="1600" i="1" dirty="0" smtClean="0"/>
              <a:t>. </a:t>
            </a:r>
            <a:r>
              <a:rPr lang="ru-RU" sz="1600" dirty="0" smtClean="0"/>
              <a:t>Операция </a:t>
            </a:r>
            <a:r>
              <a:rPr lang="ru-RU" sz="1600" i="1" dirty="0" err="1"/>
              <a:t>down</a:t>
            </a:r>
            <a:r>
              <a:rPr lang="ru-RU" sz="1600" i="1" dirty="0"/>
              <a:t> </a:t>
            </a:r>
            <a:r>
              <a:rPr lang="ru-RU" sz="1600" dirty="0" smtClean="0"/>
              <a:t>выясняет</a:t>
            </a:r>
            <a:r>
              <a:rPr lang="ru-RU" sz="1600" dirty="0"/>
              <a:t>, отличается ли значение семафора от 0. Если отличается, она уменьшает это </a:t>
            </a:r>
            <a:r>
              <a:rPr lang="ru-RU" sz="1600" dirty="0" smtClean="0"/>
              <a:t>значение на </a:t>
            </a:r>
            <a:r>
              <a:rPr lang="ru-RU" sz="1600" dirty="0"/>
              <a:t>1 (то есть использует одну сохраненную активизацию) и продолжает свою работу.</a:t>
            </a:r>
          </a:p>
          <a:p>
            <a:r>
              <a:rPr lang="ru-RU" sz="1600" dirty="0"/>
              <a:t>Если значение равно 0, процесс приостанавливается, не завершая в этот раз </a:t>
            </a:r>
            <a:r>
              <a:rPr lang="ru-RU" sz="1600" dirty="0" smtClean="0"/>
              <a:t>операцию </a:t>
            </a:r>
            <a:r>
              <a:rPr lang="ru-RU" sz="1600" i="1" dirty="0" err="1" smtClean="0"/>
              <a:t>down</a:t>
            </a:r>
            <a:r>
              <a:rPr lang="ru-RU" sz="1600" dirty="0"/>
              <a:t>. И проверка значения, и его изменение, и, возможно, приостановка процесса </a:t>
            </a:r>
            <a:r>
              <a:rPr lang="ru-RU" sz="1600" dirty="0" smtClean="0"/>
              <a:t>осуществляются </a:t>
            </a:r>
            <a:r>
              <a:rPr lang="ru-RU" sz="1600" dirty="0"/>
              <a:t>как единое и неделимое атомарное действие. Тем самым </a:t>
            </a:r>
            <a:r>
              <a:rPr lang="ru-RU" sz="1600" dirty="0" smtClean="0"/>
              <a:t>гарантируется, что </a:t>
            </a:r>
            <a:r>
              <a:rPr lang="ru-RU" sz="1600" dirty="0"/>
              <a:t>с началом семафорной операции никакой другой процесс не может получить </a:t>
            </a:r>
            <a:r>
              <a:rPr lang="ru-RU" sz="1600" dirty="0" smtClean="0"/>
              <a:t>доступ к </a:t>
            </a:r>
            <a:r>
              <a:rPr lang="ru-RU" sz="1600" dirty="0"/>
              <a:t>семафору до тех пор, пока операция не будет завершена или заблокирована.</a:t>
            </a:r>
          </a:p>
        </p:txBody>
      </p:sp>
    </p:spTree>
    <p:extLst>
      <p:ext uri="{BB962C8B-B14F-4D97-AF65-F5344CB8AC3E}">
        <p14:creationId xmlns:p14="http://schemas.microsoft.com/office/powerpoint/2010/main" val="337564228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Семафоры</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564" y="1752600"/>
            <a:ext cx="7289271" cy="4373563"/>
          </a:xfrm>
          <a:prstGeom prst="rect">
            <a:avLst/>
          </a:prstGeom>
        </p:spPr>
      </p:pic>
    </p:spTree>
    <p:extLst>
      <p:ext uri="{BB962C8B-B14F-4D97-AF65-F5344CB8AC3E}">
        <p14:creationId xmlns:p14="http://schemas.microsoft.com/office/powerpoint/2010/main" val="33656022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Главная">
  <a:themeElements>
    <a:clrScheme name="Главная">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Главная">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авная">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1551</TotalTime>
  <Words>6714</Words>
  <Application>Microsoft Office PowerPoint</Application>
  <PresentationFormat>Экран (4:3)</PresentationFormat>
  <Paragraphs>401</Paragraphs>
  <Slides>72</Slides>
  <Notes>31</Notes>
  <HiddenSlides>0</HiddenSlides>
  <MMClips>0</MMClips>
  <ScaleCrop>false</ScaleCrop>
  <HeadingPairs>
    <vt:vector size="4" baseType="variant">
      <vt:variant>
        <vt:lpstr>Тема</vt:lpstr>
      </vt:variant>
      <vt:variant>
        <vt:i4>1</vt:i4>
      </vt:variant>
      <vt:variant>
        <vt:lpstr>Заголовки слайдов</vt:lpstr>
      </vt:variant>
      <vt:variant>
        <vt:i4>72</vt:i4>
      </vt:variant>
    </vt:vector>
  </HeadingPairs>
  <TitlesOfParts>
    <vt:vector size="73" baseType="lpstr">
      <vt:lpstr>Главная</vt:lpstr>
      <vt:lpstr>Процессы и потоки</vt:lpstr>
      <vt:lpstr>Модель процесса</vt:lpstr>
      <vt:lpstr>Модель процесса</vt:lpstr>
      <vt:lpstr>Модель процесса</vt:lpstr>
      <vt:lpstr>Модель процесса</vt:lpstr>
      <vt:lpstr>Модель процесса</vt:lpstr>
      <vt:lpstr>Модель процесса</vt:lpstr>
      <vt:lpstr>Создание процесса</vt:lpstr>
      <vt:lpstr>Создание процесса</vt:lpstr>
      <vt:lpstr>Создание процесса</vt:lpstr>
      <vt:lpstr>Создание процесса</vt:lpstr>
      <vt:lpstr>Создание процесса</vt:lpstr>
      <vt:lpstr>Создание процесса</vt:lpstr>
      <vt:lpstr>Создание процесса</vt:lpstr>
      <vt:lpstr>Создание процесса</vt:lpstr>
      <vt:lpstr>Завершение процесса</vt:lpstr>
      <vt:lpstr>Завершение процесса</vt:lpstr>
      <vt:lpstr>иерархии процессов</vt:lpstr>
      <vt:lpstr>Состояния процессов</vt:lpstr>
      <vt:lpstr>Состояния процессов</vt:lpstr>
      <vt:lpstr>реализация процессов</vt:lpstr>
      <vt:lpstr>Реализация процессов</vt:lpstr>
      <vt:lpstr>Реализация процессов</vt:lpstr>
      <vt:lpstr>Реализация процессов</vt:lpstr>
      <vt:lpstr>Моделирование режима многозадачности</vt:lpstr>
      <vt:lpstr>Моделирование режима многозадачности</vt:lpstr>
      <vt:lpstr>потоки</vt:lpstr>
      <vt:lpstr>Применение потоков</vt:lpstr>
      <vt:lpstr>Применение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Классическая модель потоков</vt:lpstr>
      <vt:lpstr>Потоки в POSIX</vt:lpstr>
      <vt:lpstr>Потоки в POSIX</vt:lpstr>
      <vt:lpstr>Потоки в POSIX</vt:lpstr>
      <vt:lpstr>Потоки в POSIX</vt:lpstr>
      <vt:lpstr>Потоки в POSIX</vt:lpstr>
      <vt:lpstr>Реализация потоков</vt:lpstr>
      <vt:lpstr>Реализация  в пользовательском пространстве</vt:lpstr>
      <vt:lpstr>Реализация  в пользовательском пространстве</vt:lpstr>
      <vt:lpstr>Реализация  в пользовательском пространстве</vt:lpstr>
      <vt:lpstr>Реализация  в пользовательском пространстве</vt:lpstr>
      <vt:lpstr>Реализация потоков в ядре</vt:lpstr>
      <vt:lpstr>Реализация потоков в ядре</vt:lpstr>
      <vt:lpstr>Реализация потоков в ядре</vt:lpstr>
      <vt:lpstr>Реализация потоков в ядре</vt:lpstr>
      <vt:lpstr>Гибридная реализация</vt:lpstr>
      <vt:lpstr>Гибридная реализация</vt:lpstr>
      <vt:lpstr>Взаимодействие процессов</vt:lpstr>
      <vt:lpstr>Состязательная ситуация</vt:lpstr>
      <vt:lpstr>Критические области</vt:lpstr>
      <vt:lpstr>Критические области</vt:lpstr>
      <vt:lpstr>Критические области</vt:lpstr>
      <vt:lpstr>Взаимное исключение с активным ожиданием</vt:lpstr>
      <vt:lpstr>Запрещение прерываний</vt:lpstr>
      <vt:lpstr>Блокирующие переменные</vt:lpstr>
      <vt:lpstr>Строгое чередование</vt:lpstr>
      <vt:lpstr>Строгое чередование</vt:lpstr>
      <vt:lpstr>Алгоритм Петерсона</vt:lpstr>
      <vt:lpstr>Алгоритм Петерсона</vt:lpstr>
      <vt:lpstr>Команда TSL</vt:lpstr>
      <vt:lpstr>Приостановка и активизация</vt:lpstr>
      <vt:lpstr>Приостановка и активизация</vt:lpstr>
      <vt:lpstr>Приостановка и активизация</vt:lpstr>
      <vt:lpstr>Семафоры</vt:lpstr>
      <vt:lpstr>Семафоры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Гатиша</dc:creator>
  <cp:lastModifiedBy>Гатиша</cp:lastModifiedBy>
  <cp:revision>79</cp:revision>
  <dcterms:created xsi:type="dcterms:W3CDTF">2016-09-05T21:58:18Z</dcterms:created>
  <dcterms:modified xsi:type="dcterms:W3CDTF">2018-02-25T20:41:03Z</dcterms:modified>
</cp:coreProperties>
</file>