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1"/>
  </p:sldMasterIdLst>
  <p:notesMasterIdLst>
    <p:notesMasterId r:id="rId35"/>
  </p:notesMasterIdLst>
  <p:sldIdLst>
    <p:sldId id="378" r:id="rId2"/>
    <p:sldId id="311" r:id="rId3"/>
    <p:sldId id="316" r:id="rId4"/>
    <p:sldId id="315" r:id="rId5"/>
    <p:sldId id="319" r:id="rId6"/>
    <p:sldId id="314" r:id="rId7"/>
    <p:sldId id="313" r:id="rId8"/>
    <p:sldId id="320" r:id="rId9"/>
    <p:sldId id="317" r:id="rId10"/>
    <p:sldId id="322" r:id="rId11"/>
    <p:sldId id="321" r:id="rId12"/>
    <p:sldId id="405" r:id="rId13"/>
    <p:sldId id="326" r:id="rId14"/>
    <p:sldId id="327" r:id="rId15"/>
    <p:sldId id="328" r:id="rId16"/>
    <p:sldId id="329" r:id="rId17"/>
    <p:sldId id="330" r:id="rId18"/>
    <p:sldId id="331" r:id="rId19"/>
    <p:sldId id="333" r:id="rId20"/>
    <p:sldId id="407" r:id="rId21"/>
    <p:sldId id="334" r:id="rId22"/>
    <p:sldId id="408" r:id="rId23"/>
    <p:sldId id="409" r:id="rId24"/>
    <p:sldId id="336" r:id="rId25"/>
    <p:sldId id="395" r:id="rId26"/>
    <p:sldId id="396" r:id="rId27"/>
    <p:sldId id="397" r:id="rId28"/>
    <p:sldId id="398" r:id="rId29"/>
    <p:sldId id="400" r:id="rId30"/>
    <p:sldId id="399" r:id="rId31"/>
    <p:sldId id="401" r:id="rId32"/>
    <p:sldId id="402" r:id="rId33"/>
    <p:sldId id="403" r:id="rId3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D6AEAA"/>
    <a:srgbClr val="FF9933"/>
    <a:srgbClr val="A50021"/>
    <a:srgbClr val="A1CDFD"/>
    <a:srgbClr val="6699FF"/>
    <a:srgbClr val="FF330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4660"/>
  </p:normalViewPr>
  <p:slideViewPr>
    <p:cSldViewPr>
      <p:cViewPr>
        <p:scale>
          <a:sx n="70" d="100"/>
          <a:sy n="70" d="100"/>
        </p:scale>
        <p:origin x="-1392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108014" cy="10801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401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8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402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21402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402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6BF39DA-63A2-4B9D-9760-2A17276A5A6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50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50E7D1B-820D-4E86-8BB9-5E3387E6204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3F8C8A-87C2-4BC7-A002-832763F6E2E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BFDFE4-F14A-42DB-A640-CB8E2EF0037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94C66E-8B87-41FB-82D8-C4AB0CB5461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33D281-1CFF-496B-901C-81B5B2CE39D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1803EB-1D23-42F2-8AAB-26E5D854C2F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B426D-AD98-4043-B470-FEC3F67B26B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FED9DC-5960-40E6-AF66-F18F1E9EE6F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32E266B-251A-4EA8-B366-1BEB1115EA0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A1534B-2566-40EB-AFF9-09071F675F4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EDAB9-A273-4D1A-A623-680462C4ADB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572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Теория электрических цепей. Лекция 2.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71A07-F98A-4C80-941E-2415D914ED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572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Теория электрических цепей. Лекция 2.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7562C-F401-4E86-8761-EC3317453C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algn="l" eaLnBrk="1" latinLnBrk="0" hangingPunct="1"/>
            <a:fld id="{74CBEAF9-9E58-4CC8-A6FF-6DD8A58DEEA4}" type="datetimeFigureOut">
              <a:rPr lang="en-US" smtClean="0"/>
              <a:pPr algn="l" eaLnBrk="1" latinLnBrk="0" hangingPunct="1"/>
              <a:t>4/22/2018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37E5BF5-333E-4488-B610-446B0F8A1FC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529637" cy="4787900"/>
          </a:xfrm>
        </p:spPr>
        <p:txBody>
          <a:bodyPr/>
          <a:lstStyle/>
          <a:p>
            <a:r>
              <a:rPr lang="ru-RU" sz="5400" dirty="0" smtClean="0"/>
              <a:t>СИСТЕМНЫЙ </a:t>
            </a:r>
            <a:r>
              <a:rPr lang="ru-RU" sz="5400" dirty="0" smtClean="0"/>
              <a:t>РЕЕСТР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5E4A8D0-D659-4402-AE18-3AD9B01B1C62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mtClean="0"/>
              <a:t>Реестр системы Windows 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ru-RU" smtClean="0"/>
              <a:t>Реестр операционной системы Windows представляет собой централизованную базу данных параметров настройки системы и работающих в ней приложений. </a:t>
            </a:r>
          </a:p>
          <a:p>
            <a:pPr algn="just" eaLnBrk="1" hangingPunct="1"/>
            <a:r>
              <a:rPr lang="ru-RU" smtClean="0"/>
              <a:t>Аналогичен разнообразным </a:t>
            </a:r>
            <a:r>
              <a:rPr lang="en-US" smtClean="0"/>
              <a:t>INI</a:t>
            </a:r>
            <a:r>
              <a:rPr lang="ru-RU" smtClean="0"/>
              <a:t>-файлам, а также файлам </a:t>
            </a:r>
            <a:r>
              <a:rPr lang="en-US" smtClean="0"/>
              <a:t>Autoexec</a:t>
            </a:r>
            <a:r>
              <a:rPr lang="ru-RU" smtClean="0"/>
              <a:t>.</a:t>
            </a:r>
            <a:r>
              <a:rPr lang="en-US" smtClean="0"/>
              <a:t>bat</a:t>
            </a:r>
            <a:r>
              <a:rPr lang="ru-RU" smtClean="0"/>
              <a:t> и </a:t>
            </a:r>
            <a:r>
              <a:rPr lang="en-US" smtClean="0"/>
              <a:t>Config</a:t>
            </a:r>
            <a:r>
              <a:rPr lang="ru-RU" smtClean="0"/>
              <a:t>.</a:t>
            </a:r>
            <a:r>
              <a:rPr lang="en-US" smtClean="0"/>
              <a:t>sys</a:t>
            </a:r>
            <a:r>
              <a:rPr lang="ru-RU" smtClean="0"/>
              <a:t>, которые использовались ранее. </a:t>
            </a:r>
          </a:p>
          <a:p>
            <a:pPr algn="just" eaLnBrk="1" hangingPunct="1"/>
            <a:r>
              <a:rPr lang="ru-RU" smtClean="0"/>
              <a:t>Реестр содержит информацию обо всех аппаратных средствах, программном обеспечении, операционной системе и сетевых параметрах компьютера 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3EBE20-A99D-474F-B9AA-EE1FB1BAE4E2}" type="slidenum">
              <a:rPr lang="ru-RU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8111318" cy="1371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Программные компоненты системы, работающие с реестром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11318" cy="4373563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ru-RU" sz="1800" i="1" dirty="0" smtClean="0"/>
              <a:t>Программы установки</a:t>
            </a:r>
            <a:r>
              <a:rPr lang="ru-RU" sz="1800" dirty="0" smtClean="0"/>
              <a:t>. Каждый раз при запуске программы установки или других установочных программ (для аппаратных и программных средств) в реестр добавляются новые конфигурационные данные. Начиная свою работу, все грамотно разработанные программы установки считывают информацию реестра, чтобы определить, присутствуют ли в системе компоненты, обязательные для успешного завершения установки. Централизованный реестр позволяет приложениям совместно использовать конфигурационную информацию и предоставляет им больше возможностей взаимодействия между собой. </a:t>
            </a:r>
            <a:endParaRPr lang="ru-RU" sz="1800" i="1" dirty="0" smtClean="0"/>
          </a:p>
          <a:p>
            <a:pPr algn="just" eaLnBrk="1" hangingPunct="1">
              <a:lnSpc>
                <a:spcPct val="90000"/>
              </a:lnSpc>
            </a:pPr>
            <a:r>
              <a:rPr lang="ru-RU" sz="1800" i="1" dirty="0" smtClean="0"/>
              <a:t>Распознаватель</a:t>
            </a:r>
            <a:r>
              <a:rPr lang="ru-RU" sz="1800" dirty="0" smtClean="0"/>
              <a:t>. Каждый раз при запуске компьютера под управлением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распознаватель аппаратных средств (</a:t>
            </a:r>
            <a:r>
              <a:rPr lang="en-US" sz="1800" dirty="0" smtClean="0"/>
              <a:t>Hardware Recognizer</a:t>
            </a:r>
            <a:r>
              <a:rPr lang="ru-RU" sz="1800" dirty="0" smtClean="0"/>
              <a:t>) помещает в реестр список обнаруженных им устройств. </a:t>
            </a:r>
            <a:endParaRPr lang="ru-RU" sz="1800" i="1" dirty="0" smtClean="0"/>
          </a:p>
          <a:p>
            <a:pPr algn="just" eaLnBrk="1" hangingPunct="1">
              <a:lnSpc>
                <a:spcPct val="90000"/>
              </a:lnSpc>
            </a:pPr>
            <a:r>
              <a:rPr lang="ru-RU" sz="1800" i="1" dirty="0" smtClean="0"/>
              <a:t>Ядро </a:t>
            </a:r>
            <a:r>
              <a:rPr lang="en-US" sz="1800" i="1" dirty="0" smtClean="0"/>
              <a:t>Windows</a:t>
            </a:r>
            <a:r>
              <a:rPr lang="ru-RU" sz="1800" dirty="0" smtClean="0"/>
              <a:t>. При старте системы ядро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извлекает из реестра сведения о загружаемых драйверах устройств и порядке их загрузки. Кроме того, программа </a:t>
            </a:r>
            <a:r>
              <a:rPr lang="en-US" sz="1800" dirty="0" err="1" smtClean="0"/>
              <a:t>Ntoskrnl</a:t>
            </a:r>
            <a:r>
              <a:rPr lang="ru-RU" sz="1800" dirty="0" smtClean="0"/>
              <a:t>.</a:t>
            </a:r>
            <a:r>
              <a:rPr lang="ru-RU" sz="1800" dirty="0" err="1" smtClean="0"/>
              <a:t>ехе</a:t>
            </a:r>
            <a:r>
              <a:rPr lang="ru-RU" sz="1800" dirty="0" smtClean="0"/>
              <a:t> передает в реестр информацию о себе (примером такой информации может служить, например, номер версии).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FA717-E3FB-4D74-9626-4979A524CC0D}" type="slidenum">
              <a:rPr lang="ru-RU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8003304" cy="1371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200" dirty="0" smtClean="0"/>
              <a:t>Программные компоненты системы, работающие с реестром (продолжение)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003304" cy="4373563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ru-RU" sz="2000" i="1" dirty="0" smtClean="0"/>
              <a:t>Драйверы устройств. </a:t>
            </a:r>
            <a:r>
              <a:rPr lang="ru-RU" sz="2000" dirty="0" smtClean="0"/>
              <a:t>Драйверы устройств обмениваются с</a:t>
            </a:r>
            <a:r>
              <a:rPr lang="ru-RU" sz="2000" i="1" dirty="0" smtClean="0"/>
              <a:t> </a:t>
            </a:r>
            <a:r>
              <a:rPr lang="ru-RU" sz="2000" dirty="0" smtClean="0"/>
              <a:t>реестром параметрами загрузки и конфигурационными данными. </a:t>
            </a:r>
            <a:endParaRPr lang="ru-RU" sz="2000" i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000" i="1" dirty="0" smtClean="0"/>
              <a:t>Административные средства </a:t>
            </a:r>
            <a:r>
              <a:rPr lang="ru-RU" sz="2000" i="1" dirty="0" err="1" smtClean="0"/>
              <a:t>Windows</a:t>
            </a:r>
            <a:r>
              <a:rPr lang="ru-RU" sz="2000" i="1" dirty="0" smtClean="0"/>
              <a:t>. </a:t>
            </a:r>
            <a:r>
              <a:rPr lang="ru-RU" sz="2000" dirty="0" smtClean="0"/>
              <a:t>Административные средства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, в том числе утилиты панели управления и оснастки, собранные в группу </a:t>
            </a:r>
            <a:r>
              <a:rPr lang="ru-RU" sz="2000" b="1" dirty="0" smtClean="0"/>
              <a:t>Администрирование</a:t>
            </a:r>
            <a:r>
              <a:rPr lang="ru-RU" sz="2000" dirty="0" smtClean="0"/>
              <a:t>, представляют собой наиболее удобные и безопасные средства модификации реестра. Редакторы реестра также полезны для его просмотра и, время от времени, для внесения изменений в конфигурацию системы.</a:t>
            </a:r>
            <a:endParaRPr lang="ru-RU" sz="2000" i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000" i="1" dirty="0" smtClean="0"/>
              <a:t>Пользовательские профили</a:t>
            </a:r>
            <a:r>
              <a:rPr lang="ru-RU" sz="2000" dirty="0" smtClean="0"/>
              <a:t>.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обеспечивает возможность создания множества пользовательских профилей. Вся информация, относящаяся к конкретному пользовательскому имени и ассоциированным с ним правам, хранится в реестре (файл </a:t>
            </a:r>
            <a:r>
              <a:rPr lang="en-US" sz="2000" dirty="0" err="1" smtClean="0"/>
              <a:t>ntuser</a:t>
            </a:r>
            <a:r>
              <a:rPr lang="ru-RU" sz="2000" dirty="0" smtClean="0"/>
              <a:t>.</a:t>
            </a:r>
            <a:r>
              <a:rPr lang="en-US" sz="2000" dirty="0" err="1" smtClean="0"/>
              <a:t>dat</a:t>
            </a:r>
            <a:r>
              <a:rPr lang="ru-RU" sz="2000" dirty="0" smtClean="0"/>
              <a:t>  в профиле каждого пользователя). </a:t>
            </a:r>
            <a:endParaRPr lang="ru-RU" sz="2000" i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000" i="1" dirty="0" smtClean="0"/>
              <a:t>Аппаратные профили</a:t>
            </a:r>
            <a:r>
              <a:rPr lang="ru-RU" sz="2000" dirty="0" smtClean="0"/>
              <a:t>. Реестр позволяет хранить множественные аппаратные конфигурации. Аппаратный профиль представляет собой набор инструкций, с помощью которого можно указать ОС, драйверы каких устройств должны загружаться при запуске компьютера. 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C51157-57A8-40C2-9B1F-F6017A97BBF5}" type="slidenum">
              <a:rPr lang="ru-RU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mtClean="0"/>
              <a:t>Структура реестра</a:t>
            </a:r>
            <a:br>
              <a:rPr lang="ru-RU" smtClean="0"/>
            </a:br>
            <a:endParaRPr lang="ru-RU" smtClean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mtClean="0"/>
              <a:t>      </a:t>
            </a:r>
          </a:p>
        </p:txBody>
      </p:sp>
      <p:sp>
        <p:nvSpPr>
          <p:cNvPr id="10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E645A6-E3AA-4264-BF12-F20FE91D4251}" type="slidenum">
              <a:rPr lang="ru-RU"/>
              <a:pPr>
                <a:defRPr/>
              </a:pPr>
              <a:t>5</a:t>
            </a:fld>
            <a:endParaRPr lang="ru-RU"/>
          </a:p>
        </p:txBody>
      </p:sp>
      <p:grpSp>
        <p:nvGrpSpPr>
          <p:cNvPr id="6149" name="Group 7"/>
          <p:cNvGrpSpPr>
            <a:grpSpLocks/>
          </p:cNvGrpSpPr>
          <p:nvPr/>
        </p:nvGrpSpPr>
        <p:grpSpPr bwMode="auto">
          <a:xfrm>
            <a:off x="2627313" y="1700213"/>
            <a:ext cx="3348037" cy="3133725"/>
            <a:chOff x="4820" y="3375"/>
            <a:chExt cx="2400" cy="3204"/>
          </a:xfrm>
        </p:grpSpPr>
        <p:sp>
          <p:nvSpPr>
            <p:cNvPr id="6150" name="Text Box 8"/>
            <p:cNvSpPr txBox="1">
              <a:spLocks noChangeArrowheads="1"/>
            </p:cNvSpPr>
            <p:nvPr/>
          </p:nvSpPr>
          <p:spPr bwMode="auto">
            <a:xfrm>
              <a:off x="4820" y="3375"/>
              <a:ext cx="2400" cy="6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400">
                  <a:solidFill>
                    <a:srgbClr val="A50021"/>
                  </a:solidFill>
                  <a:latin typeface="Times New Roman" pitchFamily="18" charset="0"/>
                </a:rPr>
                <a:t>Реестр</a:t>
              </a:r>
            </a:p>
          </p:txBody>
        </p:sp>
        <p:sp>
          <p:nvSpPr>
            <p:cNvPr id="6151" name="Text Box 9"/>
            <p:cNvSpPr txBox="1">
              <a:spLocks noChangeArrowheads="1"/>
            </p:cNvSpPr>
            <p:nvPr/>
          </p:nvSpPr>
          <p:spPr bwMode="auto">
            <a:xfrm>
              <a:off x="4820" y="4629"/>
              <a:ext cx="2400" cy="6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400">
                  <a:solidFill>
                    <a:srgbClr val="A50021"/>
                  </a:solidFill>
                  <a:latin typeface="Times New Roman" pitchFamily="18" charset="0"/>
                </a:rPr>
                <a:t>Раздел (ветвь)</a:t>
              </a:r>
            </a:p>
          </p:txBody>
        </p:sp>
        <p:sp>
          <p:nvSpPr>
            <p:cNvPr id="6152" name="Text Box 10"/>
            <p:cNvSpPr txBox="1">
              <a:spLocks noChangeArrowheads="1"/>
            </p:cNvSpPr>
            <p:nvPr/>
          </p:nvSpPr>
          <p:spPr bwMode="auto">
            <a:xfrm>
              <a:off x="4820" y="5883"/>
              <a:ext cx="2400" cy="6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ru-RU" sz="2400">
                  <a:solidFill>
                    <a:srgbClr val="A50021"/>
                  </a:solidFill>
                  <a:latin typeface="Times New Roman" pitchFamily="18" charset="0"/>
                </a:rPr>
                <a:t>Параметр</a:t>
              </a:r>
            </a:p>
          </p:txBody>
        </p:sp>
        <p:sp>
          <p:nvSpPr>
            <p:cNvPr id="6153" name="Line 11"/>
            <p:cNvSpPr>
              <a:spLocks noChangeShapeType="1"/>
            </p:cNvSpPr>
            <p:nvPr/>
          </p:nvSpPr>
          <p:spPr bwMode="auto">
            <a:xfrm>
              <a:off x="6091" y="4071"/>
              <a:ext cx="0" cy="5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4" name="Line 12"/>
            <p:cNvSpPr>
              <a:spLocks noChangeShapeType="1"/>
            </p:cNvSpPr>
            <p:nvPr/>
          </p:nvSpPr>
          <p:spPr bwMode="auto">
            <a:xfrm>
              <a:off x="6091" y="5326"/>
              <a:ext cx="0" cy="5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mtClean="0"/>
              <a:t>Структура реестра</a:t>
            </a:r>
            <a:br>
              <a:rPr lang="ru-RU" smtClean="0"/>
            </a:br>
            <a:endParaRPr lang="ru-RU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mtClean="0"/>
              <a:t>Корневые разделы:</a:t>
            </a:r>
          </a:p>
          <a:p>
            <a:pPr eaLnBrk="1" hangingPunct="1"/>
            <a:r>
              <a:rPr lang="en-US" smtClean="0"/>
              <a:t>HKEY</a:t>
            </a:r>
            <a:r>
              <a:rPr lang="ru-RU" smtClean="0"/>
              <a:t>_</a:t>
            </a:r>
            <a:r>
              <a:rPr lang="en-US" smtClean="0"/>
              <a:t>CLASSES</a:t>
            </a:r>
            <a:r>
              <a:rPr lang="ru-RU" smtClean="0"/>
              <a:t>_</a:t>
            </a:r>
            <a:r>
              <a:rPr lang="en-US" smtClean="0"/>
              <a:t>ROOT</a:t>
            </a:r>
            <a:endParaRPr lang="ru-RU" smtClean="0"/>
          </a:p>
          <a:p>
            <a:pPr eaLnBrk="1" hangingPunct="1"/>
            <a:r>
              <a:rPr lang="ru-RU" smtClean="0"/>
              <a:t>HKEY_CURRENT_USER</a:t>
            </a:r>
          </a:p>
          <a:p>
            <a:pPr eaLnBrk="1" hangingPunct="1"/>
            <a:r>
              <a:rPr lang="ru-RU" smtClean="0"/>
              <a:t>HKEY_LOCAL_MACHINE</a:t>
            </a:r>
          </a:p>
          <a:p>
            <a:pPr eaLnBrk="1" hangingPunct="1"/>
            <a:r>
              <a:rPr lang="ru-RU" smtClean="0"/>
              <a:t>HKEY_USERS</a:t>
            </a:r>
          </a:p>
          <a:p>
            <a:pPr eaLnBrk="1" hangingPunct="1"/>
            <a:r>
              <a:rPr lang="ru-RU" smtClean="0"/>
              <a:t>HKEY_CURRENT_ CONFIG 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669F26-5675-42BE-819D-021D4A2CA310}" type="slidenum">
              <a:rPr lang="ru-RU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84328"/>
          </a:xfrm>
        </p:spPr>
        <p:txBody>
          <a:bodyPr>
            <a:normAutofit/>
          </a:bodyPr>
          <a:lstStyle/>
          <a:p>
            <a:pPr eaLnBrk="1" hangingPunct="1"/>
            <a:r>
              <a:rPr lang="ru-RU" dirty="0" smtClean="0"/>
              <a:t>Корневые разделы реестра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z="2000" smtClean="0"/>
              <a:t>  </a:t>
            </a:r>
          </a:p>
        </p:txBody>
      </p:sp>
      <p:graphicFrame>
        <p:nvGraphicFramePr>
          <p:cNvPr id="373802" name="Group 42"/>
          <p:cNvGraphicFramePr>
            <a:graphicFrameLocks noGrp="1"/>
          </p:cNvGraphicFramePr>
          <p:nvPr>
            <p:ph sz="half" idx="2"/>
          </p:nvPr>
        </p:nvGraphicFramePr>
        <p:xfrm>
          <a:off x="467468" y="1160706"/>
          <a:ext cx="8101050" cy="4983480"/>
        </p:xfrm>
        <a:graphic>
          <a:graphicData uri="http://schemas.openxmlformats.org/drawingml/2006/table">
            <a:tbl>
              <a:tblPr/>
              <a:tblGrid>
                <a:gridCol w="2277740"/>
                <a:gridCol w="582331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Раздел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CLASSES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ROOT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Содержит ассоциации между приложениями и типами файлов (по расширениям имени файла). Кроме того, этот раздел содержит информацию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OLE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(О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bject Linking and Embedding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), ассоциированную с объектами СОМ, а также данные по ассоциациям файлов и классов Параметры этого раздела совпадают с параметрами, расположенными в разделе НКЕУ_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LOCAL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\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Software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\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Classes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HKEY_CURRENT_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CONFIG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Содержит конфигурационные данные для текущего аппаратного профиля. Кроме того, параметры этого раздела появляются также в разделе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LOCAL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\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\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CurrentControlSet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\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HardwareProfiles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\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Current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2B22F47-680D-410C-B66E-0B9D351ED2B4}" type="slidenum">
              <a:rPr lang="ru-RU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92342"/>
          </a:xfrm>
        </p:spPr>
        <p:txBody>
          <a:bodyPr/>
          <a:lstStyle/>
          <a:p>
            <a:pPr eaLnBrk="1" hangingPunct="1"/>
            <a:r>
              <a:rPr lang="ru-RU" dirty="0" smtClean="0"/>
              <a:t>Корневые разделы реестра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z="2000" smtClean="0"/>
              <a:t>  </a:t>
            </a:r>
          </a:p>
        </p:txBody>
      </p:sp>
      <p:graphicFrame>
        <p:nvGraphicFramePr>
          <p:cNvPr id="381984" name="Group 32"/>
          <p:cNvGraphicFramePr>
            <a:graphicFrameLocks noGrp="1"/>
          </p:cNvGraphicFramePr>
          <p:nvPr>
            <p:ph sz="half" idx="2"/>
          </p:nvPr>
        </p:nvGraphicFramePr>
        <p:xfrm>
          <a:off x="575482" y="1176338"/>
          <a:ext cx="8111318" cy="4824730"/>
        </p:xfrm>
        <a:graphic>
          <a:graphicData uri="http://schemas.openxmlformats.org/drawingml/2006/table">
            <a:tbl>
              <a:tblPr/>
              <a:tblGrid>
                <a:gridCol w="2160280"/>
                <a:gridCol w="5951038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Раздел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HKEY_LOCAL_MACHINE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Содержит глобальную информацию о компьютерной системе, включая  такие данные об аппаратных средствах и операционной системе, как: тип шины, системная память, драйверы устройств и управляющие данные, используемые при запуске системы.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HKEY_USERS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Содержит все активно загруженные пользовательские профили, включая НКЕ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CURRENT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USER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а также профиль по умолчанию. Раздел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_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USERS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содержит вложенный раздел \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Default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,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HKEY_CURRENT_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USER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Содержит профиль пользователя, на данный момент зарегистрировавшегося в системе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18B6DB-9E81-4409-881A-BDE7F47DEC87}" type="slidenum">
              <a:rPr lang="ru-RU"/>
              <a:pPr>
                <a:defRPr/>
              </a:pPr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mtClean="0"/>
              <a:t>Структура параметра реестра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z="2000" smtClean="0"/>
              <a:t>              </a:t>
            </a:r>
          </a:p>
        </p:txBody>
      </p:sp>
      <p:sp>
        <p:nvSpPr>
          <p:cNvPr id="23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98C760-14B2-4017-8BB0-C3A9DD5A5673}" type="slidenum">
              <a:rPr lang="ru-RU"/>
              <a:pPr>
                <a:defRPr/>
              </a:pPr>
              <a:t>9</a:t>
            </a:fld>
            <a:endParaRPr lang="ru-RU"/>
          </a:p>
        </p:txBody>
      </p:sp>
      <p:grpSp>
        <p:nvGrpSpPr>
          <p:cNvPr id="10245" name="Group 5"/>
          <p:cNvGrpSpPr>
            <a:grpSpLocks/>
          </p:cNvGrpSpPr>
          <p:nvPr/>
        </p:nvGrpSpPr>
        <p:grpSpPr bwMode="auto">
          <a:xfrm>
            <a:off x="1222375" y="2124075"/>
            <a:ext cx="6391275" cy="1812925"/>
            <a:chOff x="1494" y="4204"/>
            <a:chExt cx="5580" cy="1440"/>
          </a:xfrm>
        </p:grpSpPr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2034" y="4204"/>
              <a:ext cx="10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ru-RU" sz="2000" dirty="0">
                  <a:latin typeface="Times New Roman" pitchFamily="18" charset="0"/>
                </a:rPr>
                <a:t>Имя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3654" y="4204"/>
              <a:ext cx="144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ru-RU" sz="2000">
                  <a:latin typeface="Times New Roman" pitchFamily="18" charset="0"/>
                </a:rPr>
                <a:t>Тип данных</a:t>
              </a:r>
            </a:p>
          </p:txBody>
        </p:sp>
        <p:sp>
          <p:nvSpPr>
            <p:cNvPr id="10248" name="Text Box 8"/>
            <p:cNvSpPr txBox="1">
              <a:spLocks noChangeArrowheads="1"/>
            </p:cNvSpPr>
            <p:nvPr/>
          </p:nvSpPr>
          <p:spPr bwMode="auto">
            <a:xfrm>
              <a:off x="5634" y="4204"/>
              <a:ext cx="144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ru-RU" sz="2000">
                  <a:latin typeface="Times New Roman" pitchFamily="18" charset="0"/>
                </a:rPr>
                <a:t>Значение</a:t>
              </a:r>
            </a:p>
          </p:txBody>
        </p:sp>
        <p:sp>
          <p:nvSpPr>
            <p:cNvPr id="10249" name="Text Box 9"/>
            <p:cNvSpPr txBox="1">
              <a:spLocks noChangeArrowheads="1"/>
            </p:cNvSpPr>
            <p:nvPr/>
          </p:nvSpPr>
          <p:spPr bwMode="auto">
            <a:xfrm>
              <a:off x="1494" y="5104"/>
              <a:ext cx="198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2000" dirty="0" err="1">
                  <a:latin typeface="Times New Roman" pitchFamily="18" charset="0"/>
                </a:rPr>
                <a:t>RegistrySizeLimit</a:t>
              </a:r>
              <a:endParaRPr lang="ru-RU" sz="2000" dirty="0">
                <a:latin typeface="Times New Roman" pitchFamily="18" charset="0"/>
              </a:endParaRPr>
            </a:p>
          </p:txBody>
        </p:sp>
        <p:sp>
          <p:nvSpPr>
            <p:cNvPr id="10250" name="Text Box 10"/>
            <p:cNvSpPr txBox="1">
              <a:spLocks noChangeArrowheads="1"/>
            </p:cNvSpPr>
            <p:nvPr/>
          </p:nvSpPr>
          <p:spPr bwMode="auto">
            <a:xfrm>
              <a:off x="3474" y="5104"/>
              <a:ext cx="16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2000">
                  <a:latin typeface="Times New Roman" pitchFamily="18" charset="0"/>
                </a:rPr>
                <a:t>REG_DWORD</a:t>
              </a:r>
              <a:endParaRPr lang="ru-RU" sz="2000">
                <a:latin typeface="Times New Roman" pitchFamily="18" charset="0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5454" y="5104"/>
              <a:ext cx="16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2000">
                  <a:latin typeface="Times New Roman" pitchFamily="18" charset="0"/>
                </a:rPr>
                <a:t>0x8000000</a:t>
              </a:r>
              <a:endParaRPr lang="ru-RU" sz="2000">
                <a:latin typeface="Times New Roman" pitchFamily="18" charset="0"/>
              </a:endParaRPr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>
              <a:off x="2574" y="474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>
              <a:off x="1674" y="4924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>
              <a:off x="1674" y="492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>
              <a:off x="3294" y="492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auto">
            <a:xfrm>
              <a:off x="4374" y="474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7" name="Line 17"/>
            <p:cNvSpPr>
              <a:spLocks noChangeShapeType="1"/>
            </p:cNvSpPr>
            <p:nvPr/>
          </p:nvSpPr>
          <p:spPr bwMode="auto">
            <a:xfrm>
              <a:off x="3474" y="4924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>
              <a:off x="3474" y="492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>
              <a:off x="5094" y="492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60" name="Line 20"/>
            <p:cNvSpPr>
              <a:spLocks noChangeShapeType="1"/>
            </p:cNvSpPr>
            <p:nvPr/>
          </p:nvSpPr>
          <p:spPr bwMode="auto">
            <a:xfrm>
              <a:off x="6354" y="474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61" name="Line 21"/>
            <p:cNvSpPr>
              <a:spLocks noChangeShapeType="1"/>
            </p:cNvSpPr>
            <p:nvPr/>
          </p:nvSpPr>
          <p:spPr bwMode="auto">
            <a:xfrm>
              <a:off x="5454" y="4924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62" name="Line 22"/>
            <p:cNvSpPr>
              <a:spLocks noChangeShapeType="1"/>
            </p:cNvSpPr>
            <p:nvPr/>
          </p:nvSpPr>
          <p:spPr bwMode="auto">
            <a:xfrm>
              <a:off x="5454" y="492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263" name="Line 23"/>
            <p:cNvSpPr>
              <a:spLocks noChangeShapeType="1"/>
            </p:cNvSpPr>
            <p:nvPr/>
          </p:nvSpPr>
          <p:spPr bwMode="auto">
            <a:xfrm>
              <a:off x="7074" y="492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6594"/>
            <a:ext cx="7895290" cy="1080140"/>
          </a:xfrm>
        </p:spPr>
        <p:txBody>
          <a:bodyPr>
            <a:noAutofit/>
          </a:bodyPr>
          <a:lstStyle/>
          <a:p>
            <a:pPr eaLnBrk="1" hangingPunct="1"/>
            <a:r>
              <a:rPr lang="ru-RU" sz="3200" dirty="0" smtClean="0"/>
              <a:t>Хранение данных реестра</a:t>
            </a:r>
            <a:br>
              <a:rPr lang="ru-RU" sz="3200" dirty="0" smtClean="0"/>
            </a:br>
            <a:r>
              <a:rPr lang="ru-RU" sz="3200" dirty="0" smtClean="0"/>
              <a:t>(понятие куста</a:t>
            </a:r>
            <a:r>
              <a:rPr lang="ru-RU" sz="3200" dirty="0" smtClean="0"/>
              <a:t>)</a:t>
            </a:r>
            <a:endParaRPr lang="ru-RU" sz="3200" dirty="0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251440" y="1268720"/>
            <a:ext cx="8209064" cy="4525963"/>
          </a:xfrm>
        </p:spPr>
        <p:txBody>
          <a:bodyPr>
            <a:normAutofit/>
          </a:bodyPr>
          <a:lstStyle/>
          <a:p>
            <a:pPr eaLnBrk="1" hangingPunct="1"/>
            <a:endParaRPr lang="ru-RU" dirty="0" smtClean="0"/>
          </a:p>
          <a:p>
            <a:pPr algn="just" eaLnBrk="1" hangingPunct="1">
              <a:buFontTx/>
              <a:buNone/>
            </a:pPr>
            <a:r>
              <a:rPr lang="ru-RU" b="1" i="1" dirty="0" smtClean="0">
                <a:solidFill>
                  <a:srgbClr val="A50021"/>
                </a:solidFill>
              </a:rPr>
              <a:t>Куст</a:t>
            </a:r>
            <a:r>
              <a:rPr lang="ru-RU" b="1" dirty="0" smtClean="0">
                <a:solidFill>
                  <a:srgbClr val="A50021"/>
                </a:solidFill>
              </a:rPr>
              <a:t> </a:t>
            </a:r>
            <a:r>
              <a:rPr lang="ru-RU" dirty="0" smtClean="0"/>
              <a:t>представляет собой дискретную совокупность разделов, вложенных разделов и параметров, берущую начало в вершине иерархии реестра. </a:t>
            </a:r>
          </a:p>
          <a:p>
            <a:pPr algn="just" eaLnBrk="1" hangingPunct="1"/>
            <a:r>
              <a:rPr lang="ru-RU" dirty="0" smtClean="0"/>
              <a:t>Отличие кустов от других групп разделов состоит в том, что они являются постоянными компонентами реестра. </a:t>
            </a:r>
          </a:p>
          <a:p>
            <a:pPr algn="just" eaLnBrk="1" hangingPunct="1"/>
            <a:r>
              <a:rPr lang="ru-RU" dirty="0" smtClean="0"/>
              <a:t>Кусты не создаются динамически при загрузке операционной</a:t>
            </a:r>
            <a:r>
              <a:rPr lang="ru-RU" i="1" dirty="0" smtClean="0"/>
              <a:t> </a:t>
            </a:r>
            <a:r>
              <a:rPr lang="ru-RU" dirty="0" smtClean="0"/>
              <a:t>системы и не удаляются при ее остановке. 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141BA-9997-4F7C-B5DF-37692D76FE26}" type="slidenum">
              <a:rPr lang="ru-RU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08"/>
            <a:ext cx="7571248" cy="111971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Хранение данных реестра</a:t>
            </a:r>
            <a:br>
              <a:rPr lang="ru-RU" dirty="0" smtClean="0"/>
            </a:br>
            <a:endParaRPr lang="ru-RU" dirty="0" smtClean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748"/>
            <a:ext cx="7620000" cy="464141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dirty="0" smtClean="0"/>
              <a:t>Данные </a:t>
            </a:r>
            <a:r>
              <a:rPr lang="ru-RU" dirty="0" smtClean="0"/>
              <a:t>кустов реестра хранятся в файлах, находящихся в каталогах: </a:t>
            </a:r>
          </a:p>
          <a:p>
            <a:pPr eaLnBrk="1" hangingPunct="1"/>
            <a:r>
              <a:rPr lang="ru-RU" dirty="0" smtClean="0"/>
              <a:t>%</a:t>
            </a:r>
            <a:r>
              <a:rPr lang="en-US" dirty="0" err="1" smtClean="0"/>
              <a:t>SystemRoot</a:t>
            </a:r>
            <a:r>
              <a:rPr lang="en-US" dirty="0" smtClean="0"/>
              <a:t>%</a:t>
            </a:r>
            <a:r>
              <a:rPr lang="ru-RU" dirty="0" smtClean="0"/>
              <a:t>\</a:t>
            </a:r>
            <a:r>
              <a:rPr lang="en-US" dirty="0" smtClean="0"/>
              <a:t>System</a:t>
            </a:r>
            <a:r>
              <a:rPr lang="ru-RU" dirty="0" smtClean="0"/>
              <a:t>32\</a:t>
            </a:r>
            <a:r>
              <a:rPr lang="en-US" dirty="0" err="1" smtClean="0"/>
              <a:t>Config</a:t>
            </a:r>
            <a:r>
              <a:rPr lang="ru-RU" dirty="0" smtClean="0"/>
              <a:t> </a:t>
            </a:r>
          </a:p>
          <a:p>
            <a:pPr eaLnBrk="1" hangingPunct="1"/>
            <a:r>
              <a:rPr lang="ru-RU" dirty="0" smtClean="0"/>
              <a:t> %</a:t>
            </a:r>
            <a:r>
              <a:rPr lang="en-US" dirty="0" err="1" smtClean="0"/>
              <a:t>SystemDrive</a:t>
            </a:r>
            <a:r>
              <a:rPr lang="ru-RU" dirty="0" smtClean="0"/>
              <a:t>%\</a:t>
            </a:r>
            <a:r>
              <a:rPr lang="en-US" dirty="0" smtClean="0"/>
              <a:t>Documents and Settings</a:t>
            </a:r>
            <a:r>
              <a:rPr lang="ru-RU" dirty="0" smtClean="0"/>
              <a:t>\ %</a:t>
            </a:r>
            <a:r>
              <a:rPr lang="en-US" dirty="0" smtClean="0"/>
              <a:t>Username</a:t>
            </a:r>
            <a:r>
              <a:rPr lang="ru-RU" dirty="0" smtClean="0"/>
              <a:t>%</a:t>
            </a:r>
          </a:p>
          <a:p>
            <a:pPr eaLnBrk="1" hangingPunct="1">
              <a:buFontTx/>
              <a:buNone/>
            </a:pPr>
            <a:r>
              <a:rPr lang="ru-RU" dirty="0" smtClean="0"/>
              <a:t>(%</a:t>
            </a:r>
            <a:r>
              <a:rPr lang="en-US" dirty="0" err="1" smtClean="0"/>
              <a:t>SystemDrive</a:t>
            </a:r>
            <a:r>
              <a:rPr lang="ru-RU" dirty="0" smtClean="0"/>
              <a:t>%\</a:t>
            </a:r>
            <a:r>
              <a:rPr lang="en-US" dirty="0" smtClean="0"/>
              <a:t>Users</a:t>
            </a:r>
            <a:r>
              <a:rPr lang="ru-RU" dirty="0" smtClean="0"/>
              <a:t>\ %</a:t>
            </a:r>
            <a:r>
              <a:rPr lang="en-US" dirty="0" smtClean="0"/>
              <a:t>Username</a:t>
            </a:r>
            <a:r>
              <a:rPr lang="ru-RU" dirty="0" smtClean="0"/>
              <a:t>%</a:t>
            </a:r>
            <a:r>
              <a:rPr lang="en-US" dirty="0" smtClean="0"/>
              <a:t> - </a:t>
            </a:r>
            <a:r>
              <a:rPr lang="ru-RU" dirty="0" smtClean="0"/>
              <a:t>для </a:t>
            </a:r>
            <a:r>
              <a:rPr lang="en-US" dirty="0" smtClean="0"/>
              <a:t>Vista (7))</a:t>
            </a:r>
            <a:endParaRPr lang="ru-RU" dirty="0" smtClean="0"/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4ED093-EFC4-4DC3-AC72-A8336C957E17}" type="slidenum">
              <a:rPr lang="ru-RU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37DD44-CE2F-41B2-808E-3F5DF7C17643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40" y="296594"/>
            <a:ext cx="7183578" cy="5772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3566" y="3182853"/>
            <a:ext cx="7623135" cy="3517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608"/>
            <a:ext cx="8229600" cy="118815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Стандартные файлы, обеспечивающие  поддержку </a:t>
            </a:r>
            <a:r>
              <a:rPr lang="ru-RU" dirty="0" smtClean="0"/>
              <a:t>кустов реестра </a:t>
            </a:r>
            <a:endParaRPr lang="ru-RU" dirty="0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z="2000" smtClean="0"/>
              <a:t>  </a:t>
            </a:r>
          </a:p>
        </p:txBody>
      </p:sp>
      <p:graphicFrame>
        <p:nvGraphicFramePr>
          <p:cNvPr id="389150" name="Group 30"/>
          <p:cNvGraphicFramePr>
            <a:graphicFrameLocks noGrp="1"/>
          </p:cNvGraphicFramePr>
          <p:nvPr>
            <p:ph sz="half" idx="2"/>
          </p:nvPr>
        </p:nvGraphicFramePr>
        <p:xfrm>
          <a:off x="792163" y="1700213"/>
          <a:ext cx="7559675" cy="3336608"/>
        </p:xfrm>
        <a:graphic>
          <a:graphicData uri="http://schemas.openxmlformats.org/drawingml/2006/table">
            <a:tbl>
              <a:tblPr/>
              <a:tblGrid>
                <a:gridCol w="4427537"/>
                <a:gridCol w="3132138"/>
              </a:tblGrid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Раздел реестра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Имена файлов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HKEY_LOCAL_MACHINE\SAM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Sam, Sam.log, Sam.sav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HKEY_LOCAL_MACHINE\Security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Security, Security.log, Security.sav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HKEY_LOCAL_MACHINE\Software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Software, Software.log, Software.sav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HKEY_LOCAL_MACHINE\System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System, System.log,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System,sav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932D77-1CBB-42F6-8E18-5F7A9FA97CF6}" type="slidenum">
              <a:rPr lang="ru-RU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3324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Стандартные файлы, обеспечивающие  поддержку </a:t>
            </a:r>
            <a:r>
              <a:rPr lang="ru-RU" dirty="0" smtClean="0"/>
              <a:t>кустов реестра </a:t>
            </a:r>
            <a:endParaRPr lang="ru-RU" dirty="0" smtClean="0"/>
          </a:p>
        </p:txBody>
      </p:sp>
      <p:graphicFrame>
        <p:nvGraphicFramePr>
          <p:cNvPr id="390187" name="Group 43"/>
          <p:cNvGraphicFramePr>
            <a:graphicFrameLocks noGrp="1"/>
          </p:cNvGraphicFramePr>
          <p:nvPr>
            <p:ph sz="half" idx="2"/>
          </p:nvPr>
        </p:nvGraphicFramePr>
        <p:xfrm>
          <a:off x="792163" y="1700213"/>
          <a:ext cx="7559675" cy="2637156"/>
        </p:xfrm>
        <a:graphic>
          <a:graphicData uri="http://schemas.openxmlformats.org/drawingml/2006/table">
            <a:tbl>
              <a:tblPr/>
              <a:tblGrid>
                <a:gridCol w="4427537"/>
                <a:gridCol w="3132138"/>
              </a:tblGrid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Раздел реестра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Имена файлов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HKEY_CURRENT_CONFIG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System, System.log,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System,sav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HKEY_USERS\DEFAULT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Default, Default.log, Default.sav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HKEY_CURRENT_USER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Ntuser.dat, Ntuser.dat.log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3F71E1-AE47-4F05-9A76-2F2CFB465976}" type="slidenum">
              <a:rPr lang="ru-RU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3324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Типы файлов, ассоциированные с </a:t>
            </a:r>
            <a:r>
              <a:rPr lang="ru-RU" dirty="0" smtClean="0"/>
              <a:t>кустами реестра </a:t>
            </a:r>
            <a:endParaRPr lang="ru-RU" dirty="0" smtClean="0"/>
          </a:p>
        </p:txBody>
      </p:sp>
      <p:graphicFrame>
        <p:nvGraphicFramePr>
          <p:cNvPr id="391201" name="Group 33"/>
          <p:cNvGraphicFramePr>
            <a:graphicFrameLocks noGrp="1"/>
          </p:cNvGraphicFramePr>
          <p:nvPr>
            <p:ph type="tbl" idx="1"/>
          </p:nvPr>
        </p:nvGraphicFramePr>
        <p:xfrm>
          <a:off x="467468" y="1808790"/>
          <a:ext cx="8121586" cy="3590482"/>
        </p:xfrm>
        <a:graphic>
          <a:graphicData uri="http://schemas.openxmlformats.org/drawingml/2006/table">
            <a:tbl>
              <a:tblPr/>
              <a:tblGrid>
                <a:gridCol w="2035097"/>
                <a:gridCol w="6086489"/>
              </a:tblGrid>
              <a:tr h="830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Тип файла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Описание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 расширения имени файла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Содержит копию куста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5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log1, log2)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Содержат журналы транзакций, в котором регистрируются все изменения, внесенные в разделы и значимые элементы куста.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sav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Содержит копии файлов куста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8693E7-4A5D-447C-965C-A49594305082}" type="slidenum">
              <a:rPr lang="ru-RU"/>
              <a:pPr>
                <a:defRPr/>
              </a:pPr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463234" cy="1224016"/>
          </a:xfrm>
        </p:spPr>
        <p:txBody>
          <a:bodyPr>
            <a:normAutofit/>
          </a:bodyPr>
          <a:lstStyle/>
          <a:p>
            <a:pPr eaLnBrk="1" hangingPunct="1"/>
            <a:r>
              <a:rPr lang="ru-RU" dirty="0" smtClean="0"/>
              <a:t>Окно программы «Редактор реестра»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3A4616-A639-4BFA-9C59-FC421EC2EDE4}" type="slidenum">
              <a:rPr lang="ru-RU"/>
              <a:pPr>
                <a:defRPr/>
              </a:pPr>
              <a:t>16</a:t>
            </a:fld>
            <a:endParaRPr lang="ru-RU"/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468" y="1916804"/>
            <a:ext cx="8565160" cy="2808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67468" y="296594"/>
            <a:ext cx="8111318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ru-RU" dirty="0" smtClean="0"/>
              <a:t>Меню «</a:t>
            </a:r>
            <a:r>
              <a:rPr lang="ru-RU" dirty="0" smtClean="0"/>
              <a:t>Файл» программы </a:t>
            </a:r>
            <a:r>
              <a:rPr lang="ru-RU" dirty="0" smtClean="0"/>
              <a:t>«Редактор реестра»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mtClean="0"/>
              <a:t> 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63E69E-1244-4636-9B65-CE192D8063FC}" type="slidenum">
              <a:rPr lang="ru-RU"/>
              <a:pPr>
                <a:defRPr/>
              </a:pPr>
              <a:t>17</a:t>
            </a:fld>
            <a:endParaRPr lang="ru-RU"/>
          </a:p>
        </p:txBody>
      </p:sp>
      <p:pic>
        <p:nvPicPr>
          <p:cNvPr id="1946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413" y="2225303"/>
            <a:ext cx="3997325" cy="325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679262" cy="1371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Меню «Правка</a:t>
            </a:r>
            <a:r>
              <a:rPr lang="ru-RU" dirty="0" smtClean="0"/>
              <a:t>» </a:t>
            </a:r>
            <a:r>
              <a:rPr lang="ru-RU" dirty="0" smtClean="0"/>
              <a:t>программы «Редактор реестра»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5EB590-878C-4899-AABD-BB9715D277E3}" type="slidenum">
              <a:rPr lang="ru-RU"/>
              <a:pPr>
                <a:defRPr/>
              </a:pPr>
              <a:t>18</a:t>
            </a:fld>
            <a:endParaRPr lang="ru-RU"/>
          </a:p>
        </p:txBody>
      </p:sp>
      <p:pic>
        <p:nvPicPr>
          <p:cNvPr id="2048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8325" y="2400300"/>
            <a:ext cx="54673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895290" cy="15480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/>
              <a:t>Окно установки разрешений </a:t>
            </a:r>
            <a:br>
              <a:rPr lang="ru-RU" dirty="0" smtClean="0"/>
            </a:br>
            <a:r>
              <a:rPr lang="ru-RU" dirty="0" smtClean="0"/>
              <a:t>программы «Редактор реестра»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AED05A-246B-4810-8255-C46366238BBB}" type="slidenum">
              <a:rPr lang="ru-RU"/>
              <a:pPr>
                <a:defRPr/>
              </a:pPr>
              <a:t>19</a:t>
            </a:fld>
            <a:endParaRPr lang="ru-RU"/>
          </a:p>
        </p:txBody>
      </p:sp>
      <p:pic>
        <p:nvPicPr>
          <p:cNvPr id="2150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8900" y="1809750"/>
            <a:ext cx="377825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>
          <a:xfrm>
            <a:off x="683496" y="188580"/>
            <a:ext cx="7777008" cy="122112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Аудит действий в отношении реестра</a:t>
            </a:r>
            <a:br>
              <a:rPr lang="ru-RU" sz="2400" dirty="0" smtClean="0"/>
            </a:br>
            <a:r>
              <a:rPr lang="ru-RU" sz="2400" dirty="0" smtClean="0"/>
              <a:t>(окно «Локальные параметры безопасности»)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DD906-92FD-428C-B87C-1F2B2FC69EB5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496" y="1409700"/>
            <a:ext cx="76200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0636"/>
            <a:ext cx="7895290" cy="118911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2800" dirty="0" smtClean="0"/>
              <a:t>Аудит действий в отношении реестра</a:t>
            </a:r>
            <a:br>
              <a:rPr lang="ru-RU" sz="2800" dirty="0" smtClean="0"/>
            </a:br>
            <a:r>
              <a:rPr lang="ru-RU" sz="2800" dirty="0" smtClean="0"/>
              <a:t>(окно «Дополнительные параметры безопасности»</a:t>
            </a:r>
            <a:r>
              <a:rPr lang="en-US" sz="2800" dirty="0" smtClean="0"/>
              <a:t>| </a:t>
            </a:r>
            <a:r>
              <a:rPr lang="ru-RU" sz="2800" dirty="0" smtClean="0"/>
              <a:t>вкладка «Аудит») </a:t>
            </a:r>
            <a:br>
              <a:rPr lang="ru-RU" sz="2800" dirty="0" smtClean="0"/>
            </a:br>
            <a:endParaRPr lang="ru-RU" sz="2800" dirty="0" smtClean="0"/>
          </a:p>
        </p:txBody>
      </p:sp>
      <p:sp>
        <p:nvSpPr>
          <p:cNvPr id="23556" name="AutoShape 3"/>
          <p:cNvSpPr>
            <a:spLocks noGrp="1" noChangeAspec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smtClean="0"/>
              <a:t>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FC672-99FC-4B51-A32E-9E38774FF64E}" type="slidenum">
              <a:rPr lang="ru-RU"/>
              <a:pPr>
                <a:defRPr/>
              </a:pPr>
              <a:t>21</a:t>
            </a:fld>
            <a:endParaRPr lang="ru-RU"/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500" y="1809750"/>
            <a:ext cx="60579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59454" y="190500"/>
            <a:ext cx="8209064" cy="205034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2800" dirty="0" smtClean="0"/>
              <a:t>Аудит действий в отношении реестра</a:t>
            </a:r>
            <a:br>
              <a:rPr lang="ru-RU" sz="2800" dirty="0" smtClean="0"/>
            </a:br>
            <a:r>
              <a:rPr lang="ru-RU" sz="2800" dirty="0" smtClean="0"/>
              <a:t>(окно «Дополнительные параметры безопасности»</a:t>
            </a:r>
            <a:r>
              <a:rPr lang="en-US" sz="2800" dirty="0" smtClean="0"/>
              <a:t>| </a:t>
            </a:r>
            <a:r>
              <a:rPr lang="ru-RU" sz="2800" dirty="0" smtClean="0"/>
              <a:t>вкладка «Аудит»</a:t>
            </a:r>
            <a:r>
              <a:rPr lang="en-US" sz="2800" dirty="0" smtClean="0"/>
              <a:t>| </a:t>
            </a:r>
            <a:r>
              <a:rPr lang="ru-RU" sz="2800" dirty="0" smtClean="0"/>
              <a:t> Выбор пользователей</a:t>
            </a:r>
            <a:r>
              <a:rPr lang="en-US" sz="2800" dirty="0" smtClean="0"/>
              <a:t> </a:t>
            </a:r>
            <a:r>
              <a:rPr lang="ru-RU" sz="2800" dirty="0" smtClean="0"/>
              <a:t>) </a:t>
            </a:r>
            <a:br>
              <a:rPr lang="ru-RU" sz="2800" dirty="0" smtClean="0"/>
            </a:br>
            <a:endParaRPr lang="ru-RU" sz="2800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65D3-51F9-4137-83E6-E13A5E927ADD}" type="slidenum">
              <a:rPr lang="ru-RU"/>
              <a:pPr>
                <a:defRPr/>
              </a:pPr>
              <a:t>22</a:t>
            </a:fld>
            <a:endParaRPr lang="ru-RU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20" y="1872840"/>
            <a:ext cx="4500255" cy="498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59454" y="512622"/>
            <a:ext cx="8209064" cy="12971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2800" dirty="0" smtClean="0"/>
              <a:t>Аудит действий в отношении реестра</a:t>
            </a:r>
            <a:br>
              <a:rPr lang="ru-RU" sz="2800" dirty="0" smtClean="0"/>
            </a:br>
            <a:r>
              <a:rPr lang="ru-RU" sz="2800" dirty="0" smtClean="0"/>
              <a:t>(окно «Дополнительные параметры безопасности»</a:t>
            </a:r>
            <a:r>
              <a:rPr lang="en-US" sz="2800" dirty="0" smtClean="0"/>
              <a:t>| </a:t>
            </a:r>
            <a:r>
              <a:rPr lang="ru-RU" sz="2800" dirty="0" smtClean="0"/>
              <a:t>вкладка «Аудит»</a:t>
            </a:r>
            <a:r>
              <a:rPr lang="en-US" sz="2800" dirty="0" smtClean="0"/>
              <a:t>| </a:t>
            </a:r>
            <a:r>
              <a:rPr lang="ru-RU" sz="2800" dirty="0" smtClean="0"/>
              <a:t> Выбор действий)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0A1740-C9ED-446C-BAE3-2F812A0ECAA7}" type="slidenum">
              <a:rPr lang="ru-RU"/>
              <a:pPr>
                <a:defRPr/>
              </a:pPr>
              <a:t>23</a:t>
            </a:fld>
            <a:endParaRPr lang="ru-RU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4800" y="1809750"/>
            <a:ext cx="359092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96594"/>
            <a:ext cx="8098618" cy="129616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200" dirty="0" smtClean="0"/>
              <a:t>Аудит действий в отношении </a:t>
            </a:r>
            <a:r>
              <a:rPr lang="ru-RU" sz="3200" dirty="0" smtClean="0"/>
              <a:t>реестра </a:t>
            </a:r>
            <a:r>
              <a:rPr lang="en-US" sz="3200" dirty="0" smtClean="0"/>
              <a:t>(</a:t>
            </a:r>
            <a:r>
              <a:rPr lang="ru-RU" sz="3200" dirty="0" smtClean="0"/>
              <a:t>окно «Просмотр событий»)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B5B1B-83DE-41AF-8132-E8CF6205D030}" type="slidenum">
              <a:rPr lang="ru-RU"/>
              <a:pPr>
                <a:defRPr/>
              </a:pPr>
              <a:t>24</a:t>
            </a:fld>
            <a:endParaRPr lang="ru-RU"/>
          </a:p>
        </p:txBody>
      </p:sp>
      <p:pic>
        <p:nvPicPr>
          <p:cNvPr id="2662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510" y="1607890"/>
            <a:ext cx="7018990" cy="5018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791960"/>
          </a:xfrm>
        </p:spPr>
        <p:txBody>
          <a:bodyPr/>
          <a:lstStyle/>
          <a:p>
            <a:r>
              <a:rPr lang="en-US" dirty="0" err="1" smtClean="0"/>
              <a:t>Reg</a:t>
            </a:r>
            <a:r>
              <a:rPr lang="en-US" dirty="0" smtClean="0"/>
              <a:t>-</a:t>
            </a:r>
            <a:r>
              <a:rPr lang="ru-RU" dirty="0" smtClean="0"/>
              <a:t>файлы</a:t>
            </a:r>
          </a:p>
        </p:txBody>
      </p:sp>
      <p:sp>
        <p:nvSpPr>
          <p:cNvPr id="27651" name="Содержимое 2"/>
          <p:cNvSpPr>
            <a:spLocks noGrp="1"/>
          </p:cNvSpPr>
          <p:nvPr>
            <p:ph idx="1"/>
          </p:nvPr>
        </p:nvSpPr>
        <p:spPr>
          <a:xfrm>
            <a:off x="467468" y="1160706"/>
            <a:ext cx="7620000" cy="4373563"/>
          </a:xfrm>
        </p:spPr>
        <p:txBody>
          <a:bodyPr>
            <a:normAutofit/>
          </a:bodyPr>
          <a:lstStyle/>
          <a:p>
            <a:r>
              <a:rPr lang="ru-RU" dirty="0" smtClean="0"/>
              <a:t>Прежде чем приступать к каким-либо экспериментам с реестром, настоятельно рекомендуется создать его резервную копию, причем не полную копию реестра, а только копию того раздела (ключа), который подвергается модификации. </a:t>
            </a:r>
          </a:p>
          <a:p>
            <a:r>
              <a:rPr lang="ru-RU" dirty="0" smtClean="0"/>
              <a:t>Это делается с помощью так называемых заплаток реестра (</a:t>
            </a:r>
            <a:r>
              <a:rPr lang="ru-RU" dirty="0" err="1" smtClean="0"/>
              <a:t>registry</a:t>
            </a:r>
            <a:r>
              <a:rPr lang="ru-RU" dirty="0" smtClean="0"/>
              <a:t> </a:t>
            </a:r>
            <a:r>
              <a:rPr lang="ru-RU" dirty="0" err="1" smtClean="0"/>
              <a:t>patch</a:t>
            </a:r>
            <a:r>
              <a:rPr lang="ru-RU" dirty="0" smtClean="0"/>
              <a:t>), представляющих собой текстовые файлы с расширением *.</a:t>
            </a:r>
            <a:r>
              <a:rPr lang="ru-RU" dirty="0" err="1" smtClean="0"/>
              <a:t>reg</a:t>
            </a:r>
            <a:r>
              <a:rPr lang="ru-RU" dirty="0" smtClean="0"/>
              <a:t>, в которых сохраняются один или несколько разделов реестра. Заплатки реестра зачастую также называют REG-файлами.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56168C-5C5C-4FBD-8BE7-E54EF959F771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92" cy="899974"/>
          </a:xfrm>
        </p:spPr>
        <p:txBody>
          <a:bodyPr/>
          <a:lstStyle/>
          <a:p>
            <a:r>
              <a:rPr lang="ru-RU" dirty="0" smtClean="0"/>
              <a:t>Создание </a:t>
            </a:r>
            <a:r>
              <a:rPr lang="en-US" dirty="0" err="1" smtClean="0"/>
              <a:t>Reg</a:t>
            </a:r>
            <a:r>
              <a:rPr lang="en-US" dirty="0" smtClean="0"/>
              <a:t>-</a:t>
            </a:r>
            <a:r>
              <a:rPr lang="ru-RU" dirty="0" smtClean="0"/>
              <a:t>файлов</a:t>
            </a:r>
          </a:p>
        </p:txBody>
      </p:sp>
      <p:sp>
        <p:nvSpPr>
          <p:cNvPr id="28675" name="Содержимое 2"/>
          <p:cNvSpPr>
            <a:spLocks noGrp="1"/>
          </p:cNvSpPr>
          <p:nvPr>
            <p:ph idx="1"/>
          </p:nvPr>
        </p:nvSpPr>
        <p:spPr>
          <a:xfrm>
            <a:off x="575482" y="1376734"/>
            <a:ext cx="7501718" cy="4749429"/>
          </a:xfrm>
        </p:spPr>
        <p:txBody>
          <a:bodyPr>
            <a:normAutofit/>
          </a:bodyPr>
          <a:lstStyle/>
          <a:p>
            <a:r>
              <a:rPr lang="ru-RU" dirty="0" smtClean="0"/>
              <a:t>Создание </a:t>
            </a:r>
            <a:r>
              <a:rPr lang="en-US" dirty="0" err="1" smtClean="0"/>
              <a:t>Reg</a:t>
            </a:r>
            <a:r>
              <a:rPr lang="en-US" dirty="0" smtClean="0"/>
              <a:t>-</a:t>
            </a:r>
            <a:r>
              <a:rPr lang="ru-RU" dirty="0" smtClean="0"/>
              <a:t>файлов производится с применением редактора реестра </a:t>
            </a:r>
          </a:p>
          <a:p>
            <a:r>
              <a:rPr lang="ru-RU" dirty="0" smtClean="0"/>
              <a:t>Для этого запускается редактор реестра и выделяется тот раздел реестра, который необходимо сохранить в виде файла. Далее в строке меню следует выбрать Файл –&gt; Экспорт…</a:t>
            </a:r>
          </a:p>
          <a:p>
            <a:r>
              <a:rPr lang="ru-RU" dirty="0" smtClean="0"/>
              <a:t>Другой вариант — щелкнуть правой кнопкой мыши на нужном разделе реестра и в ниспадающем меню выбрать пункт Экспортировать.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81B62-BDF8-4095-A35E-649311C327DB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47206" cy="791960"/>
          </a:xfrm>
        </p:spPr>
        <p:txBody>
          <a:bodyPr/>
          <a:lstStyle/>
          <a:p>
            <a:r>
              <a:rPr lang="ru-RU" dirty="0" smtClean="0"/>
              <a:t>Создание </a:t>
            </a:r>
            <a:r>
              <a:rPr lang="en-US" dirty="0" err="1" smtClean="0"/>
              <a:t>Reg</a:t>
            </a:r>
            <a:r>
              <a:rPr lang="en-US" dirty="0" smtClean="0"/>
              <a:t>-</a:t>
            </a:r>
            <a:r>
              <a:rPr lang="ru-RU" dirty="0" smtClean="0"/>
              <a:t>файлов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414869-B0D0-43CE-8815-3F9346D6DDF6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5550" y="1162050"/>
            <a:ext cx="6619875" cy="530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791960"/>
          </a:xfrm>
        </p:spPr>
        <p:txBody>
          <a:bodyPr/>
          <a:lstStyle/>
          <a:p>
            <a:r>
              <a:rPr lang="en-US" dirty="0" err="1" smtClean="0"/>
              <a:t>Reg</a:t>
            </a:r>
            <a:r>
              <a:rPr lang="en-US" dirty="0" smtClean="0"/>
              <a:t>-</a:t>
            </a:r>
            <a:r>
              <a:rPr lang="ru-RU" dirty="0" smtClean="0"/>
              <a:t>файлы</a:t>
            </a:r>
          </a:p>
        </p:txBody>
      </p:sp>
      <p:sp>
        <p:nvSpPr>
          <p:cNvPr id="30723" name="Содержимое 2"/>
          <p:cNvSpPr>
            <a:spLocks noGrp="1"/>
          </p:cNvSpPr>
          <p:nvPr>
            <p:ph idx="1"/>
          </p:nvPr>
        </p:nvSpPr>
        <p:spPr>
          <a:xfrm>
            <a:off x="575482" y="1268720"/>
            <a:ext cx="7620000" cy="4373563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 smtClean="0"/>
              <a:t>После создания файла (экспортирования) раздела реестра с REG-файлом можно работать, как с обычным текстовым файлом, используя для этого стандартные текстовые редакторы (например, Блокнот).</a:t>
            </a:r>
          </a:p>
          <a:p>
            <a:r>
              <a:rPr lang="ru-RU" sz="2000" dirty="0" smtClean="0"/>
              <a:t>Для восстановления значения какого-либо раздела реестра по имеющемуся  файлу достаточно два раза щелкнуть мышью по REG-файлу — его содержимое будет автоматически добавлено внутрь реестра. Кроме того, при запущенном редакторе реестра можно в его строке меню выбрать Файл –&gt; Импорт…, а затем указать REG-файл, который требуется импортировать.</a:t>
            </a:r>
          </a:p>
          <a:p>
            <a:r>
              <a:rPr lang="ru-RU" sz="2000" dirty="0" smtClean="0"/>
              <a:t>Импортировать REG-файл в реестр можно и из командной строки. К примеру, если REG-файл имеет имя </a:t>
            </a:r>
            <a:r>
              <a:rPr lang="ru-RU" sz="2000" dirty="0" err="1" smtClean="0"/>
              <a:t>file.reg</a:t>
            </a:r>
            <a:r>
              <a:rPr lang="ru-RU" sz="2000" dirty="0" smtClean="0"/>
              <a:t>, то для его импортирования необходимо выполнить команду: </a:t>
            </a:r>
            <a:r>
              <a:rPr lang="ru-RU" sz="2000" dirty="0" err="1" smtClean="0"/>
              <a:t>regedit</a:t>
            </a:r>
            <a:r>
              <a:rPr lang="ru-RU" sz="2000" dirty="0" smtClean="0"/>
              <a:t> /</a:t>
            </a:r>
            <a:r>
              <a:rPr lang="ru-RU" sz="2000" dirty="0" err="1" smtClean="0"/>
              <a:t>s</a:t>
            </a:r>
            <a:r>
              <a:rPr lang="ru-RU" sz="2000" dirty="0" smtClean="0"/>
              <a:t> </a:t>
            </a:r>
            <a:r>
              <a:rPr lang="ru-RU" sz="2000" dirty="0" err="1" smtClean="0"/>
              <a:t>file.reg</a:t>
            </a:r>
            <a:r>
              <a:rPr lang="ru-RU" sz="2000" dirty="0" smtClean="0"/>
              <a:t>.</a:t>
            </a:r>
          </a:p>
          <a:p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2D6B50-1749-4D98-8012-66B96D1C9575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31178" cy="1371600"/>
          </a:xfrm>
        </p:spPr>
        <p:txBody>
          <a:bodyPr>
            <a:normAutofit/>
          </a:bodyPr>
          <a:lstStyle/>
          <a:p>
            <a:r>
              <a:rPr lang="ru-RU" dirty="0" smtClean="0"/>
              <a:t>Пример содержимого </a:t>
            </a:r>
            <a:r>
              <a:rPr lang="en-US" dirty="0" err="1" smtClean="0"/>
              <a:t>Reg</a:t>
            </a:r>
            <a:r>
              <a:rPr lang="en-US" dirty="0" smtClean="0"/>
              <a:t>-</a:t>
            </a:r>
            <a:r>
              <a:rPr lang="ru-RU" dirty="0" smtClean="0"/>
              <a:t>файла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BA84EF-B8FF-43B9-A04E-B8BABD830BE8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5550" y="2456874"/>
            <a:ext cx="6170613" cy="265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99974"/>
          </a:xfrm>
        </p:spPr>
        <p:txBody>
          <a:bodyPr/>
          <a:lstStyle/>
          <a:p>
            <a:r>
              <a:rPr lang="ru-RU" dirty="0" smtClean="0"/>
              <a:t>Команда </a:t>
            </a:r>
            <a:r>
              <a:rPr lang="en-US" dirty="0" err="1" smtClean="0"/>
              <a:t>Reg</a:t>
            </a:r>
            <a:endParaRPr lang="ru-RU" dirty="0" smtClean="0"/>
          </a:p>
        </p:txBody>
      </p:sp>
      <p:sp>
        <p:nvSpPr>
          <p:cNvPr id="32771" name="Содержимое 2"/>
          <p:cNvSpPr>
            <a:spLocks noGrp="1"/>
          </p:cNvSpPr>
          <p:nvPr>
            <p:ph idx="1"/>
          </p:nvPr>
        </p:nvSpPr>
        <p:spPr>
          <a:xfrm>
            <a:off x="467468" y="1376734"/>
            <a:ext cx="7620000" cy="437356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ru-RU" dirty="0" smtClean="0"/>
              <a:t>Для работы с реестром из командной строки существует команда REG, которая имеет следующий синтаксис:</a:t>
            </a:r>
          </a:p>
          <a:p>
            <a:pPr algn="ctr">
              <a:buFontTx/>
              <a:buNone/>
            </a:pPr>
            <a:r>
              <a:rPr lang="ru-RU" dirty="0" smtClean="0"/>
              <a:t> </a:t>
            </a:r>
            <a:r>
              <a:rPr lang="ru-RU" dirty="0" smtClean="0">
                <a:solidFill>
                  <a:srgbClr val="FF0000"/>
                </a:solidFill>
              </a:rPr>
              <a:t>REG операция </a:t>
            </a:r>
            <a:r>
              <a:rPr lang="ru-RU" dirty="0" err="1" smtClean="0">
                <a:solidFill>
                  <a:srgbClr val="FF0000"/>
                </a:solidFill>
              </a:rPr>
              <a:t>список_параметров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ru-RU" dirty="0" smtClean="0"/>
              <a:t>Применение данной команды позволяет производить с реестром следующие операции: QUERY, ADD, DELETE, COPY, SAVE, RESTORE, LOAD, UNLOAD, COMPARE, EXPORT, IMPORT.</a:t>
            </a:r>
          </a:p>
          <a:p>
            <a:r>
              <a:rPr lang="ru-RU" dirty="0" smtClean="0"/>
              <a:t>Для того чтобы узнать синтаксис каждой из этих операций, достаточно набрать в командной строке команду REG </a:t>
            </a:r>
            <a:r>
              <a:rPr lang="ru-RU" b="1" dirty="0" smtClean="0"/>
              <a:t>операция</a:t>
            </a:r>
            <a:r>
              <a:rPr lang="ru-RU" dirty="0" smtClean="0"/>
              <a:t> /?, где </a:t>
            </a:r>
            <a:r>
              <a:rPr lang="ru-RU" b="1" dirty="0" smtClean="0"/>
              <a:t>операция </a:t>
            </a:r>
            <a:r>
              <a:rPr lang="ru-RU" dirty="0" smtClean="0"/>
              <a:t>— одна из перечисленных операций.</a:t>
            </a:r>
          </a:p>
          <a:p>
            <a:pPr algn="ctr">
              <a:buFontTx/>
              <a:buNone/>
            </a:pPr>
            <a:endParaRPr lang="ru-RU" dirty="0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7F1CC-6047-4A40-84D7-E3555061AA14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>
          <a:xfrm>
            <a:off x="469900" y="188580"/>
            <a:ext cx="8204200" cy="108014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Автоматический вход в систему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9900" y="1376734"/>
            <a:ext cx="8204200" cy="475101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sz="1800" dirty="0" smtClean="0"/>
              <a:t>Существует возможность автоматического входа в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, минуя экран приветствия, когда приходится указывать имя пользователя и пароль.</a:t>
            </a:r>
          </a:p>
          <a:p>
            <a:pPr>
              <a:defRPr/>
            </a:pPr>
            <a:r>
              <a:rPr lang="ru-RU" sz="1800" dirty="0" smtClean="0"/>
              <a:t>Для автоматического входа в систему в разделе реестра </a:t>
            </a:r>
            <a:r>
              <a:rPr lang="ru-RU" sz="1800" dirty="0" err="1" smtClean="0"/>
              <a:t>HKLM\SOFTWARE\Microsoft\</a:t>
            </a:r>
            <a:r>
              <a:rPr lang="ru-RU" sz="1800" dirty="0" smtClean="0"/>
              <a:t>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</a:t>
            </a:r>
            <a:r>
              <a:rPr lang="ru-RU" sz="1800" dirty="0" err="1" smtClean="0"/>
              <a:t>NT\CurrentVersion\Winlogon</a:t>
            </a:r>
            <a:r>
              <a:rPr lang="ru-RU" sz="1800" dirty="0" smtClean="0"/>
              <a:t> требуется изменить значение параметра </a:t>
            </a:r>
            <a:r>
              <a:rPr lang="ru-RU" sz="1800" i="1" dirty="0" err="1" smtClean="0"/>
              <a:t>AutoAdminLogon</a:t>
            </a:r>
            <a:r>
              <a:rPr lang="ru-RU" sz="1800" i="1" dirty="0" smtClean="0"/>
              <a:t> </a:t>
            </a:r>
            <a:r>
              <a:rPr lang="ru-RU" sz="1800" dirty="0" smtClean="0"/>
              <a:t>типа REG_DWORD, установив его равным 1 </a:t>
            </a:r>
          </a:p>
          <a:p>
            <a:pPr lvl="1">
              <a:defRPr/>
            </a:pPr>
            <a:r>
              <a:rPr lang="ru-RU" sz="1800" dirty="0" smtClean="0">
                <a:ea typeface="+mn-ea"/>
                <a:cs typeface="+mn-cs"/>
              </a:rPr>
              <a:t>аналогичная процедура в </a:t>
            </a:r>
            <a:r>
              <a:rPr lang="ru-RU" sz="1800" dirty="0" err="1" smtClean="0">
                <a:ea typeface="+mn-ea"/>
                <a:cs typeface="+mn-cs"/>
              </a:rPr>
              <a:t>Windows</a:t>
            </a:r>
            <a:r>
              <a:rPr lang="ru-RU" sz="1800" dirty="0" smtClean="0">
                <a:ea typeface="+mn-ea"/>
                <a:cs typeface="+mn-cs"/>
              </a:rPr>
              <a:t> XP производится в другом разделе реестра — </a:t>
            </a:r>
            <a:r>
              <a:rPr lang="ru-RU" sz="1800" dirty="0" err="1" smtClean="0">
                <a:ea typeface="+mn-ea"/>
                <a:cs typeface="+mn-cs"/>
              </a:rPr>
              <a:t>HKLM\SOFTWARE\Microsoft\</a:t>
            </a:r>
            <a:r>
              <a:rPr lang="ru-RU" sz="1800" dirty="0" smtClean="0">
                <a:ea typeface="+mn-ea"/>
                <a:cs typeface="+mn-cs"/>
              </a:rPr>
              <a:t> </a:t>
            </a:r>
            <a:r>
              <a:rPr lang="ru-RU" sz="1800" dirty="0" err="1" smtClean="0">
                <a:ea typeface="+mn-ea"/>
                <a:cs typeface="+mn-cs"/>
              </a:rPr>
              <a:t>Windows\CurrentVersion\Winlogon</a:t>
            </a:r>
            <a:r>
              <a:rPr lang="ru-RU" sz="1800" dirty="0" smtClean="0">
                <a:ea typeface="+mn-ea"/>
                <a:cs typeface="+mn-cs"/>
              </a:rPr>
              <a:t>.</a:t>
            </a:r>
          </a:p>
          <a:p>
            <a:pPr>
              <a:defRPr/>
            </a:pPr>
            <a:r>
              <a:rPr lang="ru-RU" sz="1800" dirty="0" smtClean="0"/>
              <a:t>Кроме того, в том же разделе реестра необходимо задать значения строковых параметров </a:t>
            </a:r>
            <a:r>
              <a:rPr lang="ru-RU" sz="1800" i="1" dirty="0" err="1" smtClean="0"/>
              <a:t>DefaultUserName</a:t>
            </a:r>
            <a:r>
              <a:rPr lang="ru-RU" sz="1800" i="1" dirty="0" smtClean="0"/>
              <a:t> </a:t>
            </a:r>
            <a:r>
              <a:rPr lang="ru-RU" sz="1800" dirty="0" smtClean="0"/>
              <a:t>и </a:t>
            </a:r>
            <a:r>
              <a:rPr lang="ru-RU" sz="1800" i="1" dirty="0" err="1" smtClean="0"/>
              <a:t>DefaultPassword</a:t>
            </a:r>
            <a:r>
              <a:rPr lang="ru-RU" sz="1800" dirty="0" smtClean="0"/>
              <a:t> — первое из них соответствует имени пользователя, а второе задает пароль пользователя.</a:t>
            </a:r>
          </a:p>
          <a:p>
            <a:pPr>
              <a:defRPr/>
            </a:pPr>
            <a:r>
              <a:rPr lang="ru-RU" sz="1800" dirty="0" smtClean="0"/>
              <a:t>Если компьютер входит в состав домена, то придется задать также имя сетевого домена в строковом параметре </a:t>
            </a:r>
            <a:r>
              <a:rPr lang="ru-RU" sz="1800" i="1" dirty="0" err="1" smtClean="0"/>
              <a:t>DefaultDomainName</a:t>
            </a:r>
            <a:r>
              <a:rPr lang="ru-RU" sz="1800" dirty="0" smtClean="0"/>
              <a:t>.</a:t>
            </a:r>
          </a:p>
          <a:p>
            <a:pPr>
              <a:defRPr/>
            </a:pPr>
            <a:r>
              <a:rPr lang="ru-RU" sz="1800" dirty="0" smtClean="0"/>
              <a:t>Отметим, что при автоматическом входе в систему любой пользователь, получивший доступ к компьютеру, может узнать пароль, хранящийся в реестре в открытом виде.</a:t>
            </a:r>
          </a:p>
          <a:p>
            <a:pPr>
              <a:buFontTx/>
              <a:buNone/>
              <a:defRPr/>
            </a:pP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4C5DF4-9209-416D-96D1-B40D4395BF80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47206" cy="899974"/>
          </a:xfrm>
        </p:spPr>
        <p:txBody>
          <a:bodyPr/>
          <a:lstStyle/>
          <a:p>
            <a:r>
              <a:rPr lang="ru-RU" dirty="0" smtClean="0"/>
              <a:t>Автозагрузка программ</a:t>
            </a:r>
          </a:p>
        </p:txBody>
      </p:sp>
      <p:sp>
        <p:nvSpPr>
          <p:cNvPr id="34819" name="Содержимое 2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748213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 smtClean="0"/>
              <a:t>Все параметры автозагрузки программ содержатся в разделе реестра HKLM\</a:t>
            </a:r>
            <a:r>
              <a:rPr lang="ru-RU" sz="1800" dirty="0" err="1" smtClean="0"/>
              <a:t>Software</a:t>
            </a:r>
            <a:r>
              <a:rPr lang="ru-RU" sz="1800" dirty="0" smtClean="0"/>
              <a:t>\ </a:t>
            </a:r>
            <a:r>
              <a:rPr lang="ru-RU" sz="1800" dirty="0" err="1" smtClean="0"/>
              <a:t>Microsoft</a:t>
            </a:r>
            <a:r>
              <a:rPr lang="ru-RU" sz="1800" dirty="0" smtClean="0"/>
              <a:t>\</a:t>
            </a:r>
            <a:r>
              <a:rPr lang="ru-RU" sz="1800" dirty="0" err="1" smtClean="0"/>
              <a:t>Windows</a:t>
            </a:r>
            <a:r>
              <a:rPr lang="ru-RU" sz="1800" dirty="0" smtClean="0"/>
              <a:t>\</a:t>
            </a:r>
            <a:r>
              <a:rPr lang="ru-RU" sz="1800" dirty="0" err="1" smtClean="0"/>
              <a:t>CurrentVersion</a:t>
            </a:r>
            <a:r>
              <a:rPr lang="ru-RU" sz="1800" dirty="0" smtClean="0"/>
              <a:t>, внутри которого имеются подразделы </a:t>
            </a:r>
            <a:r>
              <a:rPr lang="ru-RU" sz="1800" dirty="0" err="1" smtClean="0"/>
              <a:t>Run</a:t>
            </a:r>
            <a:r>
              <a:rPr lang="ru-RU" sz="1800" dirty="0" smtClean="0"/>
              <a:t>, </a:t>
            </a:r>
            <a:r>
              <a:rPr lang="ru-RU" sz="1800" dirty="0" err="1" smtClean="0"/>
              <a:t>RunOnce</a:t>
            </a:r>
            <a:r>
              <a:rPr lang="ru-RU" sz="1800" dirty="0" smtClean="0"/>
              <a:t> с включенными в них строковыми параметрами, отвечающими за запуск программ. Название параметра может быть произвольным (обычно оно совпадает с названием программы), а в качестве значения в этих параметрах указывается путь к запускаемой программе.</a:t>
            </a:r>
          </a:p>
          <a:p>
            <a:r>
              <a:rPr lang="ru-RU" sz="1800" dirty="0" smtClean="0"/>
              <a:t>В разделе </a:t>
            </a:r>
            <a:r>
              <a:rPr lang="ru-RU" sz="1800" dirty="0" err="1" smtClean="0"/>
              <a:t>RunOnce</a:t>
            </a:r>
            <a:r>
              <a:rPr lang="ru-RU" sz="1800" dirty="0" smtClean="0"/>
              <a:t> прописываются программы, которые запускаются всего один раз. (Например, при установке новых программ некоторые из них прописывают туда ключи, указывающие на какие-либо настроечные модули, которые запускаются сразу после перезагрузки компьютера). Для удаления той или иной программы из автозапуска достаточно удалить соответствующий параметр из раздела </a:t>
            </a:r>
            <a:r>
              <a:rPr lang="ru-RU" sz="1800" dirty="0" err="1" smtClean="0"/>
              <a:t>Run</a:t>
            </a:r>
            <a:r>
              <a:rPr lang="ru-RU" sz="1800" dirty="0" smtClean="0"/>
              <a:t>.</a:t>
            </a:r>
          </a:p>
          <a:p>
            <a:r>
              <a:rPr lang="ru-RU" sz="1800" dirty="0" smtClean="0"/>
              <a:t>К примеру, в разделе </a:t>
            </a:r>
            <a:r>
              <a:rPr lang="ru-RU" sz="1800" dirty="0" err="1" smtClean="0"/>
              <a:t>Run</a:t>
            </a:r>
            <a:r>
              <a:rPr lang="ru-RU" sz="1800" dirty="0" smtClean="0"/>
              <a:t> может находиться параметр </a:t>
            </a:r>
            <a:r>
              <a:rPr lang="ru-RU" sz="1800" i="1" dirty="0" smtClean="0"/>
              <a:t>ICQ </a:t>
            </a:r>
            <a:r>
              <a:rPr lang="ru-RU" sz="1800" i="1" dirty="0" err="1" smtClean="0"/>
              <a:t>Lite</a:t>
            </a:r>
            <a:r>
              <a:rPr lang="ru-RU" sz="1800" i="1" dirty="0" smtClean="0"/>
              <a:t> </a:t>
            </a:r>
            <a:r>
              <a:rPr lang="ru-RU" sz="1800" dirty="0" smtClean="0"/>
              <a:t>со значением C:\Program </a:t>
            </a:r>
            <a:r>
              <a:rPr lang="ru-RU" sz="1800" dirty="0" err="1" smtClean="0"/>
              <a:t>Files</a:t>
            </a:r>
            <a:r>
              <a:rPr lang="ru-RU" sz="1800" dirty="0" smtClean="0"/>
              <a:t>\</a:t>
            </a:r>
            <a:r>
              <a:rPr lang="ru-RU" sz="1800" dirty="0" err="1" smtClean="0"/>
              <a:t>ICQLite</a:t>
            </a:r>
            <a:r>
              <a:rPr lang="ru-RU" sz="1800" dirty="0" smtClean="0"/>
              <a:t>\ICQLite.exe — </a:t>
            </a:r>
            <a:r>
              <a:rPr lang="ru-RU" sz="1800" dirty="0" err="1" smtClean="0"/>
              <a:t>minimize</a:t>
            </a:r>
            <a:r>
              <a:rPr lang="ru-RU" sz="1800" dirty="0" smtClean="0"/>
              <a:t>, отвечающий за автоматический запуск ICQ при старте компьютера. Если вы не хотите, что бы ICQ стартовала автоматически, то данный параметр можно удалить.</a:t>
            </a:r>
          </a:p>
          <a:p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CF2575-6776-4826-879F-95022FECF825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7C7E31-9DF7-40CB-8F33-D5289ADF6FB7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496" y="1916804"/>
            <a:ext cx="7810413" cy="237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3691</TotalTime>
  <Words>1262</Words>
  <Application>Microsoft Office PowerPoint</Application>
  <PresentationFormat>Экран (4:3)</PresentationFormat>
  <Paragraphs>165</Paragraphs>
  <Slides>33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4" baseType="lpstr">
      <vt:lpstr>Главная</vt:lpstr>
      <vt:lpstr>СИСТЕМНЫЙ РЕЕСТР </vt:lpstr>
      <vt:lpstr>Реестр системы Windows </vt:lpstr>
      <vt:lpstr>Программные компоненты системы, работающие с реестром</vt:lpstr>
      <vt:lpstr>Программные компоненты системы, работающие с реестром (продолжение)</vt:lpstr>
      <vt:lpstr>Структура реестра </vt:lpstr>
      <vt:lpstr>Структура реестра </vt:lpstr>
      <vt:lpstr>Корневые разделы реестра</vt:lpstr>
      <vt:lpstr>Корневые разделы реестра</vt:lpstr>
      <vt:lpstr>Структура параметра реестра</vt:lpstr>
      <vt:lpstr>Хранение данных реестра (понятие куста)</vt:lpstr>
      <vt:lpstr>Хранение данных реестра </vt:lpstr>
      <vt:lpstr>Презентация PowerPoint</vt:lpstr>
      <vt:lpstr>Стандартные файлы, обеспечивающие  поддержку кустов реестра </vt:lpstr>
      <vt:lpstr>Стандартные файлы, обеспечивающие  поддержку кустов реестра </vt:lpstr>
      <vt:lpstr>Типы файлов, ассоциированные с кустами реестра </vt:lpstr>
      <vt:lpstr>Окно программы «Редактор реестра»</vt:lpstr>
      <vt:lpstr>Меню «Файл» программы «Редактор реестра»</vt:lpstr>
      <vt:lpstr>Меню «Правка» программы «Редактор реестра»</vt:lpstr>
      <vt:lpstr>Окно установки разрешений  программы «Редактор реестра»</vt:lpstr>
      <vt:lpstr>Аудит действий в отношении реестра (окно «Локальные параметры безопасности»)</vt:lpstr>
      <vt:lpstr>Аудит действий в отношении реестра (окно «Дополнительные параметры безопасности»| вкладка «Аудит»)  </vt:lpstr>
      <vt:lpstr>Аудит действий в отношении реестра (окно «Дополнительные параметры безопасности»| вкладка «Аудит»|  Выбор пользователей )  </vt:lpstr>
      <vt:lpstr>Аудит действий в отношении реестра (окно «Дополнительные параметры безопасности»| вкладка «Аудит»|  Выбор действий) </vt:lpstr>
      <vt:lpstr>Аудит действий в отношении реестра (окно «Просмотр событий»)</vt:lpstr>
      <vt:lpstr>Reg-файлы</vt:lpstr>
      <vt:lpstr>Создание Reg-файлов</vt:lpstr>
      <vt:lpstr>Создание Reg-файлов</vt:lpstr>
      <vt:lpstr>Reg-файлы</vt:lpstr>
      <vt:lpstr>Пример содержимого Reg-файла</vt:lpstr>
      <vt:lpstr>Команда Reg</vt:lpstr>
      <vt:lpstr>Автоматический вход в систему</vt:lpstr>
      <vt:lpstr>Автозагрузка программ</vt:lpstr>
      <vt:lpstr>Презентация PowerPoint</vt:lpstr>
    </vt:vector>
  </TitlesOfParts>
  <Company>Eagles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Family</dc:creator>
  <cp:lastModifiedBy>Гатиша</cp:lastModifiedBy>
  <cp:revision>246</cp:revision>
  <dcterms:created xsi:type="dcterms:W3CDTF">2007-07-23T15:23:12Z</dcterms:created>
  <dcterms:modified xsi:type="dcterms:W3CDTF">2018-04-22T20:04:14Z</dcterms:modified>
</cp:coreProperties>
</file>