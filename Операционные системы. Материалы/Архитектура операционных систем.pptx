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4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282" r:id="rId22"/>
    <p:sldId id="268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0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0E9B3-9101-4019-851E-091C6E831D4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E2F87-44C3-48BA-A00A-2DDD986547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26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44624"/>
            <a:ext cx="9144000" cy="2301240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Архитектура операционных систем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6118" y="1196752"/>
            <a:ext cx="7272808" cy="1224136"/>
          </a:xfrm>
        </p:spPr>
        <p:txBody>
          <a:bodyPr>
            <a:noAutofit/>
          </a:bodyPr>
          <a:lstStyle/>
          <a:p>
            <a:pPr algn="ctr">
              <a:tabLst>
                <a:tab pos="4308475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Структура операционных систем. Виды ядра операционных систем. </a:t>
            </a:r>
            <a:r>
              <a:rPr lang="ru-RU" sz="2400" dirty="0" err="1">
                <a:latin typeface="Times New Roman"/>
                <a:ea typeface="Times New Roman"/>
              </a:rPr>
              <a:t>Микроядерная</a:t>
            </a:r>
            <a:r>
              <a:rPr lang="ru-RU" sz="2400" dirty="0">
                <a:latin typeface="Times New Roman"/>
                <a:ea typeface="Times New Roman"/>
              </a:rPr>
              <a:t> архитектура (модель клиент-сервер)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4" descr="https://pbs-prod.linustechtips.com/monthly_2018_04/DSC01406_2.JPG.3fd43922aa98ec1338e699475ddbd6d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492896"/>
            <a:ext cx="41764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65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начала, вспомнил, что такое операционная система.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Операционная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— это тип системного программного обеспечения, который управляет всеми ресурсами компьютера. Она контролирует и отслеживает выполнение всех программ, находящихся на компьютере, включая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прикладные.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Операционные системы состоят из нескольких основных элементов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ввода-вывода или BIOS.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направляет клавиатуре, мыши, сетевому адаптеру и другим устройствам периферии команды, обрабатывает ошибки, реагирует на прерывания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6667" y1="46875" x2="30667" y2="40234"/>
                        <a14:foregroundMark x1="33778" y1="47266" x2="37556" y2="40039"/>
                        <a14:foregroundMark x1="33667" y1="35352" x2="37556" y2="27930"/>
                        <a14:foregroundMark x1="26444" y1="34961" x2="30444" y2="28125"/>
                        <a14:foregroundMark x1="41111" y1="35352" x2="44333" y2="28516"/>
                        <a14:foregroundMark x1="40889" y1="47461" x2="44778" y2="40430"/>
                        <a14:foregroundMark x1="48111" y1="47266" x2="51556" y2="41016"/>
                        <a14:foregroundMark x1="47889" y1="34961" x2="51667" y2="28711"/>
                        <a14:foregroundMark x1="55111" y1="34570" x2="59111" y2="28320"/>
                        <a14:foregroundMark x1="55333" y1="47852" x2="59444" y2="39648"/>
                        <a14:foregroundMark x1="62222" y1="47656" x2="66000" y2="40430"/>
                        <a14:foregroundMark x1="69333" y1="47070" x2="72778" y2="40820"/>
                        <a14:foregroundMark x1="69889" y1="32422" x2="72778" y2="28320"/>
                        <a14:foregroundMark x1="62778" y1="32813" x2="65222" y2="29297"/>
                        <a14:foregroundMark x1="49111" y1="66992" x2="51333" y2="66992"/>
                        <a14:foregroundMark x1="22333" y1="64258" x2="22333" y2="23438"/>
                        <a14:backgroundMark x1="44889" y1="62695" x2="54778" y2="63281"/>
                        <a14:backgroundMark x1="46000" y1="49805" x2="55000" y2="50000"/>
                        <a14:backgroundMark x1="42222" y1="37891" x2="56556" y2="37500"/>
                        <a14:backgroundMark x1="32333" y1="30859" x2="32444" y2="51953"/>
                        <a14:backgroundMark x1="60556" y1="28906" x2="60778" y2="535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421" y="3862795"/>
            <a:ext cx="5313142" cy="302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03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Загрузчик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программа, которая загружает файлы операционной системы, когда пользователь запускает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компьютер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5"/>
            <a:ext cx="7632848" cy="48965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03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Ядро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центральная часть любой ОС. Оно отвечает за управление аппаратными ресурсами компьютера, такими как процессор, память, диски и т. д. Ядро также обеспечивает интерфейс для приложений, позволяющий им взаимодействовать с аппаратными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ресурсами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7176"/>
            <a:ext cx="4730823" cy="473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577" y="2323912"/>
            <a:ext cx="6051007" cy="453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59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Драйверы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софт для управления устройствами, которые подключают к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ПК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Командный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процессор.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передает действия пользователя компьютеру, чтобы тот их обработал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3056" l="20365" r="7760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286" t="4277" r="25741" b="9632"/>
          <a:stretch/>
        </p:blipFill>
        <p:spPr bwMode="auto">
          <a:xfrm>
            <a:off x="3459865" y="1340768"/>
            <a:ext cx="2080254" cy="2099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500" y="3862794"/>
            <a:ext cx="4438984" cy="295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67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Оболочка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которая обеспечивает интерфейс для работы пользователя с операционной системой. Оболочка позволяет запускать приложения, управлять файлами и каталогами, настраивать систему и т.д.;</a:t>
            </a:r>
          </a:p>
          <a:p>
            <a:pPr marL="342900" indent="-342900">
              <a:buFont typeface="Arial" pitchFamily="34" charset="0"/>
              <a:buChar char="•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36" y="2132856"/>
            <a:ext cx="7695511" cy="43204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38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Структура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Приложения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обеспечение, которое пользователь запускает в операционной системе. Приложения могут быть системными (например, браузер, текстовый редактор) или пользовательскими (например, игры, программы для обработки фотографий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 descr="Архитектура операционной системы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backgroundMark x1="7403" y1="58750" x2="44156" y2="58958"/>
                        <a14:backgroundMark x1="49870" y1="57500" x2="50260" y2="59583"/>
                        <a14:backgroundMark x1="52208" y1="59167" x2="93312" y2="58750"/>
                        <a14:backgroundMark x1="49935" y1="24896" x2="49935" y2="2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93" t="7607" r="3864" b="9096"/>
          <a:stretch/>
        </p:blipFill>
        <p:spPr bwMode="auto">
          <a:xfrm>
            <a:off x="575556" y="2323912"/>
            <a:ext cx="7848872" cy="442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59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Монолитное ядро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Монолитное ядро предоставляет богатый набор абстракций оборудования. Все части монолитного ядра работают в одном адресном пространстве.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такая схема операционной системы, при которой все компоненты её ядра являются составными частями одной программы, используют общие структуры данных и взаимодействуют друг с другом путём непосредственного вызова процедур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Достоинства: Скорость работы, упрощённая разработка модулей.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Недостатки: Поскольку всё ядро работает в одном адресном пространстве, сбой в одном из компонентов может нарушить работоспособность всей системы.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673" l="4592" r="896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617" t="5358" r="24074" b="20828"/>
          <a:stretch/>
        </p:blipFill>
        <p:spPr bwMode="auto">
          <a:xfrm>
            <a:off x="2843808" y="4126230"/>
            <a:ext cx="2996426" cy="272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60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Модульное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ядро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Модульное ядро — современная, усовершенствованная модификация архитектуры монолитных ядер операционных систем.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отличие от «классических» монолитных ядер, модульные ядра, как правило, не требуют полной перекомпиляции ядра при изменении состава аппаратного обеспечения компьютера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6806" y1="90556" x2="30278" y2="78519"/>
                        <a14:foregroundMark x1="34306" y1="75370" x2="39028" y2="69444"/>
                        <a14:foregroundMark x1="74861" y1="73148" x2="78750" y2="77778"/>
                        <a14:foregroundMark x1="83472" y1="79815" x2="94306" y2="92778"/>
                        <a14:foregroundMark x1="78889" y1="29259" x2="89306" y2="16481"/>
                        <a14:foregroundMark x1="89306" y1="16481" x2="89306" y2="16481"/>
                        <a14:foregroundMark x1="72639" y1="37407" x2="75556" y2="35185"/>
                        <a14:foregroundMark x1="41389" y1="42222" x2="37083" y2="35926"/>
                        <a14:foregroundMark x1="20694" y1="32222" x2="29444" y2="15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83" t="8755"/>
          <a:stretch/>
        </p:blipFill>
        <p:spPr bwMode="auto">
          <a:xfrm>
            <a:off x="4889239" y="2891972"/>
            <a:ext cx="4270735" cy="334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07504" y="3140968"/>
            <a:ext cx="492048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Вместо этого модульные ядра предоставляют тот или иной механизм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подгрузки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модулей ядра, поддерживающих то или иное аппаратное обеспечение (например, драйверов). 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 этом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подгрузка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модулей может быть как динамической (без перезагрузки ОС, в работающей системе), так и статической (выполняемой при перезагрузке ОС после переконфигурирования системы на загрузку тех или иных модулей).</a:t>
            </a:r>
          </a:p>
        </p:txBody>
      </p:sp>
    </p:spTree>
    <p:extLst>
      <p:ext uri="{BB962C8B-B14F-4D97-AF65-F5344CB8AC3E}">
        <p14:creationId xmlns:p14="http://schemas.microsoft.com/office/powerpoint/2010/main" val="293174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78497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Микроядро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Микроядро предоставляет только элементарные функции управления процессами и минимальный набор абстракций для работы с оборудованием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Большая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часть работы осуществляется с помощью специальных пользовательских процессов, называемых серверами.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Достоинства: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устойчивость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сбоям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оборудования 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ошибкам в компонентах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системы, высокая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степень модульности ядра операционной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системы, компоненты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ядра операционной системы ничем принципиально не отличаются от пользовательских программ, поэтому для их отладки можно применять обычные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средства,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икроядерная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архитектура повышает надежность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системы – ошибка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уровне непривилегированной программы менее опасна, чем отказ на уровне режима ядра.</a:t>
            </a: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передача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данных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между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процессами требует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накладных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расходов.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42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2" r="3151" b="20118"/>
          <a:stretch/>
        </p:blipFill>
        <p:spPr bwMode="auto">
          <a:xfrm>
            <a:off x="3851920" y="4665302"/>
            <a:ext cx="5184576" cy="2165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62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78497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Экзоядро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Экзоядро — ядро операционной системы, предоставляющее лишь функции для взаимодействия между процессами, безопасного выделения и освобождения ресурсов. Предполагается, что API для прикладных программ будут предоставляться внешними по отношению к ядру библиотеками (откуда и название архитектуры).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Идея в том, чтобы разделить все ресурсы на подмножества, отдав каждое подмножество отдельной машине (виртуальной). На нижнем уровне в режиме ядра работает программа, которая называется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экзоядро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В её задачу входит распределение ресурсов для виртуальных машин, а затем – проверка их использования, т.е. отслеживание попыток машин использовать чужой ресурс. Каждая виртуальная машина на уровне пользователя может работать с собственной ОС, при условии, что каждая машина ограничена набором ресурсов, которые были запрошены ею и которые были ей предоставлены. Преимущество схемы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экзоядра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состоит в том, что можно обойтись без уровня отображения.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56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78497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Наноядро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Наноядро — архитектура ядра операционной системы, в рамках которой крайне упрощённое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ядро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выполняет лишь одну задачу — обработку аппаратных прерываний, генерируемых устройствами компьютера. После обработки прерываний от аппаратуры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наноядро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посылает информацию о результатах обработки (например, полученные с клавиатуры символы) вышележащему программному обеспечению при помощи того же механизма прерываний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Достоинства: Простота реализации,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самой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операционной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системы, что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позволяет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сделать само ядро очень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надежным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защищённым от сбоев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Большую часть работы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приходится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возлагать на драйвера,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значит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их код становится сложнее и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приходится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концентрировать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внимание на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дополнительных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аспектах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его реализации.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632" y="2852936"/>
            <a:ext cx="5032880" cy="3941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959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Типы архитектур ядер операционных систем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7849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Гибридное ядро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Гибридные ядра — это модифицированные микроядра, позволяющие для ускорения работы запускать «несущественные» части в пространстве ядра. Пример: ядра ОС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семейства 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Гибридное ядро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должно объединять преимущества монолитного ядра и микроядра: казалось бы, микроядро и монолитное ядро — крайности, а смешанное — золотая середина. В них возможно добавлять драйвера устройств двумя способами: и внутрь ядра, и в пользовательское пространство. Но на практике концепция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гибридного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ядра часто подчёркивает не только достоинства, но и недостатки обоих типов ядер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Гибридное ядро объединяет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два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подхода, размещая наиболее важные функции внутри ядра, а менее значимые — в пространстве пользователя. Это позволяет добиться оптимального баланса производительности и гибкости.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96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Микроядерная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Современная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тенденция в разработке операционных систем состоит в перенесении значительной части системного кода на уровень пользователя и одновременной минимизации ядра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Речь идет о подходе к построению ядра, когда большинство ее составляющих являются самостоятельными программами.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Взаимодействие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между ними обеспечивает специальный модуль ядра, называемый микроядром. Микроядро работает в привилегированном режиме и обеспечивает взаимодействие между программами, планирование использования процессора, первичную обработку прерываний, операции ввода-вывода и базовое управление памятью. Остальные компоненты системы взаимодействуют друг с другом путем передачи сообщений через микроядро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Процессы подразделяются на клиентские и серверные. В задачу ядра входит только управление связью между клиентами и серверами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09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Микроядерная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 разделяется на маленькие части, каждая занимается только своим делом. Все такие элементы – серверы – работают на уровне пользователя и не имеют доступа к оборудованию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Другое преимущество – простота адаптации к распределенным системам. Общение клиента с сервером сводится к пересылке сообщений, при этом обоим можно не знать, по каким каналам сообщения передаются фактически.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0" name="Picture 2" descr="https://studfile.net/html/1597/72/html_ab5IMnXMfk.Owa8/img-rZ_Jt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99" y="1713900"/>
            <a:ext cx="7972985" cy="148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studfile.net/html/1597/72/html_ab5IMnXMfk.Owa8/img-S3TWx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99" y="4653136"/>
            <a:ext cx="7972985" cy="177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27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Клиент-серверная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Архитектура «Клиент-Сервер» (также используются термины «сеть Клиент-Сервер» или «модель Клиент-Сервер») предусматривает разделение процессов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предоставления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услуг и отправки запросов 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разных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компьютерах в сети, каждый из которых выполняют свои задачи независимо от других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архитектуре «Клиент-Сервер» несколько компьютеров-клиентов (удалённые системы) посылают запросы и получают услуги от централизованной служебной машины – сервера, которая также может называться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хост-системой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Клиентская машина предоставляет пользователю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дружественный интерфейс»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user-friendly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чтобы облегчить его взаимодействие с сервером.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4365104"/>
            <a:ext cx="8144073" cy="235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00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Клиент-серверная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Архитектуру «клиент-сервер» принято разделять на три класса: одно-, двух- и трёхуровневую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Одноуровневая архитектура (1-Tier)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Одноуровневая архитектура «клиент-сервер» (1-Tier) – такая, где все прикладные программы рассредоточены по рабочим станциям, которые обращаются к общему серверу баз данных или к общему файловому серверу. Никаких прикладных программ сервер при этом не исполняет, только предоставляет 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6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1131" r="88929">
                        <a14:foregroundMark x1="27321" y1="21905" x2="34048" y2="22857"/>
                        <a14:foregroundMark x1="36726" y1="14286" x2="36845" y2="6032"/>
                        <a14:foregroundMark x1="37976" y1="4656" x2="42619" y2="3704"/>
                        <a14:foregroundMark x1="34167" y1="96402" x2="47202" y2="69841"/>
                        <a14:foregroundMark x1="30119" y1="74497" x2="50000" y2="90053"/>
                        <a14:foregroundMark x1="33274" y1="75026" x2="44940" y2="70688"/>
                        <a14:foregroundMark x1="34524" y1="87831" x2="33690" y2="80635"/>
                        <a14:foregroundMark x1="43155" y1="70899" x2="46071" y2="69841"/>
                        <a14:foregroundMark x1="50476" y1="92063" x2="58988" y2="74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77" r="33707"/>
          <a:stretch/>
        </p:blipFill>
        <p:spPr bwMode="auto">
          <a:xfrm>
            <a:off x="455851" y="3501008"/>
            <a:ext cx="2378953" cy="314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4297" r="98438">
                        <a14:foregroundMark x1="39688" y1="60972" x2="60938" y2="43611"/>
                        <a14:foregroundMark x1="15703" y1="76944" x2="27344" y2="90278"/>
                        <a14:foregroundMark x1="30000" y1="75972" x2="33828" y2="94444"/>
                        <a14:foregroundMark x1="16484" y1="76111" x2="26563" y2="76389"/>
                        <a14:foregroundMark x1="27891" y1="76111" x2="27969" y2="89861"/>
                        <a14:foregroundMark x1="15547" y1="77500" x2="15469" y2="90556"/>
                        <a14:foregroundMark x1="15625" y1="91111" x2="27813" y2="91250"/>
                        <a14:foregroundMark x1="11250" y1="61111" x2="17266" y2="39167"/>
                        <a14:foregroundMark x1="17422" y1="60972" x2="11250" y2="39306"/>
                        <a14:foregroundMark x1="11406" y1="57083" x2="11250" y2="43750"/>
                        <a14:foregroundMark x1="37656" y1="49444" x2="50078" y2="39444"/>
                        <a14:foregroundMark x1="18750" y1="7639" x2="29063" y2="20694"/>
                        <a14:foregroundMark x1="29219" y1="7917" x2="19141" y2="20833"/>
                        <a14:foregroundMark x1="18594" y1="24583" x2="30391" y2="29306"/>
                        <a14:foregroundMark x1="34766" y1="14444" x2="43359" y2="34306"/>
                        <a14:foregroundMark x1="20547" y1="50000" x2="34766" y2="50000"/>
                        <a14:foregroundMark x1="36875" y1="87500" x2="45391" y2="67639"/>
                        <a14:foregroundMark x1="65469" y1="51944" x2="71563" y2="51944"/>
                        <a14:foregroundMark x1="71484" y1="52361" x2="71563" y2="69861"/>
                        <a14:foregroundMark x1="71563" y1="70000" x2="77734" y2="6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212084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764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Клиент-серверная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Двухуровневая архитектура (2-Tier)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двухуровневой архитектуре «клиент-сервер» следует относить такую, в которой прикладные программы сосредоточены на сервере приложений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например, сервере 1С или сервере CRM, а в рабочих станциях находятся программы-клиенты, которые предоставляют для пользователей интерфейс для работы с приложениями на общем сервере.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864" y="2636912"/>
            <a:ext cx="5046256" cy="39959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01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Клиент-серверная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Трёхуровневая архитектура (3-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Tier)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трёхуровневой архитектуре сервер баз данных, файловый сервер и другие представляют собой отдельный уровень, результаты работы которого использует сервер приложений. Логика данных и бизнес-логика находятся в сервере приложений. Все обращения клиентов к базе данных происходят через промежуточное программное обеспечение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middleware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которое находится на сервере приложений. Вследствие этого, повышается гибкость работы и производительность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335" y="3252465"/>
            <a:ext cx="5657314" cy="3344887"/>
          </a:xfrm>
          <a:prstGeom prst="roundRect">
            <a:avLst>
              <a:gd name="adj" fmla="val 2008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79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Клиент-серверная архитектура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7920"/>
            <a:ext cx="87849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Многоуровневая архитектура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N-Tier)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отдельный класс архитектуры «клиент-сервер» можно вынести многоуровневую архитектуру, в которой несколько серверов приложений используют результаты работы друг друга, а также данные от различных серверов баз данных, файловых серверов и других видов серверов.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Преимуществом многоуровневой архитектуры является гибкость предоставления услуг, которые могут являться комбинацией работы различных приложений серверов разных уровней и элементов этих приложений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Очевидным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недостатком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является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сложность,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многокомпонентность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такой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архитектуры.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1" b="26841"/>
          <a:stretch/>
        </p:blipFill>
        <p:spPr bwMode="auto">
          <a:xfrm>
            <a:off x="3282128" y="3944466"/>
            <a:ext cx="5610352" cy="2669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73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0" y="0"/>
            <a:ext cx="9144000" cy="630539"/>
          </a:xfrm>
          <a:prstGeom prst="rect">
            <a:avLst/>
          </a:prstGeom>
        </p:spPr>
        <p:txBody>
          <a:bodyPr vert="horz" lIns="45720" rIns="45720" anchor="ctr">
            <a:normAutofit fontScale="92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Задания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620688"/>
            <a:ext cx="84249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Ответьте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 вопросы: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 такое система ввода-вывода?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 такое загрузчик?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Перечислите типы архитектур и их особенности;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Расскажите про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микроядерную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архитектуру;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5)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Расскажите про архитектуру «Клиент-Сервер»;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6) Охарактеризуйте одноуровневую архитектуру;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7)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Охарактеризуйте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двухуровневую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архитектуру;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8)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Охарактеризуйте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трёхуровневую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архитектуру;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9)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Охарактеризуйте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многоуровневую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архитектуру;</a:t>
            </a:r>
          </a:p>
          <a:p>
            <a:pPr lvl="0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70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Благодарю за внимание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2" name="Picture 4" descr="https://top-fon.com/uploads/posts/2023-02/1675423036_top-fon-com-p-fon-dlya-prezentatsii-bezopasnii-internet-10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6"/>
          <a:stretch/>
        </p:blipFill>
        <p:spPr bwMode="auto">
          <a:xfrm>
            <a:off x="1691680" y="1268760"/>
            <a:ext cx="5976664" cy="5426924"/>
          </a:xfrm>
          <a:prstGeom prst="ellipse">
            <a:avLst/>
          </a:prstGeom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yt3.googleusercontent.com/ytc/AOPolaRt-jcUm5AB26ntx98QFlBrZTzJy_cHZ2RFDXSI=s900-c-k-c0x00ffffff-no-rj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3" t="3162" r="4574" b="6819"/>
          <a:stretch/>
        </p:blipFill>
        <p:spPr bwMode="auto">
          <a:xfrm>
            <a:off x="3231812" y="2553461"/>
            <a:ext cx="2896400" cy="2857522"/>
          </a:xfrm>
          <a:prstGeom prst="ellipse">
            <a:avLst/>
          </a:prstGeom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70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2958</TotalTime>
  <Words>1544</Words>
  <Application>Microsoft Office PowerPoint</Application>
  <PresentationFormat>Экран (4:3)</PresentationFormat>
  <Paragraphs>136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Техническая</vt:lpstr>
      <vt:lpstr>Архитектура операционных систем</vt:lpstr>
      <vt:lpstr>Структура операционных систем</vt:lpstr>
      <vt:lpstr>Структура операционных систем</vt:lpstr>
      <vt:lpstr>Структура операционных систем</vt:lpstr>
      <vt:lpstr>Структура операционных систем</vt:lpstr>
      <vt:lpstr>Структура операционных систем</vt:lpstr>
      <vt:lpstr>Структура операционных систем</vt:lpstr>
      <vt:lpstr>Типы архитектур ядер операционных систем</vt:lpstr>
      <vt:lpstr>Типы архитектур ядер операционных систем</vt:lpstr>
      <vt:lpstr>Типы архитектур ядер операционных систем</vt:lpstr>
      <vt:lpstr>Типы архитектур ядер операционных систем</vt:lpstr>
      <vt:lpstr>Типы архитектур ядер операционных систем</vt:lpstr>
      <vt:lpstr>Типы архитектур ядер операционных систем</vt:lpstr>
      <vt:lpstr>Микроядерная архитектура</vt:lpstr>
      <vt:lpstr>Микроядерная архитектура</vt:lpstr>
      <vt:lpstr>Клиент-серверная архитектура</vt:lpstr>
      <vt:lpstr>Клиент-серверная архитектура</vt:lpstr>
      <vt:lpstr>Клиент-серверная архитектура</vt:lpstr>
      <vt:lpstr>Клиент-серверная архитектура</vt:lpstr>
      <vt:lpstr>Клиент-серверная архитектура</vt:lpstr>
      <vt:lpstr>Презентация PowerPoint</vt:lpstr>
      <vt:lpstr>Благодарю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KreinBlack</dc:creator>
  <cp:lastModifiedBy>пк</cp:lastModifiedBy>
  <cp:revision>140</cp:revision>
  <dcterms:created xsi:type="dcterms:W3CDTF">2023-09-12T09:36:12Z</dcterms:created>
  <dcterms:modified xsi:type="dcterms:W3CDTF">2025-09-15T23:33:34Z</dcterms:modified>
</cp:coreProperties>
</file>