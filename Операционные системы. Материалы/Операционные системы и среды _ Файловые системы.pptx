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82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7" r:id="rId27"/>
    <p:sldId id="328" r:id="rId28"/>
    <p:sldId id="329" r:id="rId29"/>
    <p:sldId id="331" r:id="rId30"/>
    <p:sldId id="332" r:id="rId31"/>
    <p:sldId id="333" r:id="rId32"/>
    <p:sldId id="330" r:id="rId33"/>
    <p:sldId id="301" r:id="rId3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CDEE3-493A-4447-91CB-04FA0BB96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3EA55-4400-49FA-A89C-5AC4B9B19BB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925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4EA71D8-110C-49C8-B751-3FDFD4A97AD5}" type="slidenum">
              <a:rPr lang="ru-RU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AB33D-2995-49EA-AE65-37318B41EC6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75ACD-C709-4701-A140-0AE91E834113}" type="datetimeFigureOut">
              <a:rPr lang="ru-RU" smtClean="0"/>
              <a:pPr/>
              <a:t>28.11.2012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30255-2B1C-4062-8821-9C9FAD30CA0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jpeg"/><Relationship Id="rId7" Type="http://schemas.openxmlformats.org/officeDocument/2006/relationships/hyperlink" Target="http://computer-supports.com/historical-development-applications-and-types-of-unix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3.jpeg"/><Relationship Id="rId5" Type="http://schemas.openxmlformats.org/officeDocument/2006/relationships/image" Target="../media/image8.png"/><Relationship Id="rId10" Type="http://schemas.openxmlformats.org/officeDocument/2006/relationships/image" Target="../media/image12.jpeg"/><Relationship Id="rId4" Type="http://schemas.openxmlformats.org/officeDocument/2006/relationships/image" Target="../media/image7.jpeg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13" Type="http://schemas.openxmlformats.org/officeDocument/2006/relationships/image" Target="../media/image25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12" Type="http://schemas.openxmlformats.org/officeDocument/2006/relationships/image" Target="../media/image24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png"/><Relationship Id="rId9" Type="http://schemas.openxmlformats.org/officeDocument/2006/relationships/image" Target="../media/image21.jpe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eg"/><Relationship Id="rId11" Type="http://schemas.openxmlformats.org/officeDocument/2006/relationships/image" Target="../media/image36.jpeg"/><Relationship Id="rId5" Type="http://schemas.openxmlformats.org/officeDocument/2006/relationships/image" Target="../media/image30.png"/><Relationship Id="rId10" Type="http://schemas.openxmlformats.org/officeDocument/2006/relationships/image" Target="../media/image35.jpeg"/><Relationship Id="rId4" Type="http://schemas.openxmlformats.org/officeDocument/2006/relationships/image" Target="../media/image29.jpeg"/><Relationship Id="rId9" Type="http://schemas.openxmlformats.org/officeDocument/2006/relationships/image" Target="../media/image3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778694"/>
            <a:ext cx="8928992" cy="2074242"/>
          </a:xfrm>
        </p:spPr>
        <p:txBody>
          <a:bodyPr>
            <a:noAutofit/>
          </a:bodyPr>
          <a:lstStyle/>
          <a:p>
            <a:r>
              <a:rPr lang="ru-RU" sz="6000" dirty="0" smtClean="0"/>
              <a:t>Операционные системы и среды. Файловые системы</a:t>
            </a:r>
            <a:endParaRPr lang="ru-RU" sz="6000" dirty="0"/>
          </a:p>
        </p:txBody>
      </p:sp>
      <p:sp>
        <p:nvSpPr>
          <p:cNvPr id="5" name="TextBox 4"/>
          <p:cNvSpPr txBox="1"/>
          <p:nvPr/>
        </p:nvSpPr>
        <p:spPr>
          <a:xfrm>
            <a:off x="7092280" y="6453336"/>
            <a:ext cx="205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/>
              <a:t>21.11.2012</a:t>
            </a:r>
            <a:endParaRPr lang="ru-RU" dirty="0"/>
          </a:p>
        </p:txBody>
      </p:sp>
      <p:pic>
        <p:nvPicPr>
          <p:cNvPr id="20" name="Picture 5" descr="dos4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896" y="4941168"/>
            <a:ext cx="2414555" cy="1678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7" descr="windows_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3848" y="2708920"/>
            <a:ext cx="3455987" cy="251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9" descr="060715-os2war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3140968"/>
            <a:ext cx="2592387" cy="259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6" descr="unix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00192" y="3212976"/>
            <a:ext cx="2520454" cy="2520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Прямоугольник 1"/>
          <p:cNvSpPr>
            <a:spLocks noChangeArrowheads="1"/>
          </p:cNvSpPr>
          <p:nvPr/>
        </p:nvSpPr>
        <p:spPr bwMode="auto">
          <a:xfrm>
            <a:off x="395288" y="333375"/>
            <a:ext cx="8497887" cy="28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ru-RU" sz="2600" b="1">
                <a:latin typeface="Calibri" pitchFamily="34" charset="0"/>
              </a:rPr>
              <a:t>Операционная система </a:t>
            </a:r>
            <a:r>
              <a:rPr lang="ru-RU" sz="2600">
                <a:latin typeface="Calibri" pitchFamily="34" charset="0"/>
              </a:rPr>
              <a:t>(</a:t>
            </a:r>
            <a:r>
              <a:rPr lang="ru-RU" sz="2600" b="1">
                <a:latin typeface="Calibri" pitchFamily="34" charset="0"/>
              </a:rPr>
              <a:t>ОС</a:t>
            </a:r>
            <a:r>
              <a:rPr lang="ru-RU" sz="2600">
                <a:latin typeface="Calibri" pitchFamily="34" charset="0"/>
              </a:rPr>
              <a:t>, в англоязычном варианте </a:t>
            </a:r>
            <a:r>
              <a:rPr lang="ru-RU" sz="2600" b="1">
                <a:latin typeface="Calibri" pitchFamily="34" charset="0"/>
              </a:rPr>
              <a:t>- operating system</a:t>
            </a:r>
            <a:r>
              <a:rPr lang="ru-RU" sz="2600">
                <a:latin typeface="Calibri" pitchFamily="34" charset="0"/>
              </a:rPr>
              <a:t>) – базовое системное программное обеспечение, управляющее работой компьютера и являющееся посредником (</a:t>
            </a:r>
            <a:r>
              <a:rPr lang="ru-RU" sz="2600" b="1">
                <a:latin typeface="Calibri" pitchFamily="34" charset="0"/>
              </a:rPr>
              <a:t>интерфейсом</a:t>
            </a:r>
            <a:r>
              <a:rPr lang="ru-RU" sz="2600">
                <a:latin typeface="Calibri" pitchFamily="34" charset="0"/>
              </a:rPr>
              <a:t>) между </a:t>
            </a:r>
            <a:r>
              <a:rPr lang="ru-RU" sz="2600" b="1">
                <a:latin typeface="Calibri" pitchFamily="34" charset="0"/>
              </a:rPr>
              <a:t>аппаратурой </a:t>
            </a:r>
            <a:r>
              <a:rPr lang="ru-RU" sz="2600">
                <a:latin typeface="Calibri" pitchFamily="34" charset="0"/>
              </a:rPr>
              <a:t>(</a:t>
            </a:r>
            <a:r>
              <a:rPr lang="ru-RU" sz="2600" b="1">
                <a:latin typeface="Calibri" pitchFamily="34" charset="0"/>
              </a:rPr>
              <a:t>hardware</a:t>
            </a:r>
            <a:r>
              <a:rPr lang="ru-RU" sz="2600">
                <a:latin typeface="Calibri" pitchFamily="34" charset="0"/>
              </a:rPr>
              <a:t>), </a:t>
            </a:r>
            <a:r>
              <a:rPr lang="ru-RU" sz="2600" b="1">
                <a:latin typeface="Calibri" pitchFamily="34" charset="0"/>
              </a:rPr>
              <a:t>прикладным программным обеспечением </a:t>
            </a:r>
            <a:r>
              <a:rPr lang="ru-RU" sz="2600">
                <a:latin typeface="Calibri" pitchFamily="34" charset="0"/>
              </a:rPr>
              <a:t>(</a:t>
            </a:r>
            <a:r>
              <a:rPr lang="ru-RU" sz="2600" b="1">
                <a:latin typeface="Calibri" pitchFamily="34" charset="0"/>
              </a:rPr>
              <a:t>application software</a:t>
            </a:r>
            <a:r>
              <a:rPr lang="ru-RU" sz="2600">
                <a:latin typeface="Calibri" pitchFamily="34" charset="0"/>
              </a:rPr>
              <a:t>) и </a:t>
            </a:r>
            <a:r>
              <a:rPr lang="ru-RU" sz="2600" b="1">
                <a:latin typeface="Calibri" pitchFamily="34" charset="0"/>
              </a:rPr>
              <a:t>пользователем </a:t>
            </a:r>
            <a:r>
              <a:rPr lang="ru-RU" sz="2600">
                <a:latin typeface="Calibri" pitchFamily="34" charset="0"/>
              </a:rPr>
              <a:t>компьютера (</a:t>
            </a:r>
            <a:r>
              <a:rPr lang="ru-RU" sz="2600" b="1">
                <a:latin typeface="Calibri" pitchFamily="34" charset="0"/>
              </a:rPr>
              <a:t>user</a:t>
            </a:r>
            <a:r>
              <a:rPr lang="ru-RU" sz="2600">
                <a:latin typeface="Calibri" pitchFamily="34" charset="0"/>
              </a:rPr>
              <a:t>). </a:t>
            </a:r>
          </a:p>
        </p:txBody>
      </p:sp>
      <p:pic>
        <p:nvPicPr>
          <p:cNvPr id="6147" name="Picture 4" descr="http://www.contrib.andrew.cmu.edu/~nmahmoud/clip_image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3573463"/>
            <a:ext cx="1346200" cy="134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8" descr="http://articleinspector.com/content_images/1/vista_7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838" y="3716338"/>
            <a:ext cx="1050925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10" descr="http://www.computerweekly.com/assets/getasset.aspx?itemid=4051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4663" y="4724400"/>
            <a:ext cx="238125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12" descr="http://www.computerfilerecovery.net/images/novell-logo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11413" y="3789363"/>
            <a:ext cx="89535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Picture 14" descr="http://www.lakeofarticles.com/wp-content/uploads/2011/07/what-is-Linux-lakeofarticles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68538" y="5084763"/>
            <a:ext cx="2016125" cy="119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2" name="Picture 16" descr="unix Historical development, applications and types of UNIX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42988" y="5229225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3" name="Picture 18" descr="http://www.3dnews.ru/_imgdata/img/2010/10/01/599459/google-chrome-OS-logo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659563" y="5084763"/>
            <a:ext cx="1604962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4" name="Picture 20" descr="http://news.ferra.ru/images/285/285102.jp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148263" y="3716338"/>
            <a:ext cx="1152525" cy="1233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5" name="Picture 22" descr="http://i1-news.softpedia-static.com/images/news2/IBM-Signs-Death-The-Certificate-Of-The-OS-2-Operating-System-2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948488" y="3716338"/>
            <a:ext cx="1008062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Прямоугольник 1"/>
          <p:cNvSpPr>
            <a:spLocks noChangeArrowheads="1"/>
          </p:cNvSpPr>
          <p:nvPr/>
        </p:nvSpPr>
        <p:spPr bwMode="auto">
          <a:xfrm>
            <a:off x="179388" y="836613"/>
            <a:ext cx="878522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200" dirty="0">
                <a:latin typeface="Calibri" pitchFamily="34" charset="0"/>
              </a:rPr>
              <a:t>Обеспечение удобства, эффективности, надежности, безопасности …</a:t>
            </a:r>
          </a:p>
        </p:txBody>
      </p:sp>
      <p:sp>
        <p:nvSpPr>
          <p:cNvPr id="7171" name="TextBox 2"/>
          <p:cNvSpPr txBox="1">
            <a:spLocks noChangeArrowheads="1"/>
          </p:cNvSpPr>
          <p:nvPr/>
        </p:nvSpPr>
        <p:spPr bwMode="auto">
          <a:xfrm>
            <a:off x="1619250" y="188913"/>
            <a:ext cx="55340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400" b="1">
                <a:latin typeface="Calibri" pitchFamily="34" charset="0"/>
              </a:rPr>
              <a:t>Основная цель операционной системы:</a:t>
            </a:r>
          </a:p>
        </p:txBody>
      </p:sp>
      <p:sp>
        <p:nvSpPr>
          <p:cNvPr id="7172" name="Прямоугольник 3"/>
          <p:cNvSpPr>
            <a:spLocks noChangeArrowheads="1"/>
          </p:cNvSpPr>
          <p:nvPr/>
        </p:nvSpPr>
        <p:spPr bwMode="auto">
          <a:xfrm>
            <a:off x="1116013" y="1341438"/>
            <a:ext cx="58856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400">
                <a:latin typeface="Calibri" pitchFamily="34" charset="0"/>
              </a:rPr>
              <a:t>… выполнения пользовательских программ</a:t>
            </a:r>
          </a:p>
        </p:txBody>
      </p:sp>
      <p:sp>
        <p:nvSpPr>
          <p:cNvPr id="7173" name="Прямоугольник 4"/>
          <p:cNvSpPr>
            <a:spLocks noChangeArrowheads="1"/>
          </p:cNvSpPr>
          <p:nvPr/>
        </p:nvSpPr>
        <p:spPr bwMode="auto">
          <a:xfrm>
            <a:off x="1116013" y="2924175"/>
            <a:ext cx="41274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400">
                <a:latin typeface="Calibri" pitchFamily="34" charset="0"/>
              </a:rPr>
              <a:t>… использования компьютера</a:t>
            </a:r>
          </a:p>
        </p:txBody>
      </p:sp>
      <p:sp>
        <p:nvSpPr>
          <p:cNvPr id="7174" name="Прямоугольник 5"/>
          <p:cNvSpPr>
            <a:spLocks noChangeArrowheads="1"/>
          </p:cNvSpPr>
          <p:nvPr/>
        </p:nvSpPr>
        <p:spPr bwMode="auto">
          <a:xfrm>
            <a:off x="1116013" y="4437063"/>
            <a:ext cx="76327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>
                <a:latin typeface="Calibri" pitchFamily="34" charset="0"/>
              </a:rPr>
              <a:t>… использования сетевых, дисковых и других внешних устройств, подключенных к компьютеру</a:t>
            </a:r>
          </a:p>
        </p:txBody>
      </p:sp>
      <p:pic>
        <p:nvPicPr>
          <p:cNvPr id="7175" name="Picture 2" descr="http://www.izcity.com/pub/pictures/office-20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0633" y="1844824"/>
            <a:ext cx="1247776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6" name="Picture 4" descr="http://www.solver.ru/products/cadprod/images/mathcad_001_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6758" y="1844823"/>
            <a:ext cx="887234" cy="932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7" name="Picture 6" descr="http://www.izcity.com/pub/pictures/winrar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644" y="1844824"/>
            <a:ext cx="1341171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8" name="Picture 8" descr="http://t2.gstatic.com/images?q=tbn:ANd9GcR9OGvndvBbjc65vBBt68R-yHVRe84QQqoB2GvoL33xedVLRX7Q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60232" y="1844824"/>
            <a:ext cx="1248863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9" name="Picture 3" descr="C:\Users\petrovich\Desktop\18 октября\Картинки для мегапрезентации\70164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16016" y="3429000"/>
            <a:ext cx="987011" cy="830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0" name="Picture 2" descr="C:\Users\petrovich\Desktop\18 октября\Картинки для мегапрезентации\733645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59832" y="3429000"/>
            <a:ext cx="975183" cy="885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1" name="Picture 6" descr="650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7890" y="5446241"/>
            <a:ext cx="1026285" cy="879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2" name="Picture 7" descr="57212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52440" y="5446241"/>
            <a:ext cx="1187309" cy="802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3" name="Picture 9" descr="64028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339553" y="5446241"/>
            <a:ext cx="876901" cy="791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4" name="Picture 4" descr="54090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24104" y="5373216"/>
            <a:ext cx="1053446" cy="792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5" name="Picture 4" descr="C:\Users\petrovich\Desktop\18 октября\Картинки для мегапрезентации\498137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524328" y="5373216"/>
            <a:ext cx="1122317" cy="792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6" name="Picture 10" descr="http://computercambodia.com/compute_desktop.jp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43682" y="3429000"/>
            <a:ext cx="932177" cy="828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7" name="Picture 14" descr="http://www.iphone61.ru/ipad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660257" y="3422651"/>
            <a:ext cx="1365473" cy="870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/>
          <p:cNvSpPr txBox="1">
            <a:spLocks noChangeArrowheads="1"/>
          </p:cNvSpPr>
          <p:nvPr/>
        </p:nvSpPr>
        <p:spPr bwMode="auto">
          <a:xfrm>
            <a:off x="611188" y="188913"/>
            <a:ext cx="78486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400" b="1">
                <a:latin typeface="Calibri" pitchFamily="34" charset="0"/>
              </a:rPr>
              <a:t>Некоторые аспекты развития современных операционных систем</a:t>
            </a:r>
          </a:p>
        </p:txBody>
      </p:sp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611188" y="1052513"/>
            <a:ext cx="83534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dirty="0">
                <a:latin typeface="Calibri" pitchFamily="34" charset="0"/>
              </a:rPr>
              <a:t>- Открытость исходного кода ОС или ее стратегических частей</a:t>
            </a:r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611188" y="2708275"/>
            <a:ext cx="77771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>
                <a:latin typeface="Calibri" pitchFamily="34" charset="0"/>
              </a:rPr>
              <a:t>- Стремительное развитие ОС для мобильных устройств</a:t>
            </a:r>
          </a:p>
        </p:txBody>
      </p:sp>
      <p:sp>
        <p:nvSpPr>
          <p:cNvPr id="5125" name="TextBox 6"/>
          <p:cNvSpPr txBox="1">
            <a:spLocks noChangeArrowheads="1"/>
          </p:cNvSpPr>
          <p:nvPr/>
        </p:nvSpPr>
        <p:spPr bwMode="auto">
          <a:xfrm>
            <a:off x="684213" y="4437063"/>
            <a:ext cx="77755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>
                <a:latin typeface="Calibri" pitchFamily="34" charset="0"/>
              </a:rPr>
              <a:t>- Облачные вычисления (</a:t>
            </a:r>
            <a:r>
              <a:rPr lang="en-US" sz="2400">
                <a:latin typeface="Calibri" pitchFamily="34" charset="0"/>
              </a:rPr>
              <a:t>cloud computing</a:t>
            </a:r>
            <a:r>
              <a:rPr lang="ru-RU" sz="2400">
                <a:latin typeface="Calibri" pitchFamily="34" charset="0"/>
              </a:rPr>
              <a:t>)</a:t>
            </a:r>
          </a:p>
        </p:txBody>
      </p:sp>
      <p:pic>
        <p:nvPicPr>
          <p:cNvPr id="5126" name="Picture 2" descr="http://top.su/img/cloud-comput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557" y="5241899"/>
            <a:ext cx="1362568" cy="1024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4" descr="http://ensomagazine.com/wp-content/uploads/2011/05/cloud_computing-famousbloggers.net_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5229200"/>
            <a:ext cx="1359843" cy="1003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8" name="Picture 6" descr="http://servernews.ru/assets/images/articles/593834/azureplatform_web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88894" y="5241900"/>
            <a:ext cx="1792232" cy="1007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9" name="Picture 8" descr="http://gamesmart.at.ua/_tbkp/111/welcomehead.96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64556" y="3356992"/>
            <a:ext cx="834874" cy="83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0" name="Picture 10" descr="http://www.securitylab.ru/upload/iblock/c4b/c4bcf0cf25ba3f22e7a9586be6067731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91880" y="3356992"/>
            <a:ext cx="1109352" cy="831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1" name="Picture 12" descr="http://www.youhtc.ru/wp-content/uploads/android-logo-white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436567" y="3283967"/>
            <a:ext cx="864419" cy="864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2" name="Picture 14" descr="http://fruit-blog.ru/wp-content/uploads/2010/12/ios5-feature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092330" y="3283967"/>
            <a:ext cx="1299010" cy="864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3" name="Picture 16" descr="http://www.activevos.com/blog/wp-content/uploads/2008/04/intalio-open-source-is-not-what-it-claims-to-be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620763" y="1628799"/>
            <a:ext cx="1142879" cy="91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4" name="Picture 18" descr="http://makezine.com/images/extras/93/MAKE_565.jp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636888" y="1628799"/>
            <a:ext cx="1007428" cy="884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5" name="Picture 20" descr="http://www.zeeteenet.com/images/sw_testing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364088" y="1628800"/>
            <a:ext cx="1056105" cy="916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6" name="Picture 22" descr="http://smbsystems.eu/images/opensource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237338" y="1700237"/>
            <a:ext cx="863509" cy="864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AutoShape 27"/>
          <p:cNvSpPr>
            <a:spLocks noChangeArrowheads="1"/>
          </p:cNvSpPr>
          <p:nvPr/>
        </p:nvSpPr>
        <p:spPr bwMode="auto">
          <a:xfrm>
            <a:off x="8100392" y="2991247"/>
            <a:ext cx="863600" cy="936625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Windows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Server</a:t>
            </a:r>
          </a:p>
          <a:p>
            <a:pPr algn="ctr"/>
            <a:r>
              <a:rPr lang="en-US" sz="1600" dirty="0" smtClean="0">
                <a:latin typeface="Calibri" pitchFamily="34" charset="0"/>
              </a:rPr>
              <a:t>20</a:t>
            </a:r>
            <a:r>
              <a:rPr lang="ru-RU" sz="1600" dirty="0" smtClean="0">
                <a:latin typeface="Calibri" pitchFamily="34" charset="0"/>
              </a:rPr>
              <a:t>12</a:t>
            </a:r>
            <a:endParaRPr lang="ru-RU" sz="1600" dirty="0">
              <a:latin typeface="Calibri" pitchFamily="34" charset="0"/>
            </a:endParaRPr>
          </a:p>
        </p:txBody>
      </p:sp>
      <p:sp>
        <p:nvSpPr>
          <p:cNvPr id="61" name="AutoShape 26"/>
          <p:cNvSpPr>
            <a:spLocks noChangeArrowheads="1"/>
          </p:cNvSpPr>
          <p:nvPr/>
        </p:nvSpPr>
        <p:spPr bwMode="auto">
          <a:xfrm>
            <a:off x="8100392" y="2276872"/>
            <a:ext cx="863600" cy="64928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Windows</a:t>
            </a:r>
          </a:p>
          <a:p>
            <a:pPr algn="ctr"/>
            <a:r>
              <a:rPr lang="ru-RU" sz="1600" dirty="0" smtClean="0">
                <a:latin typeface="Calibri" pitchFamily="34" charset="0"/>
              </a:rPr>
              <a:t>8</a:t>
            </a:r>
            <a:endParaRPr lang="ru-RU" sz="1600" dirty="0">
              <a:latin typeface="Calibri" pitchFamily="34" charset="0"/>
            </a:endParaRPr>
          </a:p>
        </p:txBody>
      </p:sp>
      <p:sp>
        <p:nvSpPr>
          <p:cNvPr id="62" name="AutoShape 42"/>
          <p:cNvSpPr>
            <a:spLocks noChangeArrowheads="1"/>
          </p:cNvSpPr>
          <p:nvPr/>
        </p:nvSpPr>
        <p:spPr bwMode="auto">
          <a:xfrm>
            <a:off x="251520" y="6165304"/>
            <a:ext cx="1152823" cy="568126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 smtClean="0">
                <a:latin typeface="Calibri" pitchFamily="34" charset="0"/>
              </a:rPr>
              <a:t>Mac OS</a:t>
            </a:r>
            <a:endParaRPr lang="ru-RU" dirty="0">
              <a:latin typeface="Calibri" pitchFamily="34" charset="0"/>
            </a:endParaRPr>
          </a:p>
        </p:txBody>
      </p:sp>
      <p:sp>
        <p:nvSpPr>
          <p:cNvPr id="63" name="AutoShape 48"/>
          <p:cNvSpPr>
            <a:spLocks noChangeArrowheads="1"/>
          </p:cNvSpPr>
          <p:nvPr/>
        </p:nvSpPr>
        <p:spPr bwMode="auto">
          <a:xfrm>
            <a:off x="1547664" y="6237312"/>
            <a:ext cx="1872208" cy="504056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 dirty="0" err="1" smtClean="0">
                <a:latin typeface="Calibri" pitchFamily="34" charset="0"/>
              </a:rPr>
              <a:t>MacOS</a:t>
            </a:r>
            <a:r>
              <a:rPr lang="en-US" sz="1700" dirty="0" smtClean="0">
                <a:latin typeface="Calibri" pitchFamily="34" charset="0"/>
              </a:rPr>
              <a:t> 1 … 9</a:t>
            </a:r>
            <a:endParaRPr lang="ru-RU" sz="1700" dirty="0">
              <a:latin typeface="Calibri" pitchFamily="34" charset="0"/>
            </a:endParaRPr>
          </a:p>
        </p:txBody>
      </p:sp>
      <p:sp>
        <p:nvSpPr>
          <p:cNvPr id="65" name="AutoShape 48"/>
          <p:cNvSpPr>
            <a:spLocks noChangeArrowheads="1"/>
          </p:cNvSpPr>
          <p:nvPr/>
        </p:nvSpPr>
        <p:spPr bwMode="auto">
          <a:xfrm>
            <a:off x="3491880" y="6237312"/>
            <a:ext cx="5472608" cy="504056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 dirty="0" err="1" smtClean="0">
                <a:latin typeface="Calibri" pitchFamily="34" charset="0"/>
              </a:rPr>
              <a:t>MacOS</a:t>
            </a:r>
            <a:r>
              <a:rPr lang="en-US" sz="1700" dirty="0" smtClean="0">
                <a:latin typeface="Calibri" pitchFamily="34" charset="0"/>
              </a:rPr>
              <a:t> X</a:t>
            </a:r>
          </a:p>
          <a:p>
            <a:pPr algn="ctr"/>
            <a:r>
              <a:rPr lang="en-US" sz="1200" dirty="0" smtClean="0">
                <a:latin typeface="Calibri" pitchFamily="34" charset="0"/>
              </a:rPr>
              <a:t>(Cheetah, Puma Jaguar, Panther, Tiger, Leopard, Snow Leopard, Lion, Mountain Lion)</a:t>
            </a:r>
            <a:endParaRPr lang="ru-RU" sz="1200" dirty="0">
              <a:latin typeface="Calibri" pitchFamily="34" charset="0"/>
            </a:endParaRPr>
          </a:p>
        </p:txBody>
      </p:sp>
      <p:sp>
        <p:nvSpPr>
          <p:cNvPr id="4098" name="AutoShape 27"/>
          <p:cNvSpPr>
            <a:spLocks noChangeArrowheads="1"/>
          </p:cNvSpPr>
          <p:nvPr/>
        </p:nvSpPr>
        <p:spPr bwMode="auto">
          <a:xfrm>
            <a:off x="7164288" y="2999234"/>
            <a:ext cx="863600" cy="936625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Windows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Server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2008 R2</a:t>
            </a:r>
            <a:endParaRPr lang="ru-RU" sz="1600" dirty="0">
              <a:latin typeface="Calibri" pitchFamily="34" charset="0"/>
            </a:endParaRPr>
          </a:p>
        </p:txBody>
      </p:sp>
      <p:sp>
        <p:nvSpPr>
          <p:cNvPr id="4099" name="AutoShape 26"/>
          <p:cNvSpPr>
            <a:spLocks noChangeArrowheads="1"/>
          </p:cNvSpPr>
          <p:nvPr/>
        </p:nvSpPr>
        <p:spPr bwMode="auto">
          <a:xfrm>
            <a:off x="7164288" y="2284859"/>
            <a:ext cx="863600" cy="64928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Windows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7</a:t>
            </a:r>
            <a:endParaRPr lang="ru-RU" sz="1600" dirty="0">
              <a:latin typeface="Calibri" pitchFamily="34" charset="0"/>
            </a:endParaRP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250825" y="115888"/>
            <a:ext cx="8640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/>
              <a:t>Линейка распространенных существующих операционных систем</a:t>
            </a:r>
          </a:p>
        </p:txBody>
      </p: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250825" y="620713"/>
            <a:ext cx="1152823" cy="6477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MS-DOS</a:t>
            </a:r>
            <a:endParaRPr lang="ru-RU" dirty="0">
              <a:latin typeface="Calibri" pitchFamily="34" charset="0"/>
            </a:endParaRPr>
          </a:p>
        </p:txBody>
      </p:sp>
      <p:sp>
        <p:nvSpPr>
          <p:cNvPr id="4102" name="AutoShape 6"/>
          <p:cNvSpPr>
            <a:spLocks noChangeArrowheads="1"/>
          </p:cNvSpPr>
          <p:nvPr/>
        </p:nvSpPr>
        <p:spPr bwMode="auto">
          <a:xfrm>
            <a:off x="1594941" y="642938"/>
            <a:ext cx="2089150" cy="6477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dirty="0">
                <a:latin typeface="Calibri" pitchFamily="34" charset="0"/>
              </a:rPr>
              <a:t>Версия</a:t>
            </a:r>
          </a:p>
          <a:p>
            <a:pPr algn="ctr"/>
            <a:r>
              <a:rPr lang="en-US" dirty="0">
                <a:latin typeface="Calibri" pitchFamily="34" charset="0"/>
              </a:rPr>
              <a:t>1</a:t>
            </a:r>
            <a:r>
              <a:rPr lang="ru-RU" dirty="0">
                <a:latin typeface="Calibri" pitchFamily="34" charset="0"/>
              </a:rPr>
              <a:t>.0… … … 6.22</a:t>
            </a:r>
          </a:p>
        </p:txBody>
      </p:sp>
      <p:sp>
        <p:nvSpPr>
          <p:cNvPr id="4103" name="AutoShape 7"/>
          <p:cNvSpPr>
            <a:spLocks noChangeArrowheads="1"/>
          </p:cNvSpPr>
          <p:nvPr/>
        </p:nvSpPr>
        <p:spPr bwMode="auto">
          <a:xfrm>
            <a:off x="3826966" y="642938"/>
            <a:ext cx="647700" cy="64928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106" name="AutoShape 10"/>
          <p:cNvSpPr>
            <a:spLocks noChangeArrowheads="1"/>
          </p:cNvSpPr>
          <p:nvPr/>
        </p:nvSpPr>
        <p:spPr bwMode="auto">
          <a:xfrm>
            <a:off x="250825" y="1484784"/>
            <a:ext cx="1152823" cy="1512887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WINDOWS</a:t>
            </a:r>
            <a:endParaRPr lang="ru-RU" dirty="0">
              <a:latin typeface="Calibri" pitchFamily="34" charset="0"/>
            </a:endParaRPr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 flipV="1">
            <a:off x="1666378" y="2205484"/>
            <a:ext cx="6605588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108" name="AutoShape 12"/>
          <p:cNvSpPr>
            <a:spLocks noChangeArrowheads="1"/>
          </p:cNvSpPr>
          <p:nvPr/>
        </p:nvSpPr>
        <p:spPr bwMode="auto">
          <a:xfrm>
            <a:off x="1594941" y="1356172"/>
            <a:ext cx="936625" cy="649287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 dirty="0">
                <a:latin typeface="Calibri" pitchFamily="34" charset="0"/>
              </a:rPr>
              <a:t>Windows</a:t>
            </a:r>
          </a:p>
          <a:p>
            <a:pPr algn="ctr"/>
            <a:r>
              <a:rPr lang="en-US" sz="1700" dirty="0">
                <a:latin typeface="Calibri" pitchFamily="34" charset="0"/>
              </a:rPr>
              <a:t> 1.0</a:t>
            </a:r>
            <a:r>
              <a:rPr lang="ru-RU" sz="1700" dirty="0">
                <a:latin typeface="Calibri" pitchFamily="34" charset="0"/>
              </a:rPr>
              <a:t>…2.0</a:t>
            </a:r>
          </a:p>
        </p:txBody>
      </p:sp>
      <p:sp>
        <p:nvSpPr>
          <p:cNvPr id="4109" name="AutoShape 15"/>
          <p:cNvSpPr>
            <a:spLocks noChangeArrowheads="1"/>
          </p:cNvSpPr>
          <p:nvPr/>
        </p:nvSpPr>
        <p:spPr bwMode="auto">
          <a:xfrm>
            <a:off x="2531566" y="1356172"/>
            <a:ext cx="936625" cy="649287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Windows</a:t>
            </a:r>
          </a:p>
          <a:p>
            <a:pPr algn="ctr"/>
            <a:r>
              <a:rPr lang="en-US" sz="1700">
                <a:latin typeface="Calibri" pitchFamily="34" charset="0"/>
              </a:rPr>
              <a:t> </a:t>
            </a:r>
            <a:r>
              <a:rPr lang="ru-RU" sz="1700">
                <a:latin typeface="Calibri" pitchFamily="34" charset="0"/>
              </a:rPr>
              <a:t>3</a:t>
            </a:r>
            <a:r>
              <a:rPr lang="en-US" sz="1700">
                <a:latin typeface="Calibri" pitchFamily="34" charset="0"/>
              </a:rPr>
              <a:t>.0 / 3</a:t>
            </a:r>
            <a:r>
              <a:rPr lang="ru-RU" sz="1700">
                <a:latin typeface="Calibri" pitchFamily="34" charset="0"/>
              </a:rPr>
              <a:t>.1</a:t>
            </a:r>
          </a:p>
        </p:txBody>
      </p:sp>
      <p:sp>
        <p:nvSpPr>
          <p:cNvPr id="4110" name="AutoShape 17"/>
          <p:cNvSpPr>
            <a:spLocks noChangeArrowheads="1"/>
          </p:cNvSpPr>
          <p:nvPr/>
        </p:nvSpPr>
        <p:spPr bwMode="auto">
          <a:xfrm>
            <a:off x="3611066" y="1356172"/>
            <a:ext cx="1081087" cy="649287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Windows</a:t>
            </a:r>
          </a:p>
          <a:p>
            <a:pPr algn="ctr"/>
            <a:r>
              <a:rPr lang="ru-RU">
                <a:latin typeface="Calibri" pitchFamily="34" charset="0"/>
              </a:rPr>
              <a:t>95 / </a:t>
            </a:r>
            <a:r>
              <a:rPr lang="en-US">
                <a:latin typeface="Calibri" pitchFamily="34" charset="0"/>
              </a:rPr>
              <a:t>OSR2</a:t>
            </a:r>
            <a:endParaRPr lang="ru-RU">
              <a:latin typeface="Calibri" pitchFamily="34" charset="0"/>
            </a:endParaRPr>
          </a:p>
        </p:txBody>
      </p:sp>
      <p:sp>
        <p:nvSpPr>
          <p:cNvPr id="4111" name="AutoShape 18"/>
          <p:cNvSpPr>
            <a:spLocks noChangeArrowheads="1"/>
          </p:cNvSpPr>
          <p:nvPr/>
        </p:nvSpPr>
        <p:spPr bwMode="auto">
          <a:xfrm>
            <a:off x="4763591" y="1356172"/>
            <a:ext cx="1081087" cy="649287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Windows</a:t>
            </a:r>
          </a:p>
          <a:p>
            <a:pPr algn="ctr"/>
            <a:r>
              <a:rPr lang="ru-RU">
                <a:latin typeface="Calibri" pitchFamily="34" charset="0"/>
              </a:rPr>
              <a:t>9</a:t>
            </a:r>
            <a:r>
              <a:rPr lang="en-US">
                <a:latin typeface="Calibri" pitchFamily="34" charset="0"/>
              </a:rPr>
              <a:t>8 / 98SE</a:t>
            </a:r>
            <a:endParaRPr lang="ru-RU">
              <a:latin typeface="Calibri" pitchFamily="34" charset="0"/>
            </a:endParaRPr>
          </a:p>
        </p:txBody>
      </p:sp>
      <p:sp>
        <p:nvSpPr>
          <p:cNvPr id="4112" name="AutoShape 19"/>
          <p:cNvSpPr>
            <a:spLocks noChangeArrowheads="1"/>
          </p:cNvSpPr>
          <p:nvPr/>
        </p:nvSpPr>
        <p:spPr bwMode="auto">
          <a:xfrm>
            <a:off x="5914528" y="1356172"/>
            <a:ext cx="1081088" cy="649287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Windows</a:t>
            </a:r>
          </a:p>
          <a:p>
            <a:pPr algn="ctr"/>
            <a:r>
              <a:rPr lang="en-US">
                <a:latin typeface="Calibri" pitchFamily="34" charset="0"/>
              </a:rPr>
              <a:t>ME</a:t>
            </a:r>
            <a:endParaRPr lang="ru-RU">
              <a:latin typeface="Calibri" pitchFamily="34" charset="0"/>
            </a:endParaRPr>
          </a:p>
        </p:txBody>
      </p:sp>
      <p:sp>
        <p:nvSpPr>
          <p:cNvPr id="4113" name="AutoShape 20"/>
          <p:cNvSpPr>
            <a:spLocks noChangeArrowheads="1"/>
          </p:cNvSpPr>
          <p:nvPr/>
        </p:nvSpPr>
        <p:spPr bwMode="auto">
          <a:xfrm>
            <a:off x="7140078" y="1356172"/>
            <a:ext cx="647700" cy="64928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114" name="AutoShape 21"/>
          <p:cNvSpPr>
            <a:spLocks noChangeArrowheads="1"/>
          </p:cNvSpPr>
          <p:nvPr/>
        </p:nvSpPr>
        <p:spPr bwMode="auto">
          <a:xfrm>
            <a:off x="1594941" y="2284859"/>
            <a:ext cx="888827" cy="92868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Windows 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NT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3.1</a:t>
            </a:r>
            <a:r>
              <a:rPr lang="ru-RU" sz="1600" dirty="0">
                <a:latin typeface="Calibri" pitchFamily="34" charset="0"/>
              </a:rPr>
              <a:t>… 3.51</a:t>
            </a:r>
          </a:p>
        </p:txBody>
      </p:sp>
      <p:sp>
        <p:nvSpPr>
          <p:cNvPr id="4115" name="AutoShape 22"/>
          <p:cNvSpPr>
            <a:spLocks noChangeArrowheads="1"/>
          </p:cNvSpPr>
          <p:nvPr/>
        </p:nvSpPr>
        <p:spPr bwMode="auto">
          <a:xfrm>
            <a:off x="2555776" y="2284859"/>
            <a:ext cx="825377" cy="936625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Windows 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NT</a:t>
            </a:r>
          </a:p>
          <a:p>
            <a:pPr algn="ctr"/>
            <a:r>
              <a:rPr lang="ru-RU" sz="1600" dirty="0">
                <a:latin typeface="Calibri" pitchFamily="34" charset="0"/>
              </a:rPr>
              <a:t>4.0</a:t>
            </a:r>
          </a:p>
        </p:txBody>
      </p:sp>
      <p:sp>
        <p:nvSpPr>
          <p:cNvPr id="4116" name="AutoShape 23"/>
          <p:cNvSpPr>
            <a:spLocks noChangeArrowheads="1"/>
          </p:cNvSpPr>
          <p:nvPr/>
        </p:nvSpPr>
        <p:spPr bwMode="auto">
          <a:xfrm>
            <a:off x="3492376" y="2284859"/>
            <a:ext cx="791592" cy="92868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Windows</a:t>
            </a:r>
          </a:p>
          <a:p>
            <a:pPr algn="ctr"/>
            <a:r>
              <a:rPr lang="ru-RU" sz="1600" dirty="0">
                <a:latin typeface="Calibri" pitchFamily="34" charset="0"/>
              </a:rPr>
              <a:t>2000</a:t>
            </a:r>
          </a:p>
        </p:txBody>
      </p:sp>
      <p:sp>
        <p:nvSpPr>
          <p:cNvPr id="4117" name="AutoShape 24"/>
          <p:cNvSpPr>
            <a:spLocks noChangeArrowheads="1"/>
          </p:cNvSpPr>
          <p:nvPr/>
        </p:nvSpPr>
        <p:spPr bwMode="auto">
          <a:xfrm>
            <a:off x="4355976" y="2284859"/>
            <a:ext cx="857250" cy="64293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Windows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XP</a:t>
            </a:r>
            <a:endParaRPr lang="ru-RU" sz="1600" dirty="0">
              <a:latin typeface="Calibri" pitchFamily="34" charset="0"/>
            </a:endParaRPr>
          </a:p>
        </p:txBody>
      </p:sp>
      <p:sp>
        <p:nvSpPr>
          <p:cNvPr id="4118" name="AutoShape 25"/>
          <p:cNvSpPr>
            <a:spLocks noChangeArrowheads="1"/>
          </p:cNvSpPr>
          <p:nvPr/>
        </p:nvSpPr>
        <p:spPr bwMode="auto">
          <a:xfrm>
            <a:off x="5292080" y="2276872"/>
            <a:ext cx="863600" cy="936625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Windows 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Server 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2003</a:t>
            </a:r>
            <a:endParaRPr lang="ru-RU" sz="1600" dirty="0">
              <a:latin typeface="Calibri" pitchFamily="34" charset="0"/>
            </a:endParaRPr>
          </a:p>
        </p:txBody>
      </p:sp>
      <p:sp>
        <p:nvSpPr>
          <p:cNvPr id="4119" name="AutoShape 26"/>
          <p:cNvSpPr>
            <a:spLocks noChangeArrowheads="1"/>
          </p:cNvSpPr>
          <p:nvPr/>
        </p:nvSpPr>
        <p:spPr bwMode="auto">
          <a:xfrm>
            <a:off x="6228184" y="2284859"/>
            <a:ext cx="863600" cy="64928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Windows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Vista</a:t>
            </a:r>
            <a:endParaRPr lang="ru-RU" sz="1600" dirty="0">
              <a:latin typeface="Calibri" pitchFamily="34" charset="0"/>
            </a:endParaRPr>
          </a:p>
        </p:txBody>
      </p:sp>
      <p:sp>
        <p:nvSpPr>
          <p:cNvPr id="4120" name="AutoShape 27"/>
          <p:cNvSpPr>
            <a:spLocks noChangeArrowheads="1"/>
          </p:cNvSpPr>
          <p:nvPr/>
        </p:nvSpPr>
        <p:spPr bwMode="auto">
          <a:xfrm>
            <a:off x="6228184" y="2999234"/>
            <a:ext cx="863600" cy="936625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Windows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Server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2008</a:t>
            </a:r>
            <a:endParaRPr lang="ru-RU" sz="1600" dirty="0">
              <a:latin typeface="Calibri" pitchFamily="34" charset="0"/>
            </a:endParaRPr>
          </a:p>
        </p:txBody>
      </p:sp>
      <p:sp>
        <p:nvSpPr>
          <p:cNvPr id="4128" name="AutoShape 36"/>
          <p:cNvSpPr>
            <a:spLocks noChangeArrowheads="1"/>
          </p:cNvSpPr>
          <p:nvPr/>
        </p:nvSpPr>
        <p:spPr bwMode="auto">
          <a:xfrm>
            <a:off x="250825" y="3356422"/>
            <a:ext cx="1152823" cy="6477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OS/2</a:t>
            </a:r>
            <a:endParaRPr lang="ru-RU">
              <a:latin typeface="Calibri" pitchFamily="34" charset="0"/>
            </a:endParaRPr>
          </a:p>
        </p:txBody>
      </p:sp>
      <p:sp>
        <p:nvSpPr>
          <p:cNvPr id="4129" name="AutoShape 37"/>
          <p:cNvSpPr>
            <a:spLocks noChangeArrowheads="1"/>
          </p:cNvSpPr>
          <p:nvPr/>
        </p:nvSpPr>
        <p:spPr bwMode="auto">
          <a:xfrm>
            <a:off x="1548110" y="3378647"/>
            <a:ext cx="1366837" cy="720725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 dirty="0">
                <a:latin typeface="Calibri" pitchFamily="34" charset="0"/>
              </a:rPr>
              <a:t>OS/2 </a:t>
            </a:r>
          </a:p>
          <a:p>
            <a:pPr algn="ctr"/>
            <a:r>
              <a:rPr lang="en-US" sz="1700" dirty="0">
                <a:latin typeface="Calibri" pitchFamily="34" charset="0"/>
              </a:rPr>
              <a:t>1.0 … 3.0</a:t>
            </a:r>
            <a:endParaRPr lang="ru-RU" sz="1700" dirty="0">
              <a:latin typeface="Calibri" pitchFamily="34" charset="0"/>
            </a:endParaRPr>
          </a:p>
        </p:txBody>
      </p:sp>
      <p:sp>
        <p:nvSpPr>
          <p:cNvPr id="4130" name="AutoShape 38"/>
          <p:cNvSpPr>
            <a:spLocks noChangeArrowheads="1"/>
          </p:cNvSpPr>
          <p:nvPr/>
        </p:nvSpPr>
        <p:spPr bwMode="auto">
          <a:xfrm>
            <a:off x="3059410" y="3378647"/>
            <a:ext cx="1008062" cy="720725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OS/2 4.0</a:t>
            </a:r>
            <a:endParaRPr lang="ru-RU" sz="1700">
              <a:latin typeface="Calibri" pitchFamily="34" charset="0"/>
            </a:endParaRPr>
          </a:p>
        </p:txBody>
      </p:sp>
      <p:sp>
        <p:nvSpPr>
          <p:cNvPr id="4131" name="AutoShape 39"/>
          <p:cNvSpPr>
            <a:spLocks noChangeArrowheads="1"/>
          </p:cNvSpPr>
          <p:nvPr/>
        </p:nvSpPr>
        <p:spPr bwMode="auto">
          <a:xfrm>
            <a:off x="4211935" y="3378647"/>
            <a:ext cx="1008062" cy="720725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OS/2 4.5</a:t>
            </a:r>
            <a:endParaRPr lang="ru-RU" sz="1700">
              <a:latin typeface="Calibri" pitchFamily="34" charset="0"/>
            </a:endParaRPr>
          </a:p>
        </p:txBody>
      </p:sp>
      <p:sp>
        <p:nvSpPr>
          <p:cNvPr id="4132" name="AutoShape 40"/>
          <p:cNvSpPr>
            <a:spLocks noChangeArrowheads="1"/>
          </p:cNvSpPr>
          <p:nvPr/>
        </p:nvSpPr>
        <p:spPr bwMode="auto">
          <a:xfrm>
            <a:off x="5364460" y="3378647"/>
            <a:ext cx="647700" cy="64928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133" name="AutoShape 41"/>
          <p:cNvSpPr>
            <a:spLocks noChangeArrowheads="1"/>
          </p:cNvSpPr>
          <p:nvPr/>
        </p:nvSpPr>
        <p:spPr bwMode="auto">
          <a:xfrm>
            <a:off x="250825" y="4221460"/>
            <a:ext cx="1152823" cy="6477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Novell </a:t>
            </a:r>
            <a:endParaRPr lang="ru-RU" dirty="0" smtClean="0">
              <a:latin typeface="Calibri" pitchFamily="34" charset="0"/>
            </a:endParaRPr>
          </a:p>
          <a:p>
            <a:pPr algn="ctr"/>
            <a:r>
              <a:rPr lang="en-US" dirty="0" smtClean="0">
                <a:latin typeface="Calibri" pitchFamily="34" charset="0"/>
              </a:rPr>
              <a:t>Netware</a:t>
            </a:r>
            <a:endParaRPr lang="ru-RU" dirty="0">
              <a:latin typeface="Calibri" pitchFamily="34" charset="0"/>
            </a:endParaRPr>
          </a:p>
        </p:txBody>
      </p:sp>
      <p:sp>
        <p:nvSpPr>
          <p:cNvPr id="4134" name="AutoShape 42"/>
          <p:cNvSpPr>
            <a:spLocks noChangeArrowheads="1"/>
          </p:cNvSpPr>
          <p:nvPr/>
        </p:nvSpPr>
        <p:spPr bwMode="auto">
          <a:xfrm>
            <a:off x="250825" y="4949106"/>
            <a:ext cx="1152823" cy="1072182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UNIX</a:t>
            </a:r>
          </a:p>
          <a:p>
            <a:pPr algn="ctr"/>
            <a:r>
              <a:rPr lang="en-US" dirty="0">
                <a:latin typeface="Calibri" pitchFamily="34" charset="0"/>
              </a:rPr>
              <a:t>Linux</a:t>
            </a:r>
            <a:endParaRPr lang="ru-RU" dirty="0">
              <a:latin typeface="Calibri" pitchFamily="34" charset="0"/>
            </a:endParaRPr>
          </a:p>
        </p:txBody>
      </p:sp>
      <p:sp>
        <p:nvSpPr>
          <p:cNvPr id="4135" name="AutoShape 43"/>
          <p:cNvSpPr>
            <a:spLocks noChangeArrowheads="1"/>
          </p:cNvSpPr>
          <p:nvPr/>
        </p:nvSpPr>
        <p:spPr bwMode="auto">
          <a:xfrm>
            <a:off x="1547664" y="4213523"/>
            <a:ext cx="1584325" cy="6477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 dirty="0">
                <a:latin typeface="Calibri" pitchFamily="34" charset="0"/>
              </a:rPr>
              <a:t>Novell Netware </a:t>
            </a:r>
            <a:endParaRPr lang="ru-RU" sz="1700" dirty="0">
              <a:latin typeface="Calibri" pitchFamily="34" charset="0"/>
            </a:endParaRPr>
          </a:p>
          <a:p>
            <a:pPr algn="ctr"/>
            <a:r>
              <a:rPr lang="ru-RU" sz="1700" dirty="0">
                <a:latin typeface="Calibri" pitchFamily="34" charset="0"/>
              </a:rPr>
              <a:t>1.0…3.х</a:t>
            </a:r>
          </a:p>
        </p:txBody>
      </p:sp>
      <p:sp>
        <p:nvSpPr>
          <p:cNvPr id="4136" name="AutoShape 44"/>
          <p:cNvSpPr>
            <a:spLocks noChangeArrowheads="1"/>
          </p:cNvSpPr>
          <p:nvPr/>
        </p:nvSpPr>
        <p:spPr bwMode="auto">
          <a:xfrm>
            <a:off x="3276451" y="4213523"/>
            <a:ext cx="1584325" cy="6477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Novell Netware </a:t>
            </a:r>
            <a:endParaRPr lang="ru-RU" sz="1700">
              <a:latin typeface="Calibri" pitchFamily="34" charset="0"/>
            </a:endParaRPr>
          </a:p>
          <a:p>
            <a:pPr algn="ctr"/>
            <a:r>
              <a:rPr lang="ru-RU" sz="1700">
                <a:latin typeface="Calibri" pitchFamily="34" charset="0"/>
              </a:rPr>
              <a:t>4.х…4.1х…5.х</a:t>
            </a:r>
          </a:p>
        </p:txBody>
      </p:sp>
      <p:sp>
        <p:nvSpPr>
          <p:cNvPr id="4137" name="AutoShape 45"/>
          <p:cNvSpPr>
            <a:spLocks noChangeArrowheads="1"/>
          </p:cNvSpPr>
          <p:nvPr/>
        </p:nvSpPr>
        <p:spPr bwMode="auto">
          <a:xfrm>
            <a:off x="5003651" y="4213523"/>
            <a:ext cx="1584325" cy="6477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 dirty="0">
                <a:latin typeface="Calibri" pitchFamily="34" charset="0"/>
              </a:rPr>
              <a:t>Novell Netware </a:t>
            </a:r>
            <a:endParaRPr lang="ru-RU" sz="1700" dirty="0">
              <a:latin typeface="Calibri" pitchFamily="34" charset="0"/>
            </a:endParaRPr>
          </a:p>
          <a:p>
            <a:pPr algn="ctr"/>
            <a:r>
              <a:rPr lang="ru-RU" sz="1700" dirty="0">
                <a:latin typeface="Calibri" pitchFamily="34" charset="0"/>
              </a:rPr>
              <a:t>6.х…</a:t>
            </a:r>
            <a:r>
              <a:rPr lang="en-US" sz="1700" dirty="0">
                <a:latin typeface="Calibri" pitchFamily="34" charset="0"/>
              </a:rPr>
              <a:t>OES</a:t>
            </a:r>
            <a:endParaRPr lang="ru-RU" sz="1700" dirty="0">
              <a:latin typeface="Calibri" pitchFamily="34" charset="0"/>
            </a:endParaRPr>
          </a:p>
        </p:txBody>
      </p:sp>
      <p:sp>
        <p:nvSpPr>
          <p:cNvPr id="202799" name="AutoShape 47"/>
          <p:cNvSpPr>
            <a:spLocks noChangeArrowheads="1"/>
          </p:cNvSpPr>
          <p:nvPr/>
        </p:nvSpPr>
        <p:spPr bwMode="auto">
          <a:xfrm>
            <a:off x="1057121" y="2492896"/>
            <a:ext cx="5472113" cy="2447925"/>
          </a:xfrm>
          <a:prstGeom prst="wedgeRoundRectCallout">
            <a:avLst>
              <a:gd name="adj1" fmla="val -49306"/>
              <a:gd name="adj2" fmla="val 66861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ru-RU" dirty="0">
                <a:latin typeface="Calibri" pitchFamily="34" charset="0"/>
              </a:rPr>
              <a:t>A/UX</a:t>
            </a:r>
            <a:r>
              <a:rPr lang="en-US" dirty="0">
                <a:latin typeface="Calibri" pitchFamily="34" charset="0"/>
              </a:rPr>
              <a:t>	 </a:t>
            </a:r>
            <a:r>
              <a:rPr lang="ru-RU" dirty="0" err="1">
                <a:latin typeface="Calibri" pitchFamily="34" charset="0"/>
              </a:rPr>
              <a:t>Minix</a:t>
            </a:r>
            <a:r>
              <a:rPr lang="en-US" dirty="0">
                <a:latin typeface="Calibri" pitchFamily="34" charset="0"/>
              </a:rPr>
              <a:t>	       </a:t>
            </a:r>
            <a:r>
              <a:rPr lang="ru-RU" dirty="0">
                <a:latin typeface="Calibri" pitchFamily="34" charset="0"/>
              </a:rPr>
              <a:t>SCO </a:t>
            </a:r>
            <a:r>
              <a:rPr lang="ru-RU" dirty="0" err="1">
                <a:latin typeface="Calibri" pitchFamily="34" charset="0"/>
              </a:rPr>
              <a:t>OpenServer</a:t>
            </a:r>
            <a:endParaRPr lang="ru-RU" dirty="0">
              <a:latin typeface="Calibri" pitchFamily="34" charset="0"/>
            </a:endParaRPr>
          </a:p>
          <a:p>
            <a:r>
              <a:rPr lang="ru-RU" dirty="0">
                <a:latin typeface="Calibri" pitchFamily="34" charset="0"/>
              </a:rPr>
              <a:t>AIX</a:t>
            </a:r>
            <a:r>
              <a:rPr lang="en-US" dirty="0">
                <a:latin typeface="Calibri" pitchFamily="34" charset="0"/>
              </a:rPr>
              <a:t>	 </a:t>
            </a:r>
            <a:r>
              <a:rPr lang="ru-RU" dirty="0" err="1">
                <a:latin typeface="Calibri" pitchFamily="34" charset="0"/>
              </a:rPr>
              <a:t>NetBSD</a:t>
            </a:r>
            <a:r>
              <a:rPr lang="en-US" dirty="0">
                <a:latin typeface="Calibri" pitchFamily="34" charset="0"/>
              </a:rPr>
              <a:t>	       </a:t>
            </a:r>
            <a:r>
              <a:rPr lang="ru-RU" dirty="0" err="1">
                <a:latin typeface="Calibri" pitchFamily="34" charset="0"/>
              </a:rPr>
              <a:t>Solaris</a:t>
            </a:r>
            <a:endParaRPr lang="ru-RU" dirty="0">
              <a:latin typeface="Calibri" pitchFamily="34" charset="0"/>
            </a:endParaRPr>
          </a:p>
          <a:p>
            <a:r>
              <a:rPr lang="ru-RU" dirty="0">
                <a:latin typeface="Calibri" pitchFamily="34" charset="0"/>
              </a:rPr>
              <a:t>BSD</a:t>
            </a:r>
            <a:r>
              <a:rPr lang="en-US" dirty="0">
                <a:latin typeface="Calibri" pitchFamily="34" charset="0"/>
              </a:rPr>
              <a:t>	 </a:t>
            </a:r>
            <a:r>
              <a:rPr lang="ru-RU" dirty="0">
                <a:latin typeface="Calibri" pitchFamily="34" charset="0"/>
              </a:rPr>
              <a:t>NEXTSTEP</a:t>
            </a:r>
            <a:r>
              <a:rPr lang="en-US" dirty="0">
                <a:latin typeface="Calibri" pitchFamily="34" charset="0"/>
              </a:rPr>
              <a:t>  </a:t>
            </a:r>
            <a:r>
              <a:rPr lang="ru-RU" dirty="0" err="1">
                <a:latin typeface="Calibri" pitchFamily="34" charset="0"/>
              </a:rPr>
              <a:t>System</a:t>
            </a:r>
            <a:r>
              <a:rPr lang="ru-RU" dirty="0">
                <a:latin typeface="Calibri" pitchFamily="34" charset="0"/>
              </a:rPr>
              <a:t> V</a:t>
            </a:r>
          </a:p>
          <a:p>
            <a:r>
              <a:rPr lang="ru-RU" dirty="0" err="1">
                <a:latin typeface="Calibri" pitchFamily="34" charset="0"/>
              </a:rPr>
              <a:t>Dynix</a:t>
            </a:r>
            <a:r>
              <a:rPr lang="en-US" dirty="0">
                <a:latin typeface="Calibri" pitchFamily="34" charset="0"/>
              </a:rPr>
              <a:t>	 </a:t>
            </a:r>
            <a:r>
              <a:rPr lang="ru-RU" dirty="0" err="1">
                <a:latin typeface="Calibri" pitchFamily="34" charset="0"/>
              </a:rPr>
              <a:t>OpenBSD</a:t>
            </a:r>
            <a:r>
              <a:rPr lang="en-US" dirty="0">
                <a:latin typeface="Calibri" pitchFamily="34" charset="0"/>
              </a:rPr>
              <a:t>     </a:t>
            </a:r>
            <a:r>
              <a:rPr lang="ru-RU" dirty="0">
                <a:latin typeface="Calibri" pitchFamily="34" charset="0"/>
              </a:rPr>
              <a:t>Tru64</a:t>
            </a:r>
          </a:p>
          <a:p>
            <a:r>
              <a:rPr lang="ru-RU" dirty="0" err="1">
                <a:latin typeface="Calibri" pitchFamily="34" charset="0"/>
              </a:rPr>
              <a:t>FreeBSD</a:t>
            </a:r>
            <a:r>
              <a:rPr lang="ru-RU" dirty="0">
                <a:latin typeface="Calibri" pitchFamily="34" charset="0"/>
              </a:rPr>
              <a:t> PC-BSD</a:t>
            </a:r>
            <a:r>
              <a:rPr lang="en-US" dirty="0">
                <a:latin typeface="Calibri" pitchFamily="34" charset="0"/>
              </a:rPr>
              <a:t>       </a:t>
            </a:r>
            <a:r>
              <a:rPr lang="ru-RU" dirty="0">
                <a:latin typeface="Calibri" pitchFamily="34" charset="0"/>
              </a:rPr>
              <a:t>BSD/OS</a:t>
            </a:r>
          </a:p>
          <a:p>
            <a:r>
              <a:rPr lang="ru-RU" dirty="0">
                <a:latin typeface="Calibri" pitchFamily="34" charset="0"/>
              </a:rPr>
              <a:t>GNU</a:t>
            </a:r>
            <a:r>
              <a:rPr lang="en-US" dirty="0">
                <a:latin typeface="Calibri" pitchFamily="34" charset="0"/>
              </a:rPr>
              <a:t>	 </a:t>
            </a:r>
            <a:r>
              <a:rPr lang="ru-RU" dirty="0" err="1">
                <a:latin typeface="Calibri" pitchFamily="34" charset="0"/>
              </a:rPr>
              <a:t>Plan</a:t>
            </a:r>
            <a:r>
              <a:rPr lang="ru-RU" dirty="0">
                <a:latin typeface="Calibri" pitchFamily="34" charset="0"/>
              </a:rPr>
              <a:t> 9</a:t>
            </a:r>
            <a:r>
              <a:rPr lang="en-US" dirty="0">
                <a:latin typeface="Calibri" pitchFamily="34" charset="0"/>
              </a:rPr>
              <a:t> 	        </a:t>
            </a:r>
            <a:r>
              <a:rPr lang="ru-RU" dirty="0" err="1">
                <a:latin typeface="Calibri" pitchFamily="34" charset="0"/>
              </a:rPr>
              <a:t>Xenix</a:t>
            </a:r>
            <a:endParaRPr lang="ru-RU" dirty="0">
              <a:latin typeface="Calibri" pitchFamily="34" charset="0"/>
            </a:endParaRPr>
          </a:p>
          <a:p>
            <a:r>
              <a:rPr lang="ru-RU" dirty="0">
                <a:latin typeface="Calibri" pitchFamily="34" charset="0"/>
              </a:rPr>
              <a:t>HP-UX</a:t>
            </a:r>
            <a:r>
              <a:rPr lang="en-US" dirty="0">
                <a:latin typeface="Calibri" pitchFamily="34" charset="0"/>
              </a:rPr>
              <a:t>	 </a:t>
            </a:r>
            <a:r>
              <a:rPr lang="ru-RU" dirty="0" err="1">
                <a:latin typeface="Calibri" pitchFamily="34" charset="0"/>
              </a:rPr>
              <a:t>Plan</a:t>
            </a:r>
            <a:r>
              <a:rPr lang="ru-RU" dirty="0">
                <a:latin typeface="Calibri" pitchFamily="34" charset="0"/>
              </a:rPr>
              <a:t> B</a:t>
            </a:r>
            <a:r>
              <a:rPr lang="en-US" dirty="0">
                <a:latin typeface="Calibri" pitchFamily="34" charset="0"/>
              </a:rPr>
              <a:t>           </a:t>
            </a:r>
            <a:r>
              <a:rPr lang="ru-RU" dirty="0" err="1">
                <a:latin typeface="Calibri" pitchFamily="34" charset="0"/>
              </a:rPr>
              <a:t>ClosedBSD</a:t>
            </a:r>
            <a:endParaRPr lang="ru-RU" dirty="0">
              <a:latin typeface="Calibri" pitchFamily="34" charset="0"/>
            </a:endParaRPr>
          </a:p>
          <a:p>
            <a:r>
              <a:rPr lang="ru-RU" dirty="0">
                <a:latin typeface="Calibri" pitchFamily="34" charset="0"/>
              </a:rPr>
              <a:t>IRIX</a:t>
            </a:r>
            <a:r>
              <a:rPr lang="en-US" dirty="0">
                <a:latin typeface="Calibri" pitchFamily="34" charset="0"/>
              </a:rPr>
              <a:t>	 </a:t>
            </a:r>
            <a:r>
              <a:rPr lang="ru-RU" dirty="0">
                <a:latin typeface="Calibri" pitchFamily="34" charset="0"/>
              </a:rPr>
              <a:t>QNX</a:t>
            </a:r>
          </a:p>
        </p:txBody>
      </p:sp>
      <p:sp>
        <p:nvSpPr>
          <p:cNvPr id="4140" name="AutoShape 48"/>
          <p:cNvSpPr>
            <a:spLocks noChangeArrowheads="1"/>
          </p:cNvSpPr>
          <p:nvPr/>
        </p:nvSpPr>
        <p:spPr bwMode="auto">
          <a:xfrm>
            <a:off x="1547664" y="4941168"/>
            <a:ext cx="1079500" cy="504056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 dirty="0">
                <a:latin typeface="Calibri" pitchFamily="34" charset="0"/>
              </a:rPr>
              <a:t>FreeBSD</a:t>
            </a:r>
            <a:endParaRPr lang="ru-RU" sz="1700" dirty="0">
              <a:latin typeface="Calibri" pitchFamily="34" charset="0"/>
            </a:endParaRPr>
          </a:p>
        </p:txBody>
      </p:sp>
      <p:sp>
        <p:nvSpPr>
          <p:cNvPr id="4141" name="AutoShape 49"/>
          <p:cNvSpPr>
            <a:spLocks noChangeArrowheads="1"/>
          </p:cNvSpPr>
          <p:nvPr/>
        </p:nvSpPr>
        <p:spPr bwMode="auto">
          <a:xfrm>
            <a:off x="2771626" y="4941168"/>
            <a:ext cx="1079500" cy="504056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QNX</a:t>
            </a:r>
            <a:endParaRPr lang="ru-RU" sz="1700">
              <a:latin typeface="Calibri" pitchFamily="34" charset="0"/>
            </a:endParaRPr>
          </a:p>
        </p:txBody>
      </p:sp>
      <p:sp>
        <p:nvSpPr>
          <p:cNvPr id="4142" name="AutoShape 50"/>
          <p:cNvSpPr>
            <a:spLocks noChangeArrowheads="1"/>
          </p:cNvSpPr>
          <p:nvPr/>
        </p:nvSpPr>
        <p:spPr bwMode="auto">
          <a:xfrm>
            <a:off x="3924151" y="4941168"/>
            <a:ext cx="1079500" cy="504056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HP-UX</a:t>
            </a:r>
            <a:endParaRPr lang="ru-RU" sz="1700">
              <a:latin typeface="Calibri" pitchFamily="34" charset="0"/>
            </a:endParaRPr>
          </a:p>
        </p:txBody>
      </p:sp>
      <p:sp>
        <p:nvSpPr>
          <p:cNvPr id="4143" name="AutoShape 51"/>
          <p:cNvSpPr>
            <a:spLocks noChangeArrowheads="1"/>
          </p:cNvSpPr>
          <p:nvPr/>
        </p:nvSpPr>
        <p:spPr bwMode="auto">
          <a:xfrm>
            <a:off x="5076676" y="4941168"/>
            <a:ext cx="1079500" cy="504056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Solaris</a:t>
            </a:r>
            <a:endParaRPr lang="ru-RU" sz="1700">
              <a:latin typeface="Calibri" pitchFamily="34" charset="0"/>
            </a:endParaRPr>
          </a:p>
        </p:txBody>
      </p:sp>
      <p:sp>
        <p:nvSpPr>
          <p:cNvPr id="4144" name="AutoShape 52"/>
          <p:cNvSpPr>
            <a:spLocks noChangeArrowheads="1"/>
          </p:cNvSpPr>
          <p:nvPr/>
        </p:nvSpPr>
        <p:spPr bwMode="auto">
          <a:xfrm>
            <a:off x="6300639" y="4941168"/>
            <a:ext cx="1655762" cy="504056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>
                <a:latin typeface="Calibri" pitchFamily="34" charset="0"/>
              </a:rPr>
              <a:t>SCO </a:t>
            </a:r>
            <a:endParaRPr lang="en-US">
              <a:latin typeface="Calibri" pitchFamily="34" charset="0"/>
            </a:endParaRPr>
          </a:p>
          <a:p>
            <a:pPr algn="ctr"/>
            <a:r>
              <a:rPr lang="ru-RU">
                <a:latin typeface="Calibri" pitchFamily="34" charset="0"/>
              </a:rPr>
              <a:t>OpenServer</a:t>
            </a:r>
          </a:p>
        </p:txBody>
      </p:sp>
      <p:sp>
        <p:nvSpPr>
          <p:cNvPr id="4145" name="AutoShape 53"/>
          <p:cNvSpPr>
            <a:spLocks noChangeArrowheads="1"/>
          </p:cNvSpPr>
          <p:nvPr/>
        </p:nvSpPr>
        <p:spPr bwMode="auto">
          <a:xfrm>
            <a:off x="1547664" y="5517232"/>
            <a:ext cx="1079500" cy="50499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 dirty="0">
                <a:latin typeface="Calibri" pitchFamily="34" charset="0"/>
              </a:rPr>
              <a:t>(</a:t>
            </a:r>
            <a:r>
              <a:rPr lang="en-US" sz="1700" dirty="0" err="1">
                <a:latin typeface="Calibri" pitchFamily="34" charset="0"/>
              </a:rPr>
              <a:t>RedHat</a:t>
            </a:r>
            <a:r>
              <a:rPr lang="en-US" sz="1700" dirty="0">
                <a:latin typeface="Calibri" pitchFamily="34" charset="0"/>
              </a:rPr>
              <a:t>)</a:t>
            </a:r>
          </a:p>
          <a:p>
            <a:pPr algn="ctr"/>
            <a:r>
              <a:rPr lang="en-US" sz="1700" dirty="0">
                <a:latin typeface="Calibri" pitchFamily="34" charset="0"/>
              </a:rPr>
              <a:t>Fedora</a:t>
            </a:r>
            <a:endParaRPr lang="ru-RU" sz="1700" dirty="0">
              <a:latin typeface="Calibri" pitchFamily="34" charset="0"/>
            </a:endParaRPr>
          </a:p>
        </p:txBody>
      </p:sp>
      <p:sp>
        <p:nvSpPr>
          <p:cNvPr id="4146" name="AutoShape 54"/>
          <p:cNvSpPr>
            <a:spLocks noChangeArrowheads="1"/>
          </p:cNvSpPr>
          <p:nvPr/>
        </p:nvSpPr>
        <p:spPr bwMode="auto">
          <a:xfrm>
            <a:off x="2700189" y="5517232"/>
            <a:ext cx="647700" cy="50499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SuSE</a:t>
            </a:r>
            <a:endParaRPr lang="ru-RU" sz="1700">
              <a:latin typeface="Calibri" pitchFamily="34" charset="0"/>
            </a:endParaRPr>
          </a:p>
        </p:txBody>
      </p:sp>
      <p:sp>
        <p:nvSpPr>
          <p:cNvPr id="4147" name="AutoShape 55"/>
          <p:cNvSpPr>
            <a:spLocks noChangeArrowheads="1"/>
          </p:cNvSpPr>
          <p:nvPr/>
        </p:nvSpPr>
        <p:spPr bwMode="auto">
          <a:xfrm>
            <a:off x="3419326" y="5517232"/>
            <a:ext cx="1079500" cy="50499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Mandriva </a:t>
            </a:r>
          </a:p>
          <a:p>
            <a:pPr algn="ctr"/>
            <a:r>
              <a:rPr lang="en-US" sz="1700">
                <a:latin typeface="Calibri" pitchFamily="34" charset="0"/>
              </a:rPr>
              <a:t>(Mandrake)</a:t>
            </a:r>
            <a:endParaRPr lang="ru-RU" sz="1700">
              <a:latin typeface="Calibri" pitchFamily="34" charset="0"/>
            </a:endParaRPr>
          </a:p>
        </p:txBody>
      </p:sp>
      <p:sp>
        <p:nvSpPr>
          <p:cNvPr id="4148" name="AutoShape 56"/>
          <p:cNvSpPr>
            <a:spLocks noChangeArrowheads="1"/>
          </p:cNvSpPr>
          <p:nvPr/>
        </p:nvSpPr>
        <p:spPr bwMode="auto">
          <a:xfrm>
            <a:off x="4571851" y="5517232"/>
            <a:ext cx="792163" cy="50499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Debian</a:t>
            </a:r>
            <a:endParaRPr lang="ru-RU" sz="1700">
              <a:latin typeface="Calibri" pitchFamily="34" charset="0"/>
            </a:endParaRPr>
          </a:p>
        </p:txBody>
      </p:sp>
      <p:sp>
        <p:nvSpPr>
          <p:cNvPr id="4149" name="AutoShape 58"/>
          <p:cNvSpPr>
            <a:spLocks noChangeArrowheads="1"/>
          </p:cNvSpPr>
          <p:nvPr/>
        </p:nvSpPr>
        <p:spPr bwMode="auto">
          <a:xfrm>
            <a:off x="5435451" y="5517232"/>
            <a:ext cx="1008063" cy="50499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Slackware</a:t>
            </a:r>
            <a:endParaRPr lang="ru-RU" sz="1700">
              <a:latin typeface="Calibri" pitchFamily="34" charset="0"/>
            </a:endParaRPr>
          </a:p>
        </p:txBody>
      </p:sp>
      <p:sp>
        <p:nvSpPr>
          <p:cNvPr id="4150" name="AutoShape 59"/>
          <p:cNvSpPr>
            <a:spLocks noChangeArrowheads="1"/>
          </p:cNvSpPr>
          <p:nvPr/>
        </p:nvSpPr>
        <p:spPr bwMode="auto">
          <a:xfrm>
            <a:off x="6587976" y="5517232"/>
            <a:ext cx="1008063" cy="50499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700">
                <a:latin typeface="Calibri" pitchFamily="34" charset="0"/>
              </a:rPr>
              <a:t>ALT Linux</a:t>
            </a:r>
            <a:endParaRPr lang="ru-RU" sz="1700">
              <a:latin typeface="Calibri" pitchFamily="34" charset="0"/>
            </a:endParaRPr>
          </a:p>
        </p:txBody>
      </p:sp>
      <p:sp>
        <p:nvSpPr>
          <p:cNvPr id="202812" name="AutoShape 60"/>
          <p:cNvSpPr>
            <a:spLocks noChangeArrowheads="1"/>
          </p:cNvSpPr>
          <p:nvPr/>
        </p:nvSpPr>
        <p:spPr bwMode="auto">
          <a:xfrm>
            <a:off x="1055316" y="2468822"/>
            <a:ext cx="5472113" cy="2808287"/>
          </a:xfrm>
          <a:prstGeom prst="wedgeRoundRectCallout">
            <a:avLst>
              <a:gd name="adj1" fmla="val -49306"/>
              <a:gd name="adj2" fmla="val 64699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ru-RU" dirty="0" err="1">
                <a:latin typeface="Calibri" pitchFamily="34" charset="0"/>
              </a:rPr>
              <a:t>Fedora</a:t>
            </a:r>
            <a:r>
              <a:rPr lang="en-US" dirty="0">
                <a:latin typeface="Calibri" pitchFamily="34" charset="0"/>
              </a:rPr>
              <a:t> (</a:t>
            </a:r>
            <a:r>
              <a:rPr lang="en-US" dirty="0" err="1">
                <a:latin typeface="Calibri" pitchFamily="34" charset="0"/>
              </a:rPr>
              <a:t>RedHat</a:t>
            </a:r>
            <a:r>
              <a:rPr lang="en-US" dirty="0">
                <a:latin typeface="Calibri" pitchFamily="34" charset="0"/>
              </a:rPr>
              <a:t>)</a:t>
            </a:r>
            <a:endParaRPr lang="ru-RU" dirty="0">
              <a:latin typeface="Calibri" pitchFamily="34" charset="0"/>
            </a:endParaRPr>
          </a:p>
          <a:p>
            <a:r>
              <a:rPr lang="ru-RU" dirty="0" err="1">
                <a:latin typeface="Calibri" pitchFamily="34" charset="0"/>
              </a:rPr>
              <a:t>SuSE</a:t>
            </a:r>
            <a:endParaRPr lang="ru-RU" dirty="0">
              <a:latin typeface="Calibri" pitchFamily="34" charset="0"/>
            </a:endParaRPr>
          </a:p>
          <a:p>
            <a:r>
              <a:rPr lang="ru-RU" dirty="0" err="1">
                <a:latin typeface="Calibri" pitchFamily="34" charset="0"/>
              </a:rPr>
              <a:t>Mandriva</a:t>
            </a:r>
            <a:r>
              <a:rPr lang="ru-RU" dirty="0">
                <a:latin typeface="Calibri" pitchFamily="34" charset="0"/>
              </a:rPr>
              <a:t> (</a:t>
            </a:r>
            <a:r>
              <a:rPr lang="ru-RU" dirty="0" err="1">
                <a:latin typeface="Calibri" pitchFamily="34" charset="0"/>
              </a:rPr>
              <a:t>Mandrake</a:t>
            </a:r>
            <a:r>
              <a:rPr lang="ru-RU" dirty="0">
                <a:latin typeface="Calibri" pitchFamily="34" charset="0"/>
              </a:rPr>
              <a:t> / </a:t>
            </a:r>
            <a:r>
              <a:rPr lang="ru-RU" dirty="0" err="1">
                <a:latin typeface="Calibri" pitchFamily="34" charset="0"/>
              </a:rPr>
              <a:t>Conectiva</a:t>
            </a:r>
            <a:r>
              <a:rPr lang="ru-RU" dirty="0">
                <a:latin typeface="Calibri" pitchFamily="34" charset="0"/>
              </a:rPr>
              <a:t>)</a:t>
            </a:r>
          </a:p>
          <a:p>
            <a:r>
              <a:rPr lang="ru-RU" dirty="0" err="1">
                <a:latin typeface="Calibri" pitchFamily="34" charset="0"/>
              </a:rPr>
              <a:t>Debian</a:t>
            </a:r>
            <a:r>
              <a:rPr lang="ru-RU" dirty="0">
                <a:latin typeface="Calibri" pitchFamily="34" charset="0"/>
              </a:rPr>
              <a:t> GNU/</a:t>
            </a:r>
            <a:r>
              <a:rPr lang="ru-RU" dirty="0" err="1">
                <a:latin typeface="Calibri" pitchFamily="34" charset="0"/>
              </a:rPr>
              <a:t>Linux</a:t>
            </a:r>
            <a:r>
              <a:rPr lang="ru-RU" dirty="0">
                <a:latin typeface="Calibri" pitchFamily="34" charset="0"/>
              </a:rPr>
              <a:t>; </a:t>
            </a:r>
          </a:p>
          <a:p>
            <a:r>
              <a:rPr lang="ru-RU" dirty="0" err="1">
                <a:latin typeface="Calibri" pitchFamily="34" charset="0"/>
              </a:rPr>
              <a:t>Slackware</a:t>
            </a:r>
            <a:r>
              <a:rPr lang="ru-RU" dirty="0">
                <a:latin typeface="Calibri" pitchFamily="34" charset="0"/>
              </a:rPr>
              <a:t>; </a:t>
            </a:r>
          </a:p>
          <a:p>
            <a:r>
              <a:rPr lang="ru-RU" dirty="0" err="1">
                <a:latin typeface="Calibri" pitchFamily="34" charset="0"/>
              </a:rPr>
              <a:t>Gentoo</a:t>
            </a:r>
            <a:r>
              <a:rPr lang="ru-RU" dirty="0">
                <a:latin typeface="Calibri" pitchFamily="34" charset="0"/>
              </a:rPr>
              <a:t>; </a:t>
            </a:r>
          </a:p>
          <a:p>
            <a:r>
              <a:rPr lang="ru-RU" dirty="0" err="1">
                <a:latin typeface="Calibri" pitchFamily="34" charset="0"/>
              </a:rPr>
              <a:t>Ubuntu</a:t>
            </a:r>
            <a:r>
              <a:rPr lang="ru-RU" dirty="0">
                <a:latin typeface="Calibri" pitchFamily="34" charset="0"/>
              </a:rPr>
              <a:t> (</a:t>
            </a:r>
            <a:r>
              <a:rPr lang="ru-RU" dirty="0" err="1">
                <a:latin typeface="Calibri" pitchFamily="34" charset="0"/>
              </a:rPr>
              <a:t>Kubuntu</a:t>
            </a:r>
            <a:r>
              <a:rPr lang="ru-RU" dirty="0">
                <a:latin typeface="Calibri" pitchFamily="34" charset="0"/>
              </a:rPr>
              <a:t>)</a:t>
            </a:r>
          </a:p>
          <a:p>
            <a:r>
              <a:rPr lang="ru-RU" dirty="0">
                <a:latin typeface="Calibri" pitchFamily="34" charset="0"/>
              </a:rPr>
              <a:t>ALT </a:t>
            </a:r>
            <a:r>
              <a:rPr lang="ru-RU" dirty="0" err="1">
                <a:latin typeface="Calibri" pitchFamily="34" charset="0"/>
              </a:rPr>
              <a:t>Linux</a:t>
            </a:r>
            <a:endParaRPr lang="ru-RU" dirty="0">
              <a:latin typeface="Calibri" pitchFamily="34" charset="0"/>
            </a:endParaRPr>
          </a:p>
          <a:p>
            <a:r>
              <a:rPr lang="ru-RU" dirty="0">
                <a:latin typeface="Calibri" pitchFamily="34" charset="0"/>
              </a:rPr>
              <a:t>ASP </a:t>
            </a:r>
            <a:r>
              <a:rPr lang="ru-RU" dirty="0" err="1">
                <a:latin typeface="Calibri" pitchFamily="34" charset="0"/>
              </a:rPr>
              <a:t>Linux</a:t>
            </a:r>
            <a:endParaRPr lang="ru-RU" dirty="0">
              <a:latin typeface="Calibri" pitchFamily="34" charset="0"/>
            </a:endParaRPr>
          </a:p>
        </p:txBody>
      </p:sp>
      <p:pic>
        <p:nvPicPr>
          <p:cNvPr id="24473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896" y="504651"/>
            <a:ext cx="8991600" cy="630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4" name="Таблица 63"/>
          <p:cNvGraphicFramePr>
            <a:graphicFrameLocks noGrp="1"/>
          </p:cNvGraphicFramePr>
          <p:nvPr/>
        </p:nvGraphicFramePr>
        <p:xfrm>
          <a:off x="250825" y="188913"/>
          <a:ext cx="8712200" cy="274637"/>
        </p:xfrm>
        <a:graphic>
          <a:graphicData uri="http://schemas.openxmlformats.org/drawingml/2006/table">
            <a:tbl>
              <a:tblPr/>
              <a:tblGrid>
                <a:gridCol w="8712200"/>
              </a:tblGrid>
              <a:tr h="27463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Рыночная доля операционных систем в мире на начало 2011 года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99" grpId="0" animBg="1"/>
      <p:bldP spid="202799" grpId="1" animBg="1"/>
      <p:bldP spid="202812" grpId="0" animBg="1"/>
      <p:bldP spid="20281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2" descr="http://www.oszone.net/figs/u/86609/100510141332/lxde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284538"/>
            <a:ext cx="4537075" cy="340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4" descr="http://viennaos.net/uploads/posts/2008-12/1230040463_windows-7-desktop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10281" y="315280"/>
            <a:ext cx="4521959" cy="282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185129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79388" y="549275"/>
          <a:ext cx="8785225" cy="6230964"/>
        </p:xfrm>
        <a:graphic>
          <a:graphicData uri="http://schemas.openxmlformats.org/drawingml/2006/table">
            <a:tbl>
              <a:tblPr/>
              <a:tblGrid>
                <a:gridCol w="4470400"/>
                <a:gridCol w="4314825"/>
              </a:tblGrid>
              <a:tr h="271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Linux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Windows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4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Операционная система бесплатна, основной набор стандартных офисных пакетов бесплатен и поставляется вместе с операционной системой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Операционная система и большинство стандартных офисных пакетов стоят относительно дорого (до 500-600$ за комплект)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4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Драйвер для конкретного устройства может быть вообще не разработан производителем устройства или иметь недостатки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Драйверы для внутренних и внешних устройств разрабатываются централизованно и в 99,99% случаях доступны и сертифицированы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87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Массовая поддержка «по любым вопросам» осуществляется в основном на основе Интернет-сообществ, форумов, хотя есть и платные услуги от фирм-разработчиков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Для поддерживаемых операционных систем (Vista, 7) поддержка осуществляется бесплатно, есть множество фирменной документации 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87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Качественной учебной литературы практически нет, многое из распространяемого в сети Интернет написано не педагогами (нельзя напрямую применять для обучения)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99% всей имеющейся в настоящее время на рынке учебной литературы ориентировано на использование </a:t>
                      </a: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indows и программного обеспечения для этой платформы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2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Проблемы с безопасностью практически исключены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Множественные проблемы, связанные с информационной безопасностью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7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Почти всегда форматы используемых файлов открыты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Форматы используемых файлов чаще всего закрыты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87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Linux</a:t>
                      </a: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 в состоянии запускать многие </a:t>
                      </a: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Windows</a:t>
                      </a: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-приложения, позволяя работать с ними в полном объеме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Windows</a:t>
                      </a: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 ориентируется на собственные приложения, особенно профессионального характера</a:t>
                      </a: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(научные расчеты, графика и видео и т.д)</a:t>
                      </a:r>
                    </a:p>
                  </a:txBody>
                  <a:tcPr marL="46554" marR="4655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824" name="TextBox 1"/>
          <p:cNvSpPr txBox="1">
            <a:spLocks noChangeArrowheads="1"/>
          </p:cNvSpPr>
          <p:nvPr/>
        </p:nvSpPr>
        <p:spPr bwMode="auto">
          <a:xfrm>
            <a:off x="323850" y="115888"/>
            <a:ext cx="8496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2400">
                <a:latin typeface="Calibri" pitchFamily="34" charset="0"/>
              </a:rPr>
              <a:t>Сопоставление </a:t>
            </a:r>
            <a:r>
              <a:rPr lang="en-US" sz="2400">
                <a:latin typeface="Calibri" pitchFamily="34" charset="0"/>
              </a:rPr>
              <a:t>Windows </a:t>
            </a:r>
            <a:r>
              <a:rPr lang="ru-RU" sz="2400">
                <a:latin typeface="Calibri" pitchFamily="34" charset="0"/>
              </a:rPr>
              <a:t>и </a:t>
            </a:r>
            <a:r>
              <a:rPr lang="en-US" sz="2400">
                <a:latin typeface="Calibri" pitchFamily="34" charset="0"/>
              </a:rPr>
              <a:t>Linux</a:t>
            </a:r>
            <a:r>
              <a:rPr lang="ru-RU" sz="2400">
                <a:latin typeface="Calibri" pitchFamily="34" charset="0"/>
              </a:rPr>
              <a:t> простыми словами</a:t>
            </a:r>
          </a:p>
        </p:txBody>
      </p:sp>
      <p:sp>
        <p:nvSpPr>
          <p:cNvPr id="33825" name="Rectangle 1"/>
          <p:cNvSpPr>
            <a:spLocks noChangeArrowheads="1"/>
          </p:cNvSpPr>
          <p:nvPr/>
        </p:nvSpPr>
        <p:spPr bwMode="auto">
          <a:xfrm>
            <a:off x="-71438" y="1033463"/>
            <a:ext cx="82708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ru-RU" sz="420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</a:t>
            </a:r>
          </a:p>
        </p:txBody>
      </p:sp>
      <p:sp>
        <p:nvSpPr>
          <p:cNvPr id="33826" name="Rectangle 1"/>
          <p:cNvSpPr>
            <a:spLocks noChangeArrowheads="1"/>
          </p:cNvSpPr>
          <p:nvPr/>
        </p:nvSpPr>
        <p:spPr bwMode="auto">
          <a:xfrm>
            <a:off x="8532813" y="1844675"/>
            <a:ext cx="827087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ru-RU" sz="420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</a:t>
            </a:r>
          </a:p>
        </p:txBody>
      </p:sp>
      <p:sp>
        <p:nvSpPr>
          <p:cNvPr id="33827" name="Rectangle 1"/>
          <p:cNvSpPr>
            <a:spLocks noChangeArrowheads="1"/>
          </p:cNvSpPr>
          <p:nvPr/>
        </p:nvSpPr>
        <p:spPr bwMode="auto">
          <a:xfrm>
            <a:off x="8532813" y="2924175"/>
            <a:ext cx="827087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ru-RU" sz="420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</a:t>
            </a:r>
          </a:p>
        </p:txBody>
      </p:sp>
      <p:sp>
        <p:nvSpPr>
          <p:cNvPr id="33828" name="Rectangle 1"/>
          <p:cNvSpPr>
            <a:spLocks noChangeArrowheads="1"/>
          </p:cNvSpPr>
          <p:nvPr/>
        </p:nvSpPr>
        <p:spPr bwMode="auto">
          <a:xfrm>
            <a:off x="8532813" y="4005263"/>
            <a:ext cx="82708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ru-RU" sz="420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</a:t>
            </a:r>
          </a:p>
        </p:txBody>
      </p:sp>
      <p:sp>
        <p:nvSpPr>
          <p:cNvPr id="33829" name="Rectangle 1"/>
          <p:cNvSpPr>
            <a:spLocks noChangeArrowheads="1"/>
          </p:cNvSpPr>
          <p:nvPr/>
        </p:nvSpPr>
        <p:spPr bwMode="auto">
          <a:xfrm>
            <a:off x="-71438" y="4581525"/>
            <a:ext cx="827088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ru-RU" sz="420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</a:t>
            </a:r>
          </a:p>
        </p:txBody>
      </p:sp>
      <p:sp>
        <p:nvSpPr>
          <p:cNvPr id="33830" name="Rectangle 1"/>
          <p:cNvSpPr>
            <a:spLocks noChangeArrowheads="1"/>
          </p:cNvSpPr>
          <p:nvPr/>
        </p:nvSpPr>
        <p:spPr bwMode="auto">
          <a:xfrm>
            <a:off x="-71438" y="5084763"/>
            <a:ext cx="82708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ru-RU" sz="420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</a:t>
            </a:r>
          </a:p>
        </p:txBody>
      </p:sp>
      <p:sp>
        <p:nvSpPr>
          <p:cNvPr id="33831" name="Rectangle 1"/>
          <p:cNvSpPr>
            <a:spLocks noChangeArrowheads="1"/>
          </p:cNvSpPr>
          <p:nvPr/>
        </p:nvSpPr>
        <p:spPr bwMode="auto">
          <a:xfrm>
            <a:off x="-71438" y="6146800"/>
            <a:ext cx="827088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ru-RU" sz="420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</a:t>
            </a: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8602663" y="0"/>
          <a:ext cx="541337" cy="454025"/>
        </p:xfrm>
        <a:graphic>
          <a:graphicData uri="http://schemas.openxmlformats.org/presentationml/2006/ole">
            <p:oleObj spid="_x0000_s34818" name="CorelDRAW" r:id="rId3" imgW="922320" imgH="77256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93356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Box 3"/>
          <p:cNvSpPr txBox="1">
            <a:spLocks noChangeArrowheads="1"/>
          </p:cNvSpPr>
          <p:nvPr/>
        </p:nvSpPr>
        <p:spPr bwMode="auto">
          <a:xfrm>
            <a:off x="468313" y="2677095"/>
            <a:ext cx="8135937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800" b="1" dirty="0"/>
              <a:t>Файловые </a:t>
            </a:r>
            <a:r>
              <a:rPr lang="ru-RU" sz="4800" b="1" dirty="0" smtClean="0"/>
              <a:t>системы</a:t>
            </a:r>
            <a:endParaRPr lang="ru-RU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99592" y="2132856"/>
            <a:ext cx="7416824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0263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 и файловая система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764704"/>
            <a:ext cx="8507288" cy="5832648"/>
          </a:xfrm>
        </p:spPr>
        <p:txBody>
          <a:bodyPr/>
          <a:lstStyle/>
          <a:p>
            <a:pPr>
              <a:buNone/>
            </a:pPr>
            <a:r>
              <a:rPr lang="ru-RU" sz="2000" dirty="0" smtClean="0">
                <a:latin typeface="Comic Sans MS" pitchFamily="66" charset="0"/>
              </a:rPr>
              <a:t>	Файл - </a:t>
            </a:r>
            <a:r>
              <a:rPr lang="ru-RU" sz="2000" dirty="0" smtClean="0"/>
              <a:t>это упорядоченная </a:t>
            </a:r>
            <a:r>
              <a:rPr lang="ru-RU" sz="2000" u="sng" dirty="0" smtClean="0"/>
              <a:t>совокупность данных</a:t>
            </a:r>
            <a:r>
              <a:rPr lang="ru-RU" sz="2000" dirty="0" smtClean="0"/>
              <a:t>, занимающая </a:t>
            </a:r>
            <a:r>
              <a:rPr lang="ru-RU" sz="2000" u="sng" dirty="0" smtClean="0"/>
              <a:t>именованную область памяти</a:t>
            </a:r>
            <a:r>
              <a:rPr lang="ru-RU" sz="2000" dirty="0" smtClean="0"/>
              <a:t> на внешнем носителе информации. </a:t>
            </a:r>
          </a:p>
          <a:p>
            <a:pPr>
              <a:buNone/>
            </a:pPr>
            <a:r>
              <a:rPr lang="ru-RU" sz="2000" dirty="0"/>
              <a:t>	</a:t>
            </a:r>
            <a:r>
              <a:rPr lang="ru-RU" sz="2000" dirty="0" smtClean="0"/>
              <a:t>Файл является логической единицей хранения информации и в процессе обработки рассматривается как единое целое.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2000" dirty="0">
                <a:latin typeface="Comic Sans MS" pitchFamily="66" charset="0"/>
              </a:rPr>
              <a:t>	</a:t>
            </a:r>
            <a:r>
              <a:rPr lang="ru-RU" sz="2000" dirty="0" smtClean="0">
                <a:latin typeface="Comic Sans MS" pitchFamily="66" charset="0"/>
              </a:rPr>
              <a:t>Имя файла = Собственно имя </a:t>
            </a:r>
            <a:r>
              <a:rPr lang="en-US" sz="4000" dirty="0" smtClean="0">
                <a:latin typeface="Comic Sans MS" pitchFamily="66" charset="0"/>
              </a:rPr>
              <a:t>.</a:t>
            </a:r>
            <a:r>
              <a:rPr lang="en-US" sz="2000" dirty="0" smtClean="0">
                <a:latin typeface="Comic Sans MS" pitchFamily="66" charset="0"/>
              </a:rPr>
              <a:t> </a:t>
            </a:r>
            <a:r>
              <a:rPr lang="ru-RU" sz="2000" dirty="0" smtClean="0">
                <a:latin typeface="Comic Sans MS" pitchFamily="66" charset="0"/>
              </a:rPr>
              <a:t>Расширение (тип файла)</a:t>
            </a:r>
          </a:p>
          <a:p>
            <a:pPr>
              <a:buNone/>
            </a:pPr>
            <a:r>
              <a:rPr lang="ru-RU" sz="100" dirty="0" smtClean="0"/>
              <a:t>	</a:t>
            </a:r>
          </a:p>
          <a:p>
            <a:pPr>
              <a:buNone/>
            </a:pPr>
            <a:r>
              <a:rPr lang="ru-RU" sz="2000" dirty="0"/>
              <a:t>	</a:t>
            </a:r>
            <a:r>
              <a:rPr lang="ru-RU" sz="2000" dirty="0" smtClean="0"/>
              <a:t>В </a:t>
            </a:r>
            <a:r>
              <a:rPr lang="ru-RU" sz="2000" dirty="0"/>
              <a:t>операционной системе </a:t>
            </a:r>
            <a:r>
              <a:rPr lang="ru-RU" sz="2000" dirty="0" err="1"/>
              <a:t>Windows</a:t>
            </a:r>
            <a:r>
              <a:rPr lang="ru-RU" sz="2000" dirty="0"/>
              <a:t> </a:t>
            </a:r>
            <a:r>
              <a:rPr lang="ru-RU" sz="2000" dirty="0" smtClean="0"/>
              <a:t>имя </a:t>
            </a:r>
            <a:r>
              <a:rPr lang="ru-RU" sz="2000" dirty="0"/>
              <a:t>файла </a:t>
            </a:r>
            <a:r>
              <a:rPr lang="ru-RU" sz="2000" dirty="0" smtClean="0"/>
              <a:t>может </a:t>
            </a:r>
            <a:r>
              <a:rPr lang="ru-RU" sz="2000" dirty="0"/>
              <a:t>иметь не более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255 символов (в </a:t>
            </a:r>
            <a:r>
              <a:rPr lang="ru-RU" sz="2000" dirty="0"/>
              <a:t>имени файла могут использоваться </a:t>
            </a:r>
            <a:r>
              <a:rPr lang="ru-RU" sz="2000" dirty="0" smtClean="0"/>
              <a:t>латинские и </a:t>
            </a:r>
            <a:r>
              <a:rPr lang="ru-RU" sz="2000" dirty="0"/>
              <a:t>русские </a:t>
            </a:r>
            <a:r>
              <a:rPr lang="ru-RU" sz="2000" dirty="0" smtClean="0"/>
              <a:t>буквы, пробелы, тире, символ подчёркивания, точка, восклицательный знак и некоторый другие символы). Расширение файла</a:t>
            </a:r>
            <a:r>
              <a:rPr lang="en-US" sz="2000" dirty="0" smtClean="0"/>
              <a:t> </a:t>
            </a:r>
            <a:r>
              <a:rPr lang="ru-RU" sz="2000" dirty="0" smtClean="0"/>
              <a:t>при просмотре в Проводнике </a:t>
            </a:r>
            <a:r>
              <a:rPr lang="en-US" sz="2000" dirty="0" smtClean="0"/>
              <a:t>Windows</a:t>
            </a:r>
            <a:r>
              <a:rPr lang="ru-RU" sz="2000" dirty="0" smtClean="0"/>
              <a:t>, как правило, не отображается.</a:t>
            </a:r>
            <a:endParaRPr lang="ru-RU" sz="2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39552" y="4509120"/>
          <a:ext cx="7848871" cy="21336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{22838BEF-8BB2-4498-84A7-C5851F593DF1}</a:tableStyleId>
              </a:tblPr>
              <a:tblGrid>
                <a:gridCol w="5472608"/>
                <a:gridCol w="2376263"/>
              </a:tblGrid>
              <a:tr h="17059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Тип файла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Расширение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</a:tr>
              <a:tr h="17059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Исполняемые</a:t>
                      </a:r>
                      <a:r>
                        <a:rPr lang="ru-RU" sz="2000" baseline="0" dirty="0" smtClean="0"/>
                        <a:t> файлы (программы, приложения)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exe, </a:t>
                      </a:r>
                      <a:r>
                        <a:rPr lang="en-US" sz="2000" dirty="0" smtClean="0"/>
                        <a:t>com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</a:tr>
              <a:tr h="284325">
                <a:tc>
                  <a:txBody>
                    <a:bodyPr/>
                    <a:lstStyle/>
                    <a:p>
                      <a:r>
                        <a:rPr lang="ru-RU" sz="2000" dirty="0"/>
                        <a:t>Текстовые файлы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doc, txt, </a:t>
                      </a:r>
                      <a:r>
                        <a:rPr lang="en-US" sz="2000" dirty="0" err="1" smtClean="0"/>
                        <a:t>docx</a:t>
                      </a:r>
                      <a:r>
                        <a:rPr lang="ru-RU" sz="2000" dirty="0" smtClean="0"/>
                        <a:t>, </a:t>
                      </a:r>
                      <a:r>
                        <a:rPr lang="en-US" sz="2000" dirty="0" smtClean="0"/>
                        <a:t>rtf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</a:tr>
              <a:tr h="284325">
                <a:tc>
                  <a:txBody>
                    <a:bodyPr/>
                    <a:lstStyle/>
                    <a:p>
                      <a:r>
                        <a:rPr lang="ru-RU" sz="2000" dirty="0"/>
                        <a:t>Графические файлы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bmp, jpeg, jpg, gif</a:t>
                      </a:r>
                      <a:endParaRPr lang="en-US" sz="2000">
                        <a:latin typeface="+mj-lt"/>
                      </a:endParaRPr>
                    </a:p>
                  </a:txBody>
                  <a:tcPr marL="90000" marR="90000" marT="0" marB="0" anchor="ctr"/>
                </a:tc>
              </a:tr>
              <a:tr h="284325">
                <a:tc>
                  <a:txBody>
                    <a:bodyPr/>
                    <a:lstStyle/>
                    <a:p>
                      <a:r>
                        <a:rPr lang="ru-RU" sz="2000" dirty="0"/>
                        <a:t>Звуковые файлы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wav, mp3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</a:tr>
              <a:tr h="227460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Видео</a:t>
                      </a:r>
                      <a:r>
                        <a:rPr lang="en-US" sz="2000" dirty="0" smtClean="0"/>
                        <a:t> </a:t>
                      </a:r>
                      <a:r>
                        <a:rPr lang="ru-RU" sz="2000" dirty="0" smtClean="0"/>
                        <a:t>файлы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avi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 smtClean="0"/>
                        <a:t>mov</a:t>
                      </a:r>
                      <a:r>
                        <a:rPr lang="ru-RU" sz="2000" dirty="0" smtClean="0"/>
                        <a:t>,</a:t>
                      </a:r>
                      <a:r>
                        <a:rPr lang="ru-RU" sz="2000" baseline="0" dirty="0" smtClean="0"/>
                        <a:t> </a:t>
                      </a:r>
                      <a:r>
                        <a:rPr lang="en-US" sz="2000" baseline="0" dirty="0" smtClean="0"/>
                        <a:t>mp4, mpg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</a:tr>
              <a:tr h="268281">
                <a:tc>
                  <a:txBody>
                    <a:bodyPr/>
                    <a:lstStyle/>
                    <a:p>
                      <a:r>
                        <a:rPr lang="ru-RU" sz="2000" dirty="0"/>
                        <a:t>Коды программ на языках программирования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pas, </a:t>
                      </a:r>
                      <a:r>
                        <a:rPr lang="en-US" sz="2000" dirty="0" smtClean="0"/>
                        <a:t>bas</a:t>
                      </a:r>
                      <a:r>
                        <a:rPr lang="ru-RU" sz="2000" dirty="0" smtClean="0"/>
                        <a:t>, </a:t>
                      </a:r>
                      <a:r>
                        <a:rPr lang="en-US" sz="2000" dirty="0" smtClean="0"/>
                        <a:t>html,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js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764704"/>
            <a:ext cx="8507288" cy="5832648"/>
          </a:xfrm>
        </p:spPr>
        <p:txBody>
          <a:bodyPr/>
          <a:lstStyle/>
          <a:p>
            <a:pPr>
              <a:buNone/>
            </a:pPr>
            <a:r>
              <a:rPr lang="ru-RU" sz="20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	</a:t>
            </a:r>
            <a:endParaRPr lang="ru-RU" sz="2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611560" y="3212976"/>
          <a:ext cx="8064895" cy="33528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5697219"/>
                <a:gridCol w="2367676"/>
              </a:tblGrid>
              <a:tr h="17059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+mj-lt"/>
                        </a:rPr>
                        <a:t>Тип </a:t>
                      </a:r>
                      <a:r>
                        <a:rPr lang="ru-RU" sz="2000" dirty="0" smtClean="0">
                          <a:latin typeface="+mj-lt"/>
                        </a:rPr>
                        <a:t>файла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+mj-lt"/>
                        </a:rPr>
                        <a:t>Расширение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17059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Исполняемые</a:t>
                      </a:r>
                      <a:r>
                        <a:rPr lang="ru-RU" sz="2000" baseline="0" dirty="0" smtClean="0"/>
                        <a:t> файлы (программы, приложения)</a:t>
                      </a:r>
                      <a:endParaRPr kumimoji="0" lang="ru-RU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exe, com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170595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+mj-lt"/>
                        </a:rPr>
                        <a:t>Архивы</a:t>
                      </a:r>
                      <a:r>
                        <a:rPr lang="ru-RU" sz="2000" baseline="0" dirty="0" smtClean="0">
                          <a:latin typeface="+mj-lt"/>
                        </a:rPr>
                        <a:t> файлов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+mj-lt"/>
                        </a:rPr>
                        <a:t>zip, </a:t>
                      </a:r>
                      <a:r>
                        <a:rPr lang="en-US" sz="2000" dirty="0" err="1" smtClean="0">
                          <a:latin typeface="+mj-lt"/>
                        </a:rPr>
                        <a:t>rar</a:t>
                      </a:r>
                      <a:r>
                        <a:rPr lang="en-US" sz="2000" dirty="0" smtClean="0">
                          <a:latin typeface="+mj-lt"/>
                        </a:rPr>
                        <a:t>, 7z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170595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+mj-lt"/>
                        </a:rPr>
                        <a:t>Текстовые файлы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doc, txt, </a:t>
                      </a:r>
                      <a:r>
                        <a:rPr lang="en-US" sz="2000" dirty="0" err="1">
                          <a:latin typeface="+mj-lt"/>
                        </a:rPr>
                        <a:t>docx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170595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+mj-lt"/>
                        </a:rPr>
                        <a:t>Файлы</a:t>
                      </a:r>
                      <a:r>
                        <a:rPr lang="ru-RU" sz="2000" baseline="0" dirty="0" smtClean="0">
                          <a:latin typeface="+mj-lt"/>
                        </a:rPr>
                        <a:t> </a:t>
                      </a:r>
                      <a:r>
                        <a:rPr lang="en-US" sz="2000" baseline="0" dirty="0" smtClean="0">
                          <a:latin typeface="+mj-lt"/>
                        </a:rPr>
                        <a:t>PowerPoint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+mj-lt"/>
                        </a:rPr>
                        <a:t>ppt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pptx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pps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ppsx</a:t>
                      </a:r>
                      <a:r>
                        <a:rPr lang="en-US" sz="2000" dirty="0" smtClean="0">
                          <a:latin typeface="+mj-lt"/>
                        </a:rPr>
                        <a:t>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170595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+mj-lt"/>
                        </a:rPr>
                        <a:t>Файлы </a:t>
                      </a:r>
                      <a:r>
                        <a:rPr lang="en-US" sz="2000" dirty="0" smtClean="0">
                          <a:latin typeface="+mj-lt"/>
                        </a:rPr>
                        <a:t>Excel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+mj-lt"/>
                        </a:rPr>
                        <a:t>xls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xlsx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284325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+mj-lt"/>
                        </a:rPr>
                        <a:t>Графические файлы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bmp, </a:t>
                      </a:r>
                      <a:r>
                        <a:rPr lang="en-US" sz="2000" dirty="0" err="1" smtClean="0">
                          <a:latin typeface="+mj-lt"/>
                        </a:rPr>
                        <a:t>png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>
                          <a:latin typeface="+mj-lt"/>
                        </a:rPr>
                        <a:t>jpg, gif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284325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+mj-lt"/>
                        </a:rPr>
                        <a:t>Звуковые файлы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wav, </a:t>
                      </a:r>
                      <a:r>
                        <a:rPr lang="en-US" sz="2000" dirty="0" smtClean="0">
                          <a:latin typeface="+mj-lt"/>
                        </a:rPr>
                        <a:t>mp3,</a:t>
                      </a:r>
                      <a:r>
                        <a:rPr lang="en-US" sz="2000" baseline="0" dirty="0" smtClean="0">
                          <a:latin typeface="+mj-lt"/>
                        </a:rPr>
                        <a:t> mid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227460">
                <a:tc>
                  <a:txBody>
                    <a:bodyPr/>
                    <a:lstStyle/>
                    <a:p>
                      <a:r>
                        <a:rPr lang="ru-RU" sz="2000" dirty="0" err="1">
                          <a:latin typeface="+mj-lt"/>
                        </a:rPr>
                        <a:t>Видеофайлы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+mj-lt"/>
                        </a:rPr>
                        <a:t>avi</a:t>
                      </a:r>
                      <a:r>
                        <a:rPr lang="en-US" sz="2000" dirty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mov</a:t>
                      </a:r>
                      <a:r>
                        <a:rPr lang="ru-RU" sz="2000" dirty="0" smtClean="0">
                          <a:latin typeface="+mj-lt"/>
                        </a:rPr>
                        <a:t>,</a:t>
                      </a:r>
                      <a:r>
                        <a:rPr lang="ru-RU" sz="2000" baseline="0" dirty="0" smtClean="0">
                          <a:latin typeface="+mj-lt"/>
                        </a:rPr>
                        <a:t> </a:t>
                      </a:r>
                      <a:r>
                        <a:rPr lang="en-US" sz="2000" baseline="0" dirty="0" smtClean="0">
                          <a:latin typeface="+mj-lt"/>
                        </a:rPr>
                        <a:t>mp4, mpg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22746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+mj-lt"/>
                        </a:rPr>
                        <a:t>WEB-</a:t>
                      </a:r>
                      <a:r>
                        <a:rPr lang="ru-RU" sz="2000" dirty="0" smtClean="0">
                          <a:latin typeface="+mj-lt"/>
                        </a:rPr>
                        <a:t>страницы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+mj-lt"/>
                        </a:rPr>
                        <a:t>htm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kumimoji="0"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html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268281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+mj-lt"/>
                        </a:rPr>
                        <a:t>Коды программ на языках программирования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pas, </a:t>
                      </a:r>
                      <a:r>
                        <a:rPr lang="en-US" sz="2000" dirty="0" smtClean="0">
                          <a:latin typeface="+mj-lt"/>
                        </a:rPr>
                        <a:t>bas</a:t>
                      </a:r>
                      <a:r>
                        <a:rPr lang="ru-RU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js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3528" y="692696"/>
            <a:ext cx="8562094" cy="288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Примеры записи имён файлов</a:t>
            </a:r>
            <a:r>
              <a:rPr lang="en-US" sz="2000" dirty="0" smtClean="0"/>
              <a:t> </a:t>
            </a:r>
            <a:r>
              <a:rPr lang="ru-RU" sz="2000" dirty="0" smtClean="0"/>
              <a:t>в системе </a:t>
            </a:r>
            <a:r>
              <a:rPr lang="en-US" sz="2000" dirty="0" smtClean="0"/>
              <a:t>Windows</a:t>
            </a:r>
            <a:r>
              <a:rPr lang="ru-RU" sz="2000" dirty="0" smtClean="0"/>
              <a:t>:</a:t>
            </a:r>
          </a:p>
          <a:p>
            <a:r>
              <a:rPr lang="en-US" sz="2800" dirty="0" smtClean="0"/>
              <a:t>text.txt</a:t>
            </a:r>
            <a:r>
              <a:rPr lang="ru-RU" sz="2800" dirty="0" smtClean="0"/>
              <a:t>, проба.</a:t>
            </a:r>
            <a:r>
              <a:rPr lang="en-US" sz="2800" dirty="0" smtClean="0"/>
              <a:t>doc</a:t>
            </a:r>
            <a:r>
              <a:rPr lang="ru-RU" sz="2800" dirty="0" smtClean="0"/>
              <a:t>, документ.</a:t>
            </a:r>
            <a:r>
              <a:rPr lang="en-US" sz="2800" dirty="0" err="1" smtClean="0"/>
              <a:t>docx</a:t>
            </a:r>
            <a:r>
              <a:rPr lang="ru-RU" sz="2800" dirty="0" smtClean="0"/>
              <a:t>, </a:t>
            </a:r>
            <a:r>
              <a:rPr lang="en-US" sz="2800" dirty="0" smtClean="0"/>
              <a:t>game.zip.com</a:t>
            </a:r>
          </a:p>
          <a:p>
            <a:r>
              <a:rPr lang="ru-RU" sz="2800" dirty="0" smtClean="0"/>
              <a:t>фильм</a:t>
            </a:r>
            <a:r>
              <a:rPr lang="en-US" sz="2800" dirty="0" smtClean="0"/>
              <a:t>.</a:t>
            </a:r>
            <a:r>
              <a:rPr lang="en-US" sz="2800" dirty="0" err="1" smtClean="0"/>
              <a:t>avi</a:t>
            </a:r>
            <a:r>
              <a:rPr lang="en-US" sz="2800" dirty="0" smtClean="0"/>
              <a:t>, ghfd.exe, index.html, excel.exe, foto.jpg, </a:t>
            </a:r>
            <a:br>
              <a:rPr lang="en-US" sz="2800" dirty="0" smtClean="0"/>
            </a:br>
            <a:r>
              <a:rPr lang="ru-RU" sz="2800" dirty="0" smtClean="0"/>
              <a:t>клип.</a:t>
            </a:r>
            <a:r>
              <a:rPr lang="en-US" sz="2800" dirty="0" err="1" smtClean="0"/>
              <a:t>mov</a:t>
            </a:r>
            <a:r>
              <a:rPr lang="en-US" sz="2800" dirty="0" smtClean="0"/>
              <a:t>, </a:t>
            </a:r>
            <a:r>
              <a:rPr lang="ru-RU" sz="2800" dirty="0" smtClean="0"/>
              <a:t>видео</a:t>
            </a:r>
            <a:r>
              <a:rPr lang="en-US" sz="2800" dirty="0" smtClean="0"/>
              <a:t>.</a:t>
            </a:r>
            <a:r>
              <a:rPr lang="en-US" sz="2800" dirty="0" err="1" smtClean="0"/>
              <a:t>avi.exe</a:t>
            </a:r>
            <a:r>
              <a:rPr lang="en-US" sz="2800" dirty="0" smtClean="0"/>
              <a:t>, </a:t>
            </a:r>
            <a:r>
              <a:rPr lang="ru-RU" sz="2800" dirty="0"/>
              <a:t>таблица</a:t>
            </a:r>
            <a:r>
              <a:rPr lang="en-US" sz="2800" dirty="0"/>
              <a:t>.</a:t>
            </a:r>
            <a:r>
              <a:rPr lang="en-US" sz="2800" dirty="0" err="1"/>
              <a:t>xls</a:t>
            </a:r>
            <a:r>
              <a:rPr lang="en-US" sz="2800" dirty="0"/>
              <a:t>, </a:t>
            </a:r>
            <a:r>
              <a:rPr lang="ru-RU" sz="2800" dirty="0" smtClean="0"/>
              <a:t>песня</a:t>
            </a:r>
            <a:r>
              <a:rPr lang="en-US" sz="2800" dirty="0" smtClean="0"/>
              <a:t>.mp3.com</a:t>
            </a:r>
          </a:p>
          <a:p>
            <a:endParaRPr lang="ru-RU" sz="1000" dirty="0" smtClean="0"/>
          </a:p>
          <a:p>
            <a:r>
              <a:rPr lang="ru-RU" sz="2000" dirty="0" smtClean="0"/>
              <a:t>Правила записи имён файлов в других операционных системах </a:t>
            </a:r>
            <a:br>
              <a:rPr lang="ru-RU" sz="2000" dirty="0" smtClean="0"/>
            </a:br>
            <a:r>
              <a:rPr lang="ru-RU" sz="2000" dirty="0" smtClean="0"/>
              <a:t>могут отличаться от приведённых примеров. </a:t>
            </a:r>
          </a:p>
          <a:p>
            <a:endParaRPr lang="ru-RU" sz="2000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395536" y="404664"/>
            <a:ext cx="8229600" cy="274042"/>
          </a:xfrm>
          <a:prstGeom prst="rect">
            <a:avLst/>
          </a:prstGeom>
        </p:spPr>
        <p:txBody>
          <a:bodyPr bIns="9144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Файл. Имя и расширение (тип) файла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764704"/>
            <a:ext cx="8507288" cy="5832648"/>
          </a:xfrm>
        </p:spPr>
        <p:txBody>
          <a:bodyPr/>
          <a:lstStyle/>
          <a:p>
            <a:pPr>
              <a:buNone/>
            </a:pPr>
            <a:r>
              <a:rPr lang="ru-RU" sz="20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	</a:t>
            </a:r>
            <a:endParaRPr lang="ru-RU" sz="20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Файл. Имя и расширение (тип) файла</a:t>
            </a:r>
            <a:endParaRPr lang="ru-R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692696"/>
            <a:ext cx="856209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Примеры записи имён файлов</a:t>
            </a:r>
            <a:r>
              <a:rPr lang="en-US" sz="2000" dirty="0" smtClean="0"/>
              <a:t> </a:t>
            </a:r>
            <a:r>
              <a:rPr lang="ru-RU" sz="2000" dirty="0" smtClean="0"/>
              <a:t>в системе </a:t>
            </a:r>
            <a:r>
              <a:rPr lang="en-US" sz="2000" dirty="0" smtClean="0"/>
              <a:t>Windows</a:t>
            </a:r>
            <a:r>
              <a:rPr lang="ru-RU" sz="2000" dirty="0" smtClean="0"/>
              <a:t>:</a:t>
            </a:r>
          </a:p>
          <a:p>
            <a:r>
              <a:rPr lang="en-US" sz="2800" dirty="0" smtClean="0"/>
              <a:t>text.txt</a:t>
            </a:r>
            <a:r>
              <a:rPr lang="ru-RU" sz="2800" dirty="0" smtClean="0"/>
              <a:t>, проба.</a:t>
            </a:r>
            <a:r>
              <a:rPr lang="en-US" sz="2800" dirty="0" smtClean="0"/>
              <a:t>doc</a:t>
            </a:r>
            <a:r>
              <a:rPr lang="ru-RU" sz="2800" dirty="0" smtClean="0"/>
              <a:t>, документ.</a:t>
            </a:r>
            <a:r>
              <a:rPr lang="en-US" sz="2800" dirty="0" err="1" smtClean="0"/>
              <a:t>docx</a:t>
            </a:r>
            <a:r>
              <a:rPr lang="ru-RU" sz="2800" dirty="0" smtClean="0"/>
              <a:t>, </a:t>
            </a:r>
            <a:r>
              <a:rPr lang="en-US" sz="2800" b="1" dirty="0" smtClean="0"/>
              <a:t>game.zip.</a:t>
            </a:r>
            <a:r>
              <a:rPr lang="en-US" sz="2800" dirty="0" smtClean="0">
                <a:solidFill>
                  <a:srgbClr val="FF0000"/>
                </a:solidFill>
              </a:rPr>
              <a:t>com</a:t>
            </a:r>
          </a:p>
          <a:p>
            <a:r>
              <a:rPr lang="ru-RU" sz="2800" dirty="0" smtClean="0"/>
              <a:t>фильм</a:t>
            </a:r>
            <a:r>
              <a:rPr lang="en-US" sz="2800" dirty="0" smtClean="0"/>
              <a:t>.</a:t>
            </a:r>
            <a:r>
              <a:rPr lang="en-US" sz="2800" dirty="0" err="1" smtClean="0"/>
              <a:t>avi</a:t>
            </a:r>
            <a:r>
              <a:rPr lang="en-US" sz="2800" dirty="0" smtClean="0"/>
              <a:t>, </a:t>
            </a:r>
            <a:r>
              <a:rPr lang="en-US" sz="2800" b="1" dirty="0" smtClean="0"/>
              <a:t>ghfd.exe</a:t>
            </a:r>
            <a:r>
              <a:rPr lang="en-US" sz="2800" dirty="0" smtClean="0"/>
              <a:t>, index.html, excel.exe, foto.jpg, </a:t>
            </a:r>
            <a:br>
              <a:rPr lang="en-US" sz="2800" dirty="0" smtClean="0"/>
            </a:br>
            <a:r>
              <a:rPr lang="ru-RU" sz="2800" dirty="0" smtClean="0"/>
              <a:t>клип.</a:t>
            </a:r>
            <a:r>
              <a:rPr lang="en-US" sz="2800" dirty="0" err="1" smtClean="0"/>
              <a:t>mov</a:t>
            </a:r>
            <a:r>
              <a:rPr lang="en-US" sz="2800" dirty="0" smtClean="0"/>
              <a:t>, </a:t>
            </a:r>
            <a:r>
              <a:rPr lang="ru-RU" sz="2800" b="1" dirty="0" smtClean="0"/>
              <a:t>видео</a:t>
            </a:r>
            <a:r>
              <a:rPr lang="en-US" sz="2800" b="1" dirty="0" smtClean="0"/>
              <a:t>.</a:t>
            </a:r>
            <a:r>
              <a:rPr lang="en-US" sz="2800" b="1" dirty="0" err="1" smtClean="0"/>
              <a:t>avi</a:t>
            </a:r>
            <a:r>
              <a:rPr lang="en-US" sz="2800" dirty="0" err="1" smtClean="0"/>
              <a:t>.</a:t>
            </a:r>
            <a:r>
              <a:rPr lang="en-US" sz="2800" dirty="0" err="1" smtClean="0">
                <a:solidFill>
                  <a:srgbClr val="FF0000"/>
                </a:solidFill>
              </a:rPr>
              <a:t>exe</a:t>
            </a:r>
            <a:r>
              <a:rPr lang="en-US" sz="2800" dirty="0" smtClean="0"/>
              <a:t>, </a:t>
            </a:r>
            <a:r>
              <a:rPr lang="ru-RU" sz="2800" dirty="0"/>
              <a:t>таблица</a:t>
            </a:r>
            <a:r>
              <a:rPr lang="en-US" sz="2800" dirty="0"/>
              <a:t>.</a:t>
            </a:r>
            <a:r>
              <a:rPr lang="en-US" sz="2800" dirty="0" err="1"/>
              <a:t>xls</a:t>
            </a:r>
            <a:r>
              <a:rPr lang="en-US" sz="2800" dirty="0"/>
              <a:t>, </a:t>
            </a:r>
            <a:r>
              <a:rPr lang="ru-RU" sz="2800" b="1" dirty="0" smtClean="0"/>
              <a:t>песня</a:t>
            </a:r>
            <a:r>
              <a:rPr lang="en-US" sz="2800" b="1" dirty="0" smtClean="0"/>
              <a:t>.mp3</a:t>
            </a:r>
            <a:r>
              <a:rPr lang="en-US" sz="2800" dirty="0" smtClean="0"/>
              <a:t>.</a:t>
            </a:r>
            <a:r>
              <a:rPr lang="en-US" sz="2800" dirty="0" smtClean="0">
                <a:solidFill>
                  <a:srgbClr val="FF0000"/>
                </a:solidFill>
              </a:rPr>
              <a:t>com</a:t>
            </a:r>
          </a:p>
          <a:p>
            <a:endParaRPr lang="ru-RU" sz="1000" dirty="0" smtClean="0"/>
          </a:p>
          <a:p>
            <a:r>
              <a:rPr lang="ru-RU" sz="2000" dirty="0" smtClean="0"/>
              <a:t>Если в вашей системе отключено отображение расширений файлов, а в имени файла видно расширение, то это, скорее всего вредоносное ПО! </a:t>
            </a:r>
          </a:p>
          <a:p>
            <a:endParaRPr lang="ru-RU" sz="20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611560" y="3212976"/>
          <a:ext cx="8064895" cy="33528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5697219"/>
                <a:gridCol w="2367676"/>
              </a:tblGrid>
              <a:tr h="17059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+mj-lt"/>
                        </a:rPr>
                        <a:t>Тип </a:t>
                      </a:r>
                      <a:r>
                        <a:rPr lang="ru-RU" sz="2000" dirty="0" smtClean="0">
                          <a:latin typeface="+mj-lt"/>
                        </a:rPr>
                        <a:t>файла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+mj-lt"/>
                        </a:rPr>
                        <a:t>Расширение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17059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Исполняемые</a:t>
                      </a:r>
                      <a:r>
                        <a:rPr lang="ru-RU" sz="2000" baseline="0" dirty="0" smtClean="0"/>
                        <a:t> файлы (программы, приложения)</a:t>
                      </a:r>
                      <a:endParaRPr kumimoji="0" lang="ru-RU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exe, com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170595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+mj-lt"/>
                        </a:rPr>
                        <a:t>Архивы</a:t>
                      </a:r>
                      <a:r>
                        <a:rPr lang="ru-RU" sz="2000" baseline="0" dirty="0" smtClean="0">
                          <a:latin typeface="+mj-lt"/>
                        </a:rPr>
                        <a:t> файлов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+mj-lt"/>
                        </a:rPr>
                        <a:t>zip, </a:t>
                      </a:r>
                      <a:r>
                        <a:rPr lang="en-US" sz="2000" dirty="0" err="1" smtClean="0">
                          <a:latin typeface="+mj-lt"/>
                        </a:rPr>
                        <a:t>rar</a:t>
                      </a:r>
                      <a:r>
                        <a:rPr lang="en-US" sz="2000" dirty="0" smtClean="0">
                          <a:latin typeface="+mj-lt"/>
                        </a:rPr>
                        <a:t>, 7z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170595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+mj-lt"/>
                        </a:rPr>
                        <a:t>Текстовые файлы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doc, txt, </a:t>
                      </a:r>
                      <a:r>
                        <a:rPr lang="en-US" sz="2000" dirty="0" err="1">
                          <a:latin typeface="+mj-lt"/>
                        </a:rPr>
                        <a:t>docx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170595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+mj-lt"/>
                        </a:rPr>
                        <a:t>Файлы</a:t>
                      </a:r>
                      <a:r>
                        <a:rPr lang="ru-RU" sz="2000" baseline="0" dirty="0" smtClean="0">
                          <a:latin typeface="+mj-lt"/>
                        </a:rPr>
                        <a:t> </a:t>
                      </a:r>
                      <a:r>
                        <a:rPr lang="en-US" sz="2000" baseline="0" dirty="0" smtClean="0">
                          <a:latin typeface="+mj-lt"/>
                        </a:rPr>
                        <a:t>PowerPoint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+mj-lt"/>
                        </a:rPr>
                        <a:t>ppt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pptx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pps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ppsx</a:t>
                      </a:r>
                      <a:r>
                        <a:rPr lang="en-US" sz="2000" dirty="0" smtClean="0">
                          <a:latin typeface="+mj-lt"/>
                        </a:rPr>
                        <a:t>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170595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+mj-lt"/>
                        </a:rPr>
                        <a:t>Файлы </a:t>
                      </a:r>
                      <a:r>
                        <a:rPr lang="en-US" sz="2000" dirty="0" smtClean="0">
                          <a:latin typeface="+mj-lt"/>
                        </a:rPr>
                        <a:t>Excel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+mj-lt"/>
                        </a:rPr>
                        <a:t>xls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xlsx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284325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+mj-lt"/>
                        </a:rPr>
                        <a:t>Графические файлы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bmp, </a:t>
                      </a:r>
                      <a:r>
                        <a:rPr lang="en-US" sz="2000" dirty="0" err="1" smtClean="0">
                          <a:latin typeface="+mj-lt"/>
                        </a:rPr>
                        <a:t>png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>
                          <a:latin typeface="+mj-lt"/>
                        </a:rPr>
                        <a:t>jpg, gif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284325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+mj-lt"/>
                        </a:rPr>
                        <a:t>Звуковые файлы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wav, </a:t>
                      </a:r>
                      <a:r>
                        <a:rPr lang="en-US" sz="2000" dirty="0" smtClean="0">
                          <a:latin typeface="+mj-lt"/>
                        </a:rPr>
                        <a:t>mp3,</a:t>
                      </a:r>
                      <a:r>
                        <a:rPr lang="en-US" sz="2000" baseline="0" dirty="0" smtClean="0">
                          <a:latin typeface="+mj-lt"/>
                        </a:rPr>
                        <a:t> mid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227460">
                <a:tc>
                  <a:txBody>
                    <a:bodyPr/>
                    <a:lstStyle/>
                    <a:p>
                      <a:r>
                        <a:rPr lang="ru-RU" sz="2000" dirty="0" err="1">
                          <a:latin typeface="+mj-lt"/>
                        </a:rPr>
                        <a:t>Видеофайлы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+mj-lt"/>
                        </a:rPr>
                        <a:t>avi</a:t>
                      </a:r>
                      <a:r>
                        <a:rPr lang="en-US" sz="2000" dirty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mov</a:t>
                      </a:r>
                      <a:r>
                        <a:rPr lang="ru-RU" sz="2000" dirty="0" smtClean="0">
                          <a:latin typeface="+mj-lt"/>
                        </a:rPr>
                        <a:t>,</a:t>
                      </a:r>
                      <a:r>
                        <a:rPr lang="ru-RU" sz="2000" baseline="0" dirty="0" smtClean="0">
                          <a:latin typeface="+mj-lt"/>
                        </a:rPr>
                        <a:t> </a:t>
                      </a:r>
                      <a:r>
                        <a:rPr lang="en-US" sz="2000" baseline="0" dirty="0" smtClean="0">
                          <a:latin typeface="+mj-lt"/>
                        </a:rPr>
                        <a:t>mp4, mpg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22746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+mj-lt"/>
                        </a:rPr>
                        <a:t>WEB-</a:t>
                      </a:r>
                      <a:r>
                        <a:rPr lang="ru-RU" sz="2000" dirty="0" smtClean="0">
                          <a:latin typeface="+mj-lt"/>
                        </a:rPr>
                        <a:t>страницы</a:t>
                      </a:r>
                      <a:endParaRPr lang="ru-RU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+mj-lt"/>
                        </a:rPr>
                        <a:t>htm</a:t>
                      </a:r>
                      <a:r>
                        <a:rPr lang="en-US" sz="2000" dirty="0" smtClean="0">
                          <a:latin typeface="+mj-lt"/>
                        </a:rPr>
                        <a:t>, </a:t>
                      </a:r>
                      <a:r>
                        <a:rPr kumimoji="0"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html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  <a:tr h="268281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+mj-lt"/>
                        </a:rPr>
                        <a:t>Коды программ на языках программирования</a:t>
                      </a: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pas, </a:t>
                      </a:r>
                      <a:r>
                        <a:rPr lang="en-US" sz="2000" dirty="0" smtClean="0">
                          <a:latin typeface="+mj-lt"/>
                        </a:rPr>
                        <a:t>bas</a:t>
                      </a:r>
                      <a:r>
                        <a:rPr lang="ru-RU" sz="2000" dirty="0" smtClean="0">
                          <a:latin typeface="+mj-lt"/>
                        </a:rPr>
                        <a:t>, </a:t>
                      </a:r>
                      <a:r>
                        <a:rPr lang="en-US" sz="2000" dirty="0" err="1" smtClean="0">
                          <a:latin typeface="+mj-lt"/>
                        </a:rPr>
                        <a:t>js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4E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Файл. Каталоги, атрибуты файла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764704"/>
            <a:ext cx="8784976" cy="5832648"/>
          </a:xfrm>
        </p:spPr>
        <p:txBody>
          <a:bodyPr/>
          <a:lstStyle/>
          <a:p>
            <a:pPr marL="3175" indent="-3175">
              <a:buNone/>
            </a:pPr>
            <a:r>
              <a:rPr lang="ru-RU" sz="2000" dirty="0" smtClean="0"/>
              <a:t>	Информация о файлах, размещённых на внешних носителях хранится в </a:t>
            </a:r>
            <a:r>
              <a:rPr lang="ru-RU" sz="2000" b="1" dirty="0" smtClean="0"/>
              <a:t>каталогах</a:t>
            </a:r>
            <a:r>
              <a:rPr lang="ru-RU" sz="2000" dirty="0" smtClean="0"/>
              <a:t>. Кроме имени файла (и его типа), в каталоге записывается и другая информация о файле (размер файла, дата и время создания, место хранения на диске и т.д.), а также хранится набор </a:t>
            </a:r>
            <a:r>
              <a:rPr lang="ru-RU" sz="2000" b="1" dirty="0" smtClean="0"/>
              <a:t>атрибутов</a:t>
            </a:r>
            <a:r>
              <a:rPr lang="ru-RU" sz="2000" dirty="0" smtClean="0"/>
              <a:t> (свойств) файла, например: </a:t>
            </a:r>
          </a:p>
          <a:p>
            <a:pPr marL="3175" indent="-3175">
              <a:spcBef>
                <a:spcPts val="0"/>
              </a:spcBef>
              <a:buNone/>
            </a:pPr>
            <a:r>
              <a:rPr lang="ru-RU" sz="2000" b="1" dirty="0" smtClean="0"/>
              <a:t>«только для чтения» </a:t>
            </a:r>
            <a:r>
              <a:rPr lang="ru-RU" sz="2000" dirty="0" smtClean="0"/>
              <a:t>(</a:t>
            </a:r>
            <a:r>
              <a:rPr lang="en-US" sz="2000" dirty="0" smtClean="0"/>
              <a:t>read only</a:t>
            </a:r>
            <a:r>
              <a:rPr lang="ru-RU" sz="2000" dirty="0" smtClean="0"/>
              <a:t>)</a:t>
            </a:r>
            <a:r>
              <a:rPr lang="en-US" sz="2000" dirty="0" smtClean="0"/>
              <a:t> </a:t>
            </a:r>
            <a:r>
              <a:rPr lang="ru-RU" sz="2000" dirty="0" smtClean="0"/>
              <a:t>– файл доступен ОС и приложениям только для чтения, т.е. в нём нельзя сохранять исправления.</a:t>
            </a:r>
            <a:endParaRPr lang="en-US" sz="2000" dirty="0" smtClean="0"/>
          </a:p>
          <a:p>
            <a:pPr marL="3175" indent="-3175">
              <a:spcBef>
                <a:spcPts val="0"/>
              </a:spcBef>
              <a:buNone/>
            </a:pPr>
            <a:r>
              <a:rPr lang="ru-RU" sz="2000" b="1" dirty="0" smtClean="0"/>
              <a:t>«скрытый» </a:t>
            </a:r>
            <a:r>
              <a:rPr lang="ru-RU" sz="2000" dirty="0" smtClean="0"/>
              <a:t>(</a:t>
            </a:r>
            <a:r>
              <a:rPr lang="en-US" sz="2000" dirty="0" smtClean="0"/>
              <a:t>hidden) – </a:t>
            </a:r>
            <a:r>
              <a:rPr lang="ru-RU" sz="2000" dirty="0" smtClean="0"/>
              <a:t>файл не видим при обычном просмотре папок, для отображения файла необходимо изменить настройки отображения папок. </a:t>
            </a:r>
            <a:endParaRPr lang="en-US" sz="2000" dirty="0" smtClean="0"/>
          </a:p>
          <a:p>
            <a:pPr marL="3175" indent="-3175">
              <a:spcBef>
                <a:spcPts val="0"/>
              </a:spcBef>
              <a:buNone/>
            </a:pPr>
            <a:r>
              <a:rPr lang="ru-RU" sz="2000" b="1" dirty="0" smtClean="0"/>
              <a:t>«системный» </a:t>
            </a:r>
            <a:r>
              <a:rPr lang="ru-RU" sz="2000" dirty="0" smtClean="0"/>
              <a:t>(</a:t>
            </a:r>
            <a:r>
              <a:rPr lang="en-US" sz="2000" dirty="0" smtClean="0"/>
              <a:t>system) – </a:t>
            </a:r>
            <a:r>
              <a:rPr lang="ru-RU" sz="2000" dirty="0" smtClean="0"/>
              <a:t>файлы относятся к системным файлам ОС, которые нельзя изменять или удалять.</a:t>
            </a:r>
            <a:endParaRPr lang="en-US" sz="2000" dirty="0" smtClean="0"/>
          </a:p>
          <a:p>
            <a:pPr marL="3175" indent="-3175">
              <a:spcBef>
                <a:spcPts val="0"/>
              </a:spcBef>
              <a:buNone/>
            </a:pPr>
            <a:r>
              <a:rPr lang="ru-RU" sz="2000" b="1" dirty="0" smtClean="0"/>
              <a:t>«архивный» </a:t>
            </a:r>
            <a:r>
              <a:rPr lang="ru-RU" sz="2000" dirty="0" smtClean="0"/>
              <a:t>(</a:t>
            </a:r>
            <a:r>
              <a:rPr lang="en-US" sz="2000" dirty="0" smtClean="0"/>
              <a:t>archive</a:t>
            </a:r>
            <a:r>
              <a:rPr lang="ru-RU" sz="2000" dirty="0" smtClean="0"/>
              <a:t>)</a:t>
            </a:r>
            <a:r>
              <a:rPr lang="en-US" sz="2000" dirty="0" smtClean="0"/>
              <a:t> – </a:t>
            </a:r>
            <a:r>
              <a:rPr lang="ru-RU" sz="2000" dirty="0" smtClean="0"/>
              <a:t>атрибут указывает программам-архиваторам файлы, предназначенные для резервного копирования.</a:t>
            </a:r>
            <a:endParaRPr lang="en-US" sz="2000" dirty="0" smtClean="0"/>
          </a:p>
          <a:p>
            <a:pPr>
              <a:buNone/>
            </a:pPr>
            <a:r>
              <a:rPr lang="ru-RU" sz="2000" dirty="0" smtClean="0"/>
              <a:t>	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4529122"/>
            <a:ext cx="7632848" cy="21202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Файл. Установка атрибутов файла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784976" cy="5832648"/>
          </a:xfrm>
        </p:spPr>
        <p:txBody>
          <a:bodyPr/>
          <a:lstStyle/>
          <a:p>
            <a:pPr marL="3175" indent="-3175">
              <a:buNone/>
            </a:pPr>
            <a:r>
              <a:rPr lang="ru-RU" sz="2000" dirty="0" smtClean="0"/>
              <a:t>	Для установки (снятия) атрибутов файла, необходимо щёлкнуть по нему правой кнопкой мыши для вызова контекстного меню. Далее выбрать пункт меню Свойства. В нижней части окна Свойства установите (снимите) атрибуты файла. Для установки (снятия) других атрибутов щёлкните по кнопке Дополнительно.</a:t>
            </a:r>
            <a:endParaRPr lang="en-US" sz="2000" dirty="0" smtClean="0"/>
          </a:p>
          <a:p>
            <a:pPr>
              <a:buNone/>
            </a:pPr>
            <a:r>
              <a:rPr lang="ru-RU" sz="2000" dirty="0" smtClean="0"/>
              <a:t>	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 bwMode="auto">
          <a:xfrm>
            <a:off x="1043608" y="2599296"/>
            <a:ext cx="3024336" cy="4070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16016" y="2583473"/>
            <a:ext cx="3027164" cy="4085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9752" y="2267580"/>
            <a:ext cx="1230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Windows 7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614558" y="2267580"/>
            <a:ext cx="1351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Windows XP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57600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395536" y="4797152"/>
            <a:ext cx="8424936" cy="165618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Файл. Операции с файлами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784976" cy="58326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	В процессе работы на компьютере чаще всего приходится выполнять следующие операции с файлами: </a:t>
            </a:r>
            <a:br>
              <a:rPr lang="ru-RU" sz="2000" dirty="0" smtClean="0"/>
            </a:br>
            <a:r>
              <a:rPr lang="ru-RU" sz="2000" dirty="0" smtClean="0"/>
              <a:t>• </a:t>
            </a:r>
            <a:r>
              <a:rPr lang="ru-RU" sz="2000" b="1" dirty="0" smtClean="0"/>
              <a:t>копирование</a:t>
            </a:r>
            <a:r>
              <a:rPr lang="ru-RU" sz="2000" dirty="0" smtClean="0"/>
              <a:t> - при выполнении этой операции физически создаются новый файл и новая запись в файловой системе;</a:t>
            </a:r>
            <a:r>
              <a:rPr lang="ru-RU" sz="2000" u="sng" dirty="0" smtClean="0"/>
              <a:t/>
            </a:r>
            <a:br>
              <a:rPr lang="ru-RU" sz="2000" u="sng" dirty="0" smtClean="0"/>
            </a:br>
            <a:r>
              <a:rPr lang="ru-RU" sz="2000" b="1" dirty="0" smtClean="0"/>
              <a:t>• перемещение </a:t>
            </a:r>
            <a:r>
              <a:rPr lang="ru-RU" sz="2000" dirty="0" smtClean="0"/>
              <a:t>- при выполнении этой операции файл физически остается на диске на прежнем месте, но меняется его «адрес» в файловой системе;</a:t>
            </a:r>
            <a:r>
              <a:rPr lang="ru-RU" sz="2000" u="sng" dirty="0" smtClean="0"/>
              <a:t/>
            </a:r>
            <a:br>
              <a:rPr lang="ru-RU" sz="2000" u="sng" dirty="0" smtClean="0"/>
            </a:br>
            <a:r>
              <a:rPr lang="ru-RU" sz="2000" b="1" dirty="0" smtClean="0"/>
              <a:t>• удаление </a:t>
            </a:r>
            <a:r>
              <a:rPr lang="ru-RU" sz="2000" dirty="0" smtClean="0"/>
              <a:t>- физически файл остается на диске  (перемещается в папку Корзина), но запись о нём удаляется из файловой системы;</a:t>
            </a:r>
            <a:r>
              <a:rPr lang="ru-RU" sz="2000" u="sng" dirty="0" smtClean="0"/>
              <a:t/>
            </a:r>
            <a:br>
              <a:rPr lang="ru-RU" sz="2000" u="sng" dirty="0" smtClean="0"/>
            </a:br>
            <a:r>
              <a:rPr lang="ru-RU" sz="2000" dirty="0" smtClean="0"/>
              <a:t>• </a:t>
            </a:r>
            <a:r>
              <a:rPr lang="ru-RU" sz="2000" b="1" dirty="0" smtClean="0"/>
              <a:t>переименование</a:t>
            </a:r>
            <a:r>
              <a:rPr lang="ru-RU" sz="2000" dirty="0" smtClean="0"/>
              <a:t> - изменяется только имя файла в файловой системе, а сам файл остается неизменным;</a:t>
            </a:r>
            <a:r>
              <a:rPr lang="ru-RU" sz="2000" u="sng" dirty="0" smtClean="0"/>
              <a:t/>
            </a:r>
            <a:br>
              <a:rPr lang="ru-RU" sz="2000" u="sng" dirty="0" smtClean="0"/>
            </a:br>
            <a:r>
              <a:rPr lang="ru-RU" sz="2000" dirty="0" smtClean="0"/>
              <a:t>• </a:t>
            </a:r>
            <a:r>
              <a:rPr lang="ru-RU" sz="2000" b="1" dirty="0" smtClean="0"/>
              <a:t>создание</a:t>
            </a:r>
            <a:r>
              <a:rPr lang="ru-RU" sz="2000" dirty="0" smtClean="0"/>
              <a:t> - чаще всего файлы создаются программно: автоматически или при сохранении пользователем введенной в ту или иную программу информации, кроме того файл можно создать в выбранном каталоге.</a:t>
            </a:r>
          </a:p>
          <a:p>
            <a:pPr>
              <a:spcBef>
                <a:spcPts val="1200"/>
              </a:spcBef>
              <a:buNone/>
            </a:pPr>
            <a:r>
              <a:rPr lang="ru-RU" sz="2000" dirty="0" smtClean="0"/>
              <a:t>	Выполнять операции с файлами можно как непосредственно при помощи графического интерфейса операционной системы (контекстного меню), </a:t>
            </a:r>
            <a:br>
              <a:rPr lang="ru-RU" sz="2000" dirty="0" smtClean="0"/>
            </a:br>
            <a:r>
              <a:rPr lang="ru-RU" sz="2000" dirty="0" smtClean="0"/>
              <a:t>так и с помощью специализированных приложений – различных </a:t>
            </a:r>
            <a:r>
              <a:rPr lang="ru-RU" sz="2000" i="1" dirty="0" smtClean="0"/>
              <a:t>файловых менеджеров</a:t>
            </a:r>
            <a:r>
              <a:rPr lang="ru-RU" sz="2000" dirty="0" smtClean="0"/>
              <a:t>: приложения «Проводник», программ </a:t>
            </a:r>
            <a:r>
              <a:rPr lang="en-US" sz="2000" dirty="0" smtClean="0"/>
              <a:t>Total</a:t>
            </a:r>
            <a:r>
              <a:rPr lang="ru-RU" sz="2000" dirty="0" smtClean="0"/>
              <a:t> </a:t>
            </a:r>
            <a:r>
              <a:rPr lang="ru-RU" sz="2000" dirty="0" err="1" smtClean="0"/>
              <a:t>Commander</a:t>
            </a:r>
            <a:r>
              <a:rPr lang="ru-RU" sz="2000" dirty="0" smtClean="0"/>
              <a:t>, </a:t>
            </a:r>
            <a:r>
              <a:rPr lang="ru-RU" sz="2000" dirty="0" err="1" smtClean="0"/>
              <a:t>Far</a:t>
            </a:r>
            <a:r>
              <a:rPr lang="ru-RU" sz="2000" dirty="0" smtClean="0"/>
              <a:t>,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</a:t>
            </a:r>
            <a:r>
              <a:rPr lang="ru-RU" sz="2000" dirty="0" err="1" smtClean="0"/>
              <a:t>Commander</a:t>
            </a:r>
            <a:r>
              <a:rPr lang="ru-RU" sz="2000" dirty="0" smtClean="0"/>
              <a:t> и многих других. </a:t>
            </a:r>
            <a:endParaRPr lang="ru-RU" sz="20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Файл. Поиск-сортировка файлов. Маска.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07504" y="692696"/>
            <a:ext cx="8856984" cy="59766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	В процессе работы на компьютере часто необходимо найти (выделить) группу однотипных файлов (для копирования, перемещения, удаления, преобразования и .т.п.). При </a:t>
            </a:r>
            <a:r>
              <a:rPr lang="ru-RU" sz="2000" dirty="0"/>
              <a:t>поиске </a:t>
            </a:r>
            <a:r>
              <a:rPr lang="ru-RU" sz="2000" dirty="0" smtClean="0"/>
              <a:t>(выделении) файлов </a:t>
            </a:r>
            <a:r>
              <a:rPr lang="ru-RU" sz="2000" dirty="0"/>
              <a:t>можно </a:t>
            </a:r>
            <a:r>
              <a:rPr lang="ru-RU" sz="2000" dirty="0" smtClean="0"/>
              <a:t>воспользоваться </a:t>
            </a:r>
            <a:r>
              <a:rPr lang="ru-RU" sz="2000" b="1" dirty="0"/>
              <a:t>масками имен</a:t>
            </a:r>
            <a:r>
              <a:rPr lang="ru-RU" sz="2000" dirty="0"/>
              <a:t>, или </a:t>
            </a:r>
            <a:r>
              <a:rPr lang="ru-RU" sz="2000" b="1" dirty="0"/>
              <a:t>подстановочными символами</a:t>
            </a:r>
            <a:r>
              <a:rPr lang="ru-RU" sz="2000" dirty="0"/>
              <a:t>.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Поиск </a:t>
            </a:r>
            <a:r>
              <a:rPr lang="ru-RU" sz="2000" dirty="0"/>
              <a:t>с использованием маски удобен также в том случае, если вы не помните точно имя файла, который надо найти. </a:t>
            </a:r>
            <a:endParaRPr lang="ru-RU" sz="2000" dirty="0" smtClean="0"/>
          </a:p>
          <a:p>
            <a:pPr>
              <a:buNone/>
            </a:pPr>
            <a:r>
              <a:rPr lang="ru-RU" sz="2000" dirty="0"/>
              <a:t>	</a:t>
            </a:r>
            <a:r>
              <a:rPr lang="ru-RU" sz="2000" dirty="0" smtClean="0"/>
              <a:t>В масках, кроме «обычных» символов можно использовать символ </a:t>
            </a:r>
            <a:r>
              <a:rPr lang="ru-RU" sz="2000" dirty="0"/>
              <a:t>«</a:t>
            </a:r>
            <a:r>
              <a:rPr lang="ru-RU" sz="2000" b="1" dirty="0"/>
              <a:t>?</a:t>
            </a:r>
            <a:r>
              <a:rPr lang="ru-RU" sz="2000" dirty="0"/>
              <a:t>» </a:t>
            </a:r>
            <a:r>
              <a:rPr lang="ru-RU" sz="2000" dirty="0" smtClean="0"/>
              <a:t>(означает </a:t>
            </a:r>
            <a:r>
              <a:rPr lang="ru-RU" sz="2000" dirty="0"/>
              <a:t>один любой </a:t>
            </a:r>
            <a:r>
              <a:rPr lang="ru-RU" sz="2000" dirty="0" smtClean="0"/>
              <a:t>символ) и </a:t>
            </a:r>
            <a:r>
              <a:rPr lang="ru-RU" sz="2000" dirty="0"/>
              <a:t>символ «</a:t>
            </a:r>
            <a:r>
              <a:rPr lang="ru-RU" sz="2000" b="1" dirty="0"/>
              <a:t>*</a:t>
            </a:r>
            <a:r>
              <a:rPr lang="ru-RU" sz="2000" dirty="0"/>
              <a:t>» </a:t>
            </a:r>
            <a:r>
              <a:rPr lang="ru-RU" sz="2000" dirty="0" smtClean="0"/>
              <a:t>(означает любое </a:t>
            </a:r>
            <a:r>
              <a:rPr lang="ru-RU" sz="2000" dirty="0"/>
              <a:t>количество или отсутствие любых </a:t>
            </a:r>
            <a:r>
              <a:rPr lang="ru-RU" sz="2000" dirty="0" smtClean="0"/>
              <a:t>символов). </a:t>
            </a:r>
            <a:br>
              <a:rPr lang="ru-RU" sz="2000" dirty="0" smtClean="0"/>
            </a:br>
            <a:r>
              <a:rPr lang="ru-RU" sz="2000" dirty="0" smtClean="0"/>
              <a:t>Следовательно </a:t>
            </a:r>
            <a:r>
              <a:rPr lang="ru-RU" sz="2000" dirty="0"/>
              <a:t>для поиска всех документов с расширением </a:t>
            </a:r>
            <a:r>
              <a:rPr lang="ru-RU" sz="2000" b="1" dirty="0"/>
              <a:t>.</a:t>
            </a:r>
            <a:r>
              <a:rPr lang="ru-RU" sz="2000" b="1" dirty="0" err="1"/>
              <a:t>doc</a:t>
            </a:r>
            <a:r>
              <a:rPr lang="ru-RU" sz="2000" b="1" dirty="0"/>
              <a:t> </a:t>
            </a:r>
            <a:r>
              <a:rPr lang="ru-RU" sz="2000" dirty="0"/>
              <a:t>можно указать в строке для поиска следующую комбинацию: </a:t>
            </a:r>
            <a:r>
              <a:rPr lang="ru-RU" sz="2000" b="1" dirty="0"/>
              <a:t>*.</a:t>
            </a:r>
            <a:r>
              <a:rPr lang="ru-RU" sz="2000" b="1" dirty="0" err="1" smtClean="0"/>
              <a:t>doc</a:t>
            </a:r>
            <a:r>
              <a:rPr lang="ru-RU" sz="2000" dirty="0" smtClean="0"/>
              <a:t>.</a:t>
            </a:r>
          </a:p>
          <a:p>
            <a:pPr>
              <a:buNone/>
            </a:pPr>
            <a:r>
              <a:rPr lang="ru-RU" sz="2000" dirty="0"/>
              <a:t>	</a:t>
            </a:r>
            <a:r>
              <a:rPr lang="ru-RU" sz="2000" dirty="0" smtClean="0"/>
              <a:t>Маска </a:t>
            </a:r>
            <a:r>
              <a:rPr lang="ru-RU" sz="2000" b="1" dirty="0" smtClean="0"/>
              <a:t>???</a:t>
            </a:r>
            <a:r>
              <a:rPr lang="en-US" sz="2000" b="1" dirty="0" smtClean="0"/>
              <a:t>.jpg </a:t>
            </a:r>
            <a:r>
              <a:rPr lang="en-US" sz="2000" dirty="0" smtClean="0"/>
              <a:t>–</a:t>
            </a:r>
            <a:r>
              <a:rPr lang="ru-RU" sz="2000" dirty="0" smtClean="0"/>
              <a:t> означает, что в имени графического файла используется три любых символа. В результате поиска по такой маске будут выделены все графические файлы</a:t>
            </a:r>
            <a:r>
              <a:rPr lang="en-US" sz="2000" dirty="0" smtClean="0"/>
              <a:t> </a:t>
            </a:r>
            <a:r>
              <a:rPr lang="ru-RU" sz="2000" dirty="0" smtClean="0"/>
              <a:t>типа </a:t>
            </a:r>
            <a:r>
              <a:rPr lang="en-US" sz="2000" dirty="0" smtClean="0"/>
              <a:t>jpg</a:t>
            </a:r>
            <a:r>
              <a:rPr lang="ru-RU" sz="2000" dirty="0" smtClean="0"/>
              <a:t> с именем из трёх любых символов.</a:t>
            </a:r>
          </a:p>
          <a:p>
            <a:pPr>
              <a:buNone/>
            </a:pPr>
            <a:endParaRPr lang="ru-RU" sz="2000" dirty="0"/>
          </a:p>
          <a:p>
            <a:pPr>
              <a:buNone/>
            </a:pPr>
            <a:r>
              <a:rPr lang="ru-RU" sz="2000" dirty="0" smtClean="0"/>
              <a:t>	Для поиска </a:t>
            </a:r>
            <a:r>
              <a:rPr lang="ru-RU" sz="2000" dirty="0"/>
              <a:t>файлов по заданному параметру (имени, типу, размеру, дате создания файла и т.п</a:t>
            </a:r>
            <a:r>
              <a:rPr lang="ru-RU" sz="2000" dirty="0" smtClean="0"/>
              <a:t>.) можно также применить сортировку файлов (по возрастанию-убыванию) в любом файловом менеджере.</a:t>
            </a:r>
          </a:p>
          <a:p>
            <a:pPr>
              <a:buNone/>
            </a:pP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23528" y="5399505"/>
            <a:ext cx="8496944" cy="457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4647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Файл. Поиск-сортировка файлов. 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07504" y="692696"/>
            <a:ext cx="8856984" cy="59766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	Для поиска </a:t>
            </a:r>
            <a:r>
              <a:rPr lang="ru-RU" sz="2000" dirty="0"/>
              <a:t>файлов по заданному параметру (имени, типу, размеру, дате создания файла и т.п</a:t>
            </a:r>
            <a:r>
              <a:rPr lang="ru-RU" sz="2000" dirty="0" smtClean="0"/>
              <a:t>.) можно также применить сортировку файлов (по возрастанию-убыванию) в любом файловом менеджере в режиме Таблица.</a:t>
            </a:r>
          </a:p>
          <a:p>
            <a:pPr>
              <a:buNone/>
            </a:pPr>
            <a:endParaRPr lang="ru-RU" sz="2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1450" y="2636912"/>
            <a:ext cx="4315029" cy="36332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5471" y="2630397"/>
            <a:ext cx="4271327" cy="34003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sp>
        <p:nvSpPr>
          <p:cNvPr id="5" name="TextBox 4"/>
          <p:cNvSpPr txBox="1"/>
          <p:nvPr/>
        </p:nvSpPr>
        <p:spPr>
          <a:xfrm>
            <a:off x="231162" y="1988840"/>
            <a:ext cx="3889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Сортировка по дате (по возрастанию)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4836402" y="1971365"/>
            <a:ext cx="4015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Сортировка по размеру (по убыванию)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3090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784976" cy="58326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	</a:t>
            </a:r>
            <a:r>
              <a:rPr lang="ru-RU" sz="2000" i="1" dirty="0" smtClean="0"/>
              <a:t> </a:t>
            </a:r>
            <a:r>
              <a:rPr lang="ru-RU" sz="2000" b="1" dirty="0" smtClean="0"/>
              <a:t>Файловая система </a:t>
            </a:r>
            <a:r>
              <a:rPr lang="ru-RU" sz="2000" dirty="0" smtClean="0"/>
              <a:t>– функциональная часть ОС, организует работу с файлами, отвечает за хранение данных на внешних носителях и обмен данными между внешними носителями.</a:t>
            </a:r>
          </a:p>
          <a:p>
            <a:pPr>
              <a:buNone/>
            </a:pPr>
            <a:r>
              <a:rPr lang="ru-RU" sz="2000" dirty="0" smtClean="0"/>
              <a:t>	Устройство файловой системы зависит от операционной системы, установленной на компьютере. операционные системы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могут работать с файловыми системами </a:t>
            </a:r>
            <a:r>
              <a:rPr lang="ru-RU" sz="2000" b="1" dirty="0" smtClean="0"/>
              <a:t>FAT</a:t>
            </a:r>
            <a:r>
              <a:rPr lang="ru-RU" sz="2000" dirty="0" smtClean="0"/>
              <a:t> и </a:t>
            </a:r>
            <a:r>
              <a:rPr lang="ru-RU" sz="2000" b="1" dirty="0" smtClean="0"/>
              <a:t>NTFS</a:t>
            </a:r>
            <a:r>
              <a:rPr lang="ru-RU" sz="2000" dirty="0" smtClean="0"/>
              <a:t>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2852936"/>
            <a:ext cx="4991497" cy="377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система. Кластеры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784976" cy="58326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	Жесткий диск состоит из дорожек, каждая из которых делится на секторы.</a:t>
            </a:r>
          </a:p>
          <a:p>
            <a:pPr>
              <a:buNone/>
            </a:pPr>
            <a:r>
              <a:rPr lang="ru-RU" sz="2000" i="1" dirty="0" smtClean="0"/>
              <a:t>	</a:t>
            </a:r>
            <a:r>
              <a:rPr lang="ru-RU" sz="2000" b="1" dirty="0" smtClean="0"/>
              <a:t>Кластер</a:t>
            </a:r>
            <a:r>
              <a:rPr lang="ru-RU" sz="2000" dirty="0" smtClean="0"/>
              <a:t> – это минимальный адресуемый блок дисковой памяти для записи/чтения данных на дисковом накопителе (жёстком диске).</a:t>
            </a:r>
          </a:p>
          <a:p>
            <a:pPr>
              <a:buNone/>
            </a:pPr>
            <a:r>
              <a:rPr lang="ru-RU" sz="2000" dirty="0" smtClean="0"/>
              <a:t> 	Кластер может занимать один или несколько секторов. </a:t>
            </a:r>
            <a:br>
              <a:rPr lang="ru-RU" sz="2000" dirty="0" smtClean="0"/>
            </a:br>
            <a:r>
              <a:rPr lang="ru-RU" sz="2000" dirty="0" smtClean="0"/>
              <a:t>Номера занятых кластеров определяют «координаты» файла для ОС.</a:t>
            </a:r>
          </a:p>
          <a:p>
            <a:pPr>
              <a:buNone/>
            </a:pPr>
            <a:r>
              <a:rPr lang="ru-RU" sz="2000" dirty="0" smtClean="0"/>
              <a:t>	</a:t>
            </a:r>
            <a:r>
              <a:rPr lang="ru-RU" sz="2000" b="1" dirty="0" smtClean="0"/>
              <a:t>Все файлы </a:t>
            </a:r>
            <a:r>
              <a:rPr lang="ru-RU" sz="2000" dirty="0" smtClean="0"/>
              <a:t>на диске вне зависимости от своего объема </a:t>
            </a:r>
            <a:r>
              <a:rPr lang="ru-RU" sz="2000" b="1" dirty="0" smtClean="0"/>
              <a:t>имеют размер, кратный размеру кластера.</a:t>
            </a:r>
            <a:r>
              <a:rPr lang="ru-RU" sz="2000" dirty="0" smtClean="0"/>
              <a:t> Любой самый маленький файл не может занимать размер на диске меньше кластера. </a:t>
            </a:r>
          </a:p>
          <a:p>
            <a:pPr>
              <a:buNone/>
            </a:pPr>
            <a:r>
              <a:rPr lang="ru-RU" sz="2000" dirty="0" smtClean="0"/>
              <a:t>	</a:t>
            </a:r>
          </a:p>
          <a:p>
            <a:pPr>
              <a:buNone/>
            </a:pPr>
            <a:endParaRPr lang="ru-RU" sz="2000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501008"/>
            <a:ext cx="4173856" cy="31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16489" y="3501008"/>
            <a:ext cx="4203983" cy="31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система. Кластеры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784976" cy="583264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000" dirty="0" smtClean="0"/>
              <a:t>	Размер кластера зависит от типа используемой файловой системы – </a:t>
            </a:r>
            <a:br>
              <a:rPr lang="ru-RU" sz="2000" dirty="0" smtClean="0"/>
            </a:br>
            <a:r>
              <a:rPr lang="ru-RU" sz="2000" dirty="0" smtClean="0"/>
              <a:t>512 байт - 64 </a:t>
            </a:r>
            <a:r>
              <a:rPr lang="ru-RU" sz="2000" dirty="0" err="1" smtClean="0"/>
              <a:t>Кбайта</a:t>
            </a:r>
            <a:r>
              <a:rPr lang="ru-RU" sz="2000" dirty="0" smtClean="0"/>
              <a:t>.</a:t>
            </a:r>
          </a:p>
          <a:p>
            <a:pPr>
              <a:buNone/>
            </a:pPr>
            <a:r>
              <a:rPr lang="ru-RU" sz="2000" dirty="0" smtClean="0"/>
              <a:t>	Кластеры нумеруются  в линейной последовательности – от первого кластера нулевой дорожки до последнего кластера последней дорожки.	</a:t>
            </a:r>
          </a:p>
          <a:p>
            <a:pPr>
              <a:buNone/>
            </a:pPr>
            <a:r>
              <a:rPr lang="ru-RU" sz="2000" dirty="0" smtClean="0"/>
              <a:t>	Файловая система организует кластеры в файлы и каталоги (каталог – файл содержащий список файлов в данном каталоге). </a:t>
            </a:r>
          </a:p>
          <a:p>
            <a:pPr>
              <a:buNone/>
            </a:pPr>
            <a:r>
              <a:rPr lang="ru-RU" sz="2000" dirty="0" smtClean="0"/>
              <a:t>	Файловая система отслеживает состояние кластеров: </a:t>
            </a:r>
          </a:p>
          <a:p>
            <a:pPr lvl="1"/>
            <a:r>
              <a:rPr lang="ru-RU" sz="2000" dirty="0" smtClean="0"/>
              <a:t>кластер свободен; </a:t>
            </a:r>
          </a:p>
          <a:p>
            <a:pPr lvl="1"/>
            <a:r>
              <a:rPr lang="ru-RU" sz="2000" dirty="0" smtClean="0"/>
              <a:t>bad-кластер, который по каким-то причинам использовать уже нельзя;</a:t>
            </a:r>
          </a:p>
          <a:p>
            <a:pPr lvl="1"/>
            <a:r>
              <a:rPr lang="ru-RU" sz="2000" dirty="0" smtClean="0"/>
              <a:t>кластер занят каким-либо файлом; </a:t>
            </a:r>
          </a:p>
          <a:p>
            <a:pPr lvl="1"/>
            <a:r>
              <a:rPr lang="ru-RU" sz="2000" dirty="0" smtClean="0"/>
              <a:t>последний кластер файла; </a:t>
            </a:r>
          </a:p>
          <a:p>
            <a:pPr lvl="1"/>
            <a:r>
              <a:rPr lang="ru-RU" sz="2000" dirty="0" smtClean="0"/>
              <a:t>«зарезервированный» кластер.</a:t>
            </a:r>
          </a:p>
          <a:p>
            <a:pPr marL="354013" lvl="1">
              <a:buNone/>
            </a:pPr>
            <a:r>
              <a:rPr lang="ru-RU" sz="2000" dirty="0" smtClean="0"/>
              <a:t>	На </a:t>
            </a:r>
            <a:r>
              <a:rPr lang="ru-RU" sz="2000" dirty="0" err="1" smtClean="0"/>
              <a:t>незаполненом</a:t>
            </a:r>
            <a:r>
              <a:rPr lang="ru-RU" sz="2000" dirty="0" smtClean="0"/>
              <a:t> диске файлы записываются последовательно в свободные кластеры. После удаления файлов кластеры освобождаются. </a:t>
            </a:r>
            <a:br>
              <a:rPr lang="ru-RU" sz="2000" dirty="0" smtClean="0"/>
            </a:br>
            <a:r>
              <a:rPr lang="ru-RU" sz="2000" dirty="0" smtClean="0"/>
              <a:t>В дальнейшем файлы записываются в произвольные свободные кластеры, что часто приводит к фрагментации файлов и замедлению их чтения (части файла хранятся в удалённых друг от друга кластерах).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система. Кластеры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784976" cy="597666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000" dirty="0" smtClean="0"/>
              <a:t>	Пример фрагментации файлов.</a:t>
            </a:r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	</a:t>
            </a:r>
          </a:p>
          <a:p>
            <a:pPr>
              <a:buNone/>
            </a:pPr>
            <a:r>
              <a:rPr lang="ru-RU" sz="2000" dirty="0" smtClean="0"/>
              <a:t>	Так как на диске могут хранится сотни тысяч файлов в миллионах кластеров, то </a:t>
            </a:r>
            <a:r>
              <a:rPr lang="ru-RU" sz="2000" dirty="0" err="1" smtClean="0"/>
              <a:t>фрагментированность</a:t>
            </a:r>
            <a:r>
              <a:rPr lang="ru-RU" sz="2000" dirty="0" smtClean="0"/>
              <a:t> файлов, возникающая при активной работе (запись-удаление файлов), будет существенно замедлять доступ к файлам и приводить к износу жёсткого диска – магнитным головкам придётся постоянно перемещаться с дорожки на дорожку.</a:t>
            </a:r>
          </a:p>
          <a:p>
            <a:pPr>
              <a:buNone/>
            </a:pPr>
            <a:r>
              <a:rPr lang="ru-RU" sz="2000" dirty="0" smtClean="0"/>
              <a:t>	Для устранения данной проблемы рекомендуется </a:t>
            </a:r>
            <a:br>
              <a:rPr lang="ru-RU" sz="2000" dirty="0" smtClean="0"/>
            </a:br>
            <a:r>
              <a:rPr lang="ru-RU" sz="2000" dirty="0" smtClean="0"/>
              <a:t>периодически производить </a:t>
            </a:r>
            <a:r>
              <a:rPr lang="ru-RU" sz="2000" b="1" dirty="0" smtClean="0"/>
              <a:t>дефрагментацию диска</a:t>
            </a:r>
            <a:r>
              <a:rPr lang="ru-RU" sz="2000" dirty="0" smtClean="0"/>
              <a:t>.   </a:t>
            </a:r>
          </a:p>
          <a:p>
            <a:pPr>
              <a:buNone/>
            </a:pPr>
            <a:endParaRPr lang="ru-RU" sz="2000" dirty="0" smtClean="0"/>
          </a:p>
        </p:txBody>
      </p:sp>
      <p:pic>
        <p:nvPicPr>
          <p:cNvPr id="4098" name="Picture 2" descr="http://fictionbook.ru/static/bookimages/00/84/42/00844282.bin.dir/h/i_00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24744"/>
            <a:ext cx="5140299" cy="2952328"/>
          </a:xfrm>
          <a:prstGeom prst="rect">
            <a:avLst/>
          </a:prstGeom>
          <a:noFill/>
        </p:spPr>
      </p:pic>
      <p:pic>
        <p:nvPicPr>
          <p:cNvPr id="4104" name="Picture 8" descr="http://www.b-optimizer.com/rus/images/defrag-bi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24328" y="5589240"/>
            <a:ext cx="1080120" cy="1080120"/>
          </a:xfrm>
          <a:prstGeom prst="rect">
            <a:avLst/>
          </a:prstGeom>
          <a:noFill/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4" cstate="print">
            <a:lum bright="10000" contrast="20000"/>
          </a:blip>
          <a:srcRect/>
          <a:stretch>
            <a:fillRect/>
          </a:stretch>
        </p:blipFill>
        <p:spPr bwMode="auto">
          <a:xfrm>
            <a:off x="6372199" y="2852936"/>
            <a:ext cx="2139621" cy="1532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72200" y="764704"/>
            <a:ext cx="216217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система. </a:t>
            </a:r>
            <a:r>
              <a:rPr lang="en-US" sz="3200" dirty="0" smtClean="0"/>
              <a:t>FAT-16, FAT-32.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784976" cy="59766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	Файловая система </a:t>
            </a:r>
            <a:r>
              <a:rPr lang="en-US" sz="2000" b="1" dirty="0" smtClean="0"/>
              <a:t>FAT</a:t>
            </a:r>
            <a:r>
              <a:rPr lang="en-US" sz="2000" dirty="0" smtClean="0"/>
              <a:t> </a:t>
            </a:r>
            <a:br>
              <a:rPr lang="en-US" sz="2000" dirty="0" smtClean="0"/>
            </a:br>
            <a:r>
              <a:rPr lang="en-US" sz="2000" dirty="0" smtClean="0"/>
              <a:t>(</a:t>
            </a:r>
            <a:r>
              <a:rPr lang="en-US" sz="2000" b="1" dirty="0" smtClean="0"/>
              <a:t>File Allocation Table</a:t>
            </a:r>
            <a:r>
              <a:rPr lang="en-US" sz="2000" dirty="0" smtClean="0"/>
              <a:t> – «</a:t>
            </a:r>
            <a:r>
              <a:rPr lang="ru-RU" sz="2000" dirty="0" smtClean="0"/>
              <a:t>таблица размещения файлов»).</a:t>
            </a:r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500" dirty="0" smtClean="0"/>
              <a:t>   </a:t>
            </a:r>
            <a:endParaRPr lang="ru-RU" sz="100" dirty="0" smtClean="0"/>
          </a:p>
          <a:p>
            <a:pPr>
              <a:buNone/>
            </a:pPr>
            <a:r>
              <a:rPr lang="ru-RU" sz="2000" dirty="0" smtClean="0"/>
              <a:t>	Упрощенно структуру БД «Корневой каталог» можно представить в виде таблицы: </a:t>
            </a:r>
          </a:p>
          <a:p>
            <a:pPr>
              <a:buNone/>
            </a:pPr>
            <a:endParaRPr lang="ru-RU" sz="2000" dirty="0" smtClean="0"/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40768"/>
            <a:ext cx="4116648" cy="310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932040" y="2420888"/>
            <a:ext cx="3888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БД «Корневой каталог» – это </a:t>
            </a:r>
            <a:br>
              <a:rPr lang="ru-RU" dirty="0" smtClean="0"/>
            </a:br>
            <a:r>
              <a:rPr lang="ru-RU" dirty="0" smtClean="0"/>
              <a:t>база данных, в которой хранится информация о файлах и папках, находящихся на диске. </a:t>
            </a:r>
            <a:endParaRPr lang="ru-RU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5229200"/>
            <a:ext cx="757237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Стрелка влево 7"/>
          <p:cNvSpPr/>
          <p:nvPr/>
        </p:nvSpPr>
        <p:spPr>
          <a:xfrm>
            <a:off x="4283968" y="2852936"/>
            <a:ext cx="576064" cy="180000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система. </a:t>
            </a:r>
            <a:r>
              <a:rPr lang="en-US" sz="3200" dirty="0" smtClean="0"/>
              <a:t>FAT-16, FAT-32.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784976" cy="59766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	Файловая система </a:t>
            </a:r>
            <a:r>
              <a:rPr lang="en-US" sz="2000" b="1" dirty="0" smtClean="0"/>
              <a:t>FAT</a:t>
            </a:r>
            <a:r>
              <a:rPr lang="en-US" sz="2000" dirty="0" smtClean="0"/>
              <a:t> </a:t>
            </a:r>
            <a:br>
              <a:rPr lang="en-US" sz="2000" dirty="0" smtClean="0"/>
            </a:br>
            <a:r>
              <a:rPr lang="en-US" sz="2000" dirty="0" smtClean="0"/>
              <a:t>(</a:t>
            </a:r>
            <a:r>
              <a:rPr lang="en-US" sz="2000" b="1" dirty="0" smtClean="0"/>
              <a:t>File Allocation Table</a:t>
            </a:r>
            <a:r>
              <a:rPr lang="en-US" sz="2000" dirty="0" smtClean="0"/>
              <a:t> – «</a:t>
            </a:r>
            <a:r>
              <a:rPr lang="ru-RU" sz="2000" dirty="0" smtClean="0"/>
              <a:t>таблица размещения файлов»).</a:t>
            </a:r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500" dirty="0" smtClean="0"/>
              <a:t>   </a:t>
            </a:r>
            <a:endParaRPr lang="ru-RU" sz="100" dirty="0" smtClean="0"/>
          </a:p>
          <a:p>
            <a:pPr>
              <a:buNone/>
            </a:pPr>
            <a:r>
              <a:rPr lang="ru-RU" sz="2000" dirty="0" smtClean="0"/>
              <a:t>	</a:t>
            </a:r>
          </a:p>
          <a:p>
            <a:pPr>
              <a:buNone/>
            </a:pPr>
            <a:endParaRPr lang="ru-RU" sz="2000" dirty="0" smtClean="0"/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4116648" cy="310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932040" y="3574757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БД «Элементы FAT» содержит информацию о кластерах диска.</a:t>
            </a:r>
            <a:endParaRPr lang="ru-RU" dirty="0"/>
          </a:p>
        </p:txBody>
      </p:sp>
      <p:sp>
        <p:nvSpPr>
          <p:cNvPr id="8" name="Стрелка влево 7"/>
          <p:cNvSpPr/>
          <p:nvPr/>
        </p:nvSpPr>
        <p:spPr>
          <a:xfrm>
            <a:off x="4283968" y="3789040"/>
            <a:ext cx="576064" cy="180000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323528" y="5085184"/>
            <a:ext cx="2952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Упрощенно структуру этой базы данных можно представить следующим образом: </a:t>
            </a:r>
            <a:endParaRPr lang="ru-RU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4869160"/>
            <a:ext cx="5934075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система. </a:t>
            </a:r>
            <a:r>
              <a:rPr lang="en-US" sz="3200" dirty="0" smtClean="0"/>
              <a:t>FAT-16.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964488" cy="59766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	В файловой системе </a:t>
            </a:r>
            <a:r>
              <a:rPr lang="en-US" sz="2000" b="1" dirty="0" smtClean="0"/>
              <a:t>FAT</a:t>
            </a:r>
            <a:r>
              <a:rPr lang="ru-RU" sz="2000" b="1" dirty="0" smtClean="0"/>
              <a:t>-16 </a:t>
            </a:r>
            <a:r>
              <a:rPr lang="ru-RU" sz="2000" dirty="0" smtClean="0"/>
              <a:t>выделяется 16 бит для хранения адреса кластера.</a:t>
            </a:r>
          </a:p>
          <a:p>
            <a:pPr>
              <a:buNone/>
            </a:pPr>
            <a:r>
              <a:rPr lang="ru-RU" sz="2000" dirty="0" smtClean="0"/>
              <a:t>	2</a:t>
            </a:r>
            <a:r>
              <a:rPr lang="ru-RU" sz="2000" baseline="30000" dirty="0" smtClean="0"/>
              <a:t>16</a:t>
            </a:r>
            <a:r>
              <a:rPr lang="ru-RU" sz="2000" dirty="0" smtClean="0"/>
              <a:t> = 65 536 кластеров. </a:t>
            </a:r>
            <a:br>
              <a:rPr lang="ru-RU" sz="2000" dirty="0" smtClean="0"/>
            </a:br>
            <a:r>
              <a:rPr lang="ru-RU" sz="2000" dirty="0" smtClean="0"/>
              <a:t>Макс. объём кластера 64 </a:t>
            </a:r>
            <a:r>
              <a:rPr lang="ru-RU" sz="2000" dirty="0" err="1" smtClean="0"/>
              <a:t>Кбайта</a:t>
            </a:r>
            <a:r>
              <a:rPr lang="ru-RU" sz="2000" dirty="0" smtClean="0"/>
              <a:t>, объём сектора 512 байт, следовательно объём кластера не может превышать 128 секторов (65 536 : 512 =</a:t>
            </a:r>
            <a:r>
              <a:rPr lang="en-US" sz="2000" dirty="0" smtClean="0"/>
              <a:t> </a:t>
            </a:r>
            <a:r>
              <a:rPr lang="ru-RU" sz="2000" dirty="0" smtClean="0"/>
              <a:t>128).</a:t>
            </a:r>
          </a:p>
          <a:p>
            <a:pPr>
              <a:buNone/>
            </a:pPr>
            <a:r>
              <a:rPr lang="ru-RU" sz="2000" dirty="0" smtClean="0"/>
              <a:t>	64 </a:t>
            </a:r>
            <a:r>
              <a:rPr lang="ru-RU" sz="2000" dirty="0" err="1" smtClean="0"/>
              <a:t>Кбайта</a:t>
            </a:r>
            <a:r>
              <a:rPr lang="ru-RU" sz="2000" dirty="0" smtClean="0"/>
              <a:t> × 65 536 кластеров = 4 194 304 </a:t>
            </a:r>
            <a:r>
              <a:rPr lang="ru-RU" sz="2000" dirty="0" err="1" smtClean="0"/>
              <a:t>Кбайта</a:t>
            </a:r>
            <a:r>
              <a:rPr lang="ru-RU" sz="2000" dirty="0" smtClean="0"/>
              <a:t> = 4 </a:t>
            </a:r>
            <a:r>
              <a:rPr lang="ru-RU" sz="2000" dirty="0" err="1" smtClean="0"/>
              <a:t>Гбайта</a:t>
            </a:r>
            <a:r>
              <a:rPr lang="ru-RU" sz="2000" dirty="0" smtClean="0"/>
              <a:t>, </a:t>
            </a:r>
            <a:br>
              <a:rPr lang="ru-RU" sz="2000" dirty="0" smtClean="0"/>
            </a:br>
            <a:r>
              <a:rPr lang="ru-RU" sz="2000" dirty="0" smtClean="0"/>
              <a:t>поэтому </a:t>
            </a:r>
            <a:r>
              <a:rPr lang="en-US" sz="2000" dirty="0" smtClean="0"/>
              <a:t>FAT</a:t>
            </a:r>
            <a:r>
              <a:rPr lang="ru-RU" sz="2000" dirty="0" smtClean="0"/>
              <a:t>-</a:t>
            </a:r>
            <a:r>
              <a:rPr lang="en-US" sz="2000" dirty="0" smtClean="0"/>
              <a:t>16</a:t>
            </a:r>
            <a:r>
              <a:rPr lang="ru-RU" sz="2000" dirty="0" smtClean="0"/>
              <a:t> нельзя использовать для носителей информации более 4 Гб!</a:t>
            </a:r>
          </a:p>
          <a:p>
            <a:pPr>
              <a:buNone/>
            </a:pPr>
            <a:endParaRPr lang="ru-RU" sz="1050" dirty="0" smtClean="0"/>
          </a:p>
          <a:p>
            <a:pPr>
              <a:buNone/>
            </a:pPr>
            <a:r>
              <a:rPr lang="ru-RU" sz="2000" dirty="0" smtClean="0"/>
              <a:t>	</a:t>
            </a:r>
            <a:r>
              <a:rPr lang="ru-RU" sz="2000" b="1" dirty="0" smtClean="0"/>
              <a:t>Недостатки файловой системы FAT16:</a:t>
            </a:r>
            <a:r>
              <a:rPr lang="en-US" sz="2000" dirty="0" smtClean="0"/>
              <a:t> </a:t>
            </a:r>
          </a:p>
          <a:p>
            <a:pPr marL="542925" indent="-273050"/>
            <a:r>
              <a:rPr lang="ru-RU" sz="2000" dirty="0" smtClean="0"/>
              <a:t>ограничения на объем диска и размер файла;</a:t>
            </a:r>
            <a:r>
              <a:rPr lang="en-US" sz="2000" dirty="0" smtClean="0"/>
              <a:t> </a:t>
            </a:r>
          </a:p>
          <a:p>
            <a:pPr marL="542925" indent="-273050"/>
            <a:r>
              <a:rPr lang="ru-RU" sz="2000" dirty="0" smtClean="0"/>
              <a:t>ограничения длины имени файла;</a:t>
            </a:r>
            <a:r>
              <a:rPr lang="en-US" sz="2000" dirty="0" smtClean="0"/>
              <a:t> </a:t>
            </a:r>
          </a:p>
          <a:p>
            <a:pPr marL="542925" indent="-273050"/>
            <a:r>
              <a:rPr lang="ru-RU" sz="2000" dirty="0" smtClean="0"/>
              <a:t>фрагментация файлов, приводящая к снижению быстродействия и износу оборудования;</a:t>
            </a:r>
            <a:endParaRPr lang="en-US" sz="2000" dirty="0" smtClean="0"/>
          </a:p>
          <a:p>
            <a:pPr marL="542925" indent="-273050"/>
            <a:r>
              <a:rPr lang="ru-RU" sz="2000" dirty="0" smtClean="0"/>
              <a:t>потери памяти диска, вызванные большими размерами кластера.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система. </a:t>
            </a:r>
            <a:r>
              <a:rPr lang="en-US" sz="3200" dirty="0" smtClean="0"/>
              <a:t>FAT-32.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784976" cy="59766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	В файловой системе </a:t>
            </a:r>
            <a:r>
              <a:rPr lang="en-US" sz="2000" b="1" dirty="0" smtClean="0"/>
              <a:t>FAT</a:t>
            </a:r>
            <a:r>
              <a:rPr lang="ru-RU" sz="2000" b="1" dirty="0" smtClean="0"/>
              <a:t>-32 </a:t>
            </a:r>
            <a:r>
              <a:rPr lang="ru-RU" sz="2000" dirty="0" smtClean="0"/>
              <a:t>выделяется 32 бита для хранения адреса кластера.</a:t>
            </a:r>
          </a:p>
          <a:p>
            <a:pPr>
              <a:buNone/>
            </a:pPr>
            <a:r>
              <a:rPr lang="ru-RU" sz="2000" dirty="0" smtClean="0"/>
              <a:t>	2</a:t>
            </a:r>
            <a:r>
              <a:rPr lang="ru-RU" sz="2000" baseline="30000" dirty="0" smtClean="0"/>
              <a:t>32</a:t>
            </a:r>
            <a:r>
              <a:rPr lang="ru-RU" sz="2000" dirty="0" smtClean="0"/>
              <a:t> = 4 294 967 296 кластеров.</a:t>
            </a:r>
          </a:p>
          <a:p>
            <a:pPr>
              <a:buNone/>
            </a:pPr>
            <a:r>
              <a:rPr lang="ru-RU" sz="2000" dirty="0" smtClean="0"/>
              <a:t>	Объём кластера по умолчанию – 4 </a:t>
            </a:r>
            <a:r>
              <a:rPr lang="ru-RU" sz="2000" dirty="0" err="1" smtClean="0"/>
              <a:t>Кбайта</a:t>
            </a:r>
            <a:r>
              <a:rPr lang="ru-RU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ru-RU" sz="2000" dirty="0" smtClean="0"/>
              <a:t>4 </a:t>
            </a:r>
            <a:r>
              <a:rPr lang="ru-RU" sz="2000" dirty="0" err="1" smtClean="0"/>
              <a:t>Кбайта</a:t>
            </a:r>
            <a:r>
              <a:rPr lang="ru-RU" sz="2000" dirty="0" smtClean="0"/>
              <a:t> × 4 294 967 296 кластеров = 16 384 </a:t>
            </a:r>
            <a:r>
              <a:rPr lang="ru-RU" sz="2000" dirty="0" err="1" smtClean="0"/>
              <a:t>Гбайта</a:t>
            </a:r>
            <a:r>
              <a:rPr lang="ru-RU" sz="2000" dirty="0" smtClean="0"/>
              <a:t> = 16 Тбайт, </a:t>
            </a:r>
            <a:br>
              <a:rPr lang="ru-RU" sz="2000" dirty="0" smtClean="0"/>
            </a:br>
            <a:r>
              <a:rPr lang="ru-RU" sz="2000" dirty="0" smtClean="0"/>
              <a:t>поэтому </a:t>
            </a:r>
            <a:r>
              <a:rPr lang="en-US" sz="2000" dirty="0" smtClean="0"/>
              <a:t>FAT</a:t>
            </a:r>
            <a:r>
              <a:rPr lang="ru-RU" sz="2000" dirty="0" smtClean="0"/>
              <a:t>-32 можно использоваться для носителей информации до 16 Тб!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ru-RU" sz="1050" dirty="0" smtClean="0"/>
          </a:p>
          <a:p>
            <a:pPr>
              <a:buNone/>
            </a:pPr>
            <a:r>
              <a:rPr lang="ru-RU" sz="2000" dirty="0" smtClean="0"/>
              <a:t>	</a:t>
            </a:r>
            <a:r>
              <a:rPr lang="ru-RU" sz="2000" b="1" dirty="0" smtClean="0"/>
              <a:t>Недостатки файловой системы FAT</a:t>
            </a:r>
            <a:r>
              <a:rPr lang="en-US" sz="2000" b="1" dirty="0" smtClean="0"/>
              <a:t>32</a:t>
            </a:r>
            <a:r>
              <a:rPr lang="ru-RU" sz="2000" b="1" dirty="0" smtClean="0"/>
              <a:t>:</a:t>
            </a:r>
            <a:r>
              <a:rPr lang="en-US" sz="2000" dirty="0" smtClean="0"/>
              <a:t> 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ru-RU" sz="2000" dirty="0" smtClean="0"/>
              <a:t>В файловой системе FAT32 были сняты ограничения на длину имени и размер корневого каталога, но остальные ограничения, присущие FAT, остаются в силе</a:t>
            </a:r>
            <a:endParaRPr lang="en-US" sz="2000" dirty="0" smtClean="0"/>
          </a:p>
          <a:p>
            <a:pPr marL="542925" indent="-273050"/>
            <a:r>
              <a:rPr lang="ru-RU" sz="2000" dirty="0" smtClean="0"/>
              <a:t>ограничения на</a:t>
            </a:r>
            <a:r>
              <a:rPr lang="en-US" sz="2000" dirty="0" smtClean="0"/>
              <a:t> </a:t>
            </a:r>
            <a:r>
              <a:rPr lang="ru-RU" sz="2000" dirty="0" smtClean="0"/>
              <a:t>размер файла;</a:t>
            </a:r>
            <a:endParaRPr lang="en-US" sz="2000" dirty="0" smtClean="0"/>
          </a:p>
          <a:p>
            <a:pPr marL="542925" indent="-273050"/>
            <a:r>
              <a:rPr lang="ru-RU" sz="2000" dirty="0" smtClean="0"/>
              <a:t>фрагментация файлов, приводящая к снижению быстродействия и износу оборудования;</a:t>
            </a:r>
            <a:endParaRPr lang="en-US" sz="2000" dirty="0" smtClean="0"/>
          </a:p>
          <a:p>
            <a:pPr marL="542925" indent="-273050"/>
            <a:r>
              <a:rPr lang="ru-RU" sz="2000" dirty="0" smtClean="0"/>
              <a:t>потери памяти диска, вызванные большими размерами кластера.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система. </a:t>
            </a:r>
            <a:r>
              <a:rPr lang="en-US" sz="3200" dirty="0" smtClean="0"/>
              <a:t>NTFS.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784976" cy="5976664"/>
          </a:xfrm>
        </p:spPr>
        <p:txBody>
          <a:bodyPr>
            <a:normAutofit/>
          </a:bodyPr>
          <a:lstStyle/>
          <a:p>
            <a:pPr marL="185738" indent="-185738">
              <a:buNone/>
            </a:pPr>
            <a:r>
              <a:rPr lang="ru-RU" sz="2000" dirty="0" smtClean="0"/>
              <a:t>	Файловая система </a:t>
            </a:r>
            <a:r>
              <a:rPr lang="ru-RU" sz="2000" b="1" dirty="0" smtClean="0"/>
              <a:t>NTFS</a:t>
            </a:r>
            <a:r>
              <a:rPr lang="ru-RU" sz="2000" dirty="0" smtClean="0"/>
              <a:t> (</a:t>
            </a:r>
            <a:r>
              <a:rPr lang="ru-RU" sz="2000" dirty="0" err="1" smtClean="0"/>
              <a:t>New</a:t>
            </a:r>
            <a:r>
              <a:rPr lang="ru-RU" sz="2000" dirty="0" smtClean="0"/>
              <a:t> </a:t>
            </a:r>
            <a:r>
              <a:rPr lang="ru-RU" sz="2000" dirty="0" err="1" smtClean="0"/>
              <a:t>Technology</a:t>
            </a:r>
            <a:r>
              <a:rPr lang="ru-RU" sz="2000" dirty="0" smtClean="0"/>
              <a:t> </a:t>
            </a:r>
            <a:r>
              <a:rPr lang="ru-RU" sz="2000" dirty="0" err="1" smtClean="0"/>
              <a:t>File</a:t>
            </a:r>
            <a:r>
              <a:rPr lang="ru-RU" sz="2000" dirty="0" smtClean="0"/>
              <a:t> </a:t>
            </a:r>
            <a:r>
              <a:rPr lang="ru-RU" sz="2000" dirty="0" err="1" smtClean="0"/>
              <a:t>System</a:t>
            </a:r>
            <a:r>
              <a:rPr lang="ru-RU" sz="2000" dirty="0" smtClean="0"/>
              <a:t> – «файловая система по новой технологии») поддерживает любые размеры кластеров от 512 байт до 64 Кбайт, но по умолчанию используется кластер размером 4 </a:t>
            </a:r>
            <a:r>
              <a:rPr lang="ru-RU" sz="2000" dirty="0" err="1" smtClean="0"/>
              <a:t>Кбайта</a:t>
            </a:r>
            <a:r>
              <a:rPr lang="ru-RU" sz="2000" dirty="0" smtClean="0"/>
              <a:t>. В файловой системе NTFS выделяется 64 бита для хранения адреса кластера. 2</a:t>
            </a:r>
            <a:r>
              <a:rPr lang="ru-RU" sz="2000" baseline="30000" dirty="0" smtClean="0"/>
              <a:t>64</a:t>
            </a:r>
            <a:r>
              <a:rPr lang="ru-RU" sz="2000" dirty="0" smtClean="0"/>
              <a:t> = 18 446 744 073 709 551 616 кластеров (16 </a:t>
            </a:r>
            <a:r>
              <a:rPr lang="ru-RU" sz="2000" dirty="0" err="1" smtClean="0"/>
              <a:t>эксабайт</a:t>
            </a:r>
            <a:r>
              <a:rPr lang="ru-RU" sz="2000" dirty="0" smtClean="0"/>
              <a:t>).</a:t>
            </a:r>
          </a:p>
          <a:p>
            <a:pPr marL="185738" indent="-185738">
              <a:buNone/>
            </a:pPr>
            <a:r>
              <a:rPr lang="ru-RU" sz="2000" dirty="0" smtClean="0"/>
              <a:t>	По сравнению с </a:t>
            </a:r>
            <a:r>
              <a:rPr lang="en-US" sz="2000" dirty="0" smtClean="0"/>
              <a:t>FAT-32</a:t>
            </a:r>
            <a:r>
              <a:rPr lang="ru-RU" sz="2000" dirty="0" smtClean="0"/>
              <a:t> файловая система </a:t>
            </a:r>
            <a:r>
              <a:rPr lang="en-US" sz="2000" dirty="0" smtClean="0"/>
              <a:t>NTFS </a:t>
            </a:r>
            <a:r>
              <a:rPr lang="ru-RU" sz="2000" dirty="0" smtClean="0"/>
              <a:t>увеличивает надёжность и эффективность использования дискового пространства.</a:t>
            </a:r>
          </a:p>
          <a:p>
            <a:pPr marL="185738" indent="-185738">
              <a:buNone/>
            </a:pPr>
            <a:r>
              <a:rPr lang="ru-RU" sz="2000" dirty="0" smtClean="0"/>
              <a:t>	В </a:t>
            </a:r>
            <a:r>
              <a:rPr lang="en-US" sz="2000" dirty="0" smtClean="0"/>
              <a:t>NTFS</a:t>
            </a:r>
            <a:r>
              <a:rPr lang="ru-RU" sz="2000" dirty="0" smtClean="0"/>
              <a:t> для повышения надёжности используется система </a:t>
            </a:r>
            <a:r>
              <a:rPr lang="ru-RU" sz="2000" dirty="0" err="1" smtClean="0"/>
              <a:t>журналирования</a:t>
            </a:r>
            <a:r>
              <a:rPr lang="ru-RU" sz="2000" dirty="0" smtClean="0"/>
              <a:t> – перед фактическими изменениями в файловой системе сохраняется список этих изменений в специальной части файловой системы, называемой «журналом» или «логом». Система восстановления позволяет восстановить работу ОС после критических ошибок.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4841865"/>
            <a:ext cx="323915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В файловой системе NTFS </a:t>
            </a:r>
          </a:p>
          <a:p>
            <a:r>
              <a:rPr lang="ru-RU" sz="2000" dirty="0" smtClean="0"/>
              <a:t>все файлы подразделяются </a:t>
            </a:r>
          </a:p>
          <a:p>
            <a:r>
              <a:rPr lang="ru-RU" sz="2000" dirty="0" smtClean="0"/>
              <a:t>по размеру на следующие </a:t>
            </a:r>
          </a:p>
          <a:p>
            <a:r>
              <a:rPr lang="ru-RU" sz="2000" dirty="0" smtClean="0"/>
              <a:t>категории: </a:t>
            </a:r>
            <a:endParaRPr lang="ru-RU" sz="2000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4725144"/>
            <a:ext cx="2376264" cy="1775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560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33  E" pathEditMode="relative" ptsTypes="">
                                      <p:cBhvr>
                                        <p:cTn id="8" dur="20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система. Иерархическая</a:t>
            </a:r>
            <a:r>
              <a:rPr lang="en-US" sz="3200" dirty="0" smtClean="0"/>
              <a:t>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692696"/>
            <a:ext cx="8784976" cy="5976664"/>
          </a:xfrm>
        </p:spPr>
        <p:txBody>
          <a:bodyPr>
            <a:normAutofit/>
          </a:bodyPr>
          <a:lstStyle/>
          <a:p>
            <a:pPr marL="185738" indent="-185738">
              <a:buNone/>
            </a:pPr>
            <a:r>
              <a:rPr lang="ru-RU" sz="2000" dirty="0" smtClean="0"/>
              <a:t>	В иерархической файловой системе в процессе форматирования создаётся </a:t>
            </a:r>
            <a:r>
              <a:rPr lang="ru-RU" sz="2000" b="1" dirty="0" smtClean="0"/>
              <a:t>корневой каталог</a:t>
            </a:r>
            <a:r>
              <a:rPr lang="ru-RU" sz="2000" dirty="0" smtClean="0"/>
              <a:t>. В нем могут храниться не только файлы, но и другие каталоги более низкого уровня, называемые подкаталогами, или поддиректориями. </a:t>
            </a:r>
            <a:br>
              <a:rPr lang="ru-RU" sz="2000" dirty="0" smtClean="0"/>
            </a:br>
            <a:r>
              <a:rPr lang="ru-RU" sz="2000" dirty="0" smtClean="0"/>
              <a:t>В операционной системе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подкаталоги принято называть </a:t>
            </a:r>
            <a:r>
              <a:rPr lang="ru-RU" sz="2000" b="1" dirty="0" smtClean="0"/>
              <a:t>папками.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56927" y="2348880"/>
            <a:ext cx="5685255" cy="4268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419872" y="3140968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Диск С: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95535" y="2564904"/>
            <a:ext cx="27613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Каталоги, организованные в многоуровневую иерархическую структуру, называют также </a:t>
            </a:r>
            <a:r>
              <a:rPr lang="ru-RU" b="1" dirty="0" smtClean="0"/>
              <a:t>«деревом каталогов»</a:t>
            </a:r>
            <a:r>
              <a:rPr lang="ru-RU" dirty="0" smtClean="0"/>
              <a:t>. </a:t>
            </a:r>
          </a:p>
          <a:p>
            <a:endParaRPr lang="ru-RU" dirty="0" smtClean="0"/>
          </a:p>
          <a:p>
            <a:r>
              <a:rPr lang="ru-RU" dirty="0" smtClean="0"/>
              <a:t>Каждый каталог, кроме корневого имеет один единственный «родительский» каталог, внутри которого он находится.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система. Иерархическая</a:t>
            </a:r>
            <a:r>
              <a:rPr lang="en-US" sz="3200" dirty="0" smtClean="0"/>
              <a:t>.</a:t>
            </a:r>
            <a:endParaRPr lang="ru-RU" sz="3200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764704"/>
            <a:ext cx="5140521" cy="387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51520" y="836712"/>
            <a:ext cx="345638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Чтобы найти нужный файл </a:t>
            </a:r>
          </a:p>
          <a:p>
            <a:r>
              <a:rPr lang="ru-RU" sz="2000" dirty="0" smtClean="0"/>
              <a:t>в указанной иерархической структуре, необходимо указать </a:t>
            </a:r>
            <a:r>
              <a:rPr lang="ru-RU" sz="2000" i="1" dirty="0" smtClean="0"/>
              <a:t>путь к этому файлу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Для этого нужно указать логическое имя диска, на котором хранится файл, а потом через знак «\» указать последовательно все подкаталоги, вложенные друг в друга, где последним будет тот подкаталог, в котором расположен файл. 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5273913"/>
            <a:ext cx="87129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000" dirty="0" smtClean="0"/>
              <a:t>Например, в показанной выше иерархии путь к файлу 1.txt записывается как </a:t>
            </a:r>
            <a:r>
              <a:rPr lang="ru-RU" sz="2000" b="1" dirty="0" smtClean="0"/>
              <a:t>D:\Doc\, </a:t>
            </a:r>
            <a:r>
              <a:rPr lang="ru-RU" sz="2000" dirty="0" smtClean="0"/>
              <a:t>а путь к файлу tetris.exe – как </a:t>
            </a:r>
            <a:r>
              <a:rPr lang="ru-RU" sz="2000" b="1" dirty="0" smtClean="0"/>
              <a:t>D:\Games\Tetris\.</a:t>
            </a:r>
            <a:r>
              <a:rPr lang="ru-RU" sz="2000" dirty="0" smtClean="0"/>
              <a:t> </a:t>
            </a:r>
            <a:r>
              <a:rPr lang="ru-RU" sz="2000" dirty="0"/>
              <a:t>Если </a:t>
            </a:r>
            <a:r>
              <a:rPr lang="ru-RU" sz="2000" dirty="0" err="1"/>
              <a:t>Если</a:t>
            </a:r>
            <a:r>
              <a:rPr lang="ru-RU" sz="2000" dirty="0"/>
              <a:t> указаны и путь к файлу, и его имя, то такая конструкция называется </a:t>
            </a:r>
            <a:r>
              <a:rPr lang="ru-RU" sz="2000" i="1" dirty="0"/>
              <a:t>полным именем файла</a:t>
            </a:r>
            <a:r>
              <a:rPr lang="ru-RU" sz="2000" dirty="0" smtClean="0"/>
              <a:t>. </a:t>
            </a:r>
            <a:r>
              <a:rPr lang="ru-RU" sz="2000" dirty="0"/>
              <a:t>Так, </a:t>
            </a:r>
            <a:r>
              <a:rPr lang="ru-RU" sz="2000" b="1" dirty="0"/>
              <a:t>полное имя файла tetris.exe </a:t>
            </a:r>
            <a:r>
              <a:rPr lang="ru-RU" sz="2000" dirty="0"/>
              <a:t>– это </a:t>
            </a:r>
            <a:r>
              <a:rPr lang="ru-RU" sz="2000" b="1" dirty="0"/>
              <a:t>D:\Games\Tetris\tetris.exe</a:t>
            </a:r>
            <a:r>
              <a:rPr lang="ru-RU" sz="2000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Файловая система. Иерархическая</a:t>
            </a:r>
            <a:r>
              <a:rPr lang="en-US" sz="3200" dirty="0" smtClean="0"/>
              <a:t>.</a:t>
            </a:r>
            <a:endParaRPr lang="ru-R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107504" y="692696"/>
            <a:ext cx="37444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Для ОС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корневым каталогом можно считать папку «Рабочий стол», в которой располагаются подкаталоги «Мой компьютер», «Корзина» </a:t>
            </a:r>
            <a:br>
              <a:rPr lang="ru-RU" sz="2000" dirty="0" smtClean="0"/>
            </a:br>
            <a:r>
              <a:rPr lang="ru-RU" sz="2000" dirty="0" smtClean="0"/>
              <a:t>и «Сетевое окружение». Эти подкаталоги носят стандартные названия и служат для заранее определенных целей.</a:t>
            </a:r>
          </a:p>
          <a:p>
            <a:r>
              <a:rPr lang="ru-RU" sz="2000" dirty="0" smtClean="0"/>
              <a:t>Папка </a:t>
            </a:r>
            <a:r>
              <a:rPr lang="ru-RU" sz="2000" b="1" dirty="0" smtClean="0"/>
              <a:t>«Мой компьютер»</a:t>
            </a:r>
            <a:r>
              <a:rPr lang="ru-RU" sz="2000" dirty="0" smtClean="0"/>
              <a:t> в качестве подкаталогов содержит все диски, имеющиеся в данном компьютере.</a:t>
            </a:r>
          </a:p>
          <a:p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4725144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Папка </a:t>
            </a:r>
            <a:r>
              <a:rPr lang="ru-RU" sz="2000" b="1" dirty="0" smtClean="0"/>
              <a:t>«Сетевое окружение»</a:t>
            </a:r>
            <a:r>
              <a:rPr lang="ru-RU" sz="2000" dirty="0" smtClean="0"/>
              <a:t> содержит папки всех компьютеров, которые подключены в этот момент к локальной сети и к которым можно обратиться с данного компьютера.</a:t>
            </a:r>
          </a:p>
          <a:p>
            <a:r>
              <a:rPr lang="ru-RU" sz="2000" dirty="0" smtClean="0"/>
              <a:t>Папка </a:t>
            </a:r>
            <a:r>
              <a:rPr lang="ru-RU" sz="2000" b="1" dirty="0" smtClean="0"/>
              <a:t>«Корзина»</a:t>
            </a:r>
            <a:r>
              <a:rPr lang="ru-RU" sz="2000" dirty="0" smtClean="0"/>
              <a:t> временно хранит все удаленные на данном компьютере папки и файлы. 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 b="1844"/>
          <a:stretch>
            <a:fillRect/>
          </a:stretch>
        </p:blipFill>
        <p:spPr bwMode="auto">
          <a:xfrm>
            <a:off x="3851920" y="747342"/>
            <a:ext cx="5146739" cy="3833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73" name="Rectangle 5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0488" name="Picture 7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480" y="1772816"/>
            <a:ext cx="3722448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" name="Прямоугольник 63"/>
          <p:cNvSpPr/>
          <p:nvPr/>
        </p:nvSpPr>
        <p:spPr>
          <a:xfrm>
            <a:off x="251520" y="548680"/>
            <a:ext cx="864096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Операционная система </a:t>
            </a:r>
            <a:r>
              <a:rPr lang="ru-RU" sz="2200" dirty="0" err="1" smtClean="0"/>
              <a:t>Linux</a:t>
            </a:r>
            <a:r>
              <a:rPr lang="ru-RU" sz="2200" dirty="0" smtClean="0"/>
              <a:t> поддерживает множество файловых систем, в настоящее время наиболее широко используются: </a:t>
            </a:r>
            <a:r>
              <a:rPr lang="ru-RU" sz="2200" b="1" dirty="0" smtClean="0"/>
              <a:t>ext2, ext3,ext4, </a:t>
            </a:r>
            <a:r>
              <a:rPr lang="ru-RU" sz="2200" b="1" dirty="0" err="1" smtClean="0"/>
              <a:t>raiserfs</a:t>
            </a:r>
            <a:r>
              <a:rPr lang="ru-RU" sz="2200" dirty="0" smtClean="0"/>
              <a:t>. </a:t>
            </a:r>
            <a:endParaRPr lang="ru-RU" sz="2200" dirty="0"/>
          </a:p>
        </p:txBody>
      </p:sp>
      <p:sp>
        <p:nvSpPr>
          <p:cNvPr id="65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Файловые системы </a:t>
            </a:r>
            <a:r>
              <a:rPr lang="en-US" sz="3200" dirty="0" smtClean="0"/>
              <a:t>Linux</a:t>
            </a:r>
            <a:endParaRPr lang="ru-RU" sz="3200" dirty="0"/>
          </a:p>
        </p:txBody>
      </p:sp>
      <p:graphicFrame>
        <p:nvGraphicFramePr>
          <p:cNvPr id="66" name="Таблица 65"/>
          <p:cNvGraphicFramePr>
            <a:graphicFrameLocks noGrp="1"/>
          </p:cNvGraphicFramePr>
          <p:nvPr/>
        </p:nvGraphicFramePr>
        <p:xfrm>
          <a:off x="395536" y="3369528"/>
          <a:ext cx="3672408" cy="2651760"/>
        </p:xfrm>
        <a:graphic>
          <a:graphicData uri="http://schemas.openxmlformats.org/drawingml/2006/table">
            <a:tbl>
              <a:tblPr/>
              <a:tblGrid>
                <a:gridCol w="1224136"/>
                <a:gridCol w="1224136"/>
                <a:gridCol w="1224136"/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Размер блока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Макс. размер файла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Макс. размер файловой системы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 2 </a:t>
                      </a:r>
                      <a:r>
                        <a:rPr lang="en-US" dirty="0"/>
                        <a:t>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 4 </a:t>
                      </a:r>
                      <a:r>
                        <a:rPr lang="en-US" dirty="0"/>
                        <a:t>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4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 8 </a:t>
                      </a:r>
                      <a:r>
                        <a:rPr lang="en-US" dirty="0"/>
                        <a:t>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8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 16 </a:t>
                      </a:r>
                      <a:r>
                        <a:rPr lang="en-US" dirty="0" smtClean="0"/>
                        <a:t>TB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7" name="Прямоугольник 66"/>
          <p:cNvSpPr/>
          <p:nvPr/>
        </p:nvSpPr>
        <p:spPr>
          <a:xfrm>
            <a:off x="4355976" y="1340768"/>
            <a:ext cx="4572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200" dirty="0" smtClean="0"/>
              <a:t>Каждый файл идентифицируется </a:t>
            </a:r>
            <a:r>
              <a:rPr lang="ru-RU" sz="2200" i="1" dirty="0" smtClean="0"/>
              <a:t>уникальным номером</a:t>
            </a:r>
            <a:r>
              <a:rPr lang="ru-RU" sz="2200" dirty="0" smtClean="0"/>
              <a:t>, называемым </a:t>
            </a:r>
            <a:r>
              <a:rPr lang="ru-RU" sz="2200" b="1" dirty="0" err="1" smtClean="0"/>
              <a:t>Inode</a:t>
            </a:r>
            <a:r>
              <a:rPr lang="ru-RU" sz="2200" b="1" dirty="0" smtClean="0"/>
              <a:t> </a:t>
            </a:r>
            <a:r>
              <a:rPr lang="ru-RU" sz="2200" dirty="0" smtClean="0"/>
              <a:t>(</a:t>
            </a:r>
            <a:r>
              <a:rPr lang="ru-RU" sz="2200" i="1" dirty="0" smtClean="0"/>
              <a:t>Индексный дескриптор</a:t>
            </a:r>
            <a:r>
              <a:rPr lang="ru-RU" sz="2200" dirty="0" smtClean="0"/>
              <a:t>).</a:t>
            </a:r>
            <a:endParaRPr lang="ru-RU" sz="2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4355976" y="2420888"/>
            <a:ext cx="4572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200" dirty="0" smtClean="0"/>
              <a:t>Имеется один</a:t>
            </a:r>
            <a:r>
              <a:rPr lang="ru-RU" sz="2200" b="1" dirty="0" smtClean="0"/>
              <a:t> корневой раздел </a:t>
            </a:r>
            <a:r>
              <a:rPr lang="ru-RU" sz="2200" dirty="0" smtClean="0"/>
              <a:t>- / (он же </a:t>
            </a:r>
            <a:r>
              <a:rPr lang="ru-RU" sz="2200" b="1" i="1" dirty="0" err="1" smtClean="0"/>
              <a:t>root</a:t>
            </a:r>
            <a:r>
              <a:rPr lang="ru-RU" sz="2200" dirty="0" smtClean="0"/>
              <a:t>, </a:t>
            </a:r>
            <a:r>
              <a:rPr lang="ru-RU" sz="2200" b="1" i="1" dirty="0" smtClean="0"/>
              <a:t>корень</a:t>
            </a:r>
            <a:r>
              <a:rPr lang="ru-RU" sz="2200" dirty="0" smtClean="0"/>
              <a:t>). Все</a:t>
            </a:r>
            <a:r>
              <a:rPr lang="ru-RU" sz="2200" b="1" dirty="0" smtClean="0"/>
              <a:t> разделы жесткого диска </a:t>
            </a:r>
            <a:r>
              <a:rPr lang="ru-RU" sz="2200" dirty="0" smtClean="0"/>
              <a:t>(если их несколько) представляют собой структуру подкаталогов, "</a:t>
            </a:r>
            <a:r>
              <a:rPr lang="ru-RU" sz="2200" dirty="0" err="1" smtClean="0"/>
              <a:t>примонтированых</a:t>
            </a:r>
            <a:r>
              <a:rPr lang="ru-RU" sz="2200" dirty="0" smtClean="0"/>
              <a:t>" к определенным каталогам</a:t>
            </a:r>
            <a:endParaRPr lang="ru-RU" sz="2200" dirty="0"/>
          </a:p>
        </p:txBody>
      </p:sp>
      <p:pic>
        <p:nvPicPr>
          <p:cNvPr id="60491" name="Picture 75" descr="http://loadersystem.narod.ru/articles/unix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4581128"/>
            <a:ext cx="3981633" cy="1405534"/>
          </a:xfrm>
          <a:prstGeom prst="rect">
            <a:avLst/>
          </a:prstGeom>
          <a:noFill/>
        </p:spPr>
      </p:pic>
      <p:sp>
        <p:nvSpPr>
          <p:cNvPr id="72" name="TextBox 71"/>
          <p:cNvSpPr txBox="1"/>
          <p:nvPr/>
        </p:nvSpPr>
        <p:spPr>
          <a:xfrm>
            <a:off x="9468544" y="3645024"/>
            <a:ext cx="889248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dirty="0" smtClean="0"/>
              <a:t>/</a:t>
            </a:r>
            <a:r>
              <a:rPr lang="ru-RU" dirty="0" err="1" smtClean="0"/>
              <a:t>bin</a:t>
            </a:r>
            <a:r>
              <a:rPr lang="ru-RU" dirty="0" smtClean="0"/>
              <a:t> - команды, используемые в процессе загрузки и, возможно, применяемые обычными пользователями </a:t>
            </a:r>
          </a:p>
          <a:p>
            <a:r>
              <a:rPr lang="ru-RU" dirty="0" smtClean="0"/>
              <a:t>/</a:t>
            </a:r>
            <a:r>
              <a:rPr lang="ru-RU" dirty="0" err="1" smtClean="0"/>
              <a:t>sbin</a:t>
            </a:r>
            <a:r>
              <a:rPr lang="ru-RU" dirty="0" smtClean="0"/>
              <a:t> - похожа на /</a:t>
            </a:r>
            <a:r>
              <a:rPr lang="ru-RU" dirty="0" err="1" smtClean="0"/>
              <a:t>bin</a:t>
            </a:r>
            <a:r>
              <a:rPr lang="ru-RU" dirty="0" smtClean="0"/>
              <a:t>, но собранные здесь команды в общем случае не предназначены для обычных пользователей </a:t>
            </a:r>
          </a:p>
          <a:p>
            <a:r>
              <a:rPr lang="ru-RU" dirty="0" smtClean="0"/>
              <a:t>/</a:t>
            </a:r>
            <a:r>
              <a:rPr lang="ru-RU" dirty="0" err="1" smtClean="0"/>
              <a:t>etc</a:t>
            </a:r>
            <a:r>
              <a:rPr lang="ru-RU" dirty="0" smtClean="0"/>
              <a:t> - конфигурационные файлы (специфичны для каждой машины) </a:t>
            </a:r>
          </a:p>
          <a:p>
            <a:r>
              <a:rPr lang="ru-RU" dirty="0" smtClean="0"/>
              <a:t>/</a:t>
            </a:r>
            <a:r>
              <a:rPr lang="ru-RU" dirty="0" err="1" smtClean="0"/>
              <a:t>lib</a:t>
            </a:r>
            <a:r>
              <a:rPr lang="ru-RU" dirty="0" smtClean="0"/>
              <a:t> -разделяемые библиотеки, необходимые для файловой системы </a:t>
            </a:r>
            <a:r>
              <a:rPr lang="ru-RU" dirty="0" err="1" smtClean="0"/>
              <a:t>root</a:t>
            </a:r>
            <a:r>
              <a:rPr lang="ru-RU" dirty="0" smtClean="0"/>
              <a:t> </a:t>
            </a:r>
          </a:p>
          <a:p>
            <a:r>
              <a:rPr lang="ru-RU" dirty="0" smtClean="0"/>
              <a:t>/</a:t>
            </a:r>
            <a:r>
              <a:rPr lang="ru-RU" dirty="0" err="1" smtClean="0"/>
              <a:t>lib</a:t>
            </a:r>
            <a:r>
              <a:rPr lang="ru-RU" dirty="0" smtClean="0"/>
              <a:t>/</a:t>
            </a:r>
            <a:r>
              <a:rPr lang="ru-RU" dirty="0" err="1" smtClean="0"/>
              <a:t>modules</a:t>
            </a:r>
            <a:r>
              <a:rPr lang="ru-RU" dirty="0" smtClean="0"/>
              <a:t> - загружаемые модули ядра </a:t>
            </a:r>
          </a:p>
          <a:p>
            <a:r>
              <a:rPr lang="ru-RU" dirty="0" smtClean="0"/>
              <a:t>/</a:t>
            </a:r>
            <a:r>
              <a:rPr lang="ru-RU" dirty="0" err="1" smtClean="0"/>
              <a:t>dev</a:t>
            </a:r>
            <a:r>
              <a:rPr lang="ru-RU" dirty="0" smtClean="0"/>
              <a:t> - файлы, представляющие устройства </a:t>
            </a:r>
          </a:p>
          <a:p>
            <a:r>
              <a:rPr lang="ru-RU" dirty="0" smtClean="0"/>
              <a:t>/</a:t>
            </a:r>
            <a:r>
              <a:rPr lang="ru-RU" dirty="0" err="1" smtClean="0"/>
              <a:t>tmp</a:t>
            </a:r>
            <a:r>
              <a:rPr lang="ru-RU" dirty="0" smtClean="0"/>
              <a:t> - временные файлы</a:t>
            </a:r>
          </a:p>
          <a:p>
            <a:r>
              <a:rPr lang="ru-RU" dirty="0" smtClean="0"/>
              <a:t>/</a:t>
            </a:r>
            <a:r>
              <a:rPr lang="ru-RU" dirty="0" err="1" smtClean="0"/>
              <a:t>boot</a:t>
            </a:r>
            <a:r>
              <a:rPr lang="ru-RU" dirty="0" smtClean="0"/>
              <a:t> - файлы, используемые при начальной загрузке</a:t>
            </a:r>
          </a:p>
          <a:p>
            <a:r>
              <a:rPr lang="ru-RU" dirty="0" smtClean="0"/>
              <a:t>/</a:t>
            </a:r>
            <a:r>
              <a:rPr lang="ru-RU" dirty="0" err="1" smtClean="0"/>
              <a:t>proc</a:t>
            </a:r>
            <a:r>
              <a:rPr lang="ru-RU" dirty="0" smtClean="0"/>
              <a:t>, /</a:t>
            </a:r>
            <a:r>
              <a:rPr lang="ru-RU" dirty="0" err="1" smtClean="0"/>
              <a:t>usr</a:t>
            </a:r>
            <a:r>
              <a:rPr lang="ru-RU" dirty="0" smtClean="0"/>
              <a:t>, /</a:t>
            </a:r>
            <a:r>
              <a:rPr lang="ru-RU" dirty="0" err="1" smtClean="0"/>
              <a:t>var</a:t>
            </a:r>
            <a:r>
              <a:rPr lang="ru-RU" dirty="0" smtClean="0"/>
              <a:t>, /</a:t>
            </a:r>
            <a:r>
              <a:rPr lang="ru-RU" dirty="0" err="1" smtClean="0"/>
              <a:t>home</a:t>
            </a:r>
            <a:r>
              <a:rPr lang="ru-RU" dirty="0" smtClean="0"/>
              <a:t> - возможные точки монтирования различных файловых систем</a:t>
            </a:r>
            <a:endParaRPr lang="ru-RU" dirty="0"/>
          </a:p>
        </p:txBody>
      </p:sp>
      <p:pic>
        <p:nvPicPr>
          <p:cNvPr id="60493" name="Picture 77" descr="http://loadersystem.narod.ru/articles/unix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68544" y="548680"/>
            <a:ext cx="8877300" cy="31337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3.33333E-6 L -1.0217 0.0020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1" y="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81481E-6 L -1.02083 0.0025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04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0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73" name="Rectangle 5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5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Файловые системы </a:t>
            </a:r>
            <a:r>
              <a:rPr lang="en-US" sz="3200" dirty="0" smtClean="0"/>
              <a:t>Linux</a:t>
            </a:r>
            <a:endParaRPr lang="ru-RU" sz="3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620688"/>
            <a:ext cx="864096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 smtClean="0"/>
              <a:t>Inode</a:t>
            </a:r>
            <a:r>
              <a:rPr lang="ru-RU" sz="2200" dirty="0" smtClean="0"/>
              <a:t> </a:t>
            </a:r>
            <a:r>
              <a:rPr lang="ru-RU" sz="2200" b="1" dirty="0" smtClean="0"/>
              <a:t>уникален </a:t>
            </a:r>
            <a:r>
              <a:rPr lang="ru-RU" sz="2200" dirty="0" smtClean="0"/>
              <a:t>в пределах определенной файловой системы и </a:t>
            </a:r>
            <a:r>
              <a:rPr lang="ru-RU" sz="2200" b="1" dirty="0" smtClean="0"/>
              <a:t>содержит следующую информацию</a:t>
            </a:r>
            <a:r>
              <a:rPr lang="ru-RU" sz="2200" dirty="0" smtClean="0"/>
              <a:t>:</a:t>
            </a:r>
          </a:p>
          <a:p>
            <a:r>
              <a:rPr lang="ru-RU" sz="2200" dirty="0" smtClean="0"/>
              <a:t>- о владельце объекта ФС</a:t>
            </a:r>
          </a:p>
          <a:p>
            <a:r>
              <a:rPr lang="ru-RU" sz="2200" dirty="0" smtClean="0"/>
              <a:t>- последнем времени доступа</a:t>
            </a:r>
          </a:p>
          <a:p>
            <a:r>
              <a:rPr lang="ru-RU" sz="2200" dirty="0" smtClean="0"/>
              <a:t>- размере объекта ФС</a:t>
            </a:r>
          </a:p>
          <a:p>
            <a:r>
              <a:rPr lang="ru-RU" sz="2200" dirty="0" smtClean="0"/>
              <a:t>- указании файл это или каталог</a:t>
            </a:r>
          </a:p>
          <a:p>
            <a:r>
              <a:rPr lang="ru-RU" sz="2200" dirty="0" smtClean="0"/>
              <a:t>- права доступа</a:t>
            </a:r>
            <a:endParaRPr lang="ru-RU" sz="2200" dirty="0"/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356992"/>
            <a:ext cx="431482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Прямоугольник 13"/>
          <p:cNvSpPr/>
          <p:nvPr/>
        </p:nvSpPr>
        <p:spPr>
          <a:xfrm>
            <a:off x="5004048" y="2126466"/>
            <a:ext cx="388843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/>
              <a:t>Жесткая ссылка</a:t>
            </a:r>
            <a:r>
              <a:rPr lang="ru-RU" sz="2200" dirty="0" smtClean="0"/>
              <a:t> (она же </a:t>
            </a:r>
            <a:r>
              <a:rPr lang="ru-RU" sz="2200" i="1" dirty="0" err="1" smtClean="0"/>
              <a:t>Хардлинк</a:t>
            </a:r>
            <a:r>
              <a:rPr lang="ru-RU" sz="2200" i="1" dirty="0" smtClean="0"/>
              <a:t>, </a:t>
            </a:r>
            <a:r>
              <a:rPr lang="ru-RU" sz="2200" i="1" dirty="0" err="1" smtClean="0"/>
              <a:t>Hard-Link</a:t>
            </a:r>
            <a:r>
              <a:rPr lang="ru-RU" sz="2200" dirty="0" smtClean="0"/>
              <a:t>) - это собственно и есть один их путей файла</a:t>
            </a:r>
            <a:endParaRPr lang="ru-RU" sz="22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5004048" y="3717032"/>
            <a:ext cx="385192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smtClean="0"/>
              <a:t>Символьная </a:t>
            </a:r>
            <a:r>
              <a:rPr lang="ru-RU" sz="2200" dirty="0" smtClean="0"/>
              <a:t>(она же </a:t>
            </a:r>
            <a:r>
              <a:rPr lang="ru-RU" sz="2200" i="1" dirty="0" err="1" smtClean="0"/>
              <a:t>Симлинк</a:t>
            </a:r>
            <a:r>
              <a:rPr lang="ru-RU" sz="2200" i="1" dirty="0" smtClean="0"/>
              <a:t> </a:t>
            </a:r>
            <a:r>
              <a:rPr lang="ru-RU" sz="2200" dirty="0" smtClean="0"/>
              <a:t>от англ. </a:t>
            </a:r>
            <a:r>
              <a:rPr lang="ru-RU" sz="2200" i="1" dirty="0" err="1" smtClean="0"/>
              <a:t>Symbolic</a:t>
            </a:r>
            <a:r>
              <a:rPr lang="ru-RU" sz="2200" i="1" dirty="0" smtClean="0"/>
              <a:t> </a:t>
            </a:r>
            <a:r>
              <a:rPr lang="ru-RU" sz="2200" i="1" dirty="0" err="1" smtClean="0"/>
              <a:t>link</a:t>
            </a:r>
            <a:r>
              <a:rPr lang="ru-RU" sz="2200" dirty="0" smtClean="0"/>
              <a:t>) - это файл UNIX, содержащий в себе лишь текстовую строку - путь к оригинальному файлу, на который собственно ссылается</a:t>
            </a:r>
            <a:endParaRPr lang="ru-RU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20" y="634618"/>
            <a:ext cx="871296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err="1" smtClean="0"/>
              <a:t>Суперблок</a:t>
            </a:r>
            <a:r>
              <a:rPr lang="ru-RU" sz="2200" b="1" dirty="0" smtClean="0"/>
              <a:t> </a:t>
            </a:r>
            <a:r>
              <a:rPr lang="ru-RU" sz="2200" dirty="0" smtClean="0"/>
              <a:t>- это своеобразный аналог FAT таблицы в FAT32. </a:t>
            </a:r>
            <a:r>
              <a:rPr lang="ru-RU" sz="2200" dirty="0" err="1" smtClean="0"/>
              <a:t>Суперблок</a:t>
            </a:r>
            <a:r>
              <a:rPr lang="ru-RU" sz="2200" dirty="0" smtClean="0"/>
              <a:t> содержит в себе следующую информацию о файловой системе:</a:t>
            </a:r>
          </a:p>
          <a:p>
            <a:r>
              <a:rPr lang="en-US" sz="2200" dirty="0" smtClean="0"/>
              <a:t>- </a:t>
            </a:r>
            <a:r>
              <a:rPr lang="ru-RU" sz="2200" dirty="0" smtClean="0"/>
              <a:t>общее число блоков и индексных дескрипторов в файловой системе;</a:t>
            </a:r>
          </a:p>
          <a:p>
            <a:r>
              <a:rPr lang="en-US" sz="2200" dirty="0" smtClean="0"/>
              <a:t>- </a:t>
            </a:r>
            <a:r>
              <a:rPr lang="ru-RU" sz="2200" dirty="0" smtClean="0"/>
              <a:t>число свободных блоков и индексных дескрипторов в файловой системе;</a:t>
            </a:r>
          </a:p>
          <a:p>
            <a:r>
              <a:rPr lang="en-US" sz="2200" dirty="0" smtClean="0"/>
              <a:t>- </a:t>
            </a:r>
            <a:r>
              <a:rPr lang="ru-RU" sz="2200" dirty="0" smtClean="0"/>
              <a:t>размер блока файловой системы;</a:t>
            </a:r>
          </a:p>
          <a:p>
            <a:r>
              <a:rPr lang="en-US" sz="2200" dirty="0" smtClean="0"/>
              <a:t>- </a:t>
            </a:r>
            <a:r>
              <a:rPr lang="ru-RU" sz="2200" dirty="0" smtClean="0"/>
              <a:t>количество блоков и индексных дескрипторов в группе;</a:t>
            </a:r>
          </a:p>
          <a:p>
            <a:r>
              <a:rPr lang="en-US" sz="2200" dirty="0" smtClean="0"/>
              <a:t>- </a:t>
            </a:r>
            <a:r>
              <a:rPr lang="ru-RU" sz="2200" dirty="0" smtClean="0"/>
              <a:t>размер индексного дескриптора;</a:t>
            </a:r>
          </a:p>
          <a:p>
            <a:r>
              <a:rPr lang="en-US" sz="2200" dirty="0" smtClean="0"/>
              <a:t>- </a:t>
            </a:r>
            <a:r>
              <a:rPr lang="ru-RU" sz="2200" dirty="0" smtClean="0"/>
              <a:t>идентификатор файловой системы.</a:t>
            </a:r>
          </a:p>
          <a:p>
            <a:pPr algn="just"/>
            <a:endParaRPr lang="en-US" sz="2200" dirty="0" smtClean="0"/>
          </a:p>
          <a:p>
            <a:pPr algn="just"/>
            <a:r>
              <a:rPr lang="ru-RU" sz="2200" dirty="0" err="1" smtClean="0"/>
              <a:t>Суперблок</a:t>
            </a:r>
            <a:r>
              <a:rPr lang="ru-RU" sz="2200" dirty="0" smtClean="0"/>
              <a:t> размещается в первых 1024 байтах раздела, от его целостности зависит работоспособность ФС. ОС создает несколько копий </a:t>
            </a:r>
            <a:r>
              <a:rPr lang="ru-RU" sz="2200" dirty="0" err="1" smtClean="0"/>
              <a:t>суперблока</a:t>
            </a:r>
            <a:r>
              <a:rPr lang="ru-RU" sz="2200" dirty="0" smtClean="0"/>
              <a:t> для восстановления в случае повреждения оригинального и размещает их (копии) различных областях жесткого диска.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274042"/>
          </a:xfrm>
        </p:spPr>
        <p:txBody>
          <a:bodyPr>
            <a:noAutofit/>
          </a:bodyPr>
          <a:lstStyle/>
          <a:p>
            <a:r>
              <a:rPr lang="ru-RU" sz="3200" dirty="0" smtClean="0"/>
              <a:t>Файловые системы </a:t>
            </a:r>
            <a:r>
              <a:rPr lang="en-US" sz="3200" dirty="0" smtClean="0"/>
              <a:t>Linux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51520" y="4366845"/>
            <a:ext cx="475252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FAR manager</a:t>
            </a:r>
            <a:r>
              <a:rPr lang="ru-RU" dirty="0"/>
              <a:t>. Российская бесплатная разработка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004048" y="4365104"/>
            <a:ext cx="374312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Total commander. </a:t>
            </a:r>
            <a:r>
              <a:rPr lang="ru-RU" dirty="0"/>
              <a:t>Коммерческий продукт</a:t>
            </a:r>
          </a:p>
        </p:txBody>
      </p:sp>
      <p:sp>
        <p:nvSpPr>
          <p:cNvPr id="68610" name="TextBox 3"/>
          <p:cNvSpPr txBox="1">
            <a:spLocks noChangeArrowheads="1"/>
          </p:cNvSpPr>
          <p:nvPr/>
        </p:nvSpPr>
        <p:spPr bwMode="auto">
          <a:xfrm>
            <a:off x="539552" y="0"/>
            <a:ext cx="813593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3400" dirty="0"/>
              <a:t>Файловые менеджеры</a:t>
            </a:r>
          </a:p>
        </p:txBody>
      </p:sp>
      <p:pic>
        <p:nvPicPr>
          <p:cNvPr id="3" name="Рисунок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14517"/>
            <a:ext cx="4855621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1414517"/>
            <a:ext cx="3744416" cy="2917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1588</Words>
  <Application>Microsoft Office PowerPoint</Application>
  <PresentationFormat>Экран (4:3)</PresentationFormat>
  <Paragraphs>391</Paragraphs>
  <Slides>33</Slides>
  <Notes>1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5" baseType="lpstr">
      <vt:lpstr>Тема Office</vt:lpstr>
      <vt:lpstr>CorelDRAW</vt:lpstr>
      <vt:lpstr>Операционные системы и среды. Файловые системы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Файл и файловая система</vt:lpstr>
      <vt:lpstr>Слайд 10</vt:lpstr>
      <vt:lpstr>Файл. Имя и расширение (тип) файла</vt:lpstr>
      <vt:lpstr>Файл. Каталоги, атрибуты файла</vt:lpstr>
      <vt:lpstr>Файл. Установка атрибутов файла</vt:lpstr>
      <vt:lpstr>Файл. Операции с файлами</vt:lpstr>
      <vt:lpstr>Файл. Поиск-сортировка файлов. Маска.</vt:lpstr>
      <vt:lpstr>Файл. Поиск-сортировка файлов. </vt:lpstr>
      <vt:lpstr>Файловая система</vt:lpstr>
      <vt:lpstr>Файловая система. Кластеры</vt:lpstr>
      <vt:lpstr>Файловая система. Кластеры</vt:lpstr>
      <vt:lpstr>Файловая система. Кластеры</vt:lpstr>
      <vt:lpstr>Файловая система. FAT-16, FAT-32.</vt:lpstr>
      <vt:lpstr>Файловая система. FAT-16, FAT-32.</vt:lpstr>
      <vt:lpstr>Файловая система. FAT-16.</vt:lpstr>
      <vt:lpstr>Файловая система. FAT-32.</vt:lpstr>
      <vt:lpstr>Файловая система. NTFS.</vt:lpstr>
      <vt:lpstr>Файловая система. Иерархическая.</vt:lpstr>
      <vt:lpstr>Файловая система. Иерархическая.</vt:lpstr>
      <vt:lpstr>Файловая система. Иерархическая.</vt:lpstr>
      <vt:lpstr>Файловые системы Linux</vt:lpstr>
      <vt:lpstr>Файловые системы Linux</vt:lpstr>
      <vt:lpstr>Файловые системы Linux</vt:lpstr>
      <vt:lpstr>Слайд 32</vt:lpstr>
      <vt:lpstr>Слайд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Юрий П. Преображенский</dc:creator>
  <cp:lastModifiedBy>Юрий П. Преображенский</cp:lastModifiedBy>
  <cp:revision>48</cp:revision>
  <dcterms:created xsi:type="dcterms:W3CDTF">2012-11-08T14:41:38Z</dcterms:created>
  <dcterms:modified xsi:type="dcterms:W3CDTF">2012-11-28T13:43:25Z</dcterms:modified>
</cp:coreProperties>
</file>