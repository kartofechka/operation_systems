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42"/>
  </p:notesMasterIdLst>
  <p:sldIdLst>
    <p:sldId id="337" r:id="rId2"/>
    <p:sldId id="341" r:id="rId3"/>
    <p:sldId id="342" r:id="rId4"/>
    <p:sldId id="343" r:id="rId5"/>
    <p:sldId id="344" r:id="rId6"/>
    <p:sldId id="345" r:id="rId7"/>
    <p:sldId id="346" r:id="rId8"/>
    <p:sldId id="338" r:id="rId9"/>
    <p:sldId id="347" r:id="rId10"/>
    <p:sldId id="348" r:id="rId11"/>
    <p:sldId id="340" r:id="rId12"/>
    <p:sldId id="349" r:id="rId13"/>
    <p:sldId id="339" r:id="rId14"/>
    <p:sldId id="350" r:id="rId15"/>
    <p:sldId id="351" r:id="rId16"/>
    <p:sldId id="353" r:id="rId17"/>
    <p:sldId id="354" r:id="rId18"/>
    <p:sldId id="355" r:id="rId19"/>
    <p:sldId id="356" r:id="rId20"/>
    <p:sldId id="358" r:id="rId21"/>
    <p:sldId id="359" r:id="rId22"/>
    <p:sldId id="360" r:id="rId23"/>
    <p:sldId id="361" r:id="rId24"/>
    <p:sldId id="352" r:id="rId25"/>
    <p:sldId id="357" r:id="rId26"/>
    <p:sldId id="362" r:id="rId27"/>
    <p:sldId id="363" r:id="rId28"/>
    <p:sldId id="364" r:id="rId29"/>
    <p:sldId id="365" r:id="rId30"/>
    <p:sldId id="366" r:id="rId31"/>
    <p:sldId id="367" r:id="rId32"/>
    <p:sldId id="368" r:id="rId33"/>
    <p:sldId id="369" r:id="rId34"/>
    <p:sldId id="371" r:id="rId35"/>
    <p:sldId id="372" r:id="rId36"/>
    <p:sldId id="373" r:id="rId37"/>
    <p:sldId id="374" r:id="rId38"/>
    <p:sldId id="375" r:id="rId39"/>
    <p:sldId id="376" r:id="rId40"/>
    <p:sldId id="377" r:id="rId4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2396" autoAdjust="0"/>
  </p:normalViewPr>
  <p:slideViewPr>
    <p:cSldViewPr>
      <p:cViewPr>
        <p:scale>
          <a:sx n="60" d="100"/>
          <a:sy n="60" d="100"/>
        </p:scale>
        <p:origin x="-78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34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24178-7C1F-4552-B989-DC026EF15969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C216F-C92D-43DC-846A-68AA0B0379E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964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Системный вызов </a:t>
            </a:r>
            <a:r>
              <a:rPr lang="ru-RU" dirty="0" err="1" smtClean="0"/>
              <a:t>sleep</a:t>
            </a:r>
            <a:r>
              <a:rPr lang="ru-RU" dirty="0" smtClean="0"/>
              <a:t> блокирует вызывающий его процесс, который приостанавливается до тех пор, пока его не активизирует другой процесс. Активизирующий вызов </a:t>
            </a:r>
            <a:r>
              <a:rPr lang="ru-RU" dirty="0" err="1" smtClean="0"/>
              <a:t>wakeup</a:t>
            </a:r>
            <a:r>
              <a:rPr lang="ru-RU" dirty="0" smtClean="0"/>
              <a:t> использует один аргумент — активизируемый процесс. </a:t>
            </a:r>
          </a:p>
          <a:p>
            <a:r>
              <a:rPr lang="ru-RU" dirty="0" smtClean="0"/>
              <a:t>Чтобы выразить вызовы </a:t>
            </a:r>
            <a:r>
              <a:rPr lang="ru-RU" dirty="0" err="1" smtClean="0"/>
              <a:t>sleep</a:t>
            </a:r>
            <a:r>
              <a:rPr lang="ru-RU" dirty="0" smtClean="0"/>
              <a:t> и </a:t>
            </a:r>
            <a:r>
              <a:rPr lang="ru-RU" dirty="0" err="1" smtClean="0"/>
              <a:t>wakeup</a:t>
            </a:r>
            <a:r>
              <a:rPr lang="ru-RU" dirty="0" smtClean="0"/>
              <a:t> на языке C, мы покажем их в виде вызовов  библиотечных процедур. Они не являются частью стандартной библиотеки C, но, по-видимому, были бы доступны на любой системе, имеющей эти системные вызовы.</a:t>
            </a:r>
          </a:p>
          <a:p>
            <a:r>
              <a:rPr lang="ru-RU" dirty="0" smtClean="0"/>
              <a:t>Не показанные в листинге процедуры </a:t>
            </a:r>
            <a:r>
              <a:rPr lang="ru-RU" dirty="0" err="1" smtClean="0"/>
              <a:t>insert_item</a:t>
            </a:r>
            <a:r>
              <a:rPr lang="ru-RU" dirty="0" smtClean="0"/>
              <a:t> и </a:t>
            </a:r>
            <a:r>
              <a:rPr lang="ru-RU" dirty="0" err="1" smtClean="0"/>
              <a:t>remove_item</a:t>
            </a:r>
            <a:r>
              <a:rPr lang="ru-RU" dirty="0" smtClean="0"/>
              <a:t> занимаются помещением записей в буфер и извлечением их оттуда.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9647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Хотя в нашем простом примере бит ожидания активизации спасает положение, нетрудно создать такие примеры, где фигурируют три и более процесса, для которых одного бита ожидания активизации явно недостаточно. Можно внести другие правки и добавить второй бит ожидания активизации, а может быть, 8 или 32 таких бита, но, в принципе, проблема останется нерешенной.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210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Операция </a:t>
            </a:r>
            <a:r>
              <a:rPr lang="ru-RU" dirty="0" err="1" smtClean="0"/>
              <a:t>up</a:t>
            </a:r>
            <a:r>
              <a:rPr lang="ru-RU" dirty="0" smtClean="0"/>
              <a:t> увеличивает значение, адресуемое семафором, на 1. Если с этим сема-</a:t>
            </a:r>
          </a:p>
          <a:p>
            <a:r>
              <a:rPr lang="ru-RU" dirty="0" err="1" smtClean="0"/>
              <a:t>фором</a:t>
            </a:r>
            <a:r>
              <a:rPr lang="ru-RU" dirty="0" smtClean="0"/>
              <a:t> связаны один или более приостановленных процессов, способных завершить </a:t>
            </a:r>
          </a:p>
          <a:p>
            <a:r>
              <a:rPr lang="ru-RU" dirty="0" smtClean="0"/>
              <a:t>ранее начатые операции </a:t>
            </a:r>
            <a:r>
              <a:rPr lang="ru-RU" dirty="0" err="1" smtClean="0"/>
              <a:t>down</a:t>
            </a:r>
            <a:r>
              <a:rPr lang="ru-RU" dirty="0" smtClean="0"/>
              <a:t>, система выбирает один из них (к примеру, произвольным </a:t>
            </a:r>
          </a:p>
          <a:p>
            <a:r>
              <a:rPr lang="ru-RU" dirty="0" smtClean="0"/>
              <a:t>образом) и позволяет ему завершить его операцию </a:t>
            </a:r>
            <a:r>
              <a:rPr lang="ru-RU" dirty="0" err="1" smtClean="0"/>
              <a:t>down</a:t>
            </a:r>
            <a:r>
              <a:rPr lang="ru-RU" dirty="0" smtClean="0"/>
              <a:t>. Таким образом, после приме-</a:t>
            </a:r>
          </a:p>
          <a:p>
            <a:r>
              <a:rPr lang="ru-RU" dirty="0" smtClean="0"/>
              <a:t>нения операции </a:t>
            </a:r>
            <a:r>
              <a:rPr lang="ru-RU" dirty="0" err="1" smtClean="0"/>
              <a:t>up</a:t>
            </a:r>
            <a:r>
              <a:rPr lang="ru-RU" dirty="0" smtClean="0"/>
              <a:t> в отношении семафора, с которым были связаны приостановленные </a:t>
            </a:r>
          </a:p>
          <a:p>
            <a:r>
              <a:rPr lang="ru-RU" dirty="0" smtClean="0"/>
              <a:t>процессы, значение семафора так и останется нулевым, но количество </a:t>
            </a:r>
            <a:r>
              <a:rPr lang="ru-RU" dirty="0" err="1" smtClean="0"/>
              <a:t>приостанов</a:t>
            </a:r>
            <a:r>
              <a:rPr lang="ru-RU" dirty="0" smtClean="0"/>
              <a:t>-</a:t>
            </a:r>
          </a:p>
          <a:p>
            <a:r>
              <a:rPr lang="ru-RU" dirty="0" smtClean="0"/>
              <a:t>ленных процессов уменьшится на 1. Операция увеличения значения семафора на 1 </a:t>
            </a:r>
          </a:p>
          <a:p>
            <a:r>
              <a:rPr lang="ru-RU" dirty="0" smtClean="0"/>
              <a:t>и активизации одного из процессов также является неделимой. Ни один из процессов </a:t>
            </a:r>
          </a:p>
          <a:p>
            <a:r>
              <a:rPr lang="ru-RU" dirty="0" smtClean="0"/>
              <a:t>не может быть заблокирован при выполнении операции </a:t>
            </a:r>
            <a:r>
              <a:rPr lang="ru-RU" dirty="0" err="1" smtClean="0"/>
              <a:t>up</a:t>
            </a:r>
            <a:r>
              <a:rPr lang="ru-RU" dirty="0" smtClean="0"/>
              <a:t>, равно как ни один из про-</a:t>
            </a:r>
          </a:p>
          <a:p>
            <a:r>
              <a:rPr lang="ru-RU" dirty="0" err="1" smtClean="0"/>
              <a:t>цессов</a:t>
            </a:r>
            <a:r>
              <a:rPr lang="ru-RU" dirty="0" smtClean="0"/>
              <a:t> не может быть заблокирован при выполнении </a:t>
            </a:r>
            <a:r>
              <a:rPr lang="ru-RU" dirty="0" err="1" smtClean="0"/>
              <a:t>wakeup</a:t>
            </a:r>
            <a:r>
              <a:rPr lang="ru-RU" dirty="0" smtClean="0"/>
              <a:t> в предыдущей модели.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7881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Также стоит заметить, что условные переменные (в отличие от семафоров) не </a:t>
            </a:r>
            <a:r>
              <a:rPr lang="ru-RU" dirty="0" err="1" smtClean="0"/>
              <a:t>запоми</a:t>
            </a:r>
            <a:r>
              <a:rPr lang="ru-RU" dirty="0" smtClean="0"/>
              <a:t>-</a:t>
            </a:r>
          </a:p>
          <a:p>
            <a:r>
              <a:rPr lang="ru-RU" dirty="0" err="1" smtClean="0"/>
              <a:t>наются</a:t>
            </a:r>
            <a:r>
              <a:rPr lang="ru-RU" dirty="0" smtClean="0"/>
              <a:t>. Если сигнал отправлен условной переменной, изменения значения которой не </a:t>
            </a:r>
          </a:p>
          <a:p>
            <a:r>
              <a:rPr lang="ru-RU" dirty="0" smtClean="0"/>
              <a:t>ожидает ни один из потоков, сигнал теряется. Чтобы не потерять сигнал, программисты </a:t>
            </a:r>
          </a:p>
          <a:p>
            <a:r>
              <a:rPr lang="ru-RU" dirty="0" smtClean="0"/>
              <a:t>должны обращать особое внимание.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723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Задача производителя-потребителя, в которой используется один-</a:t>
            </a:r>
          </a:p>
          <a:p>
            <a:r>
              <a:rPr lang="ru-RU" dirty="0" smtClean="0"/>
              <a:t>единственный буфер. Когда производитель заполняет буфер, то перед тем как произвести </a:t>
            </a:r>
          </a:p>
          <a:p>
            <a:r>
              <a:rPr lang="ru-RU" dirty="0" smtClean="0"/>
              <a:t>следующую запись, он должен ждать, пока потребитель не опустошит этот буфер. Точно </a:t>
            </a:r>
          </a:p>
          <a:p>
            <a:r>
              <a:rPr lang="ru-RU" dirty="0" smtClean="0"/>
              <a:t>так же, когда потребитель извлечет запись, он должен ждать, пока производитель не про-</a:t>
            </a:r>
          </a:p>
          <a:p>
            <a:r>
              <a:rPr lang="ru-RU" dirty="0" smtClean="0"/>
              <a:t>изведет другую запись. При всей своей предельной простоте этот пример иллюстрирует </a:t>
            </a:r>
          </a:p>
          <a:p>
            <a:r>
              <a:rPr lang="ru-RU" dirty="0" smtClean="0"/>
              <a:t>работу основного механизма. Оператор, приостанавливающий работу потока, прежде </a:t>
            </a:r>
          </a:p>
          <a:p>
            <a:r>
              <a:rPr lang="ru-RU" dirty="0" smtClean="0"/>
              <a:t>чем продолжить его работу, должен убедиться в выполнении условия, поскольку поток </a:t>
            </a:r>
          </a:p>
          <a:p>
            <a:r>
              <a:rPr lang="ru-RU" dirty="0" smtClean="0"/>
              <a:t>может быть активирован в результате поступления сигнала UNIX или по другой причине.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0C216F-C92D-43DC-846A-68AA0B0379E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76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F3122538-4006-4605-AB18-5ABDF380A1ED}" type="datetimeFigureOut">
              <a:rPr lang="ru-RU" smtClean="0"/>
              <a:t>05.03.2017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44EC8658-723D-42C7-A5C6-261DCA4E0C0B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dirty="0"/>
              <a:t>Процессы и потоки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синхронизация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2139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49106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Два процесса </a:t>
            </a:r>
            <a:r>
              <a:rPr lang="ru-RU" dirty="0" smtClean="0"/>
              <a:t>используют </a:t>
            </a:r>
            <a:r>
              <a:rPr lang="ru-RU" dirty="0"/>
              <a:t>общий буфер фиксированного размера. </a:t>
            </a:r>
            <a:endParaRPr lang="ru-RU" dirty="0" smtClean="0"/>
          </a:p>
          <a:p>
            <a:r>
              <a:rPr lang="ru-RU" dirty="0" smtClean="0"/>
              <a:t>Один </a:t>
            </a:r>
            <a:r>
              <a:rPr lang="ru-RU" dirty="0"/>
              <a:t>из них, производитель, </a:t>
            </a:r>
            <a:r>
              <a:rPr lang="ru-RU" dirty="0" smtClean="0"/>
              <a:t>помещает </a:t>
            </a:r>
            <a:r>
              <a:rPr lang="ru-RU" dirty="0"/>
              <a:t>информацию в буфер, а </a:t>
            </a:r>
            <a:r>
              <a:rPr lang="ru-RU" dirty="0" smtClean="0"/>
              <a:t>другой</a:t>
            </a:r>
            <a:r>
              <a:rPr lang="ru-RU" dirty="0"/>
              <a:t>, потребитель, извлекает ее оттуда</a:t>
            </a:r>
            <a:r>
              <a:rPr lang="ru-RU" dirty="0" smtClean="0"/>
              <a:t>.</a:t>
            </a:r>
          </a:p>
          <a:p>
            <a:r>
              <a:rPr lang="ru-RU" dirty="0"/>
              <a:t>Проблемы возникают в тот момент, когда производителю требуется поместить новую </a:t>
            </a:r>
            <a:r>
              <a:rPr lang="ru-RU" dirty="0" smtClean="0"/>
              <a:t>запись </a:t>
            </a:r>
            <a:r>
              <a:rPr lang="ru-RU" dirty="0"/>
              <a:t>в уже заполненный буфер. </a:t>
            </a:r>
            <a:endParaRPr lang="ru-RU" dirty="0" smtClean="0"/>
          </a:p>
          <a:p>
            <a:r>
              <a:rPr lang="ru-RU" dirty="0" smtClean="0"/>
              <a:t>Решение </a:t>
            </a:r>
            <a:r>
              <a:rPr lang="ru-RU" dirty="0"/>
              <a:t>заключается в блокировании производителя </a:t>
            </a:r>
            <a:r>
              <a:rPr lang="ru-RU" dirty="0" smtClean="0"/>
              <a:t>до </a:t>
            </a:r>
            <a:r>
              <a:rPr lang="ru-RU" dirty="0"/>
              <a:t>тех пор, пока потребитель не извлечет как минимум одну </a:t>
            </a:r>
            <a:r>
              <a:rPr lang="ru-RU" dirty="0" smtClean="0"/>
              <a:t>запись</a:t>
            </a:r>
            <a:r>
              <a:rPr lang="ru-RU" dirty="0"/>
              <a:t>. Также, если </a:t>
            </a:r>
            <a:r>
              <a:rPr lang="ru-RU" dirty="0" smtClean="0"/>
              <a:t>потребителю </a:t>
            </a:r>
            <a:r>
              <a:rPr lang="ru-RU" dirty="0"/>
              <a:t>нужно извлечь запись из буфера и он видит, что буфер пуст, он блокируется </a:t>
            </a:r>
            <a:r>
              <a:rPr lang="ru-RU" dirty="0" smtClean="0"/>
              <a:t>до </a:t>
            </a:r>
            <a:r>
              <a:rPr lang="ru-RU" dirty="0"/>
              <a:t>тех пор, пока производитель не поместит что-нибудь в буфер и не активизирует </a:t>
            </a:r>
            <a:r>
              <a:rPr lang="ru-RU" dirty="0" smtClean="0"/>
              <a:t>этого </a:t>
            </a:r>
            <a:r>
              <a:rPr lang="ru-RU" dirty="0"/>
              <a:t>потребителя.</a:t>
            </a:r>
          </a:p>
        </p:txBody>
      </p:sp>
    </p:spTree>
    <p:extLst>
      <p:ext uri="{BB962C8B-B14F-4D97-AF65-F5344CB8AC3E}">
        <p14:creationId xmlns:p14="http://schemas.microsoft.com/office/powerpoint/2010/main" val="2375621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139136" cy="1371600"/>
          </a:xfrm>
        </p:spPr>
        <p:txBody>
          <a:bodyPr>
            <a:normAutofit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Для </a:t>
            </a:r>
            <a:r>
              <a:rPr lang="ru-RU" dirty="0"/>
              <a:t>отслеживания количества записей в буфере нам потребуется </a:t>
            </a:r>
            <a:r>
              <a:rPr lang="ru-RU" dirty="0" smtClean="0"/>
              <a:t>переменная </a:t>
            </a:r>
            <a:r>
              <a:rPr lang="ru-RU" dirty="0" err="1"/>
              <a:t>count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максимальное количество записей, которое может содержаться </a:t>
            </a:r>
            <a:r>
              <a:rPr lang="ru-RU" dirty="0" smtClean="0"/>
              <a:t>в </a:t>
            </a:r>
            <a:r>
              <a:rPr lang="ru-RU" dirty="0"/>
              <a:t>буфере, равно N, то программа производителя должна сначала проверить, не имеет </a:t>
            </a:r>
            <a:r>
              <a:rPr lang="ru-RU" dirty="0" smtClean="0"/>
              <a:t>ли </a:t>
            </a:r>
            <a:r>
              <a:rPr lang="ru-RU" dirty="0" err="1"/>
              <a:t>count</a:t>
            </a:r>
            <a:r>
              <a:rPr lang="ru-RU" dirty="0"/>
              <a:t> значение N.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переменная имеет такое значение, производитель должен </a:t>
            </a:r>
            <a:r>
              <a:rPr lang="ru-RU" dirty="0" smtClean="0"/>
              <a:t>заблокировать </a:t>
            </a:r>
            <a:r>
              <a:rPr lang="ru-RU" dirty="0"/>
              <a:t>свое выполнение, а если не имеет, производитель должен добавить  запись </a:t>
            </a:r>
            <a:r>
              <a:rPr lang="ru-RU" dirty="0" smtClean="0"/>
              <a:t>и </a:t>
            </a:r>
            <a:r>
              <a:rPr lang="ru-RU" dirty="0"/>
              <a:t>увеличить показание счетчика </a:t>
            </a:r>
            <a:r>
              <a:rPr lang="ru-RU" dirty="0" err="1"/>
              <a:t>count</a:t>
            </a:r>
            <a:r>
              <a:rPr lang="ru-RU" dirty="0" smtClean="0"/>
              <a:t>.</a:t>
            </a:r>
          </a:p>
          <a:p>
            <a:r>
              <a:rPr lang="ru-RU" dirty="0"/>
              <a:t>Программа потребителя работает схожим образом: сначала проверяет, не является ли </a:t>
            </a:r>
            <a:r>
              <a:rPr lang="ru-RU" dirty="0" smtClean="0"/>
              <a:t>значение </a:t>
            </a:r>
            <a:r>
              <a:rPr lang="ru-RU" dirty="0" err="1"/>
              <a:t>count</a:t>
            </a:r>
            <a:r>
              <a:rPr lang="ru-RU" dirty="0"/>
              <a:t> нулевым. Если оно равно нулю, процесс блокирует свое выполнение, </a:t>
            </a:r>
            <a:r>
              <a:rPr lang="ru-RU" dirty="0" smtClean="0"/>
              <a:t>а </a:t>
            </a:r>
            <a:r>
              <a:rPr lang="ru-RU" dirty="0"/>
              <a:t>если не равно нулю, он извлекает запись и уменьшает значение счетчика. </a:t>
            </a:r>
          </a:p>
        </p:txBody>
      </p:sp>
    </p:spTree>
    <p:extLst>
      <p:ext uri="{BB962C8B-B14F-4D97-AF65-F5344CB8AC3E}">
        <p14:creationId xmlns:p14="http://schemas.microsoft.com/office/powerpoint/2010/main" val="56892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620000" cy="4641379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#define N 100  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количество мест для записей в буфере */</a:t>
            </a:r>
          </a:p>
          <a:p>
            <a:pPr>
              <a:spcAft>
                <a:spcPts val="0"/>
              </a:spcAft>
            </a:pP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count = 0; 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количество записей в буфере */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void producer(void)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item</a:t>
            </a:r>
            <a:r>
              <a:rPr lang="en-US" sz="11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11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while (TRUE) {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бесконечное повторение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produce_item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 );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генерация новой записи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N) sleep( );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если буфер полон, заблокироваться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insert_item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(item);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помещение записи в буфер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count = count + 1;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увеличение счетчика записей в буфере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1) wakeup(consumer);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был ли буфер пуст?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Aft>
                <a:spcPts val="0"/>
              </a:spcAft>
            </a:pPr>
            <a:endParaRPr lang="ru-RU" sz="11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void consumer(void)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 item;</a:t>
            </a:r>
          </a:p>
          <a:p>
            <a:pPr>
              <a:spcAft>
                <a:spcPts val="0"/>
              </a:spcAft>
            </a:pPr>
            <a:r>
              <a:rPr lang="en-US" sz="1100" dirty="0">
                <a:latin typeface="Courier New" pitchFamily="49" charset="0"/>
                <a:cs typeface="Courier New" pitchFamily="49" charset="0"/>
              </a:rPr>
              <a:t> while (TRUE) {   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бесконечное повторение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0) sleep();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если буфер пуст, заблокироваться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remove_item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 );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извлечь запись из буфера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count = count− 1;  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уменьшение счетчика записей в буфере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if (count == N − 1) wakeup(producer);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был ли буфер полон?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dirty="0" err="1">
                <a:latin typeface="Courier New" pitchFamily="49" charset="0"/>
                <a:cs typeface="Courier New" pitchFamily="49" charset="0"/>
              </a:rPr>
              <a:t>consume_item</a:t>
            </a:r>
            <a:r>
              <a:rPr lang="en-US" sz="1100" dirty="0">
                <a:latin typeface="Courier New" pitchFamily="49" charset="0"/>
                <a:cs typeface="Courier New" pitchFamily="49" charset="0"/>
              </a:rPr>
              <a:t>(item);               /* </a:t>
            </a:r>
            <a:r>
              <a:rPr lang="ru-RU" sz="1100" dirty="0">
                <a:latin typeface="Courier New" pitchFamily="49" charset="0"/>
                <a:cs typeface="Courier New" pitchFamily="49" charset="0"/>
              </a:rPr>
              <a:t>распечатка записи */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11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1299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85110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Причиной </a:t>
            </a:r>
            <a:r>
              <a:rPr lang="ru-RU" dirty="0" smtClean="0"/>
              <a:t>появления состязательной ситуации может </a:t>
            </a:r>
            <a:r>
              <a:rPr lang="ru-RU" dirty="0"/>
              <a:t>стать </a:t>
            </a:r>
            <a:r>
              <a:rPr lang="ru-RU" dirty="0" smtClean="0"/>
              <a:t>свободный </a:t>
            </a:r>
            <a:r>
              <a:rPr lang="ru-RU" dirty="0"/>
              <a:t>доступ к счетчику </a:t>
            </a:r>
            <a:r>
              <a:rPr lang="ru-RU" dirty="0" err="1"/>
              <a:t>count</a:t>
            </a:r>
            <a:r>
              <a:rPr lang="ru-RU" dirty="0"/>
              <a:t>. Как следствие может сложиться следующая ситуация. </a:t>
            </a:r>
          </a:p>
          <a:p>
            <a:r>
              <a:rPr lang="ru-RU" dirty="0"/>
              <a:t>Буфер пуст, и потребитель только что считал показания </a:t>
            </a:r>
            <a:r>
              <a:rPr lang="ru-RU" dirty="0" err="1"/>
              <a:t>count</a:t>
            </a:r>
            <a:r>
              <a:rPr lang="ru-RU" dirty="0"/>
              <a:t>, чтобы увидеть, что его </a:t>
            </a:r>
            <a:r>
              <a:rPr lang="ru-RU" dirty="0" smtClean="0"/>
              <a:t>значение </a:t>
            </a:r>
            <a:r>
              <a:rPr lang="ru-RU" dirty="0"/>
              <a:t>равно 0. В этот самый момент планировщик решает временно приостановить </a:t>
            </a:r>
            <a:r>
              <a:rPr lang="ru-RU" dirty="0" smtClean="0"/>
              <a:t>выполнение </a:t>
            </a:r>
            <a:r>
              <a:rPr lang="ru-RU" dirty="0"/>
              <a:t>процесса потребителя и возобновить выполнение процесса </a:t>
            </a:r>
            <a:r>
              <a:rPr lang="ru-RU" dirty="0" smtClean="0"/>
              <a:t>производителя</a:t>
            </a:r>
            <a:r>
              <a:rPr lang="ru-RU" dirty="0"/>
              <a:t>. Производитель помещает запись в буфер, увеличивает значение счетчика </a:t>
            </a:r>
            <a:r>
              <a:rPr lang="ru-RU" dirty="0" err="1"/>
              <a:t>count</a:t>
            </a:r>
            <a:r>
              <a:rPr lang="ru-RU" dirty="0"/>
              <a:t> </a:t>
            </a:r>
            <a:r>
              <a:rPr lang="ru-RU" dirty="0" smtClean="0"/>
              <a:t>и </a:t>
            </a:r>
            <a:r>
              <a:rPr lang="ru-RU" dirty="0"/>
              <a:t>замечает, что теперь оно равно 1. </a:t>
            </a:r>
            <a:endParaRPr lang="ru-RU" dirty="0" smtClean="0"/>
          </a:p>
          <a:p>
            <a:r>
              <a:rPr lang="ru-RU" dirty="0" smtClean="0"/>
              <a:t>Приняв </a:t>
            </a:r>
            <a:r>
              <a:rPr lang="ru-RU" dirty="0"/>
              <a:t>во внимание, что только что счетчик имел </a:t>
            </a:r>
            <a:r>
              <a:rPr lang="ru-RU" dirty="0" smtClean="0"/>
              <a:t>нулевое </a:t>
            </a:r>
            <a:r>
              <a:rPr lang="ru-RU" dirty="0"/>
              <a:t>значение, при котором потребитель должен находиться в заблокированном </a:t>
            </a:r>
            <a:r>
              <a:rPr lang="ru-RU" dirty="0" smtClean="0"/>
              <a:t>состоянии</a:t>
            </a:r>
            <a:r>
              <a:rPr lang="ru-RU" dirty="0"/>
              <a:t>, производитель вызывает процедуру </a:t>
            </a:r>
            <a:r>
              <a:rPr lang="ru-RU" dirty="0" err="1"/>
              <a:t>wakeup</a:t>
            </a:r>
            <a:r>
              <a:rPr lang="ru-RU" dirty="0"/>
              <a:t>, чтобы активизировать </a:t>
            </a:r>
            <a:r>
              <a:rPr lang="ru-RU" dirty="0" smtClean="0"/>
              <a:t>выполнение </a:t>
            </a:r>
            <a:r>
              <a:rPr lang="ru-RU" dirty="0"/>
              <a:t>процесса потребителя.</a:t>
            </a:r>
          </a:p>
        </p:txBody>
      </p:sp>
    </p:spTree>
    <p:extLst>
      <p:ext uri="{BB962C8B-B14F-4D97-AF65-F5344CB8AC3E}">
        <p14:creationId xmlns:p14="http://schemas.microsoft.com/office/powerpoint/2010/main" val="2005945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 сожалению, с точки зрения логики программы потребитель не находился в </a:t>
            </a:r>
            <a:r>
              <a:rPr lang="ru-RU" dirty="0" smtClean="0"/>
              <a:t>бездействующем </a:t>
            </a:r>
            <a:r>
              <a:rPr lang="ru-RU" dirty="0"/>
              <a:t>состоянии, поэтому сигнал на активизацию будет утрачен.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подойдет </a:t>
            </a:r>
            <a:r>
              <a:rPr lang="ru-RU" dirty="0" smtClean="0"/>
              <a:t>очередь </a:t>
            </a:r>
            <a:r>
              <a:rPr lang="ru-RU" dirty="0"/>
              <a:t>возобновить выполнение процесса потребителя, он проверит ранее считанное </a:t>
            </a:r>
            <a:r>
              <a:rPr lang="ru-RU" dirty="0" smtClean="0"/>
              <a:t>значение </a:t>
            </a:r>
            <a:r>
              <a:rPr lang="ru-RU" dirty="0"/>
              <a:t>счетчика, определит, что оно было равно 0, и снова перейдет в </a:t>
            </a:r>
            <a:r>
              <a:rPr lang="ru-RU" dirty="0" smtClean="0"/>
              <a:t>заблокированное </a:t>
            </a:r>
            <a:r>
              <a:rPr lang="ru-RU" dirty="0"/>
              <a:t>состояние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Рано </a:t>
            </a:r>
            <a:r>
              <a:rPr lang="ru-RU" dirty="0"/>
              <a:t>или поздно производитель заполнит буфер и тоже перейдет </a:t>
            </a:r>
            <a:r>
              <a:rPr lang="ru-RU" dirty="0" smtClean="0"/>
              <a:t>в </a:t>
            </a:r>
            <a:r>
              <a:rPr lang="ru-RU" dirty="0"/>
              <a:t>заблокированное состояние. И оба процесса впадут в вечную спячку.</a:t>
            </a:r>
          </a:p>
        </p:txBody>
      </p:sp>
    </p:spTree>
    <p:extLst>
      <p:ext uri="{BB962C8B-B14F-4D97-AF65-F5344CB8AC3E}">
        <p14:creationId xmlns:p14="http://schemas.microsoft.com/office/powerpoint/2010/main" val="818120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07088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Суть возникшей проблемы заключается в утрате вызова </a:t>
            </a:r>
            <a:r>
              <a:rPr lang="ru-RU" dirty="0" err="1"/>
              <a:t>wakeup</a:t>
            </a:r>
            <a:r>
              <a:rPr lang="ru-RU" dirty="0"/>
              <a:t> в отношении процесса, </a:t>
            </a:r>
            <a:r>
              <a:rPr lang="ru-RU" dirty="0" smtClean="0"/>
              <a:t>который </a:t>
            </a:r>
            <a:r>
              <a:rPr lang="ru-RU" dirty="0"/>
              <a:t>не находится в состоянии блокировки по собственной воле. </a:t>
            </a:r>
            <a:endParaRPr lang="ru-RU" dirty="0" smtClean="0"/>
          </a:p>
          <a:p>
            <a:r>
              <a:rPr lang="ru-RU" dirty="0" smtClean="0"/>
              <a:t>Быстро </a:t>
            </a:r>
            <a:r>
              <a:rPr lang="ru-RU" dirty="0"/>
              <a:t>устранить проблему </a:t>
            </a:r>
            <a:r>
              <a:rPr lang="ru-RU" dirty="0" smtClean="0"/>
              <a:t>позволит </a:t>
            </a:r>
            <a:r>
              <a:rPr lang="ru-RU" dirty="0"/>
              <a:t>изменение правил за счет добавления </a:t>
            </a:r>
            <a:r>
              <a:rPr lang="ru-RU" dirty="0" smtClean="0"/>
              <a:t>бита </a:t>
            </a:r>
            <a:r>
              <a:rPr lang="ru-RU" dirty="0"/>
              <a:t>ожидания </a:t>
            </a:r>
            <a:r>
              <a:rPr lang="ru-RU" dirty="0" smtClean="0"/>
              <a:t>активизации</a:t>
            </a:r>
            <a:r>
              <a:rPr lang="ru-RU" dirty="0"/>
              <a:t>. Этот бит устанавливается, когда в отношении процесса, который не </a:t>
            </a:r>
            <a:r>
              <a:rPr lang="ru-RU" dirty="0" smtClean="0"/>
              <a:t>находится </a:t>
            </a:r>
            <a:r>
              <a:rPr lang="ru-RU" dirty="0"/>
              <a:t>в состоянии бездействия, вызывается процедура </a:t>
            </a:r>
            <a:r>
              <a:rPr lang="ru-RU" dirty="0" err="1"/>
              <a:t>wakeup</a:t>
            </a:r>
            <a:r>
              <a:rPr lang="ru-RU" dirty="0"/>
              <a:t>. Затем, когда процесс </a:t>
            </a:r>
            <a:r>
              <a:rPr lang="ru-RU" dirty="0" smtClean="0"/>
              <a:t>попытается </a:t>
            </a:r>
            <a:r>
              <a:rPr lang="ru-RU" dirty="0"/>
              <a:t>заблокироваться при установленном бите ожидания активизации, этот </a:t>
            </a:r>
            <a:r>
              <a:rPr lang="ru-RU" dirty="0" smtClean="0"/>
              <a:t>бит </a:t>
            </a:r>
            <a:r>
              <a:rPr lang="ru-RU" dirty="0"/>
              <a:t>снимается, но процесс не блокируется. Бит ожидания активизации становится </a:t>
            </a:r>
            <a:r>
              <a:rPr lang="ru-RU" dirty="0" smtClean="0"/>
              <a:t>своеобразной </a:t>
            </a:r>
            <a:r>
              <a:rPr lang="ru-RU" dirty="0"/>
              <a:t>копилкой, хранящей сигналы активизации. Потребитель снимает бит </a:t>
            </a:r>
            <a:r>
              <a:rPr lang="ru-RU" dirty="0" smtClean="0"/>
              <a:t>ожидания </a:t>
            </a:r>
            <a:r>
              <a:rPr lang="ru-RU" dirty="0"/>
              <a:t>активизации в каждой итерации цикла.</a:t>
            </a:r>
          </a:p>
        </p:txBody>
      </p:sp>
    </p:spTree>
    <p:extLst>
      <p:ext uri="{BB962C8B-B14F-4D97-AF65-F5344CB8AC3E}">
        <p14:creationId xmlns:p14="http://schemas.microsoft.com/office/powerpoint/2010/main" val="1963846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Семафоры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931224" cy="4373563"/>
          </a:xfrm>
        </p:spPr>
        <p:txBody>
          <a:bodyPr>
            <a:noAutofit/>
          </a:bodyPr>
          <a:lstStyle/>
          <a:p>
            <a:r>
              <a:rPr lang="ru-RU" sz="1600" dirty="0"/>
              <a:t>В</a:t>
            </a:r>
            <a:r>
              <a:rPr lang="ru-RU" sz="1600" dirty="0" smtClean="0"/>
              <a:t> </a:t>
            </a:r>
            <a:r>
              <a:rPr lang="ru-RU" sz="1600" dirty="0"/>
              <a:t>1965 </a:t>
            </a:r>
            <a:r>
              <a:rPr lang="ru-RU" sz="1600" dirty="0" smtClean="0"/>
              <a:t>году </a:t>
            </a:r>
            <a:r>
              <a:rPr lang="ru-RU" sz="1600" dirty="0" err="1" smtClean="0"/>
              <a:t>Дейкстра</a:t>
            </a:r>
            <a:r>
              <a:rPr lang="ru-RU" sz="1600" dirty="0" smtClean="0"/>
              <a:t> предложил </a:t>
            </a:r>
            <a:r>
              <a:rPr lang="ru-RU" sz="1600" dirty="0"/>
              <a:t>учредить новый тип переменной — семафор (</a:t>
            </a:r>
            <a:r>
              <a:rPr lang="ru-RU" sz="1600" dirty="0" err="1"/>
              <a:t>semaphore</a:t>
            </a:r>
            <a:r>
              <a:rPr lang="ru-RU" sz="1600" dirty="0"/>
              <a:t>). </a:t>
            </a:r>
            <a:r>
              <a:rPr lang="ru-RU" sz="1600" dirty="0" smtClean="0"/>
              <a:t>Значение семафора </a:t>
            </a:r>
            <a:r>
              <a:rPr lang="ru-RU" sz="1600" dirty="0"/>
              <a:t>может быть равно 0, что будет свидетельствовать об отсутствии </a:t>
            </a:r>
            <a:r>
              <a:rPr lang="ru-RU" sz="1600" dirty="0" smtClean="0"/>
              <a:t>сохраненных активизаций</a:t>
            </a:r>
            <a:r>
              <a:rPr lang="ru-RU" sz="1600" dirty="0"/>
              <a:t>, или иметь какое-нибудь положительное значение, если ожидается </a:t>
            </a:r>
            <a:r>
              <a:rPr lang="ru-RU" sz="1600" dirty="0" smtClean="0"/>
              <a:t>не менее </a:t>
            </a:r>
            <a:r>
              <a:rPr lang="ru-RU" sz="1600" dirty="0"/>
              <a:t>одной активизации.</a:t>
            </a:r>
          </a:p>
          <a:p>
            <a:r>
              <a:rPr lang="ru-RU" sz="1600" dirty="0" smtClean="0"/>
              <a:t>Две </a:t>
            </a:r>
            <a:r>
              <a:rPr lang="ru-RU" sz="1600" dirty="0"/>
              <a:t>операции с семафорами, которые сейчас </a:t>
            </a:r>
            <a:r>
              <a:rPr lang="ru-RU" sz="1600" dirty="0" smtClean="0"/>
              <a:t>обычно называют </a:t>
            </a:r>
            <a:r>
              <a:rPr lang="ru-RU" sz="1600" i="1" dirty="0" err="1"/>
              <a:t>down</a:t>
            </a:r>
            <a:r>
              <a:rPr lang="ru-RU" sz="1600" i="1" dirty="0"/>
              <a:t> </a:t>
            </a:r>
            <a:r>
              <a:rPr lang="ru-RU" sz="1600" dirty="0"/>
              <a:t>и </a:t>
            </a:r>
            <a:r>
              <a:rPr lang="ru-RU" sz="1600" i="1" dirty="0" err="1" smtClean="0"/>
              <a:t>up</a:t>
            </a:r>
            <a:r>
              <a:rPr lang="ru-RU" sz="1600" i="1" dirty="0" smtClean="0"/>
              <a:t>. </a:t>
            </a:r>
            <a:r>
              <a:rPr lang="ru-RU" sz="1600" dirty="0" smtClean="0"/>
              <a:t>Операция </a:t>
            </a:r>
            <a:r>
              <a:rPr lang="ru-RU" sz="1600" i="1" dirty="0" err="1"/>
              <a:t>down</a:t>
            </a:r>
            <a:r>
              <a:rPr lang="ru-RU" sz="1600" i="1" dirty="0"/>
              <a:t> </a:t>
            </a:r>
            <a:r>
              <a:rPr lang="ru-RU" sz="1600" dirty="0" smtClean="0"/>
              <a:t>выясняет</a:t>
            </a:r>
            <a:r>
              <a:rPr lang="ru-RU" sz="1600" dirty="0"/>
              <a:t>, отличается ли значение семафора от 0. Если отличается, она уменьшает это </a:t>
            </a:r>
            <a:r>
              <a:rPr lang="ru-RU" sz="1600" dirty="0" smtClean="0"/>
              <a:t>значение на </a:t>
            </a:r>
            <a:r>
              <a:rPr lang="ru-RU" sz="1600" dirty="0"/>
              <a:t>1 (то есть использует одну сохраненную активизацию) и продолжает свою работу.</a:t>
            </a:r>
          </a:p>
          <a:p>
            <a:r>
              <a:rPr lang="ru-RU" sz="1600" dirty="0"/>
              <a:t>Если значение равно 0, процесс приостанавливается, не завершая в этот раз </a:t>
            </a:r>
            <a:r>
              <a:rPr lang="ru-RU" sz="1600" dirty="0" smtClean="0"/>
              <a:t>операцию </a:t>
            </a:r>
            <a:r>
              <a:rPr lang="ru-RU" sz="1600" i="1" dirty="0" err="1" smtClean="0"/>
              <a:t>down</a:t>
            </a:r>
            <a:r>
              <a:rPr lang="ru-RU" sz="1600" dirty="0"/>
              <a:t>. И проверка значения, и его изменение, и, возможно, приостановка процесса </a:t>
            </a:r>
            <a:r>
              <a:rPr lang="ru-RU" sz="1600" dirty="0" smtClean="0"/>
              <a:t>осуществляются </a:t>
            </a:r>
            <a:r>
              <a:rPr lang="ru-RU" sz="1600" dirty="0"/>
              <a:t>как единое и неделимое атомарное действие. Тем самым </a:t>
            </a:r>
            <a:r>
              <a:rPr lang="ru-RU" sz="1600" dirty="0" smtClean="0"/>
              <a:t>гарантируется, что </a:t>
            </a:r>
            <a:r>
              <a:rPr lang="ru-RU" sz="1600" dirty="0"/>
              <a:t>с началом семафорной операции никакой другой процесс не может получить </a:t>
            </a:r>
            <a:r>
              <a:rPr lang="ru-RU" sz="1600" dirty="0" smtClean="0"/>
              <a:t>доступ к </a:t>
            </a:r>
            <a:r>
              <a:rPr lang="ru-RU" sz="1600" dirty="0"/>
              <a:t>семафору до тех пор, пока операция не будет завершена или заблокирована.</a:t>
            </a:r>
          </a:p>
        </p:txBody>
      </p:sp>
    </p:spTree>
    <p:extLst>
      <p:ext uri="{BB962C8B-B14F-4D97-AF65-F5344CB8AC3E}">
        <p14:creationId xmlns:p14="http://schemas.microsoft.com/office/powerpoint/2010/main" val="2656088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семафоры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Операция </a:t>
            </a:r>
            <a:r>
              <a:rPr lang="ru-RU" dirty="0" err="1"/>
              <a:t>up</a:t>
            </a:r>
            <a:r>
              <a:rPr lang="ru-RU" dirty="0"/>
              <a:t> увеличивает значение, адресуемое семафором, на 1. Если с этим </a:t>
            </a:r>
            <a:r>
              <a:rPr lang="ru-RU" dirty="0" smtClean="0"/>
              <a:t>семафором </a:t>
            </a:r>
            <a:r>
              <a:rPr lang="ru-RU" dirty="0"/>
              <a:t>связаны один или более приостановленных процессов, способных завершить </a:t>
            </a:r>
            <a:r>
              <a:rPr lang="ru-RU" dirty="0" smtClean="0"/>
              <a:t>ранее </a:t>
            </a:r>
            <a:r>
              <a:rPr lang="ru-RU" dirty="0"/>
              <a:t>начатые операции </a:t>
            </a:r>
            <a:r>
              <a:rPr lang="ru-RU" dirty="0" err="1"/>
              <a:t>down</a:t>
            </a:r>
            <a:r>
              <a:rPr lang="ru-RU" dirty="0"/>
              <a:t>, система выбирает один из них (к примеру, </a:t>
            </a:r>
            <a:r>
              <a:rPr lang="ru-RU" dirty="0" smtClean="0"/>
              <a:t>произвольным образом</a:t>
            </a:r>
            <a:r>
              <a:rPr lang="ru-RU" dirty="0"/>
              <a:t>) и позволяет ему завершить его операцию </a:t>
            </a:r>
            <a:r>
              <a:rPr lang="ru-RU" dirty="0" err="1"/>
              <a:t>down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Таким </a:t>
            </a:r>
            <a:r>
              <a:rPr lang="ru-RU" dirty="0"/>
              <a:t>образом, после </a:t>
            </a:r>
            <a:r>
              <a:rPr lang="ru-RU" dirty="0" smtClean="0"/>
              <a:t>применения </a:t>
            </a:r>
            <a:r>
              <a:rPr lang="ru-RU" dirty="0"/>
              <a:t>операции </a:t>
            </a:r>
            <a:r>
              <a:rPr lang="ru-RU" dirty="0" err="1"/>
              <a:t>up</a:t>
            </a:r>
            <a:r>
              <a:rPr lang="ru-RU" dirty="0"/>
              <a:t> в отношении семафора, с которым были связаны приостановленные </a:t>
            </a:r>
            <a:r>
              <a:rPr lang="ru-RU" dirty="0" smtClean="0"/>
              <a:t>процессы</a:t>
            </a:r>
            <a:r>
              <a:rPr lang="ru-RU" dirty="0"/>
              <a:t>, значение семафора так и останется нулевым, но количество </a:t>
            </a:r>
            <a:r>
              <a:rPr lang="ru-RU" dirty="0" smtClean="0"/>
              <a:t>приостановленных </a:t>
            </a:r>
            <a:r>
              <a:rPr lang="ru-RU" dirty="0"/>
              <a:t>процессов уменьшится на 1. Операция увеличения значения семафора на 1 </a:t>
            </a:r>
            <a:r>
              <a:rPr lang="ru-RU" dirty="0" smtClean="0"/>
              <a:t>и </a:t>
            </a:r>
            <a:r>
              <a:rPr lang="ru-RU" dirty="0"/>
              <a:t>активизации одного из процессов также является неделимой. </a:t>
            </a:r>
            <a:endParaRPr lang="ru-RU" dirty="0" smtClean="0"/>
          </a:p>
          <a:p>
            <a:r>
              <a:rPr lang="ru-RU" dirty="0" smtClean="0"/>
              <a:t>Ни </a:t>
            </a:r>
            <a:r>
              <a:rPr lang="ru-RU" dirty="0"/>
              <a:t>один из процессов </a:t>
            </a:r>
            <a:r>
              <a:rPr lang="ru-RU" dirty="0" smtClean="0"/>
              <a:t>не </a:t>
            </a:r>
            <a:r>
              <a:rPr lang="ru-RU" dirty="0"/>
              <a:t>может быть заблокирован при выполнении операции </a:t>
            </a:r>
            <a:r>
              <a:rPr lang="ru-RU" dirty="0" err="1"/>
              <a:t>up</a:t>
            </a:r>
            <a:r>
              <a:rPr lang="ru-RU" dirty="0"/>
              <a:t>, равно как ни один из </a:t>
            </a:r>
            <a:r>
              <a:rPr lang="ru-RU" dirty="0" smtClean="0"/>
              <a:t>процессов </a:t>
            </a:r>
            <a:r>
              <a:rPr lang="ru-RU" dirty="0"/>
              <a:t>не может быть заблокирован при выполнении </a:t>
            </a:r>
            <a:r>
              <a:rPr lang="ru-RU" dirty="0" err="1"/>
              <a:t>wakeup</a:t>
            </a:r>
            <a:r>
              <a:rPr lang="ru-RU" dirty="0"/>
              <a:t> в предыдущей модели.</a:t>
            </a:r>
          </a:p>
        </p:txBody>
      </p:sp>
    </p:spTree>
    <p:extLst>
      <p:ext uri="{BB962C8B-B14F-4D97-AF65-F5344CB8AC3E}">
        <p14:creationId xmlns:p14="http://schemas.microsoft.com/office/powerpoint/2010/main" val="4037806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5921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потребителя, решаемая с помощью семафоров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В этом решении используются три семафора: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один </a:t>
            </a:r>
            <a:r>
              <a:rPr lang="ru-RU" dirty="0"/>
              <a:t>из них называется </a:t>
            </a:r>
            <a:r>
              <a:rPr lang="ru-RU" dirty="0" err="1"/>
              <a:t>full</a:t>
            </a:r>
            <a:r>
              <a:rPr lang="ru-RU" dirty="0"/>
              <a:t> и </a:t>
            </a:r>
            <a:r>
              <a:rPr lang="ru-RU" dirty="0" smtClean="0"/>
              <a:t>предназначен </a:t>
            </a:r>
            <a:r>
              <a:rPr lang="ru-RU" dirty="0"/>
              <a:t>для подсчета количества заполненных мест в буфере,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другой </a:t>
            </a:r>
            <a:r>
              <a:rPr lang="ru-RU" dirty="0"/>
              <a:t>называется </a:t>
            </a:r>
            <a:r>
              <a:rPr lang="ru-RU" dirty="0" err="1"/>
              <a:t>empty</a:t>
            </a:r>
            <a:r>
              <a:rPr lang="ru-RU" dirty="0"/>
              <a:t> </a:t>
            </a:r>
            <a:r>
              <a:rPr lang="ru-RU" dirty="0" smtClean="0"/>
              <a:t>и </a:t>
            </a:r>
            <a:r>
              <a:rPr lang="ru-RU" dirty="0"/>
              <a:t>предназначен для подсчета количества пустых мест в буфере, </a:t>
            </a:r>
            <a:endParaRPr lang="ru-RU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 smtClean="0"/>
              <a:t>третий </a:t>
            </a:r>
            <a:r>
              <a:rPr lang="ru-RU" dirty="0"/>
              <a:t>называется </a:t>
            </a:r>
            <a:r>
              <a:rPr lang="ru-RU" dirty="0" err="1" smtClean="0"/>
              <a:t>mutex</a:t>
            </a:r>
            <a:r>
              <a:rPr lang="ru-RU" dirty="0"/>
              <a:t>, он предотвращает одновременный доступ к буферу производителя и </a:t>
            </a:r>
            <a:r>
              <a:rPr lang="ru-RU" dirty="0" smtClean="0"/>
              <a:t>потребителя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Семафор </a:t>
            </a:r>
            <a:r>
              <a:rPr lang="ru-RU" dirty="0" err="1"/>
              <a:t>full</a:t>
            </a:r>
            <a:r>
              <a:rPr lang="ru-RU" dirty="0"/>
              <a:t> изначально равен 0, семафор </a:t>
            </a:r>
            <a:r>
              <a:rPr lang="ru-RU" dirty="0" err="1"/>
              <a:t>empty</a:t>
            </a:r>
            <a:r>
              <a:rPr lang="ru-RU" dirty="0"/>
              <a:t> изначально равен количеству </a:t>
            </a:r>
            <a:r>
              <a:rPr lang="ru-RU" dirty="0" smtClean="0"/>
              <a:t>мест </a:t>
            </a:r>
            <a:r>
              <a:rPr lang="ru-RU" dirty="0"/>
              <a:t>в буфере, семафор </a:t>
            </a:r>
            <a:r>
              <a:rPr lang="ru-RU" dirty="0" err="1"/>
              <a:t>mutex</a:t>
            </a:r>
            <a:r>
              <a:rPr lang="ru-RU" dirty="0"/>
              <a:t> изначально равен 1. </a:t>
            </a:r>
            <a:endParaRPr lang="ru-RU" dirty="0" smtClean="0"/>
          </a:p>
          <a:p>
            <a:r>
              <a:rPr lang="ru-RU" dirty="0" smtClean="0"/>
              <a:t>Семафоры</a:t>
            </a:r>
            <a:r>
              <a:rPr lang="ru-RU" dirty="0"/>
              <a:t>, инициализированные </a:t>
            </a:r>
            <a:r>
              <a:rPr lang="ru-RU" dirty="0" smtClean="0"/>
              <a:t>значением </a:t>
            </a:r>
            <a:r>
              <a:rPr lang="ru-RU" dirty="0"/>
              <a:t>1 и используемые двумя или более процессами для исключения их </a:t>
            </a:r>
            <a:r>
              <a:rPr lang="ru-RU" dirty="0" smtClean="0"/>
              <a:t>одновременного </a:t>
            </a:r>
            <a:r>
              <a:rPr lang="ru-RU" dirty="0"/>
              <a:t>нахождения в своих критических областях, называются </a:t>
            </a:r>
            <a:r>
              <a:rPr lang="ru-RU" u="sng" dirty="0"/>
              <a:t>двоичными </a:t>
            </a:r>
            <a:r>
              <a:rPr lang="ru-RU" u="sng" dirty="0" smtClean="0"/>
              <a:t>семафорами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Взаимное </a:t>
            </a:r>
            <a:r>
              <a:rPr lang="ru-RU" dirty="0"/>
              <a:t>исключение гарантируется в том случае, если каждый процесс </a:t>
            </a:r>
            <a:r>
              <a:rPr lang="ru-RU" dirty="0" smtClean="0"/>
              <a:t>совершает </a:t>
            </a:r>
            <a:r>
              <a:rPr lang="ru-RU" dirty="0"/>
              <a:t>операцию </a:t>
            </a:r>
            <a:r>
              <a:rPr lang="ru-RU" dirty="0" err="1"/>
              <a:t>down</a:t>
            </a:r>
            <a:r>
              <a:rPr lang="ru-RU" dirty="0"/>
              <a:t> непосредственно перед входом в свою критическую область </a:t>
            </a:r>
            <a:r>
              <a:rPr lang="ru-RU" dirty="0" smtClean="0"/>
              <a:t>и </a:t>
            </a:r>
            <a:r>
              <a:rPr lang="ru-RU" dirty="0"/>
              <a:t>операцию </a:t>
            </a:r>
            <a:r>
              <a:rPr lang="ru-RU" dirty="0" err="1"/>
              <a:t>up</a:t>
            </a:r>
            <a:r>
              <a:rPr lang="ru-RU" dirty="0"/>
              <a:t> сразу же после выхода из нее.</a:t>
            </a:r>
          </a:p>
        </p:txBody>
      </p:sp>
    </p:spTree>
    <p:extLst>
      <p:ext uri="{BB962C8B-B14F-4D97-AF65-F5344CB8AC3E}">
        <p14:creationId xmlns:p14="http://schemas.microsoft.com/office/powerpoint/2010/main" val="1112989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8363272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Задача </a:t>
            </a:r>
            <a:r>
              <a:rPr lang="ru-RU" dirty="0"/>
              <a:t>производителя и </a:t>
            </a:r>
            <a:r>
              <a:rPr lang="ru-RU" dirty="0" smtClean="0"/>
              <a:t>потребителя</a:t>
            </a:r>
            <a:r>
              <a:rPr lang="ru-RU" dirty="0"/>
              <a:t>, решаемая с </a:t>
            </a:r>
            <a:r>
              <a:rPr lang="ru-RU" dirty="0" smtClean="0"/>
              <a:t>помощью семафоров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8075240" cy="4569371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#define N 100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Количество мест в буфере */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typedef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semaphore;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Семафоры — это специальная разновидность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целочисленной переменной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semaphore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= 1;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управляет доступом к критической области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semaphore empty = N;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подсчитывает пустые места в буфере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semaphore full = 0;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подсчитывает занятые места в буфере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producer(void)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item;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while (TRUE) {                 /* TRUE —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константа, равная 1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produce_item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 );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генерация чего-нибудь для помещения в 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буфер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down(&amp;empty);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уменьшение счетчика пустых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вход в критическую область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insert_item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(item);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помещение новой записи в буфер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покинуть критическую область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up(&amp;full); 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инкремент счетчика занятых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Aft>
                <a:spcPts val="0"/>
              </a:spcAft>
            </a:pP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consumer(void)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item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;</a:t>
            </a:r>
            <a:endParaRPr lang="en-US" sz="9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while (TRUE) {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бесконечный цикл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down(&amp;full);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уменьшение счетчика занятых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down(&amp;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вход в критическую область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remove_item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 );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извлечение записи из буфера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выход из критической области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up(&amp;empty);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увеличение счетчика пустых мест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consume_item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(item);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работа с записью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7037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715200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Задача производителя и потребителя, решаемая с помощью семафоров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Семафор </a:t>
            </a:r>
            <a:r>
              <a:rPr lang="ru-RU" dirty="0" err="1"/>
              <a:t>mutex</a:t>
            </a:r>
            <a:r>
              <a:rPr lang="ru-RU" dirty="0"/>
              <a:t> используется для организации взаимного исключения. </a:t>
            </a:r>
          </a:p>
          <a:p>
            <a:r>
              <a:rPr lang="ru-RU" dirty="0"/>
              <a:t>Его предназначение — гарантировать, что в каждый отдельно взятый момент времени </a:t>
            </a:r>
            <a:r>
              <a:rPr lang="ru-RU" dirty="0" smtClean="0"/>
              <a:t>к </a:t>
            </a:r>
            <a:r>
              <a:rPr lang="ru-RU" dirty="0"/>
              <a:t>буферу и соответствующим переменным имеет доступ по чтению или записи </a:t>
            </a:r>
            <a:r>
              <a:rPr lang="ru-RU" dirty="0" smtClean="0"/>
              <a:t>только </a:t>
            </a:r>
            <a:r>
              <a:rPr lang="ru-RU" dirty="0"/>
              <a:t>один процесс</a:t>
            </a:r>
            <a:r>
              <a:rPr lang="ru-RU" dirty="0" smtClean="0"/>
              <a:t>.</a:t>
            </a:r>
          </a:p>
          <a:p>
            <a:r>
              <a:rPr lang="ru-RU" dirty="0"/>
              <a:t>Другие семафоры используются для синхронизации. </a:t>
            </a:r>
            <a:endParaRPr lang="ru-RU" dirty="0" smtClean="0"/>
          </a:p>
          <a:p>
            <a:r>
              <a:rPr lang="ru-RU" dirty="0" smtClean="0"/>
              <a:t>Семафоры </a:t>
            </a:r>
            <a:r>
              <a:rPr lang="ru-RU" dirty="0" err="1"/>
              <a:t>full</a:t>
            </a:r>
            <a:r>
              <a:rPr lang="ru-RU" dirty="0"/>
              <a:t> и </a:t>
            </a:r>
            <a:r>
              <a:rPr lang="ru-RU" dirty="0" err="1"/>
              <a:t>empty</a:t>
            </a:r>
            <a:r>
              <a:rPr lang="ru-RU" dirty="0"/>
              <a:t> нужны для </a:t>
            </a:r>
            <a:r>
              <a:rPr lang="ru-RU" dirty="0" smtClean="0"/>
              <a:t>гарантии </a:t>
            </a:r>
            <a:r>
              <a:rPr lang="ru-RU" dirty="0"/>
              <a:t>наступления или </a:t>
            </a:r>
            <a:r>
              <a:rPr lang="ru-RU" dirty="0" smtClean="0"/>
              <a:t>не наступления </a:t>
            </a:r>
            <a:r>
              <a:rPr lang="ru-RU" dirty="0"/>
              <a:t>тех или иных конкретных </a:t>
            </a:r>
            <a:r>
              <a:rPr lang="ru-RU" dirty="0" smtClean="0"/>
              <a:t>последовательностей </a:t>
            </a:r>
            <a:r>
              <a:rPr lang="ru-RU" dirty="0"/>
              <a:t>событий. В данном случае они гарантируют, что производитель приостановит </a:t>
            </a:r>
            <a:r>
              <a:rPr lang="ru-RU" dirty="0" smtClean="0"/>
              <a:t>свою </a:t>
            </a:r>
            <a:r>
              <a:rPr lang="ru-RU" dirty="0"/>
              <a:t>работу при заполненном буфере, а потребитель приостановит свою работу, если </a:t>
            </a:r>
            <a:r>
              <a:rPr lang="ru-RU" dirty="0" smtClean="0"/>
              <a:t>этот </a:t>
            </a:r>
            <a:r>
              <a:rPr lang="ru-RU" dirty="0"/>
              <a:t>буфер опустеет. Эти семафоры и</a:t>
            </a:r>
            <a:r>
              <a:rPr lang="ru-RU" dirty="0" smtClean="0"/>
              <a:t>спользуются </a:t>
            </a:r>
            <a:r>
              <a:rPr lang="ru-RU" dirty="0"/>
              <a:t>совсем не так, как при обеспечении </a:t>
            </a:r>
            <a:r>
              <a:rPr lang="ru-RU" dirty="0" smtClean="0"/>
              <a:t>взаимного </a:t>
            </a:r>
            <a:r>
              <a:rPr lang="ru-RU" dirty="0"/>
              <a:t>исключения.</a:t>
            </a:r>
          </a:p>
        </p:txBody>
      </p:sp>
    </p:spTree>
    <p:extLst>
      <p:ext uri="{BB962C8B-B14F-4D97-AF65-F5344CB8AC3E}">
        <p14:creationId xmlns:p14="http://schemas.microsoft.com/office/powerpoint/2010/main" val="3709060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Семафоры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64" y="1752600"/>
            <a:ext cx="7289271" cy="437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8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Мьютексы</a:t>
            </a:r>
            <a:r>
              <a:rPr lang="ru-RU" dirty="0"/>
              <a:t> справляются лишь </a:t>
            </a:r>
            <a:r>
              <a:rPr lang="ru-RU" dirty="0" smtClean="0"/>
              <a:t>с </a:t>
            </a:r>
            <a:r>
              <a:rPr lang="ru-RU" dirty="0"/>
              <a:t>управлением взаимным исключением доступа к общим ресурсам или фрагментам </a:t>
            </a:r>
            <a:r>
              <a:rPr lang="ru-RU" dirty="0" smtClean="0"/>
              <a:t>кода</a:t>
            </a:r>
            <a:r>
              <a:rPr lang="ru-RU" dirty="0"/>
              <a:t>. Простота и эффективность реализации </a:t>
            </a:r>
            <a:r>
              <a:rPr lang="ru-RU" dirty="0" err="1"/>
              <a:t>мьютексов</a:t>
            </a:r>
            <a:r>
              <a:rPr lang="ru-RU" dirty="0"/>
              <a:t> делает их особенно полезными </a:t>
            </a:r>
            <a:r>
              <a:rPr lang="ru-RU" dirty="0" smtClean="0"/>
              <a:t>для </a:t>
            </a:r>
            <a:r>
              <a:rPr lang="ru-RU" dirty="0"/>
              <a:t>совокупности потоков, целиком реализованных в пользовательском пространстве.</a:t>
            </a:r>
          </a:p>
          <a:p>
            <a:r>
              <a:rPr lang="ru-RU" dirty="0" err="1"/>
              <a:t>Мьютекс</a:t>
            </a:r>
            <a:r>
              <a:rPr lang="ru-RU" dirty="0"/>
              <a:t> — это совместно используемая переменная, которая может находиться в </a:t>
            </a:r>
            <a:r>
              <a:rPr lang="ru-RU" dirty="0" smtClean="0"/>
              <a:t>одном </a:t>
            </a:r>
            <a:r>
              <a:rPr lang="ru-RU" dirty="0"/>
              <a:t>из двух состояний: заблокированном или незаблокированном. </a:t>
            </a:r>
            <a:endParaRPr lang="ru-RU" dirty="0" smtClean="0"/>
          </a:p>
          <a:p>
            <a:r>
              <a:rPr lang="ru-RU" dirty="0" smtClean="0"/>
              <a:t>Следовательно</a:t>
            </a:r>
            <a:r>
              <a:rPr lang="ru-RU" dirty="0"/>
              <a:t>, </a:t>
            </a:r>
            <a:r>
              <a:rPr lang="ru-RU" dirty="0" smtClean="0"/>
              <a:t>для </a:t>
            </a:r>
            <a:r>
              <a:rPr lang="ru-RU" dirty="0"/>
              <a:t>их представления нужен только один бит, но на практике зачастую используется </a:t>
            </a:r>
            <a:r>
              <a:rPr lang="ru-RU" dirty="0" smtClean="0"/>
              <a:t>целое </a:t>
            </a:r>
            <a:r>
              <a:rPr lang="ru-RU" dirty="0"/>
              <a:t>число, при этом нуль означает незаблокированное, а все </a:t>
            </a:r>
            <a:r>
              <a:rPr lang="ru-RU" dirty="0" smtClean="0"/>
              <a:t>остальные </a:t>
            </a:r>
            <a:r>
              <a:rPr lang="ru-RU" dirty="0"/>
              <a:t>значения — </a:t>
            </a:r>
            <a:r>
              <a:rPr lang="ru-RU" dirty="0" smtClean="0"/>
              <a:t>заблокированное </a:t>
            </a:r>
            <a:r>
              <a:rPr lang="ru-RU" dirty="0"/>
              <a:t>состояние. </a:t>
            </a:r>
          </a:p>
        </p:txBody>
      </p:sp>
    </p:spTree>
    <p:extLst>
      <p:ext uri="{BB962C8B-B14F-4D97-AF65-F5344CB8AC3E}">
        <p14:creationId xmlns:p14="http://schemas.microsoft.com/office/powerpoint/2010/main" val="2385324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работы с </a:t>
            </a:r>
            <a:r>
              <a:rPr lang="ru-RU" dirty="0" err="1"/>
              <a:t>мьютексами</a:t>
            </a:r>
            <a:r>
              <a:rPr lang="ru-RU" dirty="0"/>
              <a:t> используются две процедуры. </a:t>
            </a:r>
          </a:p>
          <a:p>
            <a:r>
              <a:rPr lang="ru-RU" dirty="0"/>
              <a:t>Когда потоку (или процессу) необходим доступ к критической области, он вызывает </a:t>
            </a:r>
            <a:r>
              <a:rPr lang="ru-RU" dirty="0" smtClean="0"/>
              <a:t>процедуру </a:t>
            </a:r>
            <a:r>
              <a:rPr lang="ru-RU" dirty="0" err="1"/>
              <a:t>mutex_lock</a:t>
            </a:r>
            <a:r>
              <a:rPr lang="ru-RU" dirty="0"/>
              <a:t>. Если </a:t>
            </a:r>
            <a:r>
              <a:rPr lang="ru-RU" dirty="0" err="1"/>
              <a:t>мьютекс</a:t>
            </a:r>
            <a:r>
              <a:rPr lang="ru-RU" dirty="0"/>
              <a:t> находится в незаблокированном состоянии </a:t>
            </a:r>
            <a:r>
              <a:rPr lang="ru-RU" dirty="0" smtClean="0"/>
              <a:t>(</a:t>
            </a:r>
            <a:r>
              <a:rPr lang="ru-RU" dirty="0"/>
              <a:t>означающем доступность входа в критическую область), вызов проходит </a:t>
            </a:r>
            <a:r>
              <a:rPr lang="ru-RU" dirty="0" smtClean="0"/>
              <a:t>удачно и </a:t>
            </a:r>
            <a:r>
              <a:rPr lang="ru-RU" dirty="0"/>
              <a:t>вызывающий поток может свободно войти в критическую область.</a:t>
            </a:r>
          </a:p>
          <a:p>
            <a:r>
              <a:rPr lang="ru-RU" dirty="0"/>
              <a:t>В то же время, если </a:t>
            </a:r>
            <a:r>
              <a:rPr lang="ru-RU" dirty="0" err="1"/>
              <a:t>мьютекс</a:t>
            </a:r>
            <a:r>
              <a:rPr lang="ru-RU" dirty="0"/>
              <a:t> уже заблокирован, вызывающий поток блокируется до тех </a:t>
            </a:r>
            <a:r>
              <a:rPr lang="ru-RU" dirty="0" smtClean="0"/>
              <a:t>пор</a:t>
            </a:r>
            <a:r>
              <a:rPr lang="ru-RU" dirty="0"/>
              <a:t>, пока поток, находящийся в критической области, не завершит свою работу и не </a:t>
            </a:r>
            <a:r>
              <a:rPr lang="ru-RU" dirty="0" smtClean="0"/>
              <a:t>вызовет </a:t>
            </a:r>
            <a:r>
              <a:rPr lang="ru-RU" dirty="0"/>
              <a:t>процедуру </a:t>
            </a:r>
            <a:r>
              <a:rPr lang="ru-RU" dirty="0" err="1"/>
              <a:t>mutex_unlock</a:t>
            </a:r>
            <a:r>
              <a:rPr lang="ru-RU" dirty="0"/>
              <a:t>. Если на </a:t>
            </a:r>
            <a:r>
              <a:rPr lang="ru-RU" dirty="0" err="1"/>
              <a:t>мьютексе</a:t>
            </a:r>
            <a:r>
              <a:rPr lang="ru-RU" dirty="0"/>
              <a:t> заблокировано несколько потоков, </a:t>
            </a:r>
            <a:r>
              <a:rPr lang="ru-RU" dirty="0" smtClean="0"/>
              <a:t>то </a:t>
            </a:r>
            <a:r>
              <a:rPr lang="ru-RU" dirty="0"/>
              <a:t>произвольно выбирается один из них, которому разрешается воспользоваться </a:t>
            </a:r>
            <a:r>
              <a:rPr lang="ru-RU" dirty="0" err="1" smtClean="0"/>
              <a:t>заблокированностью</a:t>
            </a:r>
            <a:r>
              <a:rPr lang="ru-RU" dirty="0" smtClean="0"/>
              <a:t> </a:t>
            </a:r>
            <a:r>
              <a:rPr lang="ru-RU" dirty="0"/>
              <a:t>других потоков.</a:t>
            </a:r>
          </a:p>
        </p:txBody>
      </p:sp>
    </p:spTree>
    <p:extLst>
      <p:ext uri="{BB962C8B-B14F-4D97-AF65-F5344CB8AC3E}">
        <p14:creationId xmlns:p14="http://schemas.microsoft.com/office/powerpoint/2010/main" val="1059572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628728"/>
          </a:xfrm>
        </p:spPr>
        <p:txBody>
          <a:bodyPr>
            <a:normAutofit fontScale="92500" lnSpcReduction="20000"/>
          </a:bodyPr>
          <a:lstStyle/>
          <a:p>
            <a:r>
              <a:rPr lang="ru-RU" dirty="0" err="1" smtClean="0"/>
              <a:t>Фьютекс</a:t>
            </a:r>
            <a:r>
              <a:rPr lang="ru-RU" dirty="0"/>
              <a:t>, или </a:t>
            </a:r>
            <a:r>
              <a:rPr lang="ru-RU" dirty="0" err="1"/>
              <a:t>fast</a:t>
            </a:r>
            <a:r>
              <a:rPr lang="ru-RU" dirty="0"/>
              <a:t> </a:t>
            </a:r>
            <a:r>
              <a:rPr lang="ru-RU" dirty="0" err="1"/>
              <a:t>user</a:t>
            </a:r>
            <a:r>
              <a:rPr lang="ru-RU" dirty="0"/>
              <a:t> </a:t>
            </a:r>
            <a:r>
              <a:rPr lang="ru-RU" dirty="0" err="1"/>
              <a:t>space</a:t>
            </a:r>
            <a:r>
              <a:rPr lang="ru-RU" dirty="0"/>
              <a:t> </a:t>
            </a:r>
            <a:r>
              <a:rPr lang="ru-RU" dirty="0" err="1"/>
              <a:t>mutex</a:t>
            </a:r>
            <a:r>
              <a:rPr lang="ru-RU" dirty="0"/>
              <a:t>, — быстрый </a:t>
            </a:r>
            <a:r>
              <a:rPr lang="ru-RU" dirty="0" err="1"/>
              <a:t>мьютекс</a:t>
            </a:r>
            <a:r>
              <a:rPr lang="ru-RU" dirty="0"/>
              <a:t> </a:t>
            </a:r>
            <a:r>
              <a:rPr lang="ru-RU" dirty="0" smtClean="0"/>
              <a:t>в </a:t>
            </a:r>
            <a:r>
              <a:rPr lang="ru-RU" dirty="0"/>
              <a:t>пользовательском пространстве. </a:t>
            </a:r>
            <a:endParaRPr lang="ru-RU" dirty="0" smtClean="0"/>
          </a:p>
          <a:p>
            <a:r>
              <a:rPr lang="ru-RU" dirty="0" err="1" smtClean="0"/>
              <a:t>Фьютекс</a:t>
            </a:r>
            <a:r>
              <a:rPr lang="ru-RU" dirty="0" smtClean="0"/>
              <a:t> </a:t>
            </a:r>
            <a:r>
              <a:rPr lang="ru-RU" dirty="0"/>
              <a:t>относится к свойствам </a:t>
            </a:r>
            <a:r>
              <a:rPr lang="ru-RU" dirty="0" err="1"/>
              <a:t>Linux</a:t>
            </a:r>
            <a:r>
              <a:rPr lang="ru-RU" dirty="0"/>
              <a:t>, </a:t>
            </a:r>
            <a:r>
              <a:rPr lang="ru-RU" dirty="0" smtClean="0"/>
              <a:t>реализующим основную </a:t>
            </a:r>
            <a:r>
              <a:rPr lang="ru-RU" dirty="0"/>
              <a:t>блокировку (во многом похожую на </a:t>
            </a:r>
            <a:r>
              <a:rPr lang="ru-RU" dirty="0" err="1"/>
              <a:t>мьютекс</a:t>
            </a:r>
            <a:r>
              <a:rPr lang="ru-RU" dirty="0"/>
              <a:t>), но избегающим выпадения </a:t>
            </a:r>
            <a:r>
              <a:rPr lang="ru-RU" dirty="0" smtClean="0"/>
              <a:t>в </a:t>
            </a:r>
            <a:r>
              <a:rPr lang="ru-RU" dirty="0"/>
              <a:t>режим ядра до возникновения в этом реальной надобности. Поскольку переключение </a:t>
            </a:r>
            <a:r>
              <a:rPr lang="ru-RU" dirty="0" smtClean="0"/>
              <a:t>в </a:t>
            </a:r>
            <a:r>
              <a:rPr lang="ru-RU" dirty="0"/>
              <a:t>режим ядра и обратно обходится слишком дорого, применение такой технологии </a:t>
            </a:r>
            <a:r>
              <a:rPr lang="ru-RU" dirty="0" smtClean="0"/>
              <a:t>существенно </a:t>
            </a:r>
            <a:r>
              <a:rPr lang="ru-RU" dirty="0"/>
              <a:t>повышает производительность. </a:t>
            </a:r>
            <a:endParaRPr lang="ru-RU" dirty="0" smtClean="0"/>
          </a:p>
          <a:p>
            <a:r>
              <a:rPr lang="ru-RU" dirty="0" err="1" smtClean="0"/>
              <a:t>Фьютекс</a:t>
            </a:r>
            <a:r>
              <a:rPr lang="ru-RU" dirty="0" smtClean="0"/>
              <a:t> </a:t>
            </a:r>
            <a:r>
              <a:rPr lang="ru-RU" dirty="0"/>
              <a:t>состоит из двух частей: службы ядра </a:t>
            </a:r>
            <a:r>
              <a:rPr lang="ru-RU" dirty="0" smtClean="0"/>
              <a:t>и </a:t>
            </a:r>
            <a:r>
              <a:rPr lang="ru-RU" dirty="0"/>
              <a:t>пользовательской библиотеки. Служба ядра предоставляет «очередь ожидания», </a:t>
            </a:r>
            <a:r>
              <a:rPr lang="ru-RU" dirty="0" smtClean="0"/>
              <a:t>позволяющую </a:t>
            </a:r>
            <a:r>
              <a:rPr lang="ru-RU" dirty="0"/>
              <a:t>ожидать снятия блокировки нескольким процессам. Они не будут запущены, </a:t>
            </a:r>
            <a:r>
              <a:rPr lang="ru-RU" dirty="0" smtClean="0"/>
              <a:t>пока </a:t>
            </a:r>
            <a:r>
              <a:rPr lang="ru-RU" dirty="0"/>
              <a:t>ядро не разблокирует их явным образом. Чтобы процесс попал в очередь ожидания, </a:t>
            </a:r>
            <a:r>
              <a:rPr lang="ru-RU" dirty="0" smtClean="0"/>
              <a:t>требуется </a:t>
            </a:r>
            <a:r>
              <a:rPr lang="ru-RU" dirty="0"/>
              <a:t>(довольно дорого обходящийся) системный вызов, чего следует избегать. </a:t>
            </a:r>
            <a:r>
              <a:rPr lang="ru-RU" dirty="0" smtClean="0"/>
              <a:t>Зато </a:t>
            </a:r>
            <a:r>
              <a:rPr lang="ru-RU" dirty="0"/>
              <a:t>при отсутствии конкуренции </a:t>
            </a:r>
            <a:r>
              <a:rPr lang="ru-RU" dirty="0" err="1"/>
              <a:t>фьютекс</a:t>
            </a:r>
            <a:r>
              <a:rPr lang="ru-RU" dirty="0"/>
              <a:t> работает полностью в пользовательском </a:t>
            </a:r>
            <a:r>
              <a:rPr lang="ru-RU" dirty="0" smtClean="0"/>
              <a:t>пространстве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78436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Мьютексы</a:t>
            </a:r>
            <a:r>
              <a:rPr lang="ru-RU" dirty="0"/>
              <a:t>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Поток, которому необходимо войти в критическую область, сначала пытается </a:t>
            </a:r>
            <a:r>
              <a:rPr lang="ru-RU" dirty="0" smtClean="0"/>
              <a:t>заблокировать </a:t>
            </a:r>
            <a:r>
              <a:rPr lang="ru-RU" dirty="0"/>
              <a:t>соответствующий </a:t>
            </a:r>
            <a:r>
              <a:rPr lang="ru-RU" dirty="0" err="1"/>
              <a:t>мьютекс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 err="1"/>
              <a:t>мьютекс</a:t>
            </a:r>
            <a:r>
              <a:rPr lang="ru-RU" dirty="0"/>
              <a:t> не заблокирован, поток может войти </a:t>
            </a:r>
            <a:r>
              <a:rPr lang="ru-RU" dirty="0" smtClean="0"/>
              <a:t> в </a:t>
            </a:r>
            <a:r>
              <a:rPr lang="ru-RU" dirty="0"/>
              <a:t>критическую область беспрепятственно и заблокировать </a:t>
            </a:r>
            <a:r>
              <a:rPr lang="ru-RU" dirty="0" err="1"/>
              <a:t>мьютекс</a:t>
            </a:r>
            <a:r>
              <a:rPr lang="ru-RU" dirty="0"/>
              <a:t> в одном неделимом </a:t>
            </a:r>
            <a:r>
              <a:rPr lang="ru-RU" dirty="0" smtClean="0"/>
              <a:t>действии</a:t>
            </a:r>
            <a:r>
              <a:rPr lang="ru-RU" dirty="0"/>
              <a:t>, не позволяя войти в нее другим потокам.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 err="1"/>
              <a:t>мьютекс</a:t>
            </a:r>
            <a:r>
              <a:rPr lang="ru-RU" dirty="0"/>
              <a:t> уже заблокирован, </a:t>
            </a:r>
            <a:r>
              <a:rPr lang="ru-RU" dirty="0" smtClean="0"/>
              <a:t>вызывающий </a:t>
            </a:r>
            <a:r>
              <a:rPr lang="ru-RU" dirty="0"/>
              <a:t>поток блокируется до тех пор, пока не </a:t>
            </a:r>
            <a:r>
              <a:rPr lang="ru-RU" dirty="0" err="1"/>
              <a:t>разблокируется</a:t>
            </a:r>
            <a:r>
              <a:rPr lang="ru-RU" dirty="0"/>
              <a:t> </a:t>
            </a:r>
            <a:r>
              <a:rPr lang="ru-RU" dirty="0" err="1"/>
              <a:t>мьютекс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разблокировки </a:t>
            </a:r>
            <a:r>
              <a:rPr lang="ru-RU" dirty="0"/>
              <a:t>одного и того же </a:t>
            </a:r>
            <a:r>
              <a:rPr lang="ru-RU" dirty="0" err="1"/>
              <a:t>мьютекса</a:t>
            </a:r>
            <a:r>
              <a:rPr lang="ru-RU" dirty="0"/>
              <a:t> ожидают несколько потоков, возможность </a:t>
            </a:r>
            <a:r>
              <a:rPr lang="ru-RU" dirty="0" smtClean="0"/>
              <a:t>возобновить </a:t>
            </a:r>
            <a:r>
              <a:rPr lang="ru-RU" dirty="0"/>
              <a:t>работу и заново заблокировать </a:t>
            </a:r>
            <a:r>
              <a:rPr lang="ru-RU" dirty="0" err="1"/>
              <a:t>мьютекс</a:t>
            </a:r>
            <a:r>
              <a:rPr lang="ru-RU" dirty="0"/>
              <a:t> предоставляется только </a:t>
            </a:r>
            <a:r>
              <a:rPr lang="ru-RU" dirty="0" smtClean="0"/>
              <a:t>одному из </a:t>
            </a:r>
            <a:r>
              <a:rPr lang="ru-RU" dirty="0"/>
              <a:t>них. Эти блокировки не являются обязательными. </a:t>
            </a:r>
          </a:p>
        </p:txBody>
      </p:sp>
    </p:spTree>
    <p:extLst>
      <p:ext uri="{BB962C8B-B14F-4D97-AF65-F5344CB8AC3E}">
        <p14:creationId xmlns:p14="http://schemas.microsoft.com/office/powerpoint/2010/main" val="34285474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Мьютексы</a:t>
            </a:r>
            <a:r>
              <a:rPr lang="ru-RU" dirty="0"/>
              <a:t>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вызовы, связанные с </a:t>
            </a:r>
            <a:r>
              <a:rPr lang="ru-RU" dirty="0" err="1" smtClean="0"/>
              <a:t>мьютексами</a:t>
            </a:r>
            <a:r>
              <a:rPr lang="ru-RU" dirty="0" smtClean="0"/>
              <a:t>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 smtClean="0"/>
          </a:p>
          <a:p>
            <a:r>
              <a:rPr lang="ru-RU" dirty="0" err="1" smtClean="0"/>
              <a:t>Мьютексы</a:t>
            </a:r>
            <a:r>
              <a:rPr lang="ru-RU" dirty="0" smtClean="0"/>
              <a:t> </a:t>
            </a:r>
            <a:r>
              <a:rPr lang="ru-RU" dirty="0"/>
              <a:t>могут иметь </a:t>
            </a:r>
            <a:r>
              <a:rPr lang="ru-RU" dirty="0" smtClean="0"/>
              <a:t>также </a:t>
            </a:r>
            <a:r>
              <a:rPr lang="ru-RU" dirty="0"/>
              <a:t>атрибуты, но они используются только для решения специализированных задач.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77085"/>
            <a:ext cx="7848872" cy="169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0403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851104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Условные переменные </a:t>
            </a:r>
            <a:r>
              <a:rPr lang="ru-RU" dirty="0"/>
              <a:t>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дополнение к </a:t>
            </a:r>
            <a:r>
              <a:rPr lang="ru-RU" dirty="0" err="1"/>
              <a:t>мьютексам</a:t>
            </a:r>
            <a:r>
              <a:rPr lang="ru-RU" dirty="0"/>
              <a:t> пакет </a:t>
            </a:r>
            <a:r>
              <a:rPr lang="ru-RU" dirty="0" err="1"/>
              <a:t>Pthreads</a:t>
            </a:r>
            <a:r>
              <a:rPr lang="ru-RU" dirty="0"/>
              <a:t> предлагает второй механизм </a:t>
            </a:r>
            <a:r>
              <a:rPr lang="ru-RU" dirty="0" smtClean="0"/>
              <a:t>синхронизации </a:t>
            </a:r>
            <a:r>
              <a:rPr lang="ru-RU" dirty="0"/>
              <a:t>— </a:t>
            </a:r>
            <a:r>
              <a:rPr lang="ru-RU" u="sng" dirty="0"/>
              <a:t>условные переменные</a:t>
            </a:r>
            <a:r>
              <a:rPr lang="ru-RU" dirty="0" smtClean="0"/>
              <a:t>.</a:t>
            </a:r>
          </a:p>
          <a:p>
            <a:r>
              <a:rPr lang="ru-RU" dirty="0" err="1" smtClean="0"/>
              <a:t>Мьютексы</a:t>
            </a:r>
            <a:r>
              <a:rPr lang="ru-RU" dirty="0" smtClean="0"/>
              <a:t> </a:t>
            </a:r>
            <a:r>
              <a:rPr lang="ru-RU" dirty="0"/>
              <a:t>хороши для разрешения или блокирования </a:t>
            </a:r>
            <a:r>
              <a:rPr lang="ru-RU" dirty="0" smtClean="0"/>
              <a:t>доступа </a:t>
            </a:r>
            <a:r>
              <a:rPr lang="ru-RU" dirty="0"/>
              <a:t>к критической области. Условные переменные позволяют потокам </a:t>
            </a:r>
            <a:r>
              <a:rPr lang="ru-RU" dirty="0" smtClean="0"/>
              <a:t>блокироваться </a:t>
            </a:r>
            <a:r>
              <a:rPr lang="ru-RU" dirty="0"/>
              <a:t>до выполнения конкретных условий. </a:t>
            </a:r>
          </a:p>
        </p:txBody>
      </p:sp>
    </p:spTree>
    <p:extLst>
      <p:ext uri="{BB962C8B-B14F-4D97-AF65-F5344CB8AC3E}">
        <p14:creationId xmlns:p14="http://schemas.microsoft.com/office/powerpoint/2010/main" val="1173092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067128" cy="1371600"/>
          </a:xfrm>
        </p:spPr>
        <p:txBody>
          <a:bodyPr>
            <a:normAutofit/>
          </a:bodyPr>
          <a:lstStyle/>
          <a:p>
            <a:r>
              <a:rPr lang="ru-RU" dirty="0"/>
              <a:t>Условные переменные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качестве простого примера еще раз рассмотрим сценарий </a:t>
            </a:r>
            <a:r>
              <a:rPr lang="ru-RU" dirty="0" smtClean="0"/>
              <a:t>производителя-потребителя</a:t>
            </a:r>
            <a:r>
              <a:rPr lang="ru-RU" dirty="0"/>
              <a:t>: один поток что-то помещает в буфер, а другой это что-то из него извлекает. </a:t>
            </a:r>
          </a:p>
          <a:p>
            <a:r>
              <a:rPr lang="ru-RU" dirty="0"/>
              <a:t>Если производитель обнаружил отсутствие в буфере свободных мест, он </a:t>
            </a:r>
            <a:r>
              <a:rPr lang="ru-RU" dirty="0" smtClean="0"/>
              <a:t>вынужден блокироваться </a:t>
            </a:r>
            <a:r>
              <a:rPr lang="ru-RU" dirty="0"/>
              <a:t>до тех пор, пока они не появятся. </a:t>
            </a:r>
            <a:endParaRPr lang="ru-RU" dirty="0" smtClean="0"/>
          </a:p>
          <a:p>
            <a:r>
              <a:rPr lang="ru-RU" dirty="0" err="1" smtClean="0"/>
              <a:t>Мьютексы</a:t>
            </a:r>
            <a:r>
              <a:rPr lang="ru-RU" dirty="0" smtClean="0"/>
              <a:t> </a:t>
            </a:r>
            <a:r>
              <a:rPr lang="ru-RU" dirty="0"/>
              <a:t>предоставляют </a:t>
            </a:r>
            <a:r>
              <a:rPr lang="ru-RU" dirty="0" smtClean="0"/>
              <a:t>возможность </a:t>
            </a:r>
            <a:r>
              <a:rPr lang="ru-RU" dirty="0"/>
              <a:t>производить проверку атомарно, без вмешательства со стороны других потоков, </a:t>
            </a:r>
            <a:r>
              <a:rPr lang="ru-RU" dirty="0" smtClean="0"/>
              <a:t>но </a:t>
            </a:r>
            <a:r>
              <a:rPr lang="ru-RU" dirty="0"/>
              <a:t>обнаружив, что буфер заполнен, производитель нуждается в способе блокировки </a:t>
            </a:r>
            <a:r>
              <a:rPr lang="ru-RU" dirty="0" smtClean="0"/>
              <a:t>с </a:t>
            </a:r>
            <a:r>
              <a:rPr lang="ru-RU" dirty="0"/>
              <a:t>последующей активизацией. Именно этот способ и предоставляется условными </a:t>
            </a:r>
            <a:r>
              <a:rPr lang="ru-RU" dirty="0" smtClean="0"/>
              <a:t>переменными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87775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923112" cy="1371600"/>
          </a:xfrm>
        </p:spPr>
        <p:txBody>
          <a:bodyPr>
            <a:normAutofit/>
          </a:bodyPr>
          <a:lstStyle/>
          <a:p>
            <a:r>
              <a:rPr lang="ru-RU" dirty="0"/>
              <a:t>Условные переменные в пакете </a:t>
            </a:r>
            <a:r>
              <a:rPr lang="en-US" dirty="0" err="1"/>
              <a:t>Pthreads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Наиболее важные вызовы, связанные с условными </a:t>
            </a:r>
            <a:r>
              <a:rPr lang="ru-RU" dirty="0" smtClean="0"/>
              <a:t>переменными: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 smtClean="0"/>
          </a:p>
          <a:p>
            <a:r>
              <a:rPr lang="ru-RU" dirty="0" smtClean="0"/>
              <a:t>Заблокированный </a:t>
            </a:r>
            <a:r>
              <a:rPr lang="ru-RU" dirty="0"/>
              <a:t>поток </a:t>
            </a:r>
            <a:r>
              <a:rPr lang="ru-RU" dirty="0" smtClean="0"/>
              <a:t>зачастую ожидает</a:t>
            </a:r>
            <a:r>
              <a:rPr lang="ru-RU" dirty="0"/>
              <a:t>, пока сигнализирующий поток не совершит определенную работу, не </a:t>
            </a:r>
            <a:r>
              <a:rPr lang="ru-RU" dirty="0" smtClean="0"/>
              <a:t>освободит </a:t>
            </a:r>
            <a:r>
              <a:rPr lang="ru-RU" dirty="0"/>
              <a:t>какие-то ресурсы или не выполнит какие-нибудь другие действия. Только после </a:t>
            </a:r>
            <a:r>
              <a:rPr lang="ru-RU" dirty="0" smtClean="0"/>
              <a:t>этого </a:t>
            </a:r>
            <a:r>
              <a:rPr lang="ru-RU" dirty="0"/>
              <a:t>заблокированный поток продолжает свою работу.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92" y="2204864"/>
            <a:ext cx="7864043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803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203032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Условные переменные и </a:t>
            </a:r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8003232" cy="4641379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pthread.h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#define MAX 1000000000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Количество производимого */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;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используется для сигнализации */</a:t>
            </a:r>
          </a:p>
          <a:p>
            <a:pPr>
              <a:spcAft>
                <a:spcPts val="0"/>
              </a:spcAft>
            </a:pP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buffer = 0;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буфер, используемый между производителем и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потребителем */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*producer(void *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производство данных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{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for (i= 1; i &lt;= MAX; i++) 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получение исключительного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          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while (buffer != 0)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pthread_cond_wait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buffer = i;    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помещение записи в буфер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pthread_cond_signal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активизация потребителя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pthread_mutex_unlock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освобождение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exit(0);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*consumer(void *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ptr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потребление данных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{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for (i = 1; i &lt;= MAX; i++) 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получение исключительного 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        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while (buffer ==0 )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pthread_cond_wait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   buffer = 0;    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извлечение записи из буфера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pthread_cond_signal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активизация производителя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pthread_mutex_unlock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the_mutex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);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освобождение доступа к буферу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pthread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exit(0);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9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846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56307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Условные переменные и </a:t>
            </a:r>
            <a:r>
              <a:rPr lang="ru-RU" dirty="0" err="1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char **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ru-RU" sz="1200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ru-RU" sz="12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 smtClean="0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sz="12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pro, con;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pthread_mutex_init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pthread_cond_init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pthread_cond_init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(&amp;con, 0, consumer,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(&amp;pro, 0, producer,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(pro,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(con, 0);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pthread_cond_destroy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condc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pthread_cond_destroy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condp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pthread_mutex_destroy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(&amp;the </a:t>
            </a:r>
            <a:r>
              <a:rPr lang="en-US" sz="1200" dirty="0" err="1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12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93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мьютексы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Общая последовательность для защиты </a:t>
            </a:r>
            <a:r>
              <a:rPr lang="ru-RU" dirty="0" smtClean="0"/>
              <a:t>общих </a:t>
            </a:r>
            <a:r>
              <a:rPr lang="ru-RU" dirty="0"/>
              <a:t>данных с помощью </a:t>
            </a:r>
            <a:r>
              <a:rPr lang="ru-RU" dirty="0" err="1"/>
              <a:t>мьютекса</a:t>
            </a:r>
            <a:r>
              <a:rPr lang="ru-RU" dirty="0"/>
              <a:t>:</a:t>
            </a:r>
          </a:p>
          <a:p>
            <a:r>
              <a:rPr lang="ru-RU" dirty="0"/>
              <a:t> 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блокируем </a:t>
            </a:r>
            <a:r>
              <a:rPr lang="ru-RU" dirty="0" err="1"/>
              <a:t>мьютекс</a:t>
            </a:r>
            <a:endParaRPr lang="ru-RU" dirty="0"/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работаем с общими данными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dirty="0"/>
              <a:t>разблокируем </a:t>
            </a:r>
            <a:r>
              <a:rPr lang="ru-RU" dirty="0" err="1"/>
              <a:t>мьютекс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6062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Мониторы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Взаимная блокировка</a:t>
            </a:r>
            <a:endParaRPr lang="ru-RU" dirty="0"/>
          </a:p>
        </p:txBody>
      </p:sp>
      <p:pic>
        <p:nvPicPr>
          <p:cNvPr id="3074" name="Picture 2" descr="D:\Downloads\DeadlockAnimation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535237"/>
            <a:ext cx="6840760" cy="303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030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Чтобы облегчить написание безошибочных программ, </a:t>
            </a:r>
            <a:r>
              <a:rPr lang="ru-RU" dirty="0" err="1"/>
              <a:t>Бринч</a:t>
            </a:r>
            <a:r>
              <a:rPr lang="ru-RU" dirty="0"/>
              <a:t> </a:t>
            </a:r>
            <a:r>
              <a:rPr lang="ru-RU" dirty="0" err="1"/>
              <a:t>Хансен</a:t>
            </a:r>
            <a:r>
              <a:rPr lang="ru-RU" dirty="0"/>
              <a:t> (</a:t>
            </a:r>
            <a:r>
              <a:rPr lang="ru-RU" dirty="0" err="1"/>
              <a:t>Brinch</a:t>
            </a:r>
            <a:r>
              <a:rPr lang="ru-RU" dirty="0"/>
              <a:t> </a:t>
            </a:r>
            <a:r>
              <a:rPr lang="ru-RU" dirty="0" err="1"/>
              <a:t>Hansen</a:t>
            </a:r>
            <a:r>
              <a:rPr lang="ru-RU" dirty="0"/>
              <a:t>) </a:t>
            </a:r>
            <a:r>
              <a:rPr lang="ru-RU" dirty="0" smtClean="0"/>
              <a:t>в </a:t>
            </a:r>
            <a:r>
              <a:rPr lang="ru-RU" dirty="0"/>
              <a:t>1973 году и Хоар (</a:t>
            </a:r>
            <a:r>
              <a:rPr lang="ru-RU" dirty="0" err="1"/>
              <a:t>Hoare</a:t>
            </a:r>
            <a:r>
              <a:rPr lang="ru-RU" dirty="0"/>
              <a:t>) в 1974 году предложили высокоуровневый </a:t>
            </a:r>
            <a:r>
              <a:rPr lang="ru-RU" dirty="0" smtClean="0"/>
              <a:t>синхронизационный </a:t>
            </a:r>
            <a:r>
              <a:rPr lang="ru-RU" dirty="0"/>
              <a:t>примитив, названный </a:t>
            </a:r>
            <a:r>
              <a:rPr lang="ru-RU" u="sng" dirty="0"/>
              <a:t>монитором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Монитор </a:t>
            </a:r>
            <a:r>
              <a:rPr lang="ru-RU" dirty="0"/>
              <a:t>представляет собой коллекцию переменных </a:t>
            </a:r>
            <a:r>
              <a:rPr lang="ru-RU" dirty="0" smtClean="0"/>
              <a:t>и </a:t>
            </a:r>
            <a:r>
              <a:rPr lang="ru-RU" dirty="0"/>
              <a:t>структур данных, сгруппированных вместе в специальную разновидность модуля </a:t>
            </a:r>
            <a:r>
              <a:rPr lang="ru-RU" dirty="0" smtClean="0"/>
              <a:t>или </a:t>
            </a:r>
            <a:r>
              <a:rPr lang="ru-RU" dirty="0"/>
              <a:t>пакета процедур. Процессы могут вызывать любые необходимые им процедуры, </a:t>
            </a:r>
            <a:r>
              <a:rPr lang="ru-RU" dirty="0" smtClean="0"/>
              <a:t>имеющиеся </a:t>
            </a:r>
            <a:r>
              <a:rPr lang="ru-RU" dirty="0"/>
              <a:t>в мониторе, но не могут получить непосредственный доступ к </a:t>
            </a:r>
            <a:r>
              <a:rPr lang="ru-RU" dirty="0" smtClean="0"/>
              <a:t>внутренним </a:t>
            </a:r>
            <a:r>
              <a:rPr lang="ru-RU" dirty="0"/>
              <a:t>структурам данных монитора из процедур, объявленных за пределами монитора. </a:t>
            </a:r>
            <a:endParaRPr lang="ru-RU" dirty="0" smtClean="0"/>
          </a:p>
          <a:p>
            <a:r>
              <a:rPr lang="ru-RU" u="sng" dirty="0"/>
              <a:t>Для использования мониторов нужен язык, </a:t>
            </a:r>
            <a:r>
              <a:rPr lang="ru-RU" u="sng" dirty="0" smtClean="0"/>
              <a:t>в </a:t>
            </a:r>
            <a:r>
              <a:rPr lang="ru-RU" u="sng" dirty="0"/>
              <a:t>который они встроены.</a:t>
            </a:r>
          </a:p>
        </p:txBody>
      </p:sp>
    </p:spTree>
    <p:extLst>
      <p:ext uri="{BB962C8B-B14F-4D97-AF65-F5344CB8AC3E}">
        <p14:creationId xmlns:p14="http://schemas.microsoft.com/office/powerpoint/2010/main" val="3802284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У мониторов имеется весьма важное свойство, позволяющее успешно справляться со </a:t>
            </a:r>
            <a:r>
              <a:rPr lang="ru-RU" dirty="0" smtClean="0"/>
              <a:t>взаимными </a:t>
            </a:r>
            <a:r>
              <a:rPr lang="ru-RU" dirty="0"/>
              <a:t>исключениями: в любой момент времени в мониторе может быть активен </a:t>
            </a:r>
            <a:r>
              <a:rPr lang="ru-RU" dirty="0" smtClean="0"/>
              <a:t>только </a:t>
            </a:r>
            <a:r>
              <a:rPr lang="ru-RU" dirty="0"/>
              <a:t>один процесс. </a:t>
            </a:r>
            <a:endParaRPr lang="ru-RU" dirty="0" smtClean="0"/>
          </a:p>
          <a:p>
            <a:r>
              <a:rPr lang="ru-RU" dirty="0" smtClean="0"/>
              <a:t>Мониторы </a:t>
            </a:r>
            <a:r>
              <a:rPr lang="ru-RU" dirty="0"/>
              <a:t>являются конструкцией языка программирования, </a:t>
            </a:r>
            <a:r>
              <a:rPr lang="ru-RU" dirty="0" smtClean="0"/>
              <a:t>поэтому </a:t>
            </a:r>
            <a:r>
              <a:rPr lang="ru-RU" dirty="0"/>
              <a:t>компилятор осведомлен об их особенностях и способен обрабатывать вызовы </a:t>
            </a:r>
            <a:r>
              <a:rPr lang="ru-RU" dirty="0" smtClean="0"/>
              <a:t>процедур </a:t>
            </a:r>
            <a:r>
              <a:rPr lang="ru-RU" dirty="0"/>
              <a:t>монитора не так, как вызовы всех остальных процедур. </a:t>
            </a:r>
            <a:endParaRPr lang="ru-RU" dirty="0" smtClean="0"/>
          </a:p>
          <a:p>
            <a:r>
              <a:rPr lang="ru-RU" dirty="0" smtClean="0"/>
              <a:t>Обычно </a:t>
            </a:r>
            <a:r>
              <a:rPr lang="ru-RU" dirty="0"/>
              <a:t>при вызове </a:t>
            </a:r>
            <a:r>
              <a:rPr lang="ru-RU" dirty="0" smtClean="0"/>
              <a:t>процессом </a:t>
            </a:r>
            <a:r>
              <a:rPr lang="ru-RU" dirty="0"/>
              <a:t>процедуры монитора первые несколько команд процедуры осуществляют </a:t>
            </a:r>
            <a:r>
              <a:rPr lang="ru-RU" dirty="0" smtClean="0"/>
              <a:t>проверку </a:t>
            </a:r>
            <a:r>
              <a:rPr lang="ru-RU" dirty="0"/>
              <a:t>на текущее присутствие активности других процессов внутри монитора. Если </a:t>
            </a:r>
            <a:r>
              <a:rPr lang="ru-RU" dirty="0" smtClean="0"/>
              <a:t>какой-нибудь </a:t>
            </a:r>
            <a:r>
              <a:rPr lang="ru-RU" dirty="0"/>
              <a:t>другой процесс будет активен, вызывающий процесс будет приостановлен </a:t>
            </a:r>
            <a:r>
              <a:rPr lang="ru-RU" dirty="0" smtClean="0"/>
              <a:t>до </a:t>
            </a:r>
            <a:r>
              <a:rPr lang="ru-RU" dirty="0"/>
              <a:t>тех пор, пока другой процесс не освободит монитор.</a:t>
            </a:r>
          </a:p>
        </p:txBody>
      </p:sp>
    </p:spTree>
    <p:extLst>
      <p:ext uri="{BB962C8B-B14F-4D97-AF65-F5344CB8AC3E}">
        <p14:creationId xmlns:p14="http://schemas.microsoft.com/office/powerpoint/2010/main" val="520748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752600"/>
            <a:ext cx="7620000" cy="4772744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Хотя мониторы и обеспечивают простой способ достижения взаимного исключения, </a:t>
            </a:r>
            <a:r>
              <a:rPr lang="ru-RU" dirty="0" smtClean="0"/>
              <a:t>как </a:t>
            </a:r>
            <a:r>
              <a:rPr lang="ru-RU" dirty="0"/>
              <a:t>мы видели ранее, этого недостаточно. Нам также нужен способ, позволяющий </a:t>
            </a:r>
            <a:r>
              <a:rPr lang="ru-RU" dirty="0" smtClean="0"/>
              <a:t>заблокировать </a:t>
            </a:r>
            <a:r>
              <a:rPr lang="ru-RU" dirty="0"/>
              <a:t>процессы, которые не в состоянии продолжить свою работу.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случае </a:t>
            </a:r>
            <a:r>
              <a:rPr lang="ru-RU" dirty="0" smtClean="0"/>
              <a:t>с </a:t>
            </a:r>
            <a:r>
              <a:rPr lang="ru-RU" dirty="0"/>
              <a:t>решением задачи производителя-потребителя проще всего поместить все тесты на </a:t>
            </a:r>
            <a:r>
              <a:rPr lang="ru-RU" dirty="0" err="1" smtClean="0"/>
              <a:t>заполненность</a:t>
            </a:r>
            <a:r>
              <a:rPr lang="ru-RU" dirty="0" smtClean="0"/>
              <a:t> </a:t>
            </a:r>
            <a:r>
              <a:rPr lang="ru-RU" dirty="0"/>
              <a:t>и опустошенность буфера в процедуры монитора, но как тогда </a:t>
            </a:r>
            <a:r>
              <a:rPr lang="ru-RU" dirty="0" smtClean="0"/>
              <a:t>производитель </a:t>
            </a:r>
            <a:r>
              <a:rPr lang="ru-RU" dirty="0"/>
              <a:t>должен заблокироваться, обнаружив, что буфер заполнен до отказа?</a:t>
            </a:r>
          </a:p>
          <a:p>
            <a:r>
              <a:rPr lang="ru-RU" dirty="0"/>
              <a:t>Для решения этой проблемы нужно ввести условные переменные, а также две </a:t>
            </a:r>
            <a:r>
              <a:rPr lang="ru-RU" dirty="0" smtClean="0"/>
              <a:t>проводимые </a:t>
            </a:r>
            <a:r>
              <a:rPr lang="ru-RU" dirty="0"/>
              <a:t>над ними операции — </a:t>
            </a:r>
            <a:r>
              <a:rPr lang="ru-RU" dirty="0" err="1"/>
              <a:t>wait</a:t>
            </a:r>
            <a:r>
              <a:rPr lang="ru-RU" dirty="0"/>
              <a:t> и </a:t>
            </a:r>
            <a:r>
              <a:rPr lang="ru-RU" dirty="0" err="1"/>
              <a:t>signal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Когда </a:t>
            </a:r>
            <a:r>
              <a:rPr lang="ru-RU" dirty="0"/>
              <a:t>процедура монитора обнаруживает </a:t>
            </a:r>
            <a:r>
              <a:rPr lang="ru-RU" dirty="0" smtClean="0"/>
              <a:t>невозможность </a:t>
            </a:r>
            <a:r>
              <a:rPr lang="ru-RU" dirty="0"/>
              <a:t>продолжения своей работы (например, производитель обнаружил, что </a:t>
            </a:r>
            <a:r>
              <a:rPr lang="ru-RU" dirty="0" smtClean="0"/>
              <a:t>буфер </a:t>
            </a:r>
            <a:r>
              <a:rPr lang="ru-RU" dirty="0"/>
              <a:t>заполнен), она осуществляет операцию </a:t>
            </a:r>
            <a:r>
              <a:rPr lang="ru-RU" dirty="0" err="1"/>
              <a:t>wait</a:t>
            </a:r>
            <a:r>
              <a:rPr lang="ru-RU" dirty="0"/>
              <a:t> в отношении какой-нибудь </a:t>
            </a:r>
            <a:r>
              <a:rPr lang="ru-RU" dirty="0" smtClean="0"/>
              <a:t>условной </a:t>
            </a:r>
            <a:r>
              <a:rPr lang="ru-RU" dirty="0"/>
              <a:t>переменной, скажем, </a:t>
            </a:r>
            <a:r>
              <a:rPr lang="ru-RU" dirty="0" err="1"/>
              <a:t>full</a:t>
            </a:r>
            <a:r>
              <a:rPr lang="ru-RU" dirty="0"/>
              <a:t>. Это действие призывает процесс к блокированию. Оно </a:t>
            </a:r>
            <a:r>
              <a:rPr lang="ru-RU" dirty="0" smtClean="0"/>
              <a:t>также </a:t>
            </a:r>
            <a:r>
              <a:rPr lang="ru-RU" dirty="0"/>
              <a:t>позволяет войти в монитор другому процессу, которому ранее этот вход был </a:t>
            </a:r>
            <a:r>
              <a:rPr lang="ru-RU" dirty="0" smtClean="0"/>
              <a:t>запрещен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84172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мониторы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Этот другой процесс, например потребитель, может активизировать работу своего </a:t>
            </a:r>
            <a:r>
              <a:rPr lang="ru-RU" dirty="0" smtClean="0"/>
              <a:t>приостановленного </a:t>
            </a:r>
            <a:r>
              <a:rPr lang="ru-RU" dirty="0"/>
              <a:t>партнера, осуществив операцию </a:t>
            </a:r>
            <a:r>
              <a:rPr lang="ru-RU" dirty="0" err="1"/>
              <a:t>signal</a:t>
            </a:r>
            <a:r>
              <a:rPr lang="ru-RU" dirty="0"/>
              <a:t> в отношении условной </a:t>
            </a:r>
            <a:r>
              <a:rPr lang="ru-RU" dirty="0" smtClean="0"/>
              <a:t>переменной</a:t>
            </a:r>
            <a:r>
              <a:rPr lang="ru-RU" dirty="0"/>
              <a:t>, изменения значения которой ожидает его партнер. </a:t>
            </a:r>
            <a:endParaRPr lang="ru-RU" dirty="0" smtClean="0"/>
          </a:p>
          <a:p>
            <a:r>
              <a:rPr lang="ru-RU" dirty="0" smtClean="0"/>
              <a:t>Чтобы </a:t>
            </a:r>
            <a:r>
              <a:rPr lang="ru-RU" dirty="0"/>
              <a:t>в мониторе в одно </a:t>
            </a:r>
            <a:r>
              <a:rPr lang="ru-RU" dirty="0" smtClean="0"/>
              <a:t>и </a:t>
            </a:r>
            <a:r>
              <a:rPr lang="ru-RU" dirty="0"/>
              <a:t>то же время не находились сразу два активных процесса, нам необходимо правило, </a:t>
            </a:r>
            <a:r>
              <a:rPr lang="ru-RU" dirty="0" smtClean="0"/>
              <a:t>предписывающее </a:t>
            </a:r>
            <a:r>
              <a:rPr lang="ru-RU" dirty="0"/>
              <a:t>дальнейшее развитие событий после осуществления операции </a:t>
            </a:r>
            <a:r>
              <a:rPr lang="ru-RU" dirty="0" err="1"/>
              <a:t>signal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Хоар </a:t>
            </a:r>
            <a:r>
              <a:rPr lang="ru-RU" dirty="0"/>
              <a:t>предложил позволить только что </a:t>
            </a:r>
            <a:r>
              <a:rPr lang="ru-RU" dirty="0" smtClean="0"/>
              <a:t>активизированному </a:t>
            </a:r>
            <a:r>
              <a:rPr lang="ru-RU" dirty="0"/>
              <a:t>процессу приостановить работу другого процесса. </a:t>
            </a:r>
            <a:r>
              <a:rPr lang="ru-RU" dirty="0" err="1"/>
              <a:t>Бринч</a:t>
            </a:r>
            <a:r>
              <a:rPr lang="ru-RU" dirty="0"/>
              <a:t> </a:t>
            </a:r>
            <a:r>
              <a:rPr lang="ru-RU" dirty="0" err="1"/>
              <a:t>Хансен</a:t>
            </a:r>
            <a:r>
              <a:rPr lang="ru-RU" dirty="0"/>
              <a:t> предложил разрешить проблему, потребовав </a:t>
            </a:r>
            <a:r>
              <a:rPr lang="ru-RU" dirty="0" smtClean="0"/>
              <a:t>обязательного </a:t>
            </a:r>
            <a:r>
              <a:rPr lang="ru-RU" dirty="0"/>
              <a:t>и немедленного выхода из монитора того процесса, который осуществил </a:t>
            </a:r>
            <a:r>
              <a:rPr lang="ru-RU" dirty="0" smtClean="0"/>
              <a:t>операцию </a:t>
            </a:r>
            <a:r>
              <a:rPr lang="ru-RU" dirty="0" err="1"/>
              <a:t>signal</a:t>
            </a:r>
            <a:r>
              <a:rPr lang="ru-RU" dirty="0"/>
              <a:t>. Иными словами, операция </a:t>
            </a:r>
            <a:r>
              <a:rPr lang="ru-RU" dirty="0" err="1"/>
              <a:t>signal</a:t>
            </a:r>
            <a:r>
              <a:rPr lang="ru-RU" dirty="0"/>
              <a:t> должна фигурировать только в </a:t>
            </a:r>
            <a:r>
              <a:rPr lang="ru-RU" dirty="0" smtClean="0"/>
              <a:t>качестве </a:t>
            </a:r>
            <a:r>
              <a:rPr lang="ru-RU" dirty="0"/>
              <a:t>завершающей операции в процедуре монитора. </a:t>
            </a:r>
          </a:p>
        </p:txBody>
      </p:sp>
    </p:spTree>
    <p:extLst>
      <p:ext uri="{BB962C8B-B14F-4D97-AF65-F5344CB8AC3E}">
        <p14:creationId xmlns:p14="http://schemas.microsoft.com/office/powerpoint/2010/main" val="33928513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Этот метод взаимодействия </a:t>
            </a:r>
            <a:r>
              <a:rPr lang="ru-RU" dirty="0" smtClean="0"/>
              <a:t>процессов </a:t>
            </a:r>
            <a:r>
              <a:rPr lang="ru-RU" dirty="0"/>
              <a:t>использует два примитива, </a:t>
            </a:r>
            <a:r>
              <a:rPr lang="ru-RU" dirty="0" err="1"/>
              <a:t>send</a:t>
            </a:r>
            <a:r>
              <a:rPr lang="ru-RU" dirty="0"/>
              <a:t> и </a:t>
            </a:r>
            <a:r>
              <a:rPr lang="ru-RU" dirty="0" err="1"/>
              <a:t>receive</a:t>
            </a:r>
            <a:r>
              <a:rPr lang="ru-RU" dirty="0"/>
              <a:t>, которые, подобно семафорам и в </a:t>
            </a:r>
            <a:r>
              <a:rPr lang="ru-RU" dirty="0" smtClean="0"/>
              <a:t>отличие </a:t>
            </a:r>
            <a:r>
              <a:rPr lang="ru-RU" dirty="0"/>
              <a:t>от мониторов, являются системными вызовами, а не конструкциями языка. </a:t>
            </a:r>
            <a:endParaRPr lang="ru-RU" dirty="0" smtClean="0"/>
          </a:p>
          <a:p>
            <a:r>
              <a:rPr lang="ru-RU" dirty="0"/>
              <a:t>Как таковые они легко могут быть помещены в библиотечные процедуры, например:</a:t>
            </a:r>
          </a:p>
          <a:p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send</a:t>
            </a:r>
            <a:r>
              <a:rPr lang="ru-RU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 smtClean="0">
                <a:latin typeface="Courier New" pitchFamily="49" charset="0"/>
                <a:cs typeface="Courier New" pitchFamily="49" charset="0"/>
              </a:rPr>
              <a:t>destination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message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ru-RU" dirty="0"/>
              <a:t>или</a:t>
            </a: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receive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source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&amp;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message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ru-RU" dirty="0"/>
              <a:t>Первый вызов отправляет сообщение заданному получателю, а второй получает </a:t>
            </a:r>
            <a:r>
              <a:rPr lang="ru-RU" dirty="0" smtClean="0"/>
              <a:t>сообщение </a:t>
            </a:r>
            <a:r>
              <a:rPr lang="ru-RU" dirty="0"/>
              <a:t>из заданного источника (или из любого источника, если получателю все </a:t>
            </a:r>
            <a:r>
              <a:rPr lang="ru-RU" dirty="0" smtClean="0"/>
              <a:t>равно</a:t>
            </a:r>
            <a:r>
              <a:rPr lang="ru-RU" dirty="0"/>
              <a:t>). Если доступные сообщения отсутствуют, получатель может заблокироваться </a:t>
            </a:r>
            <a:r>
              <a:rPr lang="ru-RU" dirty="0" smtClean="0"/>
              <a:t>до </a:t>
            </a:r>
            <a:r>
              <a:rPr lang="ru-RU" dirty="0"/>
              <a:t>их поступления. Или же он может немедленно вернуть управление с кодом ошибки.</a:t>
            </a:r>
          </a:p>
        </p:txBody>
      </p:sp>
    </p:spTree>
    <p:extLst>
      <p:ext uri="{BB962C8B-B14F-4D97-AF65-F5344CB8AC3E}">
        <p14:creationId xmlns:p14="http://schemas.microsoft.com/office/powerpoint/2010/main" val="669993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Передача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Системы передачи сообщений имеют массу сложных проблем разработки, которых не </a:t>
            </a:r>
            <a:r>
              <a:rPr lang="ru-RU" dirty="0" smtClean="0"/>
              <a:t>возникает </a:t>
            </a:r>
            <a:r>
              <a:rPr lang="ru-RU" dirty="0"/>
              <a:t>при использовании семафоров или мониторов, особенно если </a:t>
            </a:r>
            <a:r>
              <a:rPr lang="ru-RU" dirty="0" smtClean="0"/>
              <a:t>взаимодействующие </a:t>
            </a:r>
            <a:r>
              <a:rPr lang="ru-RU" dirty="0"/>
              <a:t>процессы проходят на различных машинах, связанных между собой по сети. </a:t>
            </a:r>
          </a:p>
          <a:p>
            <a:r>
              <a:rPr lang="ru-RU" dirty="0"/>
              <a:t>К примеру, сообщение может быть утрачено при передаче по сети. Чтобы застраховаться </a:t>
            </a:r>
            <a:r>
              <a:rPr lang="ru-RU" dirty="0" smtClean="0"/>
              <a:t>от </a:t>
            </a:r>
            <a:r>
              <a:rPr lang="ru-RU" dirty="0"/>
              <a:t>утраты сообщений, отправитель и получатель должны договориться о том, что как </a:t>
            </a:r>
            <a:r>
              <a:rPr lang="ru-RU" dirty="0" smtClean="0"/>
              <a:t>только </a:t>
            </a:r>
            <a:r>
              <a:rPr lang="ru-RU" dirty="0"/>
              <a:t>сообщение будет получено, получатель должен отправить в ответ специальное </a:t>
            </a:r>
            <a:r>
              <a:rPr lang="ru-RU" dirty="0" smtClean="0"/>
              <a:t>подтверждение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по истечении определенного интервала времени отправитель не </a:t>
            </a:r>
            <a:r>
              <a:rPr lang="ru-RU" dirty="0" smtClean="0"/>
              <a:t>получит </a:t>
            </a:r>
            <a:r>
              <a:rPr lang="ru-RU" dirty="0"/>
              <a:t>подтверждение, он отправляет сообщение повторно.</a:t>
            </a:r>
          </a:p>
        </p:txBody>
      </p:sp>
    </p:spTree>
    <p:extLst>
      <p:ext uri="{BB962C8B-B14F-4D97-AF65-F5344CB8AC3E}">
        <p14:creationId xmlns:p14="http://schemas.microsoft.com/office/powerpoint/2010/main" val="19494239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931224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задачи </a:t>
            </a:r>
            <a:r>
              <a:rPr lang="ru-RU" dirty="0" smtClean="0"/>
              <a:t>с </a:t>
            </a:r>
            <a:r>
              <a:rPr lang="ru-RU" dirty="0"/>
              <a:t>помощью передачи </a:t>
            </a:r>
            <a:r>
              <a:rPr lang="ru-RU" dirty="0" smtClean="0"/>
              <a:t>сообщений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Будем исходить из предположения, что все </a:t>
            </a:r>
            <a:r>
              <a:rPr lang="ru-RU" dirty="0" smtClean="0"/>
              <a:t>сообщения </a:t>
            </a:r>
            <a:r>
              <a:rPr lang="ru-RU" dirty="0"/>
              <a:t>имеют один и тот же размер и что переданные, но еще не полученные сообщения </a:t>
            </a:r>
            <a:r>
              <a:rPr lang="ru-RU" dirty="0" smtClean="0"/>
              <a:t>буферизуются </a:t>
            </a:r>
            <a:r>
              <a:rPr lang="ru-RU" dirty="0"/>
              <a:t>автоматически средствами операционной системы. </a:t>
            </a:r>
            <a:endParaRPr lang="ru-RU" dirty="0" smtClean="0"/>
          </a:p>
          <a:p>
            <a:r>
              <a:rPr lang="ru-RU" dirty="0" smtClean="0"/>
              <a:t>В </a:t>
            </a:r>
            <a:r>
              <a:rPr lang="ru-RU" dirty="0"/>
              <a:t>этом решении </a:t>
            </a:r>
            <a:r>
              <a:rPr lang="ru-RU" dirty="0" smtClean="0"/>
              <a:t>всего </a:t>
            </a:r>
            <a:r>
              <a:rPr lang="ru-RU" dirty="0"/>
              <a:t>используется N сообщений, что аналогично N местам в буфере, организованном </a:t>
            </a:r>
            <a:r>
              <a:rPr lang="ru-RU" dirty="0" smtClean="0"/>
              <a:t>в </a:t>
            </a:r>
            <a:r>
              <a:rPr lang="ru-RU" dirty="0"/>
              <a:t>общей памяти. </a:t>
            </a:r>
            <a:endParaRPr lang="ru-RU" dirty="0" smtClean="0"/>
          </a:p>
          <a:p>
            <a:r>
              <a:rPr lang="ru-RU" dirty="0" smtClean="0"/>
              <a:t>Потребитель </a:t>
            </a:r>
            <a:r>
              <a:rPr lang="ru-RU" dirty="0"/>
              <a:t>начинает с того, что посылает N пустых сообщений </a:t>
            </a:r>
            <a:r>
              <a:rPr lang="ru-RU" dirty="0" smtClean="0"/>
              <a:t>производителю</a:t>
            </a:r>
            <a:r>
              <a:rPr lang="ru-RU" dirty="0"/>
              <a:t>. Как только у производителя появится запись для передачи </a:t>
            </a:r>
            <a:r>
              <a:rPr lang="ru-RU" dirty="0" smtClean="0"/>
              <a:t>потребителю</a:t>
            </a:r>
            <a:r>
              <a:rPr lang="ru-RU" dirty="0"/>
              <a:t>, он берет пустое сообщение и отправляет его назад в заполненном виде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При этом </a:t>
            </a:r>
            <a:r>
              <a:rPr lang="ru-RU" dirty="0"/>
              <a:t>общее количество сообщений в системе остается постоянным, поэтому они могут </a:t>
            </a:r>
            <a:r>
              <a:rPr lang="ru-RU" dirty="0" smtClean="0"/>
              <a:t>быть </a:t>
            </a:r>
            <a:r>
              <a:rPr lang="ru-RU" dirty="0"/>
              <a:t>сохранены в заданном, заранее известном объеме памяти.</a:t>
            </a:r>
          </a:p>
        </p:txBody>
      </p:sp>
    </p:spTree>
    <p:extLst>
      <p:ext uri="{BB962C8B-B14F-4D97-AF65-F5344CB8AC3E}">
        <p14:creationId xmlns:p14="http://schemas.microsoft.com/office/powerpoint/2010/main" val="5768168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5921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задачи с помощью передачи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84784"/>
            <a:ext cx="7620000" cy="4896544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#define N 100 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количество мест в буфере */</a:t>
            </a:r>
          </a:p>
          <a:p>
            <a:pPr>
              <a:spcAft>
                <a:spcPts val="0"/>
              </a:spcAft>
            </a:pPr>
            <a:endParaRPr lang="ru-RU" sz="9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producer(void)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item;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message m;          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буфер сообщений */</a:t>
            </a:r>
          </a:p>
          <a:p>
            <a:pPr>
              <a:spcAft>
                <a:spcPts val="0"/>
              </a:spcAft>
            </a:pPr>
            <a:endParaRPr lang="ru-RU" sz="9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while (TRUE) 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 item =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produce_item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 );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генерация информации для помещения в буфер 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receive(consumer, &amp;m);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ожидание поступления пустого сообщения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build_message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(&amp;m, item);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создание сообщения на отправку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send(consumer, &amp;m);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отправка записи потребителю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Aft>
                <a:spcPts val="0"/>
              </a:spcAft>
            </a:pPr>
            <a:endParaRPr lang="ru-RU" sz="900" dirty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void consumer(void)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 item, i;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message m;</a:t>
            </a: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   for (i = 0; i &lt; N; i++) send(producer, &amp;m);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отправка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N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пустых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                                            сообщений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sz="9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while (TRUE) </a:t>
            </a:r>
            <a:r>
              <a:rPr lang="en-US" sz="900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ru-RU" sz="9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Aft>
                <a:spcPts val="0"/>
              </a:spcAft>
            </a:pPr>
            <a:r>
              <a:rPr lang="en-US" sz="900" dirty="0">
                <a:latin typeface="Courier New" pitchFamily="49" charset="0"/>
                <a:cs typeface="Courier New" pitchFamily="49" charset="0"/>
              </a:rPr>
              <a:t> receive(producer, &amp;m);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получение сообщения с записью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item =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extract_item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(&amp;m);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извлечение записи из сообщения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send(producer, &amp;m);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возвращение пустого ответа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sz="900" dirty="0" err="1">
                <a:latin typeface="Courier New" pitchFamily="49" charset="0"/>
                <a:cs typeface="Courier New" pitchFamily="49" charset="0"/>
              </a:rPr>
              <a:t>consume_item</a:t>
            </a:r>
            <a:r>
              <a:rPr lang="en-US" sz="900" dirty="0">
                <a:latin typeface="Courier New" pitchFamily="49" charset="0"/>
                <a:cs typeface="Courier New" pitchFamily="49" charset="0"/>
              </a:rPr>
              <a:t>(item);         /* </a:t>
            </a:r>
            <a:r>
              <a:rPr lang="ru-RU" sz="900" dirty="0">
                <a:latin typeface="Courier New" pitchFamily="49" charset="0"/>
                <a:cs typeface="Courier New" pitchFamily="49" charset="0"/>
              </a:rPr>
              <a:t>обработка записи */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Aft>
                <a:spcPts val="0"/>
              </a:spcAft>
            </a:pPr>
            <a:r>
              <a:rPr lang="ru-RU" sz="900" dirty="0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3622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643192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 задачи с помощью передачи сообщений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производитель работает быстрее потребителя, все сообщения в конце концов </a:t>
            </a:r>
            <a:r>
              <a:rPr lang="ru-RU" dirty="0" smtClean="0"/>
              <a:t>становятся </a:t>
            </a:r>
            <a:r>
              <a:rPr lang="ru-RU" dirty="0"/>
              <a:t>заполненными, ожидая потребителя; производитель должен будет </a:t>
            </a:r>
            <a:r>
              <a:rPr lang="ru-RU" dirty="0" smtClean="0"/>
              <a:t>заблокироваться</a:t>
            </a:r>
            <a:r>
              <a:rPr lang="ru-RU" dirty="0"/>
              <a:t>, ожидая возвращения пустого сообщения. </a:t>
            </a:r>
            <a:endParaRPr lang="ru-RU" dirty="0" smtClean="0"/>
          </a:p>
          <a:p>
            <a:r>
              <a:rPr lang="ru-RU" dirty="0" smtClean="0"/>
              <a:t>Если </a:t>
            </a:r>
            <a:r>
              <a:rPr lang="ru-RU" dirty="0"/>
              <a:t>потребитель работает быстрее, то </a:t>
            </a:r>
            <a:r>
              <a:rPr lang="ru-RU" dirty="0" smtClean="0"/>
              <a:t>получается </a:t>
            </a:r>
            <a:r>
              <a:rPr lang="ru-RU" dirty="0"/>
              <a:t>обратный эффект: все сообщения </a:t>
            </a:r>
            <a:r>
              <a:rPr lang="ru-RU" dirty="0" err="1"/>
              <a:t>опустошатся</a:t>
            </a:r>
            <a:r>
              <a:rPr lang="ru-RU" dirty="0"/>
              <a:t>, ожидая, пока производитель </a:t>
            </a:r>
            <a:r>
              <a:rPr lang="ru-RU" dirty="0" smtClean="0"/>
              <a:t>их </a:t>
            </a:r>
            <a:r>
              <a:rPr lang="ru-RU" dirty="0"/>
              <a:t>заполнит, и потребитель заблокируется в ожидании заполненного сообщения.</a:t>
            </a:r>
          </a:p>
        </p:txBody>
      </p:sp>
    </p:spTree>
    <p:extLst>
      <p:ext uri="{BB962C8B-B14F-4D97-AF65-F5344CB8AC3E}">
        <p14:creationId xmlns:p14="http://schemas.microsoft.com/office/powerpoint/2010/main" val="25071706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Барьеры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Предназначены </a:t>
            </a:r>
            <a:r>
              <a:rPr lang="ru-RU" dirty="0"/>
              <a:t>для </a:t>
            </a:r>
            <a:r>
              <a:rPr lang="ru-RU" dirty="0" smtClean="0"/>
              <a:t>групп </a:t>
            </a:r>
            <a:r>
              <a:rPr lang="ru-RU" dirty="0"/>
              <a:t>процессов, в отличие от задачи производителя-потребителя, в которой </a:t>
            </a:r>
            <a:r>
              <a:rPr lang="ru-RU" dirty="0" smtClean="0"/>
              <a:t>задействованы </a:t>
            </a:r>
            <a:r>
              <a:rPr lang="ru-RU" dirty="0"/>
              <a:t>всего два </a:t>
            </a:r>
            <a:r>
              <a:rPr lang="ru-RU" dirty="0" smtClean="0"/>
              <a:t>процесса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/>
              <a:t>Некоторые приложения разбиты на фазы и следуют правилу, согласно которому ни один из процессов не может перейти к следующей фазе, пока </a:t>
            </a:r>
            <a:r>
              <a:rPr lang="ru-RU" dirty="0" smtClean="0"/>
              <a:t>все </a:t>
            </a:r>
            <a:r>
              <a:rPr lang="ru-RU" dirty="0"/>
              <a:t>процессы не будут готовы перейти к следующей фазе. Добиться выполнения этого </a:t>
            </a:r>
            <a:r>
              <a:rPr lang="ru-RU" dirty="0" smtClean="0"/>
              <a:t>правила </a:t>
            </a:r>
            <a:r>
              <a:rPr lang="ru-RU" dirty="0"/>
              <a:t>можно с помощью барьеров, поставленных в конце каждой фазы. Когда </a:t>
            </a:r>
            <a:r>
              <a:rPr lang="ru-RU" dirty="0" smtClean="0"/>
              <a:t>процесс </a:t>
            </a:r>
            <a:r>
              <a:rPr lang="ru-RU" dirty="0"/>
              <a:t>достигает барьера, он блокируется до тех пор, пока этого барьера не достигнут все </a:t>
            </a:r>
            <a:r>
              <a:rPr lang="ru-RU" dirty="0" smtClean="0"/>
              <a:t>остальные </a:t>
            </a:r>
            <a:r>
              <a:rPr lang="ru-RU" dirty="0"/>
              <a:t>процессы. </a:t>
            </a:r>
          </a:p>
        </p:txBody>
      </p:sp>
    </p:spTree>
    <p:extLst>
      <p:ext uri="{BB962C8B-B14F-4D97-AF65-F5344CB8AC3E}">
        <p14:creationId xmlns:p14="http://schemas.microsoft.com/office/powerpoint/2010/main" val="2112768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барьеры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556792"/>
            <a:ext cx="7620000" cy="2232248"/>
          </a:xfrm>
        </p:spPr>
        <p:txBody>
          <a:bodyPr>
            <a:noAutofit/>
          </a:bodyPr>
          <a:lstStyle/>
          <a:p>
            <a:r>
              <a:rPr lang="ru-RU" sz="1420" dirty="0"/>
              <a:t>На </a:t>
            </a:r>
            <a:r>
              <a:rPr lang="ru-RU" sz="1420" dirty="0" smtClean="0"/>
              <a:t>рисунке а </a:t>
            </a:r>
            <a:r>
              <a:rPr lang="ru-RU" sz="1420" dirty="0"/>
              <a:t>показаны четыре процесса, приближающихся к барьеру. Это означает, </a:t>
            </a:r>
            <a:r>
              <a:rPr lang="ru-RU" sz="1420" dirty="0" smtClean="0"/>
              <a:t>что </a:t>
            </a:r>
            <a:r>
              <a:rPr lang="ru-RU" sz="1420" dirty="0"/>
              <a:t>они еще заняты вычислениями и не достигли завершения текущей фазы. Через </a:t>
            </a:r>
            <a:r>
              <a:rPr lang="ru-RU" sz="1420" dirty="0" smtClean="0"/>
              <a:t>некоторое </a:t>
            </a:r>
            <a:r>
              <a:rPr lang="ru-RU" sz="1420" dirty="0"/>
              <a:t>время первый процесс заканчивает все вычисления, необходимые для </a:t>
            </a:r>
            <a:r>
              <a:rPr lang="ru-RU" sz="1420" dirty="0" smtClean="0"/>
              <a:t>завершения </a:t>
            </a:r>
            <a:r>
              <a:rPr lang="ru-RU" sz="1420" dirty="0"/>
              <a:t>первой фазы работы. Он выполняет примитив </a:t>
            </a:r>
            <a:r>
              <a:rPr lang="ru-RU" sz="1420" dirty="0" err="1"/>
              <a:t>barrier</a:t>
            </a:r>
            <a:r>
              <a:rPr lang="ru-RU" sz="1420" dirty="0"/>
              <a:t>, вызывая обычно </a:t>
            </a:r>
            <a:r>
              <a:rPr lang="ru-RU" sz="1420" dirty="0" smtClean="0"/>
              <a:t>библиотечную </a:t>
            </a:r>
            <a:r>
              <a:rPr lang="ru-RU" sz="1420" dirty="0"/>
              <a:t>процедуру. Затем этот процесс приостанавливается. Чуть позже первую фазу своей </a:t>
            </a:r>
            <a:r>
              <a:rPr lang="ru-RU" sz="1420" dirty="0" smtClean="0"/>
              <a:t>работы </a:t>
            </a:r>
            <a:r>
              <a:rPr lang="ru-RU" sz="1420" dirty="0"/>
              <a:t>завершают второй и третий процессы, которые также выполняют примитив </a:t>
            </a:r>
            <a:r>
              <a:rPr lang="ru-RU" sz="1420" dirty="0" err="1" smtClean="0"/>
              <a:t>barrier</a:t>
            </a:r>
            <a:r>
              <a:rPr lang="ru-RU" sz="1420" dirty="0"/>
              <a:t>. Эта ситуация показана на </a:t>
            </a:r>
            <a:r>
              <a:rPr lang="ru-RU" sz="1420" dirty="0" smtClean="0"/>
              <a:t>рисунке б</a:t>
            </a:r>
            <a:r>
              <a:rPr lang="ru-RU" sz="1420" dirty="0"/>
              <a:t>. И наконец, как показано на </a:t>
            </a:r>
            <a:r>
              <a:rPr lang="ru-RU" sz="1420" dirty="0" smtClean="0"/>
              <a:t>рисунке в</a:t>
            </a:r>
            <a:r>
              <a:rPr lang="ru-RU" sz="1420" dirty="0"/>
              <a:t>, </a:t>
            </a:r>
            <a:r>
              <a:rPr lang="ru-RU" sz="1420" dirty="0" smtClean="0"/>
              <a:t>когда </a:t>
            </a:r>
            <a:r>
              <a:rPr lang="ru-RU" sz="1420" dirty="0"/>
              <a:t>последний процесс, C, достигает барьера, все процессы освобождаются.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789040"/>
            <a:ext cx="7475932" cy="29246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9168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Барьеры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64" y="1752600"/>
            <a:ext cx="7289271" cy="4373563"/>
          </a:xfrm>
        </p:spPr>
      </p:pic>
    </p:spTree>
    <p:extLst>
      <p:ext uri="{BB962C8B-B14F-4D97-AF65-F5344CB8AC3E}">
        <p14:creationId xmlns:p14="http://schemas.microsoft.com/office/powerpoint/2010/main" val="69537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59216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Работа без блокировок: </a:t>
            </a:r>
            <a:br>
              <a:rPr lang="ru-RU" dirty="0"/>
            </a:br>
            <a:r>
              <a:rPr lang="ru-RU" dirty="0"/>
              <a:t>чтение — копирование — обновление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Самые быстрые блокировки — это </a:t>
            </a:r>
            <a:r>
              <a:rPr lang="ru-RU" u="sng" dirty="0"/>
              <a:t>отсутствие всяких блокировок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Вопрос </a:t>
            </a:r>
            <a:r>
              <a:rPr lang="ru-RU" dirty="0"/>
              <a:t>в том, можно </a:t>
            </a:r>
            <a:r>
              <a:rPr lang="ru-RU" dirty="0" smtClean="0"/>
              <a:t>ли </a:t>
            </a:r>
            <a:r>
              <a:rPr lang="ru-RU" dirty="0"/>
              <a:t>разрешить одновременный доступ для чтения и записи к общим структурам данных </a:t>
            </a:r>
            <a:r>
              <a:rPr lang="ru-RU" dirty="0" smtClean="0"/>
              <a:t>без </a:t>
            </a:r>
            <a:r>
              <a:rPr lang="ru-RU" dirty="0"/>
              <a:t>блокировки. Если говорить в общем смысле, то ответ, конечно же, будет </a:t>
            </a:r>
            <a:r>
              <a:rPr lang="ru-RU" dirty="0" smtClean="0"/>
              <a:t>отрицательный</a:t>
            </a:r>
            <a:r>
              <a:rPr lang="ru-RU" dirty="0"/>
              <a:t>. </a:t>
            </a:r>
            <a:endParaRPr lang="ru-RU" dirty="0" smtClean="0"/>
          </a:p>
          <a:p>
            <a:r>
              <a:rPr lang="ru-RU" dirty="0" smtClean="0"/>
              <a:t>Представим </a:t>
            </a:r>
            <a:r>
              <a:rPr lang="ru-RU" dirty="0"/>
              <a:t>себе, что процесс А сортирует числовой массив, в то же время </a:t>
            </a:r>
            <a:r>
              <a:rPr lang="ru-RU" dirty="0" smtClean="0"/>
              <a:t>процесс </a:t>
            </a:r>
            <a:r>
              <a:rPr lang="ru-RU" dirty="0"/>
              <a:t>Б вычисляет среднее значение. Поскольку A перемещает значения по </a:t>
            </a:r>
            <a:r>
              <a:rPr lang="ru-RU" dirty="0" smtClean="0"/>
              <a:t>массиву, процессу </a:t>
            </a:r>
            <a:r>
              <a:rPr lang="ru-RU" dirty="0"/>
              <a:t>Б некоторые значения могут попасться несколько раз, а некоторые не </a:t>
            </a:r>
            <a:r>
              <a:rPr lang="ru-RU" dirty="0" smtClean="0"/>
              <a:t>встретиться </a:t>
            </a:r>
            <a:r>
              <a:rPr lang="ru-RU" dirty="0"/>
              <a:t>вообще. Результат может быть каким угодно, но, скорее всего, неправильным.</a:t>
            </a:r>
          </a:p>
        </p:txBody>
      </p:sp>
    </p:spTree>
    <p:extLst>
      <p:ext uri="{BB962C8B-B14F-4D97-AF65-F5344CB8AC3E}">
        <p14:creationId xmlns:p14="http://schemas.microsoft.com/office/powerpoint/2010/main" val="3091092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7859216" cy="13716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Работа </a:t>
            </a:r>
            <a:r>
              <a:rPr lang="ru-RU" dirty="0"/>
              <a:t>без блокировок: </a:t>
            </a:r>
            <a:r>
              <a:rPr lang="ru-RU" dirty="0" smtClean="0"/>
              <a:t>чтение </a:t>
            </a:r>
            <a:r>
              <a:rPr lang="ru-RU" dirty="0"/>
              <a:t>— копирование — обновление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 </a:t>
            </a:r>
            <a:r>
              <a:rPr lang="ru-RU" dirty="0"/>
              <a:t>некоторых случаях можно позволить процессу, ведущему запись, </a:t>
            </a:r>
            <a:r>
              <a:rPr lang="ru-RU" dirty="0" smtClean="0"/>
              <a:t>обновить </a:t>
            </a:r>
            <a:r>
              <a:rPr lang="ru-RU" dirty="0"/>
              <a:t>структуру данных, даже если ею пользуются другие процессы. </a:t>
            </a:r>
            <a:endParaRPr lang="ru-RU" dirty="0" smtClean="0"/>
          </a:p>
          <a:p>
            <a:r>
              <a:rPr lang="ru-RU" dirty="0" smtClean="0"/>
              <a:t>Здесь </a:t>
            </a:r>
            <a:r>
              <a:rPr lang="ru-RU" dirty="0"/>
              <a:t>важно </a:t>
            </a:r>
            <a:r>
              <a:rPr lang="ru-RU" dirty="0" smtClean="0"/>
              <a:t>обеспечить</a:t>
            </a:r>
            <a:r>
              <a:rPr lang="ru-RU" dirty="0"/>
              <a:t>, чтобы каждый считывающий процесс читал либо старую, либо новую версию </a:t>
            </a:r>
            <a:r>
              <a:rPr lang="ru-RU" dirty="0" smtClean="0"/>
              <a:t>данных</a:t>
            </a:r>
            <a:r>
              <a:rPr lang="ru-RU" dirty="0"/>
              <a:t>, но не некую непонятную комбинацию из старой и новой версий.</a:t>
            </a:r>
          </a:p>
        </p:txBody>
      </p:sp>
    </p:spTree>
    <p:extLst>
      <p:ext uri="{BB962C8B-B14F-4D97-AF65-F5344CB8AC3E}">
        <p14:creationId xmlns:p14="http://schemas.microsoft.com/office/powerpoint/2010/main" val="8754348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6707088" cy="1371600"/>
          </a:xfrm>
        </p:spPr>
        <p:txBody>
          <a:bodyPr>
            <a:normAutofit fontScale="90000"/>
          </a:bodyPr>
          <a:lstStyle/>
          <a:p>
            <a:r>
              <a:rPr lang="ru-RU" dirty="0"/>
              <a:t>чтение — копирование — обновление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операционной системе </a:t>
            </a:r>
            <a:r>
              <a:rPr lang="ru-RU" dirty="0" err="1"/>
              <a:t>Linux</a:t>
            </a:r>
            <a:r>
              <a:rPr lang="ru-RU" dirty="0"/>
              <a:t> поддержка RCU присутствует начиная с версии ядра 2.5. Основные функции RCU API: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i="1" dirty="0" err="1"/>
              <a:t>rcu_read_lock</a:t>
            </a:r>
            <a:r>
              <a:rPr lang="ru-RU" i="1" dirty="0"/>
              <a:t>()</a:t>
            </a:r>
            <a:r>
              <a:rPr lang="ru-RU" dirty="0"/>
              <a:t> — объявляет о входе потока-читателя в критическую секцию;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i="1" dirty="0" err="1"/>
              <a:t>rcu_read_unlock</a:t>
            </a:r>
            <a:r>
              <a:rPr lang="ru-RU" i="1" dirty="0"/>
              <a:t>()</a:t>
            </a:r>
            <a:r>
              <a:rPr lang="ru-RU" dirty="0"/>
              <a:t> — объявляет о выходе потока-читателя из критической секции;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i="1" dirty="0" err="1"/>
              <a:t>rcu_syncronize</a:t>
            </a:r>
            <a:r>
              <a:rPr lang="ru-RU" i="1" dirty="0"/>
              <a:t>()</a:t>
            </a:r>
            <a:r>
              <a:rPr lang="ru-RU" dirty="0"/>
              <a:t> — вызывая эту функцию, поток-писатель ожидает, пока все читатели, имевшие доступ к старой версии структуры данных, не прекратят чтение. После этого писатель может свободно удалить устаревшую копию.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21534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Главная">
  <a:themeElements>
    <a:clrScheme name="Главная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Главная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лавная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1624</TotalTime>
  <Words>4265</Words>
  <Application>Microsoft Office PowerPoint</Application>
  <PresentationFormat>Экран (4:3)</PresentationFormat>
  <Paragraphs>314</Paragraphs>
  <Slides>40</Slides>
  <Notes>5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1" baseType="lpstr">
      <vt:lpstr>Главная</vt:lpstr>
      <vt:lpstr>Процессы и потоки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Задача производителя и потребителя</vt:lpstr>
      <vt:lpstr>Семафоры</vt:lpstr>
      <vt:lpstr>семафоры</vt:lpstr>
      <vt:lpstr>Задача производителя и потребителя, решаемая с помощью семафоров</vt:lpstr>
      <vt:lpstr>Задача производителя и потребителя, решаемая с помощью семафоров</vt:lpstr>
      <vt:lpstr>Задача производителя и потребителя, решаемая с помощью семафоров</vt:lpstr>
      <vt:lpstr>Семафоры</vt:lpstr>
      <vt:lpstr>Мьютексы</vt:lpstr>
      <vt:lpstr>мьютексы</vt:lpstr>
      <vt:lpstr>мьютексы</vt:lpstr>
      <vt:lpstr>Мьютексы в пакете Pthreads</vt:lpstr>
      <vt:lpstr>Мьютексы в пакете Pthreads</vt:lpstr>
      <vt:lpstr>Условные переменные в пакете Pthreads</vt:lpstr>
      <vt:lpstr>Условные переменные в пакете Pthreads</vt:lpstr>
      <vt:lpstr>Условные переменные в пакете Pthreads</vt:lpstr>
      <vt:lpstr>Условные переменные и мьютексы</vt:lpstr>
      <vt:lpstr>Условные переменные и мьютексы</vt:lpstr>
      <vt:lpstr>мьютексы</vt:lpstr>
      <vt:lpstr>Мониторы</vt:lpstr>
      <vt:lpstr>мониторы</vt:lpstr>
      <vt:lpstr>мониторы</vt:lpstr>
      <vt:lpstr>мониторы</vt:lpstr>
      <vt:lpstr>мониторы</vt:lpstr>
      <vt:lpstr>Передача сообщений</vt:lpstr>
      <vt:lpstr>Передача сообщений</vt:lpstr>
      <vt:lpstr>Решение задачи с помощью передачи сообщений</vt:lpstr>
      <vt:lpstr>Решение задачи с помощью передачи сообщений</vt:lpstr>
      <vt:lpstr>Решение задачи с помощью передачи сообщений</vt:lpstr>
      <vt:lpstr>Барьеры</vt:lpstr>
      <vt:lpstr>барьеры</vt:lpstr>
      <vt:lpstr>Барьеры</vt:lpstr>
      <vt:lpstr>Работа без блокировок:  чтение — копирование — обновление</vt:lpstr>
      <vt:lpstr>Работа без блокировок: чтение — копирование — обновление</vt:lpstr>
      <vt:lpstr>чтение — копирование — обновление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Гатиша</dc:creator>
  <cp:lastModifiedBy>kate</cp:lastModifiedBy>
  <cp:revision>89</cp:revision>
  <dcterms:created xsi:type="dcterms:W3CDTF">2016-09-05T21:58:18Z</dcterms:created>
  <dcterms:modified xsi:type="dcterms:W3CDTF">2017-03-06T00:04:22Z</dcterms:modified>
</cp:coreProperties>
</file>