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387" autoAdjust="0"/>
  </p:normalViewPr>
  <p:slideViewPr>
    <p:cSldViewPr>
      <p:cViewPr>
        <p:scale>
          <a:sx n="40" d="100"/>
          <a:sy n="40" d="100"/>
        </p:scale>
        <p:origin x="-1302" y="-3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482E4-BE19-4546-BB6D-6A05215BA936}" type="datetimeFigureOut">
              <a:rPr lang="ru-RU" smtClean="0"/>
              <a:t>09.04.2017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2BF3D-C929-4C80-8B90-FDECE140BE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456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Первый подход обеспечивает более быструю реакцию, но при этом необходимо при переходе к обработчику прерывания сохранять большой объем информации о прерываемой программе, включающей состояние буферных регистров процессора, номера завершившегося этапа и т.д. При возврате из обработчика также необходимо выполнить большой объем работы по восстановлению состояния процессора. </a:t>
            </a:r>
          </a:p>
          <a:p>
            <a:endParaRPr lang="ru-RU" dirty="0" smtClean="0"/>
          </a:p>
          <a:p>
            <a:r>
              <a:rPr lang="ru-RU" dirty="0" smtClean="0"/>
              <a:t>Во втором случае время реакции может быть достаточно большим. Однако при переходе к обработчику прерывания требуется запоминание минимального контекста прерываемой программы (обычно это счетчик команд и регистр флагов). В настоящее время в компьютерах чаще используется распознавание запроса прерывания после завершения очередной команды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82BF3D-C929-4C80-8B90-FDECE140BEA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192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C60C-ABD7-47F6-8819-BE0C37C2B2F9}" type="datetimeFigureOut">
              <a:rPr lang="ru-RU" smtClean="0"/>
              <a:t>09.04.2017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7BF848-180E-4241-B20C-90D02348DE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C60C-ABD7-47F6-8819-BE0C37C2B2F9}" type="datetimeFigureOut">
              <a:rPr lang="ru-RU" smtClean="0"/>
              <a:t>09.04.2017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F848-180E-4241-B20C-90D02348DE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C60C-ABD7-47F6-8819-BE0C37C2B2F9}" type="datetimeFigureOut">
              <a:rPr lang="ru-RU" smtClean="0"/>
              <a:t>09.04.2017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7BF848-180E-4241-B20C-90D02348DEE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C60C-ABD7-47F6-8819-BE0C37C2B2F9}" type="datetimeFigureOut">
              <a:rPr lang="ru-RU" smtClean="0"/>
              <a:t>09.04.2017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F848-180E-4241-B20C-90D02348DE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C60C-ABD7-47F6-8819-BE0C37C2B2F9}" type="datetimeFigureOut">
              <a:rPr lang="ru-RU" smtClean="0"/>
              <a:t>09.04.2017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F848-180E-4241-B20C-90D02348DE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C60C-ABD7-47F6-8819-BE0C37C2B2F9}" type="datetimeFigureOut">
              <a:rPr lang="ru-RU" smtClean="0"/>
              <a:t>09.04.2017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F848-180E-4241-B20C-90D02348DE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C60C-ABD7-47F6-8819-BE0C37C2B2F9}" type="datetimeFigureOut">
              <a:rPr lang="ru-RU" smtClean="0"/>
              <a:t>09.04.2017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F848-180E-4241-B20C-90D02348DE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C60C-ABD7-47F6-8819-BE0C37C2B2F9}" type="datetimeFigureOut">
              <a:rPr lang="ru-RU" smtClean="0"/>
              <a:t>09.04.2017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F848-180E-4241-B20C-90D02348DEE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C60C-ABD7-47F6-8819-BE0C37C2B2F9}" type="datetimeFigureOut">
              <a:rPr lang="ru-RU" smtClean="0"/>
              <a:t>09.04.2017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7BF848-180E-4241-B20C-90D02348DEE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C60C-ABD7-47F6-8819-BE0C37C2B2F9}" type="datetimeFigureOut">
              <a:rPr lang="ru-RU" smtClean="0"/>
              <a:t>09.04.2017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F848-180E-4241-B20C-90D02348DE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C60C-ABD7-47F6-8819-BE0C37C2B2F9}" type="datetimeFigureOut">
              <a:rPr lang="ru-RU" smtClean="0"/>
              <a:t>09.04.2017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F848-180E-4241-B20C-90D02348DEE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3A5DC60C-ABD7-47F6-8819-BE0C37C2B2F9}" type="datetimeFigureOut">
              <a:rPr lang="ru-RU" smtClean="0"/>
              <a:t>09.04.2017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6C7BF848-180E-4241-B20C-90D02348DEE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 smtClean="0"/>
              <a:t>прерывания</a:t>
            </a:r>
            <a:endParaRPr lang="ru-RU" sz="6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Механизмы. Классификация прерываний. ловушки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091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Прерывание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(</a:t>
            </a:r>
            <a:r>
              <a:rPr lang="ru-RU" dirty="0"/>
              <a:t>англ. </a:t>
            </a:r>
            <a:r>
              <a:rPr lang="ru-RU" dirty="0" err="1"/>
              <a:t>interrupt</a:t>
            </a:r>
            <a:r>
              <a:rPr lang="ru-RU" dirty="0"/>
              <a:t>) — сигнал, сообщающий процессору о наступлении какого- либо события.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этом выполнение текущей последовательности команд приостанавливается и управление </a:t>
            </a:r>
            <a:r>
              <a:rPr lang="ru-RU" dirty="0" smtClean="0"/>
              <a:t>передается </a:t>
            </a:r>
            <a:r>
              <a:rPr lang="ru-RU" dirty="0"/>
              <a:t>обработчику прерывания, который реагирует на событие и обслуживает его, после чего возвращает управление в прерванный код.</a:t>
            </a:r>
          </a:p>
        </p:txBody>
      </p:sp>
    </p:spTree>
    <p:extLst>
      <p:ext uri="{BB962C8B-B14F-4D97-AF65-F5344CB8AC3E}">
        <p14:creationId xmlns:p14="http://schemas.microsoft.com/office/powerpoint/2010/main" val="4172375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Механизм обработки </a:t>
            </a:r>
            <a:r>
              <a:rPr lang="ru-RU" dirty="0" smtClean="0"/>
              <a:t>прерываний: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003232" cy="4968552"/>
          </a:xfrm>
        </p:spPr>
        <p:txBody>
          <a:bodyPr>
            <a:normAutofit fontScale="92500" lnSpcReduction="20000"/>
          </a:bodyPr>
          <a:lstStyle/>
          <a:p>
            <a:pPr indent="268288">
              <a:spcBef>
                <a:spcPts val="400"/>
              </a:spcBef>
              <a:spcAft>
                <a:spcPts val="200"/>
              </a:spcAft>
              <a:buAutoNum type="arabicPeriod"/>
            </a:pPr>
            <a:r>
              <a:rPr lang="ru-RU" dirty="0" smtClean="0"/>
              <a:t>Установление </a:t>
            </a:r>
            <a:r>
              <a:rPr lang="ru-RU" dirty="0"/>
              <a:t>факта прерывания (прием и идентификация сигнала на прерывание</a:t>
            </a:r>
            <a:r>
              <a:rPr lang="ru-RU" dirty="0" smtClean="0"/>
              <a:t>).</a:t>
            </a:r>
          </a:p>
          <a:p>
            <a:pPr indent="268288">
              <a:spcBef>
                <a:spcPts val="400"/>
              </a:spcBef>
              <a:spcAft>
                <a:spcPts val="200"/>
              </a:spcAft>
              <a:buAutoNum type="arabicPeriod"/>
            </a:pPr>
            <a:r>
              <a:rPr lang="ru-RU" dirty="0"/>
              <a:t>Запоминание состояния прерванного процесса (состояние процесса определяется значением счетчика команд, содержимым регистра процессора, </a:t>
            </a:r>
            <a:r>
              <a:rPr lang="ru-RU" dirty="0" smtClean="0"/>
              <a:t>режимом)</a:t>
            </a:r>
          </a:p>
          <a:p>
            <a:pPr indent="268288">
              <a:spcBef>
                <a:spcPts val="400"/>
              </a:spcBef>
              <a:spcAft>
                <a:spcPts val="200"/>
              </a:spcAft>
              <a:buAutoNum type="arabicPeriod"/>
            </a:pPr>
            <a:r>
              <a:rPr lang="ru-RU" dirty="0" smtClean="0"/>
              <a:t>Управление </a:t>
            </a:r>
            <a:r>
              <a:rPr lang="ru-RU" dirty="0"/>
              <a:t>аппаратно передается программе обработки прерывания. </a:t>
            </a:r>
            <a:endParaRPr lang="ru-RU" dirty="0" smtClean="0"/>
          </a:p>
          <a:p>
            <a:pPr indent="268288">
              <a:spcBef>
                <a:spcPts val="400"/>
              </a:spcBef>
              <a:spcAft>
                <a:spcPts val="200"/>
              </a:spcAft>
              <a:buAutoNum type="arabicPeriod"/>
            </a:pPr>
            <a:r>
              <a:rPr lang="ru-RU" dirty="0" smtClean="0"/>
              <a:t>Сохранение </a:t>
            </a:r>
            <a:r>
              <a:rPr lang="ru-RU" dirty="0"/>
              <a:t>информации в прерванной программе, которую не удалось спасти с помощью действий аппаратуры. </a:t>
            </a:r>
          </a:p>
          <a:p>
            <a:pPr indent="268288">
              <a:spcBef>
                <a:spcPts val="400"/>
              </a:spcBef>
              <a:spcAft>
                <a:spcPts val="200"/>
              </a:spcAft>
              <a:buAutoNum type="arabicPeriod"/>
            </a:pPr>
            <a:r>
              <a:rPr lang="ru-RU" dirty="0" smtClean="0"/>
              <a:t>Обработка </a:t>
            </a:r>
            <a:r>
              <a:rPr lang="ru-RU" dirty="0"/>
              <a:t>прерывания. Работа может быть выполнена той же подпрограммой, которой было передано управление на 3-ем шаге, но в ОС чаще всего эта обработка реализуется путем вызова </a:t>
            </a:r>
            <a:r>
              <a:rPr lang="ru-RU" dirty="0" err="1" smtClean="0"/>
              <a:t>соответсвующей</a:t>
            </a:r>
            <a:r>
              <a:rPr lang="ru-RU" dirty="0" smtClean="0"/>
              <a:t> подпрограммы</a:t>
            </a:r>
            <a:r>
              <a:rPr lang="ru-RU" dirty="0"/>
              <a:t>. </a:t>
            </a:r>
          </a:p>
          <a:p>
            <a:pPr indent="268288">
              <a:spcBef>
                <a:spcPts val="400"/>
              </a:spcBef>
              <a:spcAft>
                <a:spcPts val="200"/>
              </a:spcAft>
              <a:buAutoNum type="arabicPeriod"/>
            </a:pPr>
            <a:r>
              <a:rPr lang="ru-RU" dirty="0" smtClean="0"/>
              <a:t>Восстановление </a:t>
            </a:r>
            <a:r>
              <a:rPr lang="ru-RU" dirty="0"/>
              <a:t>информации относящейся к прерванному процессу. </a:t>
            </a:r>
          </a:p>
          <a:p>
            <a:pPr indent="268288">
              <a:spcBef>
                <a:spcPts val="400"/>
              </a:spcBef>
              <a:spcAft>
                <a:spcPts val="200"/>
              </a:spcAft>
              <a:buAutoNum type="arabicPeriod"/>
            </a:pPr>
            <a:r>
              <a:rPr lang="ru-RU" dirty="0" smtClean="0"/>
              <a:t>Возврат </a:t>
            </a:r>
            <a:r>
              <a:rPr lang="ru-RU" dirty="0"/>
              <a:t>в прерванную программу. </a:t>
            </a:r>
            <a:endParaRPr lang="ru-RU" dirty="0" smtClean="0"/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ru-RU" dirty="0" smtClean="0"/>
              <a:t>Первые </a:t>
            </a:r>
            <a:r>
              <a:rPr lang="ru-RU" dirty="0"/>
              <a:t>3 шага реализуются аппаратными средствами, а остальные – программно.</a:t>
            </a:r>
          </a:p>
        </p:txBody>
      </p:sp>
    </p:spTree>
    <p:extLst>
      <p:ext uri="{BB962C8B-B14F-4D97-AF65-F5344CB8AC3E}">
        <p14:creationId xmlns:p14="http://schemas.microsoft.com/office/powerpoint/2010/main" val="105188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Функции механизма </a:t>
            </a:r>
            <a:r>
              <a:rPr lang="ru-RU" dirty="0" smtClean="0"/>
              <a:t>прерывания: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ru-RU" dirty="0" smtClean="0"/>
              <a:t>Распознавание </a:t>
            </a:r>
            <a:r>
              <a:rPr lang="ru-RU" dirty="0"/>
              <a:t>или классификация прерывания. </a:t>
            </a:r>
            <a:endParaRPr lang="ru-RU" dirty="0" smtClean="0"/>
          </a:p>
          <a:p>
            <a:pPr marL="457200" indent="-457200">
              <a:buAutoNum type="arabicPeriod"/>
            </a:pPr>
            <a:r>
              <a:rPr lang="ru-RU" dirty="0" smtClean="0"/>
              <a:t>Передача </a:t>
            </a:r>
            <a:r>
              <a:rPr lang="ru-RU" dirty="0"/>
              <a:t>управления обработчику прерывания. </a:t>
            </a:r>
            <a:endParaRPr lang="ru-RU" dirty="0" smtClean="0"/>
          </a:p>
          <a:p>
            <a:pPr marL="457200" indent="-457200">
              <a:buAutoNum type="arabicPeriod"/>
            </a:pPr>
            <a:r>
              <a:rPr lang="ru-RU" dirty="0" smtClean="0"/>
              <a:t>Корректное </a:t>
            </a:r>
            <a:r>
              <a:rPr lang="ru-RU" dirty="0"/>
              <a:t>возвращение к прерванной </a:t>
            </a:r>
            <a:r>
              <a:rPr lang="ru-RU" dirty="0" smtClean="0"/>
              <a:t>программе. </a:t>
            </a:r>
          </a:p>
          <a:p>
            <a:r>
              <a:rPr lang="ru-RU" dirty="0" smtClean="0"/>
              <a:t>Переход </a:t>
            </a:r>
            <a:r>
              <a:rPr lang="ru-RU" dirty="0"/>
              <a:t>от прерванной программе к обработчику и обратно должен производится как можно </a:t>
            </a:r>
            <a:r>
              <a:rPr lang="ru-RU" u="sng" dirty="0"/>
              <a:t>быстрее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Одним </a:t>
            </a:r>
            <a:r>
              <a:rPr lang="ru-RU" dirty="0"/>
              <a:t>из быстрых методов является использование таблицы, содержащей перечень всех допустимых для компьютера прерываний и адреса соответствующих обработчиков. </a:t>
            </a:r>
          </a:p>
        </p:txBody>
      </p:sp>
    </p:spTree>
    <p:extLst>
      <p:ext uri="{BB962C8B-B14F-4D97-AF65-F5344CB8AC3E}">
        <p14:creationId xmlns:p14="http://schemas.microsoft.com/office/powerpoint/2010/main" val="133959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563072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Реакция на появление сигнала запроса прерывания</a:t>
            </a:r>
          </a:p>
        </p:txBody>
      </p:sp>
      <p:pic>
        <p:nvPicPr>
          <p:cNvPr id="1026" name="Picture 2" descr="C:\Users\kate\Downloads\14_1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82" y="1700808"/>
            <a:ext cx="8018238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88318" y="5085184"/>
            <a:ext cx="770485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err="1"/>
              <a:t>t</a:t>
            </a:r>
            <a:r>
              <a:rPr lang="ru-RU" sz="1400" b="1" dirty="0" err="1"/>
              <a:t>р</a:t>
            </a:r>
            <a:r>
              <a:rPr lang="ru-RU" sz="2000" b="1" dirty="0"/>
              <a:t> - время реакции процессора на запрос прерывания; </a:t>
            </a:r>
            <a:endParaRPr lang="ru-RU" sz="2000" b="1" dirty="0" smtClean="0"/>
          </a:p>
          <a:p>
            <a:r>
              <a:rPr lang="ru-RU" sz="2000" b="1" dirty="0" err="1" smtClean="0"/>
              <a:t>t</a:t>
            </a:r>
            <a:r>
              <a:rPr lang="ru-RU" sz="1400" b="1" dirty="0" err="1" smtClean="0"/>
              <a:t>с</a:t>
            </a:r>
            <a:r>
              <a:rPr lang="ru-RU" sz="2000" b="1" dirty="0" smtClean="0"/>
              <a:t> </a:t>
            </a:r>
            <a:r>
              <a:rPr lang="ru-RU" sz="2000" b="1" dirty="0"/>
              <a:t>- время сохранения состояния прерываемой программы и вызова обработчика прерывания; </a:t>
            </a:r>
            <a:endParaRPr lang="ru-RU" sz="2000" b="1" dirty="0" smtClean="0"/>
          </a:p>
          <a:p>
            <a:r>
              <a:rPr lang="ru-RU" sz="2000" b="1" dirty="0" err="1" smtClean="0"/>
              <a:t>t</a:t>
            </a:r>
            <a:r>
              <a:rPr lang="ru-RU" sz="1400" b="1" dirty="0" err="1" smtClean="0"/>
              <a:t>в</a:t>
            </a:r>
            <a:r>
              <a:rPr lang="ru-RU" sz="2000" b="1" dirty="0" smtClean="0"/>
              <a:t> </a:t>
            </a:r>
            <a:r>
              <a:rPr lang="ru-RU" sz="2000" b="1" dirty="0"/>
              <a:t>- время восстановления прерванной программы 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99683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923112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Реакция на появление сигнала запроса прерывания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появления сигнала запроса прерывания ЭВМ переходит к выполнению программы - обработчика прерывания. </a:t>
            </a:r>
            <a:endParaRPr lang="ru-RU" dirty="0" smtClean="0"/>
          </a:p>
          <a:p>
            <a:r>
              <a:rPr lang="ru-RU" dirty="0" smtClean="0"/>
              <a:t>Обработчик </a:t>
            </a:r>
            <a:r>
              <a:rPr lang="ru-RU" dirty="0"/>
              <a:t>выполняет те действия, которые необходимы в связи с возникшей особой ситуацией. Например, такой ситуацией может быть нажатие клавиши на клавиатуре компьютера. Тогда обработчик должен передать код нажатой клавиши из контроллера клавиатуры в процессор и, возможно, проанализировать этот код. </a:t>
            </a:r>
            <a:endParaRPr lang="ru-RU" dirty="0" smtClean="0"/>
          </a:p>
          <a:p>
            <a:r>
              <a:rPr lang="ru-RU" dirty="0" smtClean="0"/>
              <a:t>По </a:t>
            </a:r>
            <a:r>
              <a:rPr lang="ru-RU" dirty="0"/>
              <a:t>окончании работы обработчика управление передается прерванной программе.</a:t>
            </a:r>
          </a:p>
        </p:txBody>
      </p:sp>
    </p:spTree>
    <p:extLst>
      <p:ext uri="{BB962C8B-B14F-4D97-AF65-F5344CB8AC3E}">
        <p14:creationId xmlns:p14="http://schemas.microsoft.com/office/powerpoint/2010/main" val="4140625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Время реакции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- это </a:t>
            </a:r>
            <a:r>
              <a:rPr lang="ru-RU" dirty="0"/>
              <a:t>время между появлением сигнала запроса прерывания и началом выполнения прерывающей программы (обработчика прерывания) в том случае, если данное прерывание разрешено к обслуживанию. </a:t>
            </a:r>
            <a:endParaRPr lang="ru-RU" dirty="0" smtClean="0"/>
          </a:p>
          <a:p>
            <a:r>
              <a:rPr lang="ru-RU" u="sng" dirty="0" smtClean="0"/>
              <a:t>Два </a:t>
            </a:r>
            <a:r>
              <a:rPr lang="ru-RU" u="sng" dirty="0"/>
              <a:t>подхода ко времени </a:t>
            </a:r>
            <a:r>
              <a:rPr lang="ru-RU" u="sng" dirty="0" smtClean="0"/>
              <a:t>реакции</a:t>
            </a:r>
          </a:p>
          <a:p>
            <a:r>
              <a:rPr lang="ru-RU" dirty="0" smtClean="0"/>
              <a:t>Время </a:t>
            </a:r>
            <a:r>
              <a:rPr lang="ru-RU" dirty="0"/>
              <a:t>реакции зависит от момента, когда процессор определяет факт наличия запроса прерывания. Опрос запросов прерываний может проводиться либо: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по </a:t>
            </a:r>
            <a:r>
              <a:rPr lang="ru-RU" dirty="0"/>
              <a:t>окончании выполнения очередного этапа команды (например, считывание команды, считывание первого операнда и т.д.),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либо </a:t>
            </a:r>
            <a:r>
              <a:rPr lang="ru-RU" dirty="0"/>
              <a:t>после завершения каждой команды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3878750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 прерываний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7859216" cy="4968552"/>
          </a:xfrm>
        </p:spPr>
        <p:txBody>
          <a:bodyPr>
            <a:normAutofit/>
          </a:bodyPr>
          <a:lstStyle/>
          <a:p>
            <a:r>
              <a:rPr lang="ru-RU" dirty="0"/>
              <a:t>В зависимости от источника возникновения сигнала прерывания делятся на: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Аппаратные </a:t>
            </a:r>
            <a:r>
              <a:rPr lang="ru-RU" dirty="0"/>
              <a:t>(внешние, асинхронные) — события, которые исходят от внешних источников (например, периферийных устройств) и могут произойти в любой произвольный момент (</a:t>
            </a:r>
            <a:r>
              <a:rPr lang="ru-RU" dirty="0" err="1"/>
              <a:t>приницп</a:t>
            </a:r>
            <a:r>
              <a:rPr lang="ru-RU" dirty="0"/>
              <a:t> </a:t>
            </a:r>
            <a:r>
              <a:rPr lang="ru-RU" dirty="0" smtClean="0"/>
              <a:t>асинхронности;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Программные </a:t>
            </a:r>
            <a:r>
              <a:rPr lang="ru-RU" dirty="0"/>
              <a:t>(внутренние) — инициируются исполнением специальной инструкции в коде программы.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Исключения </a:t>
            </a:r>
            <a:r>
              <a:rPr lang="ru-RU" dirty="0"/>
              <a:t>(внутренние) — события в самом процессоре как результат нарушения каких-то условий при исполнении машинного кода: деление на ноль или переполнение, обращение к недопустимым адресам или недопустимый код </a:t>
            </a:r>
            <a:r>
              <a:rPr lang="ru-RU" dirty="0" smtClean="0"/>
              <a:t>операции.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8098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Классы прерываний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Вторая классификация – по местоположению источника возникновения запроса: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Внутренние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Внешние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1230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Внешние прерывания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возникают по сигналу какого-нибудь внешнего устройства. </a:t>
            </a:r>
            <a:endParaRPr lang="ru-RU" dirty="0" smtClean="0"/>
          </a:p>
          <a:p>
            <a:r>
              <a:rPr lang="ru-RU" dirty="0" smtClean="0"/>
              <a:t>Иногда </a:t>
            </a:r>
            <a:r>
              <a:rPr lang="ru-RU" dirty="0"/>
              <a:t>желательно сделать систему нечувствительной ко всем или отдельным аппаратным прерываниям (т.е. от внешних устройств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Для </a:t>
            </a:r>
            <a:r>
              <a:rPr lang="ru-RU" dirty="0"/>
              <a:t>этого используют так называемое маскирование внешних прерываний.</a:t>
            </a:r>
          </a:p>
        </p:txBody>
      </p:sp>
    </p:spTree>
    <p:extLst>
      <p:ext uri="{BB962C8B-B14F-4D97-AF65-F5344CB8AC3E}">
        <p14:creationId xmlns:p14="http://schemas.microsoft.com/office/powerpoint/2010/main" val="2369435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внешних прерываний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7859216" cy="4968552"/>
          </a:xfrm>
        </p:spPr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немаскируемые </a:t>
            </a:r>
            <a:r>
              <a:rPr lang="ru-RU" dirty="0"/>
              <a:t>(англ. </a:t>
            </a:r>
            <a:r>
              <a:rPr lang="ru-RU" dirty="0" err="1"/>
              <a:t>Non</a:t>
            </a:r>
            <a:r>
              <a:rPr lang="ru-RU" dirty="0"/>
              <a:t> </a:t>
            </a:r>
            <a:r>
              <a:rPr lang="ru-RU" dirty="0" err="1"/>
              <a:t>maskable</a:t>
            </a:r>
            <a:r>
              <a:rPr lang="ru-RU" dirty="0"/>
              <a:t> </a:t>
            </a:r>
            <a:r>
              <a:rPr lang="ru-RU" dirty="0" err="1"/>
              <a:t>interrupt</a:t>
            </a:r>
            <a:r>
              <a:rPr lang="ru-RU" dirty="0"/>
              <a:t>, NMI) — обрабатываются всегда, независимо от запретов на другие прерывания. К примеру, такое прерывание может вызвать сбой в микросхеме </a:t>
            </a:r>
            <a:r>
              <a:rPr lang="ru-RU" dirty="0" smtClean="0"/>
              <a:t>памяти; Немаскируемые </a:t>
            </a:r>
            <a:r>
              <a:rPr lang="ru-RU" dirty="0"/>
              <a:t>прерывания </a:t>
            </a:r>
            <a:r>
              <a:rPr lang="ru-RU" dirty="0" smtClean="0"/>
              <a:t>инициируют </a:t>
            </a:r>
            <a:r>
              <a:rPr lang="ru-RU" dirty="0"/>
              <a:t>источники, требующие безотлагательного вмешательства со стороны микропроцессора.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маскируемые </a:t>
            </a:r>
            <a:r>
              <a:rPr lang="ru-RU" dirty="0"/>
              <a:t>- которые можно запрещать установкой соответствующих битов в регистре маскирования прерываний (в x86-процессорах — сбросом флага IF в регистре флагов); Маскируемые прерывания генерируются контроллером прерываний по заявке определенных периферийных устройств. Именно маскируемые прерывания часто называют </a:t>
            </a:r>
            <a:r>
              <a:rPr lang="ru-RU" dirty="0" smtClean="0"/>
              <a:t>аппаратными прерываниями.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6787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Внешние прерывания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Существуют два специальных внешних сигнала среди входных сигналов процессора, при помощи которых можно прервать выполнение текущей программы и тем самым переключить работу центрального процессора.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сигналы NMI (</a:t>
            </a:r>
            <a:r>
              <a:rPr lang="ru-RU" dirty="0" err="1"/>
              <a:t>no</a:t>
            </a:r>
            <a:r>
              <a:rPr lang="ru-RU" dirty="0"/>
              <a:t> </a:t>
            </a:r>
            <a:r>
              <a:rPr lang="ru-RU" dirty="0" err="1"/>
              <a:t>mask</a:t>
            </a:r>
            <a:r>
              <a:rPr lang="ru-RU" dirty="0"/>
              <a:t> </a:t>
            </a:r>
            <a:r>
              <a:rPr lang="ru-RU" dirty="0" err="1"/>
              <a:t>interrupt</a:t>
            </a:r>
            <a:r>
              <a:rPr lang="ru-RU" dirty="0"/>
              <a:t>, немаскируемое прерывание) и INTR (</a:t>
            </a:r>
            <a:r>
              <a:rPr lang="ru-RU" dirty="0" err="1"/>
              <a:t>interrupt</a:t>
            </a:r>
            <a:r>
              <a:rPr lang="ru-RU" dirty="0"/>
              <a:t> </a:t>
            </a:r>
            <a:r>
              <a:rPr lang="ru-RU" dirty="0" err="1"/>
              <a:t>request</a:t>
            </a:r>
            <a:r>
              <a:rPr lang="ru-RU" dirty="0"/>
              <a:t>, запрос на прерывание).</a:t>
            </a:r>
          </a:p>
        </p:txBody>
      </p:sp>
    </p:spTree>
    <p:extLst>
      <p:ext uri="{BB962C8B-B14F-4D97-AF65-F5344CB8AC3E}">
        <p14:creationId xmlns:p14="http://schemas.microsoft.com/office/powerpoint/2010/main" val="899545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275040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Аппаратные (внешние) прерывания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Аппаратные прерывания (IRQ, от </a:t>
            </a:r>
            <a:r>
              <a:rPr lang="ru-RU" dirty="0" err="1"/>
              <a:t>Interrupt</a:t>
            </a:r>
            <a:r>
              <a:rPr lang="ru-RU" dirty="0"/>
              <a:t> </a:t>
            </a:r>
            <a:r>
              <a:rPr lang="ru-RU" dirty="0" err="1"/>
              <a:t>Requests</a:t>
            </a:r>
            <a:r>
              <a:rPr lang="ru-RU" dirty="0"/>
              <a:t>) вызываются физическими устройствами и потому приходят асинхронно (в любой момент) по отношению к выполнению любых программ. </a:t>
            </a:r>
            <a:endParaRPr lang="ru-RU" dirty="0" smtClean="0"/>
          </a:p>
          <a:p>
            <a:r>
              <a:rPr lang="ru-RU" dirty="0" smtClean="0"/>
              <a:t>Эти </a:t>
            </a:r>
            <a:r>
              <a:rPr lang="ru-RU" dirty="0"/>
              <a:t>прерывания информируют систему о событиях, связанных с работой устройств. Например, о том, что наконец-то завершилась печать символа на принтере и неплохо было бы выдать следующий символ, или о том, что сектор диска уже прочитан и его содержимое доступно программе.</a:t>
            </a:r>
          </a:p>
        </p:txBody>
      </p:sp>
    </p:spTree>
    <p:extLst>
      <p:ext uri="{BB962C8B-B14F-4D97-AF65-F5344CB8AC3E}">
        <p14:creationId xmlns:p14="http://schemas.microsoft.com/office/powerpoint/2010/main" val="369331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491064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Аппаратные (внешние) прерывания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аппаратном прерывании инициируется сигнал ( запрос на прерывание ), который сообщает процессору, что в системе произошло некоторое событие ( например нажата клавиши), требующее его внимание. </a:t>
            </a:r>
            <a:endParaRPr lang="ru-RU" dirty="0" smtClean="0"/>
          </a:p>
          <a:p>
            <a:r>
              <a:rPr lang="ru-RU" dirty="0" err="1" smtClean="0"/>
              <a:t>Koгдa</a:t>
            </a:r>
            <a:r>
              <a:rPr lang="ru-RU" dirty="0" smtClean="0"/>
              <a:t> </a:t>
            </a:r>
            <a:r>
              <a:rPr lang="ru-RU" dirty="0" err="1"/>
              <a:t>вызывaeтcя</a:t>
            </a:r>
            <a:r>
              <a:rPr lang="ru-RU" dirty="0"/>
              <a:t> </a:t>
            </a:r>
            <a:r>
              <a:rPr lang="ru-RU" dirty="0" err="1"/>
              <a:t>пpepывaниe</a:t>
            </a:r>
            <a:r>
              <a:rPr lang="ru-RU" dirty="0"/>
              <a:t>, </a:t>
            </a:r>
            <a:r>
              <a:rPr lang="ru-RU" dirty="0" err="1"/>
              <a:t>тo</a:t>
            </a:r>
            <a:r>
              <a:rPr lang="ru-RU" dirty="0"/>
              <a:t> </a:t>
            </a:r>
            <a:r>
              <a:rPr lang="ru-RU" dirty="0" err="1"/>
              <a:t>пpoцeccop</a:t>
            </a:r>
            <a:r>
              <a:rPr lang="ru-RU" dirty="0"/>
              <a:t> </a:t>
            </a:r>
            <a:r>
              <a:rPr lang="ru-RU" dirty="0" err="1"/>
              <a:t>ocтaвляeт</a:t>
            </a:r>
            <a:r>
              <a:rPr lang="ru-RU" dirty="0"/>
              <a:t> </a:t>
            </a:r>
            <a:r>
              <a:rPr lang="ru-RU" dirty="0" err="1"/>
              <a:t>cвoю</a:t>
            </a:r>
            <a:r>
              <a:rPr lang="ru-RU" dirty="0"/>
              <a:t> </a:t>
            </a:r>
            <a:r>
              <a:rPr lang="ru-RU" dirty="0" err="1"/>
              <a:t>paбoту</a:t>
            </a:r>
            <a:r>
              <a:rPr lang="ru-RU" dirty="0"/>
              <a:t>, </a:t>
            </a:r>
            <a:r>
              <a:rPr lang="ru-RU" dirty="0" err="1"/>
              <a:t>выпoлняeт</a:t>
            </a:r>
            <a:r>
              <a:rPr lang="ru-RU" dirty="0"/>
              <a:t> </a:t>
            </a:r>
            <a:r>
              <a:rPr lang="ru-RU" dirty="0" err="1"/>
              <a:t>пpepывaниe</a:t>
            </a:r>
            <a:r>
              <a:rPr lang="ru-RU" dirty="0"/>
              <a:t>, a </a:t>
            </a:r>
            <a:r>
              <a:rPr lang="ru-RU" dirty="0" err="1"/>
              <a:t>зaтeм</a:t>
            </a:r>
            <a:r>
              <a:rPr lang="ru-RU" dirty="0"/>
              <a:t> </a:t>
            </a:r>
            <a:r>
              <a:rPr lang="ru-RU" dirty="0" err="1"/>
              <a:t>вoзвpaщaeтcя</a:t>
            </a:r>
            <a:r>
              <a:rPr lang="ru-RU" dirty="0"/>
              <a:t> </a:t>
            </a:r>
            <a:r>
              <a:rPr lang="ru-RU" dirty="0" err="1"/>
              <a:t>нa</a:t>
            </a:r>
            <a:r>
              <a:rPr lang="ru-RU" dirty="0"/>
              <a:t> </a:t>
            </a:r>
            <a:r>
              <a:rPr lang="ru-RU" dirty="0" err="1"/>
              <a:t>пpeжнee</a:t>
            </a:r>
            <a:r>
              <a:rPr lang="ru-RU" dirty="0"/>
              <a:t> </a:t>
            </a:r>
            <a:r>
              <a:rPr lang="ru-RU" dirty="0" err="1"/>
              <a:t>мecтo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Сигналы </a:t>
            </a:r>
            <a:r>
              <a:rPr lang="ru-RU" dirty="0"/>
              <a:t>аппаратных прерываний, возникающих в устройствах компьютера, поступают в процессор через 2 контроллера прерываний, входящих в состав многофункциональной микросхемы периферийного контроллера. </a:t>
            </a:r>
          </a:p>
        </p:txBody>
      </p:sp>
    </p:spTree>
    <p:extLst>
      <p:ext uri="{BB962C8B-B14F-4D97-AF65-F5344CB8AC3E}">
        <p14:creationId xmlns:p14="http://schemas.microsoft.com/office/powerpoint/2010/main" val="174721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499176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Программные (внутренние) прерывания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643192" cy="477274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Программы могут сами вызывать прерывания с заданным номером. Для этого они используют команду INT. </a:t>
            </a:r>
            <a:endParaRPr lang="ru-RU" dirty="0" smtClean="0"/>
          </a:p>
          <a:p>
            <a:r>
              <a:rPr lang="ru-RU" dirty="0" smtClean="0"/>
              <a:t>Программные </a:t>
            </a:r>
            <a:r>
              <a:rPr lang="ru-RU" dirty="0"/>
              <a:t>прерывания не являются асинхронными, так как вызываются из программы. </a:t>
            </a:r>
            <a:endParaRPr lang="ru-RU" dirty="0" smtClean="0"/>
          </a:p>
          <a:p>
            <a:r>
              <a:rPr lang="ru-RU" dirty="0" smtClean="0"/>
              <a:t>Их удобно </a:t>
            </a:r>
            <a:r>
              <a:rPr lang="ru-RU" dirty="0"/>
              <a:t>использовать для организации доступа к отдельным, общим для всех программ функциям. Например, функции операционной системы доступны прикладным программам именно через прерывания. При вызове этих модулей нет необходимости знать их текущий адрес в памяти. </a:t>
            </a:r>
            <a:endParaRPr lang="ru-RU" dirty="0" smtClean="0"/>
          </a:p>
          <a:p>
            <a:r>
              <a:rPr lang="ru-RU" dirty="0" smtClean="0"/>
              <a:t>Прикладные </a:t>
            </a:r>
            <a:r>
              <a:rPr lang="ru-RU" dirty="0"/>
              <a:t>программы и драйверы могут сами устанавливать свои обработчики прерываний для их последующего использования другими программами. Для этого встраиваемые обработчики прерываний должны быть резидентными в памяти. </a:t>
            </a:r>
          </a:p>
        </p:txBody>
      </p:sp>
    </p:spTree>
    <p:extLst>
      <p:ext uri="{BB962C8B-B14F-4D97-AF65-F5344CB8AC3E}">
        <p14:creationId xmlns:p14="http://schemas.microsoft.com/office/powerpoint/2010/main" val="1989390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139136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Исключения (внутренние прерывания)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Эти прерывания создаются </a:t>
            </a:r>
            <a:r>
              <a:rPr lang="ru-RU" dirty="0" smtClean="0"/>
              <a:t>при </a:t>
            </a:r>
            <a:r>
              <a:rPr lang="ru-RU" dirty="0"/>
              <a:t>возникновении одной из специально оговоренных ситуаций.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процессор сталкивается с одной из таких сбойных ситуаций, то он выполняет процедуру прерывания, используя закрепленной за ней вектор прерывания , который известен процессору. </a:t>
            </a:r>
            <a:endParaRPr lang="ru-RU" dirty="0" smtClean="0"/>
          </a:p>
          <a:p>
            <a:r>
              <a:rPr lang="ru-RU" dirty="0" smtClean="0"/>
              <a:t>Например </a:t>
            </a:r>
            <a:r>
              <a:rPr lang="ru-RU" dirty="0"/>
              <a:t>: Прерывание 0 вырабатывается в случае переполнения при операции деления на 0 </a:t>
            </a:r>
          </a:p>
        </p:txBody>
      </p:sp>
    </p:spTree>
    <p:extLst>
      <p:ext uri="{BB962C8B-B14F-4D97-AF65-F5344CB8AC3E}">
        <p14:creationId xmlns:p14="http://schemas.microsoft.com/office/powerpoint/2010/main" val="2769028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03232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Аппаратные и программные средства системы прерываний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Система прерываний - это совокупность программных и аппаратных средств, реализующих механизм прерываний. </a:t>
            </a:r>
            <a:endParaRPr lang="ru-RU" dirty="0" smtClean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4010484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635080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Программные средства </a:t>
            </a:r>
            <a:r>
              <a:rPr lang="ru-RU" dirty="0"/>
              <a:t>системы прерываний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7931224" cy="4968552"/>
          </a:xfrm>
        </p:spPr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u="sng" dirty="0" smtClean="0"/>
              <a:t>таблица </a:t>
            </a:r>
            <a:r>
              <a:rPr lang="ru-RU" u="sng" dirty="0"/>
              <a:t>векторов прерываний</a:t>
            </a:r>
            <a:r>
              <a:rPr lang="ru-RU" dirty="0"/>
              <a:t>. </a:t>
            </a:r>
            <a:r>
              <a:rPr lang="ru-RU" dirty="0" smtClean="0"/>
              <a:t>Содержит </a:t>
            </a:r>
            <a:r>
              <a:rPr lang="ru-RU" dirty="0"/>
              <a:t>адреса (векторы - «векторы», т.к. два значения для указания адреса) обработчиков прерываний и состоит из </a:t>
            </a:r>
            <a:r>
              <a:rPr lang="ru-RU" dirty="0" smtClean="0"/>
              <a:t>256 </a:t>
            </a:r>
            <a:r>
              <a:rPr lang="ru-RU" dirty="0"/>
              <a:t>элементов по 4 </a:t>
            </a:r>
            <a:r>
              <a:rPr lang="ru-RU" dirty="0" smtClean="0"/>
              <a:t>байта каждый.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u="sng" dirty="0" smtClean="0"/>
              <a:t>два </a:t>
            </a:r>
            <a:r>
              <a:rPr lang="ru-RU" u="sng" dirty="0"/>
              <a:t>флага в регистре флагов </a:t>
            </a:r>
            <a:r>
              <a:rPr lang="ru-RU" u="sng" dirty="0" err="1"/>
              <a:t>flags</a:t>
            </a:r>
            <a:r>
              <a:rPr lang="ru-RU" u="sng" dirty="0"/>
              <a:t>/</a:t>
            </a:r>
            <a:r>
              <a:rPr lang="ru-RU" u="sng" dirty="0" err="1"/>
              <a:t>eflags</a:t>
            </a:r>
            <a:r>
              <a:rPr lang="ru-RU" dirty="0"/>
              <a:t>: IF (</a:t>
            </a:r>
            <a:r>
              <a:rPr lang="ru-RU" dirty="0" err="1"/>
              <a:t>Interrupt</a:t>
            </a:r>
            <a:r>
              <a:rPr lang="ru-RU" dirty="0"/>
              <a:t> </a:t>
            </a:r>
            <a:r>
              <a:rPr lang="ru-RU" dirty="0" err="1"/>
              <a:t>Flag</a:t>
            </a:r>
            <a:r>
              <a:rPr lang="ru-RU" dirty="0"/>
              <a:t>) - флаг прерывания. Предназначен для маскирования (запрещения) аппаратных прерываний. Если IF=1, микропроцессор обрабатывает внешние прерывания, если = 0, то игнорирует; TF(</a:t>
            </a:r>
            <a:r>
              <a:rPr lang="ru-RU" dirty="0" err="1"/>
              <a:t>Trace</a:t>
            </a:r>
            <a:r>
              <a:rPr lang="ru-RU" dirty="0"/>
              <a:t> </a:t>
            </a:r>
            <a:r>
              <a:rPr lang="ru-RU" dirty="0" err="1"/>
              <a:t>Flag</a:t>
            </a:r>
            <a:r>
              <a:rPr lang="ru-RU" dirty="0"/>
              <a:t>) - флаг трассировки. Если </a:t>
            </a:r>
            <a:r>
              <a:rPr lang="ru-RU" dirty="0" smtClean="0"/>
              <a:t>=1</a:t>
            </a:r>
            <a:r>
              <a:rPr lang="ru-RU" dirty="0"/>
              <a:t>, то микропроцессор переходит в режим покомандной работы.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u="sng" dirty="0" smtClean="0"/>
              <a:t>машинные </a:t>
            </a:r>
            <a:r>
              <a:rPr lang="ru-RU" u="sng" dirty="0"/>
              <a:t>команды микропроцессора</a:t>
            </a:r>
            <a:r>
              <a:rPr lang="ru-RU" dirty="0"/>
              <a:t>: </a:t>
            </a:r>
            <a:r>
              <a:rPr lang="ru-RU" dirty="0" err="1"/>
              <a:t>int</a:t>
            </a:r>
            <a:r>
              <a:rPr lang="ru-RU" dirty="0"/>
              <a:t>, </a:t>
            </a:r>
            <a:r>
              <a:rPr lang="ru-RU" dirty="0" err="1"/>
              <a:t>into</a:t>
            </a:r>
            <a:r>
              <a:rPr lang="ru-RU" dirty="0"/>
              <a:t> (прерывание по переполнению), </a:t>
            </a:r>
            <a:r>
              <a:rPr lang="ru-RU" dirty="0" err="1"/>
              <a:t>iret</a:t>
            </a:r>
            <a:r>
              <a:rPr lang="ru-RU" dirty="0"/>
              <a:t>, </a:t>
            </a:r>
            <a:r>
              <a:rPr lang="ru-RU" dirty="0" err="1"/>
              <a:t>cli</a:t>
            </a:r>
            <a:r>
              <a:rPr lang="ru-RU" dirty="0"/>
              <a:t>, </a:t>
            </a:r>
            <a:r>
              <a:rPr lang="ru-RU" dirty="0" err="1"/>
              <a:t>sti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2330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Таблица векторов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того чтобы связать адрес обработчика прерывания с номером прерывания, используется таблица векторов прерываний , занимающая первый килобайт оперативной памяти. Эта таблица находится в диапазоне адресов от 0000:0000 до 0000:03FFh и состоит из 256 </a:t>
            </a:r>
            <a:r>
              <a:rPr lang="ru-RU" dirty="0" smtClean="0"/>
              <a:t>элементов</a:t>
            </a:r>
          </a:p>
          <a:p>
            <a:r>
              <a:rPr lang="ru-RU" dirty="0"/>
              <a:t>Элементы таблицы векторов прерываний называются векторами прерываний. </a:t>
            </a:r>
            <a:endParaRPr lang="ru-RU" dirty="0" smtClean="0"/>
          </a:p>
          <a:p>
            <a:r>
              <a:rPr lang="ru-RU" dirty="0"/>
              <a:t>В первом слове элемента таблицы записана компонента смещения, а во втором - сегментная компонента адреса обработчика прерывания. </a:t>
            </a:r>
          </a:p>
        </p:txBody>
      </p:sp>
    </p:spTree>
    <p:extLst>
      <p:ext uri="{BB962C8B-B14F-4D97-AF65-F5344CB8AC3E}">
        <p14:creationId xmlns:p14="http://schemas.microsoft.com/office/powerpoint/2010/main" val="982047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векторов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7620000" cy="4713387"/>
          </a:xfrm>
        </p:spPr>
        <p:txBody>
          <a:bodyPr/>
          <a:lstStyle/>
          <a:p>
            <a:r>
              <a:rPr lang="ru-RU" dirty="0" smtClean="0"/>
              <a:t>Некоторые номера прерываний с описанием: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844824"/>
            <a:ext cx="5616624" cy="481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2617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Обработка </a:t>
            </a:r>
            <a:r>
              <a:rPr lang="ru-RU" dirty="0" smtClean="0"/>
              <a:t>прерываний в однозадачном режиме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производится в три этапа: </a:t>
            </a:r>
            <a:endParaRPr lang="ru-RU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Прекращение </a:t>
            </a:r>
            <a:r>
              <a:rPr lang="ru-RU" dirty="0"/>
              <a:t>выполнения текущей программы; </a:t>
            </a:r>
            <a:r>
              <a:rPr lang="ru-RU" dirty="0" smtClean="0"/>
              <a:t>Сохранение содержимого регистров.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Переход </a:t>
            </a:r>
            <a:r>
              <a:rPr lang="ru-RU" dirty="0"/>
              <a:t>к выполнению и выполнение программы обработки прерывания; Здесь определяется источник прерывания и вызывается соответствующий обработчик прерывания. </a:t>
            </a:r>
            <a:r>
              <a:rPr lang="ru-RU" dirty="0" smtClean="0"/>
              <a:t>Допускается </a:t>
            </a:r>
            <a:r>
              <a:rPr lang="ru-RU" dirty="0"/>
              <a:t>256 источников - по кол-ву элементов таблицы векторов прерываний. </a:t>
            </a:r>
            <a:endParaRPr lang="ru-RU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</a:t>
            </a:r>
            <a:r>
              <a:rPr lang="ru-RU" dirty="0" smtClean="0"/>
              <a:t>озврат </a:t>
            </a:r>
            <a:r>
              <a:rPr lang="ru-RU" dirty="0"/>
              <a:t>управления прерванной программе. </a:t>
            </a:r>
          </a:p>
        </p:txBody>
      </p:sp>
    </p:spTree>
    <p:extLst>
      <p:ext uri="{BB962C8B-B14F-4D97-AF65-F5344CB8AC3E}">
        <p14:creationId xmlns:p14="http://schemas.microsoft.com/office/powerpoint/2010/main" val="3893952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995120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системы прерываний в </a:t>
            </a:r>
            <a:r>
              <a:rPr lang="ru-RU" dirty="0" smtClean="0"/>
              <a:t>многозадачном режиме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Отличия от обработки в однозадачном режиме:</a:t>
            </a:r>
          </a:p>
          <a:p>
            <a:pPr marL="457200" indent="-457200">
              <a:buAutoNum type="arabicPeriod"/>
            </a:pPr>
            <a:r>
              <a:rPr lang="ru-RU" dirty="0" smtClean="0"/>
              <a:t>Немного </a:t>
            </a:r>
            <a:r>
              <a:rPr lang="ru-RU" dirty="0"/>
              <a:t>изменено распределение номеров векторов прерываний. </a:t>
            </a:r>
            <a:endParaRPr lang="ru-RU" dirty="0" smtClean="0"/>
          </a:p>
          <a:p>
            <a:pPr marL="457200" indent="-457200">
              <a:buAutoNum type="arabicPeriod"/>
            </a:pPr>
            <a:r>
              <a:rPr lang="ru-RU" dirty="0" smtClean="0"/>
              <a:t>Принципиально </a:t>
            </a:r>
            <a:r>
              <a:rPr lang="ru-RU" dirty="0"/>
              <a:t>иным является механизм обработки прерываний. </a:t>
            </a:r>
          </a:p>
        </p:txBody>
      </p:sp>
    </p:spTree>
    <p:extLst>
      <p:ext uri="{BB962C8B-B14F-4D97-AF65-F5344CB8AC3E}">
        <p14:creationId xmlns:p14="http://schemas.microsoft.com/office/powerpoint/2010/main" val="3346032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03232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Классификация прерываний в </a:t>
            </a:r>
            <a:r>
              <a:rPr lang="ru-RU" dirty="0" smtClean="0"/>
              <a:t>многозадачном (защищенном) </a:t>
            </a:r>
            <a:r>
              <a:rPr lang="ru-RU" dirty="0"/>
              <a:t>режиме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787208" cy="455672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Прерывания и исключения можно разделить на несколько групп: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сбой</a:t>
            </a:r>
            <a:r>
              <a:rPr lang="ru-RU" dirty="0"/>
              <a:t>;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ловушка</a:t>
            </a:r>
            <a:r>
              <a:rPr lang="ru-RU" dirty="0"/>
              <a:t>;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аварийное </a:t>
            </a:r>
            <a:r>
              <a:rPr lang="ru-RU" dirty="0"/>
              <a:t>завершение. </a:t>
            </a:r>
            <a:endParaRPr lang="ru-RU" dirty="0" smtClean="0"/>
          </a:p>
          <a:p>
            <a:r>
              <a:rPr lang="ru-RU" dirty="0"/>
              <a:t>Микропроцессор жестко определяет, какие прерывания являются ошибками, ловушками и авариями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Это </a:t>
            </a:r>
            <a:r>
              <a:rPr lang="ru-RU" dirty="0"/>
              <a:t>деление производится в соответствии со следующими признаками: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какая </a:t>
            </a:r>
            <a:r>
              <a:rPr lang="ru-RU" dirty="0"/>
              <a:t>информация сохраняется о месте возникновения прерывания (исключения)?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возможно </a:t>
            </a:r>
            <a:r>
              <a:rPr lang="ru-RU" dirty="0"/>
              <a:t>ли возобновление прерванной программы</a:t>
            </a:r>
            <a:r>
              <a:rPr lang="ru-RU" dirty="0" smtClean="0"/>
              <a:t>?</a:t>
            </a:r>
          </a:p>
          <a:p>
            <a:r>
              <a:rPr lang="ru-RU" dirty="0" smtClean="0"/>
              <a:t>Соответствующие </a:t>
            </a:r>
            <a:r>
              <a:rPr lang="ru-RU" dirty="0"/>
              <a:t>программы-обработчики ошибок, ловушек и аварий будут отличаться алгоритмами работы. </a:t>
            </a:r>
          </a:p>
        </p:txBody>
      </p:sp>
    </p:spTree>
    <p:extLst>
      <p:ext uri="{BB962C8B-B14F-4D97-AF65-F5344CB8AC3E}">
        <p14:creationId xmlns:p14="http://schemas.microsoft.com/office/powerpoint/2010/main" val="2982428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СБОЙ</a:t>
            </a:r>
            <a:r>
              <a:rPr lang="ru-RU" dirty="0"/>
              <a:t> (ошибка)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— </a:t>
            </a:r>
            <a:r>
              <a:rPr lang="ru-RU" dirty="0"/>
              <a:t>прерывание или исключение, при возникновении которого в стек (в память) записываются значения регистров, указывающие на команду, вызвавшую данное прерывание.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позволяет, получив доступ к сегменту кода, исправить ошибочную команду в обработчике прерывания и, вернув управление программе, фактически осуществить ее </a:t>
            </a:r>
            <a:r>
              <a:rPr lang="ru-RU" dirty="0" smtClean="0"/>
              <a:t>рестарт.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4235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Аварийное завершение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— </a:t>
            </a:r>
            <a:r>
              <a:rPr lang="ru-RU" dirty="0"/>
              <a:t>прерывание, при котором информация о месте его возникновения недоступна или неполна и поэтому рестарт практически невозможен, если только данная ситуация не была запланирована заранее.</a:t>
            </a:r>
          </a:p>
        </p:txBody>
      </p:sp>
    </p:spTree>
    <p:extLst>
      <p:ext uri="{BB962C8B-B14F-4D97-AF65-F5344CB8AC3E}">
        <p14:creationId xmlns:p14="http://schemas.microsoft.com/office/powerpoint/2010/main" val="3783271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Ловушка (</a:t>
            </a:r>
            <a:r>
              <a:rPr lang="ru-RU" dirty="0" err="1" smtClean="0"/>
              <a:t>hook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— </a:t>
            </a:r>
            <a:r>
              <a:rPr lang="ru-RU" dirty="0"/>
              <a:t>прерывание или исключение, при возникновении которого в стек записываются значения регистров, указывающие на команду, следующую за командой, вызвавшей данное прерывание. </a:t>
            </a:r>
            <a:r>
              <a:rPr lang="ru-RU" dirty="0" smtClean="0"/>
              <a:t>Т</a:t>
            </a:r>
          </a:p>
          <a:p>
            <a:r>
              <a:rPr lang="ru-RU" dirty="0"/>
              <a:t>Т</a:t>
            </a:r>
            <a:r>
              <a:rPr lang="ru-RU" dirty="0" smtClean="0"/>
              <a:t>ак </a:t>
            </a:r>
            <a:r>
              <a:rPr lang="ru-RU" dirty="0"/>
              <a:t>же, как и в случае ошибок возможен рестарт программы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813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Ловушки (</a:t>
            </a:r>
            <a:r>
              <a:rPr lang="en-US" dirty="0" smtClean="0"/>
              <a:t>hook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859216" cy="4772744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ОС </a:t>
            </a:r>
            <a:r>
              <a:rPr lang="ru-RU" dirty="0" err="1" smtClean="0"/>
              <a:t>Windows</a:t>
            </a:r>
            <a:r>
              <a:rPr lang="ru-RU" dirty="0" smtClean="0"/>
              <a:t> </a:t>
            </a:r>
            <a:r>
              <a:rPr lang="ru-RU" dirty="0"/>
              <a:t>содержит много различных типов хуков; они обеспечивают доступ к различным аспектам механизма, обрабатывающего сообщения. Например, хук WH_MOUSE позволяет контролировать передачу сообщений от </a:t>
            </a:r>
            <a:r>
              <a:rPr lang="ru-RU" dirty="0" err="1"/>
              <a:t>мыши.Windows</a:t>
            </a:r>
            <a:r>
              <a:rPr lang="ru-RU" dirty="0"/>
              <a:t> позволяет строить цепочки из однотипных хуков. </a:t>
            </a:r>
            <a:endParaRPr lang="ru-RU" dirty="0" smtClean="0"/>
          </a:p>
          <a:p>
            <a:r>
              <a:rPr lang="ru-RU" i="1" dirty="0" smtClean="0"/>
              <a:t>Цепочка </a:t>
            </a:r>
            <a:r>
              <a:rPr lang="ru-RU" i="1" dirty="0"/>
              <a:t>хуков</a:t>
            </a:r>
            <a:r>
              <a:rPr lang="ru-RU" dirty="0"/>
              <a:t> (</a:t>
            </a:r>
            <a:r>
              <a:rPr lang="ru-RU" dirty="0" err="1"/>
              <a:t>hook</a:t>
            </a:r>
            <a:r>
              <a:rPr lang="ru-RU" dirty="0"/>
              <a:t> </a:t>
            </a:r>
            <a:r>
              <a:rPr lang="ru-RU" dirty="0" err="1"/>
              <a:t>chain</a:t>
            </a:r>
            <a:r>
              <a:rPr lang="ru-RU" dirty="0"/>
              <a:t>) - это список указателей на определенные приложением функции обратного вызова, которые вызывают </a:t>
            </a:r>
            <a:r>
              <a:rPr lang="ru-RU" i="1" dirty="0"/>
              <a:t>функции хука</a:t>
            </a:r>
            <a:r>
              <a:rPr lang="ru-RU" dirty="0"/>
              <a:t> (</a:t>
            </a:r>
            <a:r>
              <a:rPr lang="ru-RU" dirty="0" err="1"/>
              <a:t>hook</a:t>
            </a:r>
            <a:r>
              <a:rPr lang="ru-RU" dirty="0"/>
              <a:t> </a:t>
            </a:r>
            <a:r>
              <a:rPr lang="ru-RU" dirty="0" err="1"/>
              <a:t>procedures</a:t>
            </a:r>
            <a:r>
              <a:rPr lang="ru-RU" dirty="0"/>
              <a:t>). Когда появляется сообщение, связанное с типом установленного хука, </a:t>
            </a:r>
            <a:r>
              <a:rPr lang="ru-RU" dirty="0" err="1"/>
              <a:t>Windows</a:t>
            </a:r>
            <a:r>
              <a:rPr lang="ru-RU" dirty="0"/>
              <a:t> передает это сообщение по очереди каждой функции хука, упомянутой в цепочке. </a:t>
            </a:r>
            <a:endParaRPr lang="ru-RU" dirty="0" smtClean="0"/>
          </a:p>
          <a:p>
            <a:r>
              <a:rPr lang="ru-RU" dirty="0" smtClean="0"/>
              <a:t>Действие</a:t>
            </a:r>
            <a:r>
              <a:rPr lang="ru-RU" dirty="0"/>
              <a:t>, которое может совершить функция хука, зависит от типа данного хука. Функции для некоторых типов хуков могут только просматривать сообщения; другие функции могут изменять сообщения или останавливать их продвижение по цепочке, не позволяя им достигнуть следующей функции хука или окна-адресата.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1528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Функция ловушки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931224" cy="4700736"/>
          </a:xfrm>
        </p:spPr>
        <p:txBody>
          <a:bodyPr/>
          <a:lstStyle/>
          <a:p>
            <a:r>
              <a:rPr lang="ru-RU" dirty="0"/>
              <a:t>Для того, чтобы использовать определенный тип хука, программист создает функцию хука. </a:t>
            </a:r>
            <a:endParaRPr lang="ru-RU" dirty="0" smtClean="0"/>
          </a:p>
          <a:p>
            <a:r>
              <a:rPr lang="ru-RU" dirty="0" smtClean="0"/>
              <a:t>Затем </a:t>
            </a:r>
            <a:r>
              <a:rPr lang="ru-RU" dirty="0"/>
              <a:t>с помощью функции </a:t>
            </a:r>
            <a:r>
              <a:rPr lang="ru-RU" dirty="0" err="1"/>
              <a:t>SetWindowsHookEx</a:t>
            </a:r>
            <a:r>
              <a:rPr lang="ru-RU" dirty="0"/>
              <a:t>() устанавливает созданную функцию хука в цепочку, связанную с данным хуком.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37247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Функция ловушки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715200" cy="4484712"/>
          </a:xfrm>
        </p:spPr>
        <p:txBody>
          <a:bodyPr>
            <a:normAutofit/>
          </a:bodyPr>
          <a:lstStyle/>
          <a:p>
            <a:r>
              <a:rPr lang="ru-RU" dirty="0"/>
              <a:t>Функция хука должна иметь следующий синтаксис: </a:t>
            </a:r>
          </a:p>
          <a:p>
            <a:r>
              <a:rPr lang="en-US" dirty="0"/>
              <a:t>LRESULT CALLBACK </a:t>
            </a:r>
            <a:r>
              <a:rPr lang="en-US" dirty="0" err="1"/>
              <a:t>HookProc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nCode,WPARAM</a:t>
            </a:r>
            <a:r>
              <a:rPr lang="en-US" dirty="0"/>
              <a:t> </a:t>
            </a:r>
            <a:r>
              <a:rPr lang="en-US" dirty="0" err="1"/>
              <a:t>wParam,LPARAM</a:t>
            </a:r>
            <a:r>
              <a:rPr lang="en-US" dirty="0"/>
              <a:t> </a:t>
            </a:r>
            <a:r>
              <a:rPr lang="en-US" dirty="0" err="1"/>
              <a:t>lParam</a:t>
            </a:r>
            <a:r>
              <a:rPr lang="en-US" dirty="0" smtClean="0"/>
              <a:t>)</a:t>
            </a:r>
            <a:endParaRPr lang="ru-RU" dirty="0" smtClean="0"/>
          </a:p>
          <a:p>
            <a:r>
              <a:rPr lang="ru-RU" dirty="0" smtClean="0"/>
              <a:t>Вместо </a:t>
            </a:r>
            <a:r>
              <a:rPr lang="ru-RU" dirty="0" err="1"/>
              <a:t>HookProc</a:t>
            </a:r>
            <a:r>
              <a:rPr lang="ru-RU" dirty="0"/>
              <a:t> следует подставить имя функции хука, определенное приложением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Параметр </a:t>
            </a:r>
            <a:r>
              <a:rPr lang="ru-RU" dirty="0" err="1"/>
              <a:t>nCode</a:t>
            </a:r>
            <a:r>
              <a:rPr lang="ru-RU" dirty="0"/>
              <a:t> - код хука. Функция хука использует его, чтобы определить действие, которое необходимо исполнить. Значение кода хука зависит от типа хука; каждый тип имеет свой набор кодов хука. </a:t>
            </a:r>
            <a:endParaRPr lang="ru-RU" dirty="0" smtClean="0"/>
          </a:p>
          <a:p>
            <a:r>
              <a:rPr lang="ru-RU" dirty="0" smtClean="0"/>
              <a:t>Значения </a:t>
            </a:r>
            <a:r>
              <a:rPr lang="ru-RU" dirty="0"/>
              <a:t>параметров </a:t>
            </a:r>
            <a:r>
              <a:rPr lang="ru-RU" dirty="0" err="1"/>
              <a:t>wParam</a:t>
            </a:r>
            <a:r>
              <a:rPr lang="ru-RU" dirty="0"/>
              <a:t> и </a:t>
            </a:r>
            <a:r>
              <a:rPr lang="ru-RU" dirty="0" err="1"/>
              <a:t>lParam</a:t>
            </a:r>
            <a:r>
              <a:rPr lang="ru-RU" dirty="0"/>
              <a:t> зависят от кода хука, но обычно они содержат информацию об отправленном сообщении. 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454951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Функция ловушки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ru-RU" dirty="0" err="1"/>
              <a:t>SetWindowsHookEx</a:t>
            </a:r>
            <a:r>
              <a:rPr lang="ru-RU" dirty="0"/>
              <a:t>() всегда устанавливает функцию хука в начало цепочки хуков. Когда происходит событие, которое </a:t>
            </a:r>
            <a:r>
              <a:rPr lang="ru-RU" dirty="0" smtClean="0"/>
              <a:t>отслеживается </a:t>
            </a:r>
            <a:r>
              <a:rPr lang="ru-RU" dirty="0"/>
              <a:t>данным типом хука, </a:t>
            </a:r>
            <a:r>
              <a:rPr lang="ru-RU" dirty="0" err="1"/>
              <a:t>Windows</a:t>
            </a:r>
            <a:r>
              <a:rPr lang="ru-RU" dirty="0"/>
              <a:t> вызывает функцию, которая находится в начале цепочки, связанной с этим хуком. </a:t>
            </a:r>
            <a:endParaRPr lang="ru-RU" dirty="0" smtClean="0"/>
          </a:p>
          <a:p>
            <a:r>
              <a:rPr lang="ru-RU" dirty="0" smtClean="0"/>
              <a:t>Каждая </a:t>
            </a:r>
            <a:r>
              <a:rPr lang="ru-RU" dirty="0"/>
              <a:t>функция хука в цепочке решает, передавать ли событие следующей функции. Функция хука может передать событие следующей функции, используя функцию </a:t>
            </a:r>
            <a:r>
              <a:rPr lang="ru-RU" dirty="0" err="1"/>
              <a:t>CallNextHookEx</a:t>
            </a:r>
            <a:r>
              <a:rPr lang="ru-RU" dirty="0"/>
              <a:t>().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3468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Функция ловушки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Функция хука может быть глобальной. В этом случае она просматривает сообщения для всех потоков в системе. Можно также определить функцию хука для одного потока, чтобы просматривать сообщения, предназначенные только этому потоку. </a:t>
            </a:r>
            <a:endParaRPr lang="ru-RU" dirty="0" smtClean="0"/>
          </a:p>
          <a:p>
            <a:r>
              <a:rPr lang="ru-RU" dirty="0" smtClean="0"/>
              <a:t>Глобальная </a:t>
            </a:r>
            <a:r>
              <a:rPr lang="ru-RU" dirty="0"/>
              <a:t>функция хука может быть вызвана в контексте любого приложения, поэтому она должна быть помещена в отдельный модуль библиотеки DLL. </a:t>
            </a:r>
            <a:endParaRPr lang="ru-RU" dirty="0" smtClean="0"/>
          </a:p>
          <a:p>
            <a:r>
              <a:rPr lang="ru-RU" dirty="0" smtClean="0"/>
              <a:t>Функция </a:t>
            </a:r>
            <a:r>
              <a:rPr lang="ru-RU" dirty="0"/>
              <a:t>хука, определенная для одного потока, вызывается только в контексте данного потока. Если приложение устанавливает функцию хука для одного из своих собственных потоков, она может находиться или в том же модуле, что и остальная часть кода приложения, или в DLL.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приложение устанавливает функцию хука для потока другого приложения, ее надо поместить в DLL.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06320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Функция ловушки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Использовать глобальные хуки следует только в целях отладки, в противном случае лучше </a:t>
            </a:r>
            <a:r>
              <a:rPr lang="ru-RU" u="sng" dirty="0"/>
              <a:t>избегать</a:t>
            </a:r>
            <a:r>
              <a:rPr lang="ru-RU" dirty="0"/>
              <a:t> их. </a:t>
            </a:r>
            <a:endParaRPr lang="ru-RU" dirty="0" smtClean="0"/>
          </a:p>
          <a:p>
            <a:r>
              <a:rPr lang="ru-RU" dirty="0" smtClean="0"/>
              <a:t>Глобальные </a:t>
            </a:r>
            <a:r>
              <a:rPr lang="ru-RU" dirty="0"/>
              <a:t>хуки снижают эффективность системы и вызывают конфликты с другими приложениями, которые используют такой же тип глобального хука.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96159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067128" cy="1371600"/>
          </a:xfrm>
        </p:spPr>
        <p:txBody>
          <a:bodyPr>
            <a:normAutofit/>
          </a:bodyPr>
          <a:lstStyle/>
          <a:p>
            <a:r>
              <a:rPr lang="ru-RU" dirty="0"/>
              <a:t>Хуки WH_CALLWNDPROC и WH_CALLWNDPROCRET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7715200" cy="5040560"/>
          </a:xfrm>
        </p:spPr>
        <p:txBody>
          <a:bodyPr>
            <a:normAutofit/>
          </a:bodyPr>
          <a:lstStyle/>
          <a:p>
            <a:r>
              <a:rPr lang="ru-RU" dirty="0" smtClean="0"/>
              <a:t>позволяют </a:t>
            </a:r>
            <a:r>
              <a:rPr lang="ru-RU" dirty="0"/>
              <a:t>контролировать сообщения, посланные функциям окна приложений функцией </a:t>
            </a:r>
            <a:r>
              <a:rPr lang="ru-RU" dirty="0" err="1"/>
              <a:t>SendMessage</a:t>
            </a:r>
            <a:r>
              <a:rPr lang="ru-RU" dirty="0"/>
              <a:t>(). </a:t>
            </a:r>
            <a:r>
              <a:rPr lang="ru-RU" dirty="0" err="1"/>
              <a:t>Windows</a:t>
            </a:r>
            <a:r>
              <a:rPr lang="ru-RU" dirty="0"/>
              <a:t> вызывает функцию хука WH_CALLWNDPROC прежде, чем функция окна получит предназначенное ей сообщение. Функция хука WH_CALLWNDPROCRET вызывается после того, как функция окна получит и обработает сообщение.</a:t>
            </a:r>
          </a:p>
          <a:p>
            <a:r>
              <a:rPr lang="ru-RU" dirty="0"/>
              <a:t>Прототип функции хука WH_CALLWNDPROC: </a:t>
            </a:r>
          </a:p>
          <a:p>
            <a:r>
              <a:rPr lang="en-US" dirty="0"/>
              <a:t>LRESULT CALLBACK </a:t>
            </a:r>
            <a:r>
              <a:rPr lang="en-US" dirty="0" err="1"/>
              <a:t>CallWndProc</a:t>
            </a:r>
            <a:r>
              <a:rPr lang="en-US" dirty="0"/>
              <a:t>(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nCode</a:t>
            </a:r>
            <a:r>
              <a:rPr lang="en-US" dirty="0"/>
              <a:t>,       </a:t>
            </a:r>
            <a:r>
              <a:rPr lang="en-US" dirty="0" smtClean="0"/>
              <a:t>WPARAM </a:t>
            </a:r>
            <a:r>
              <a:rPr lang="en-US" dirty="0" err="1"/>
              <a:t>wParam</a:t>
            </a:r>
            <a:r>
              <a:rPr lang="en-US" dirty="0"/>
              <a:t>,   LPARAM </a:t>
            </a:r>
            <a:r>
              <a:rPr lang="en-US" dirty="0" err="1"/>
              <a:t>lParam</a:t>
            </a:r>
            <a:r>
              <a:rPr lang="en-US" dirty="0" smtClean="0"/>
              <a:t>);</a:t>
            </a:r>
            <a:endParaRPr lang="ru-RU" dirty="0" smtClean="0"/>
          </a:p>
          <a:p>
            <a:r>
              <a:rPr lang="ru-RU" dirty="0" smtClean="0"/>
              <a:t>Параметр </a:t>
            </a:r>
            <a:r>
              <a:rPr lang="ru-RU" dirty="0" err="1"/>
              <a:t>wParam</a:t>
            </a:r>
            <a:r>
              <a:rPr lang="ru-RU" dirty="0"/>
              <a:t> - флаг, который определяет, было ли сообщение отправлено текущим процессом. </a:t>
            </a:r>
            <a:endParaRPr lang="ru-RU" dirty="0" smtClean="0"/>
          </a:p>
          <a:p>
            <a:r>
              <a:rPr lang="ru-RU" dirty="0" smtClean="0"/>
              <a:t>Параметр </a:t>
            </a:r>
            <a:r>
              <a:rPr lang="ru-RU" dirty="0" err="1"/>
              <a:t>lParam</a:t>
            </a:r>
            <a:r>
              <a:rPr lang="ru-RU" dirty="0"/>
              <a:t> - указатель на структуру CWPSTRUCT, которая содержит информацию о </a:t>
            </a:r>
            <a:r>
              <a:rPr lang="ru-RU" dirty="0" smtClean="0"/>
              <a:t>сообщении.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689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Хук WH_CBT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err="1" smtClean="0"/>
              <a:t>Windows</a:t>
            </a:r>
            <a:r>
              <a:rPr lang="ru-RU" dirty="0" smtClean="0"/>
              <a:t> </a:t>
            </a:r>
            <a:r>
              <a:rPr lang="ru-RU" dirty="0"/>
              <a:t>вызывает функцию </a:t>
            </a:r>
            <a:r>
              <a:rPr lang="ru-RU" dirty="0" smtClean="0"/>
              <a:t>хука WH_CBT </a:t>
            </a:r>
            <a:r>
              <a:rPr lang="ru-RU" dirty="0"/>
              <a:t>в следующих случаях: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ru-RU" dirty="0"/>
              <a:t>перед активизацией, созданием, разрушением, сворачиванием, разворачиванием, перемещением или изменением размеров окна;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ru-RU" dirty="0"/>
              <a:t>перед завершением системной команды;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ru-RU" dirty="0"/>
              <a:t>перед удалением события, связанного с мышью или клавиатурой, из системной очереди сообщений;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ru-RU" dirty="0"/>
              <a:t>перед установкой фокуса ввода;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ru-RU" dirty="0"/>
              <a:t>перед синхронизацией посредством системной очереди </a:t>
            </a:r>
            <a:r>
              <a:rPr lang="ru-RU" dirty="0" smtClean="0"/>
              <a:t>сообщений.</a:t>
            </a:r>
            <a:endParaRPr lang="ru-RU" dirty="0"/>
          </a:p>
          <a:p>
            <a:r>
              <a:rPr lang="ru-RU" dirty="0"/>
              <a:t>Значение, которое возвращает функция хука, определяет, будет ли разрешена совершенная операция.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40612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Хук WH_CBT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Прототип функции хука:</a:t>
            </a:r>
          </a:p>
          <a:p>
            <a:r>
              <a:rPr lang="en-US" dirty="0"/>
              <a:t>LRESULT CALLBACK </a:t>
            </a:r>
            <a:r>
              <a:rPr lang="en-US" dirty="0" err="1"/>
              <a:t>CBTProc</a:t>
            </a:r>
            <a:r>
              <a:rPr lang="en-US" dirty="0"/>
              <a:t>(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nCode</a:t>
            </a:r>
            <a:r>
              <a:rPr lang="en-US" dirty="0"/>
              <a:t>,		// </a:t>
            </a:r>
            <a:r>
              <a:rPr lang="ru-RU" dirty="0"/>
              <a:t>код хука</a:t>
            </a:r>
            <a:r>
              <a:rPr lang="en-US" dirty="0"/>
              <a:t>   </a:t>
            </a:r>
            <a:r>
              <a:rPr lang="ru-RU" dirty="0"/>
              <a:t>WPARAM </a:t>
            </a:r>
            <a:r>
              <a:rPr lang="ru-RU" dirty="0" err="1"/>
              <a:t>wParam</a:t>
            </a:r>
            <a:r>
              <a:rPr lang="ru-RU" dirty="0"/>
              <a:t>,	// зависит от кода хука   LPARAM </a:t>
            </a:r>
            <a:r>
              <a:rPr lang="ru-RU" dirty="0" err="1"/>
              <a:t>lParam</a:t>
            </a:r>
            <a:r>
              <a:rPr lang="ru-RU" dirty="0"/>
              <a:t>	// зависит от кода хука);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/>
              <a:t>Если параметр </a:t>
            </a:r>
            <a:r>
              <a:rPr lang="ru-RU" dirty="0" err="1"/>
              <a:t>nCode</a:t>
            </a:r>
            <a:r>
              <a:rPr lang="ru-RU" dirty="0"/>
              <a:t> меньше нуля, функция хука просто передает сообщение функции </a:t>
            </a:r>
            <a:r>
              <a:rPr lang="ru-RU" dirty="0" err="1"/>
              <a:t>CallNextHookEx</a:t>
            </a:r>
            <a:r>
              <a:rPr lang="ru-RU" dirty="0"/>
              <a:t>() без дальнейшей обработки и возвращает значение, возвращаемое функцией </a:t>
            </a:r>
            <a:r>
              <a:rPr lang="ru-RU" dirty="0" err="1"/>
              <a:t>CallNextHookEx</a:t>
            </a:r>
            <a:r>
              <a:rPr lang="ru-RU" dirty="0"/>
              <a:t>().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3440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43192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Параметр </a:t>
            </a:r>
            <a:r>
              <a:rPr lang="ru-RU" dirty="0" err="1"/>
              <a:t>nCode</a:t>
            </a:r>
            <a:r>
              <a:rPr lang="ru-RU" dirty="0"/>
              <a:t> может принимать следующие значения: 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0943578"/>
              </p:ext>
            </p:extLst>
          </p:nvPr>
        </p:nvGraphicFramePr>
        <p:xfrm>
          <a:off x="467541" y="1556794"/>
          <a:ext cx="7992890" cy="50405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8235"/>
                <a:gridCol w="5904655"/>
              </a:tblGrid>
              <a:tr h="272741">
                <a:tc>
                  <a:txBody>
                    <a:bodyPr/>
                    <a:lstStyle/>
                    <a:p>
                      <a:pPr marL="0" indent="9525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HCBT_ACTIVATE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  <a:tc>
                  <a:txBody>
                    <a:bodyPr/>
                    <a:lstStyle/>
                    <a:p>
                      <a:pPr marL="0" indent="17780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Система собирается активизировать окно.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</a:tr>
              <a:tr h="481101">
                <a:tc>
                  <a:txBody>
                    <a:bodyPr/>
                    <a:lstStyle/>
                    <a:p>
                      <a:pPr marL="0" indent="9525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HCBT_CLICKSKIPPED</a:t>
                      </a:r>
                    </a:p>
                  </a:txBody>
                  <a:tcPr marL="7541" marR="7541" marT="7541" marB="7541"/>
                </a:tc>
                <a:tc>
                  <a:txBody>
                    <a:bodyPr/>
                    <a:lstStyle/>
                    <a:p>
                      <a:pPr marL="0" indent="17780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Система удалила сообщение от мыши из системной очереди сообщений. 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</a:tr>
              <a:tr h="1642796">
                <a:tc>
                  <a:txBody>
                    <a:bodyPr/>
                    <a:lstStyle/>
                    <a:p>
                      <a:pPr marL="0" indent="9525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HCBT_CREATEWND</a:t>
                      </a:r>
                    </a:p>
                  </a:txBody>
                  <a:tcPr marL="7541" marR="7541" marT="7541" marB="7541"/>
                </a:tc>
                <a:tc>
                  <a:txBody>
                    <a:bodyPr/>
                    <a:lstStyle/>
                    <a:p>
                      <a:pPr marL="0" indent="17780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Система собирается создать окно. Система вызывает функцию хука перед тем, как послать окну сообщение WM_CREATE или WM_NCCREATE. Если функция хука возвращает ненулевое значение, система уничтожает окно; функция </a:t>
                      </a:r>
                      <a:r>
                        <a:rPr lang="ru-RU" sz="1400" b="1" dirty="0" err="1">
                          <a:effectLst/>
                        </a:rPr>
                        <a:t>CreateWindow</a:t>
                      </a:r>
                      <a:r>
                        <a:rPr lang="ru-RU" sz="1400" b="1" dirty="0">
                          <a:effectLst/>
                        </a:rPr>
                        <a:t>() возвращает NULL, но сообщение WM_DESTROY окну не посылается. Если функция хука возвращает 0, окно создается в обычном </a:t>
                      </a:r>
                      <a:r>
                        <a:rPr lang="ru-RU" sz="1400" b="1" dirty="0" smtClean="0">
                          <a:effectLst/>
                        </a:rPr>
                        <a:t>режиме.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</a:tr>
              <a:tr h="272741">
                <a:tc>
                  <a:txBody>
                    <a:bodyPr/>
                    <a:lstStyle/>
                    <a:p>
                      <a:pPr marL="0" indent="9525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HCBT_DESTROYWND</a:t>
                      </a:r>
                    </a:p>
                  </a:txBody>
                  <a:tcPr marL="7541" marR="7541" marT="7541" marB="7541"/>
                </a:tc>
                <a:tc>
                  <a:txBody>
                    <a:bodyPr/>
                    <a:lstStyle/>
                    <a:p>
                      <a:pPr marL="0" indent="17780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Система собирается уничтожить окно.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</a:tr>
              <a:tr h="567928">
                <a:tc>
                  <a:txBody>
                    <a:bodyPr/>
                    <a:lstStyle/>
                    <a:p>
                      <a:pPr marL="0" indent="9525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HCBT_KEYSKIPPED</a:t>
                      </a:r>
                    </a:p>
                  </a:txBody>
                  <a:tcPr marL="7541" marR="7541" marT="7541" marB="7541"/>
                </a:tc>
                <a:tc>
                  <a:txBody>
                    <a:bodyPr/>
                    <a:lstStyle/>
                    <a:p>
                      <a:pPr marL="0" indent="17780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Система удалила сообщение от клавиатуры из системной очереди сообщений. 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</a:tr>
              <a:tr h="272741">
                <a:tc>
                  <a:txBody>
                    <a:bodyPr/>
                    <a:lstStyle/>
                    <a:p>
                      <a:pPr marL="0" indent="9525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HCBT_MINMAX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  <a:tc>
                  <a:txBody>
                    <a:bodyPr/>
                    <a:lstStyle/>
                    <a:p>
                      <a:pPr marL="0" indent="17780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Система собирается свернуть или развернуть окно.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</a:tr>
              <a:tr h="481101">
                <a:tc>
                  <a:txBody>
                    <a:bodyPr/>
                    <a:lstStyle/>
                    <a:p>
                      <a:pPr marL="0" indent="9525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HCBT_MOVESIZE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  <a:tc>
                  <a:txBody>
                    <a:bodyPr/>
                    <a:lstStyle/>
                    <a:p>
                      <a:pPr marL="0" indent="17780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Система собирается переместить окно или изменить его размер.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</a:tr>
              <a:tr h="272741">
                <a:tc>
                  <a:txBody>
                    <a:bodyPr/>
                    <a:lstStyle/>
                    <a:p>
                      <a:pPr marL="0" indent="9525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HCBT_SETFOCUS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  <a:tc>
                  <a:txBody>
                    <a:bodyPr/>
                    <a:lstStyle/>
                    <a:p>
                      <a:pPr marL="0" indent="17780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Система собирается передать окну фокус ввода.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</a:tr>
              <a:tr h="776667">
                <a:tc>
                  <a:txBody>
                    <a:bodyPr/>
                    <a:lstStyle/>
                    <a:p>
                      <a:pPr marL="0" indent="9525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HCBT_SYSCOMMAND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  <a:tc>
                  <a:txBody>
                    <a:bodyPr/>
                    <a:lstStyle/>
                    <a:p>
                      <a:pPr marL="0" indent="17780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Система собирается выполнить системную команду. Перехват этого сообщения позволяет CBT-приложению запретить переключение задач с помощью горячих клавиш.</a:t>
                      </a:r>
                      <a:endParaRPr lang="ru-RU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541" marR="7541" marT="7541" marB="754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1971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Хук </a:t>
            </a:r>
            <a:r>
              <a:rPr lang="ru-RU" b="1" dirty="0" smtClean="0"/>
              <a:t>WH_DEBUG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56792"/>
            <a:ext cx="7787208" cy="4968552"/>
          </a:xfrm>
        </p:spPr>
        <p:txBody>
          <a:bodyPr>
            <a:normAutofit fontScale="92500" lnSpcReduction="20000"/>
          </a:bodyPr>
          <a:lstStyle/>
          <a:p>
            <a:r>
              <a:rPr lang="ru-RU" dirty="0" err="1"/>
              <a:t>Windows</a:t>
            </a:r>
            <a:r>
              <a:rPr lang="ru-RU" dirty="0"/>
              <a:t> вызывает функцию хука WH_DEBUG перед вызовом функции любого другого хука, установленного в системе. Таким образом, этот хук можно использовать для того, чтобы запретить системе вызывать функции других хуков.</a:t>
            </a:r>
          </a:p>
          <a:p>
            <a:r>
              <a:rPr lang="ru-RU" dirty="0"/>
              <a:t>Прототип функции хука: </a:t>
            </a:r>
          </a:p>
          <a:p>
            <a:r>
              <a:rPr lang="ru-RU" dirty="0"/>
              <a:t>LRESULT CALLBACK </a:t>
            </a:r>
            <a:r>
              <a:rPr lang="ru-RU" dirty="0" err="1"/>
              <a:t>DebugProc</a:t>
            </a:r>
            <a:r>
              <a:rPr lang="ru-RU" dirty="0"/>
              <a:t>(  </a:t>
            </a:r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nCode</a:t>
            </a:r>
            <a:r>
              <a:rPr lang="ru-RU" dirty="0"/>
              <a:t>,  </a:t>
            </a:r>
            <a:r>
              <a:rPr lang="ru-RU" dirty="0" smtClean="0"/>
              <a:t>// </a:t>
            </a:r>
            <a:r>
              <a:rPr lang="ru-RU" dirty="0"/>
              <a:t>код хука  </a:t>
            </a:r>
            <a:endParaRPr lang="ru-RU" dirty="0" smtClean="0"/>
          </a:p>
          <a:p>
            <a:r>
              <a:rPr lang="ru-RU" dirty="0" smtClean="0"/>
              <a:t>WPARAM </a:t>
            </a:r>
            <a:r>
              <a:rPr lang="ru-RU" dirty="0" err="1" smtClean="0"/>
              <a:t>wParam</a:t>
            </a:r>
            <a:r>
              <a:rPr lang="ru-RU" dirty="0" smtClean="0"/>
              <a:t>, LPARAM </a:t>
            </a:r>
            <a:r>
              <a:rPr lang="ru-RU" dirty="0" err="1"/>
              <a:t>lParam</a:t>
            </a:r>
            <a:r>
              <a:rPr lang="ru-RU" dirty="0"/>
              <a:t> </a:t>
            </a:r>
            <a:r>
              <a:rPr lang="ru-RU" dirty="0" smtClean="0"/>
              <a:t>)</a:t>
            </a:r>
          </a:p>
          <a:p>
            <a:r>
              <a:rPr lang="ru-RU" dirty="0" smtClean="0"/>
              <a:t>Если </a:t>
            </a:r>
            <a:r>
              <a:rPr lang="ru-RU" dirty="0"/>
              <a:t>параметр </a:t>
            </a:r>
            <a:r>
              <a:rPr lang="ru-RU" dirty="0" err="1"/>
              <a:t>nCode</a:t>
            </a:r>
            <a:r>
              <a:rPr lang="ru-RU" dirty="0"/>
              <a:t> равен HC_ACTION, то функция хука должна обработать данное сообщение. Если </a:t>
            </a:r>
            <a:r>
              <a:rPr lang="ru-RU" dirty="0" err="1"/>
              <a:t>nCode</a:t>
            </a:r>
            <a:r>
              <a:rPr lang="ru-RU" dirty="0"/>
              <a:t> меньше нуля, то функция хука должна передать сообщение функции </a:t>
            </a:r>
            <a:r>
              <a:rPr lang="ru-RU" dirty="0" err="1"/>
              <a:t>CallNextHookEx</a:t>
            </a:r>
            <a:r>
              <a:rPr lang="ru-RU" dirty="0"/>
              <a:t>(), не обрабатывая его, и должна вернуть значение, которое вернет функция </a:t>
            </a:r>
            <a:r>
              <a:rPr lang="ru-RU" dirty="0" err="1"/>
              <a:t>CallNextHookEx</a:t>
            </a:r>
            <a:r>
              <a:rPr lang="ru-RU" dirty="0"/>
              <a:t>(). </a:t>
            </a:r>
            <a:endParaRPr lang="ru-RU" dirty="0" smtClean="0"/>
          </a:p>
          <a:p>
            <a:r>
              <a:rPr lang="ru-RU" dirty="0"/>
              <a:t>Параметр </a:t>
            </a:r>
            <a:r>
              <a:rPr lang="ru-RU" dirty="0" err="1"/>
              <a:t>wParam</a:t>
            </a:r>
            <a:r>
              <a:rPr lang="ru-RU" dirty="0"/>
              <a:t> указывает, какой тип хука собирается вызвать система.</a:t>
            </a:r>
            <a:endParaRPr lang="ru-RU" dirty="0" smtClean="0"/>
          </a:p>
          <a:p>
            <a:r>
              <a:rPr lang="ru-RU" dirty="0"/>
              <a:t>Параметр </a:t>
            </a:r>
            <a:r>
              <a:rPr lang="ru-RU" dirty="0" err="1"/>
              <a:t>lParam</a:t>
            </a:r>
            <a:r>
              <a:rPr lang="ru-RU" dirty="0"/>
              <a:t> указывает на структуру DEBUGHOOKINFO, содержащую параметры, которые будут переданы функции вызываемого хука.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0996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571184" cy="1371600"/>
          </a:xfrm>
        </p:spPr>
        <p:txBody>
          <a:bodyPr>
            <a:normAutofit/>
          </a:bodyPr>
          <a:lstStyle/>
          <a:p>
            <a:r>
              <a:rPr lang="ru-RU" b="1" dirty="0"/>
              <a:t>Хук </a:t>
            </a:r>
            <a:r>
              <a:rPr lang="ru-RU" b="1" dirty="0" smtClean="0"/>
              <a:t>WH_FOREGROUNDIDLE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позволяет выполнять фоновые задачи, когда поток, на который установлен хук, не используется. </a:t>
            </a:r>
            <a:endParaRPr lang="ru-RU" dirty="0" smtClean="0"/>
          </a:p>
          <a:p>
            <a:r>
              <a:rPr lang="ru-RU" dirty="0" smtClean="0"/>
              <a:t>Функция </a:t>
            </a:r>
            <a:r>
              <a:rPr lang="ru-RU" dirty="0"/>
              <a:t>этого хука вызывается, когда система собирается сделать основной поток приложения неактивным.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666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923112" cy="1371600"/>
          </a:xfrm>
        </p:spPr>
        <p:txBody>
          <a:bodyPr>
            <a:normAutofit/>
          </a:bodyPr>
          <a:lstStyle/>
          <a:p>
            <a:r>
              <a:rPr lang="ru-RU" b="1" dirty="0"/>
              <a:t>Хук </a:t>
            </a:r>
            <a:r>
              <a:rPr lang="ru-RU" b="1" dirty="0" smtClean="0"/>
              <a:t>WH_GETMESSAGE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Этот хук позволяет приложению контролировать сообщения, которые функция </a:t>
            </a:r>
            <a:r>
              <a:rPr lang="ru-RU" dirty="0" err="1"/>
              <a:t>GetMessage</a:t>
            </a:r>
            <a:r>
              <a:rPr lang="ru-RU" dirty="0"/>
              <a:t>() или </a:t>
            </a:r>
            <a:r>
              <a:rPr lang="ru-RU" dirty="0" err="1"/>
              <a:t>PeekMessage</a:t>
            </a:r>
            <a:r>
              <a:rPr lang="ru-RU" dirty="0"/>
              <a:t>() собирается извлечь из очереди сообщений. </a:t>
            </a:r>
            <a:endParaRPr lang="ru-RU" dirty="0" smtClean="0"/>
          </a:p>
          <a:p>
            <a:r>
              <a:rPr lang="ru-RU" dirty="0" smtClean="0"/>
              <a:t>Хук </a:t>
            </a:r>
            <a:r>
              <a:rPr lang="ru-RU" dirty="0"/>
              <a:t>WH_GETMESSAGE можно использовать для просмотра сообщений, полученных от мыши или клавиатуры, а также других сообщений, помещаемых в очередь сообщений.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76463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15200" cy="1371600"/>
          </a:xfrm>
        </p:spPr>
        <p:txBody>
          <a:bodyPr>
            <a:normAutofit/>
          </a:bodyPr>
          <a:lstStyle/>
          <a:p>
            <a:r>
              <a:rPr lang="ru-RU" b="1" dirty="0"/>
              <a:t>Хук </a:t>
            </a:r>
            <a:r>
              <a:rPr lang="ru-RU" b="1" dirty="0" smtClean="0"/>
              <a:t>WH_JOURNALPLAYBACK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позволяет приложению помещать сообщения в системную очередь сообщений. Этот хук можно использовать для того, чтобы проигрывать серию событий от мыши или клавиатуры, которая прежде была записана с помощью хука WH_JOURNALRECORD. Если этот хук установлен, нормальный ввод от мыши и клавиатуры блокируется до тех пор, пока хук не будет снят. Хук WH_JOURNALPLAYBACK может быть только глобальным, т.е. его нельзя установить для отдельного потока.</a:t>
            </a:r>
          </a:p>
          <a:p>
            <a:r>
              <a:rPr lang="ru-RU" dirty="0"/>
              <a:t>Хук WH_JOURNALPLAYBACK возвращает время ожидания (</a:t>
            </a:r>
            <a:r>
              <a:rPr lang="ru-RU" dirty="0" err="1"/>
              <a:t>time-out</a:t>
            </a:r>
            <a:r>
              <a:rPr lang="ru-RU" dirty="0"/>
              <a:t> </a:t>
            </a:r>
            <a:r>
              <a:rPr lang="ru-RU" dirty="0" err="1"/>
              <a:t>value</a:t>
            </a:r>
            <a:r>
              <a:rPr lang="ru-RU" dirty="0"/>
              <a:t>). Это значение сообщает системе, сколько миллисекунд нужно подождать прежде чем обработать данное сообщение из серии событий. Таким образом, хук может контролировать периодичность проигрываемых событий. </a:t>
            </a:r>
          </a:p>
        </p:txBody>
      </p:sp>
    </p:spTree>
    <p:extLst>
      <p:ext uri="{BB962C8B-B14F-4D97-AF65-F5344CB8AC3E}">
        <p14:creationId xmlns:p14="http://schemas.microsoft.com/office/powerpoint/2010/main" val="5924160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995120" cy="1371600"/>
          </a:xfrm>
        </p:spPr>
        <p:txBody>
          <a:bodyPr>
            <a:normAutofit/>
          </a:bodyPr>
          <a:lstStyle/>
          <a:p>
            <a:r>
              <a:rPr lang="ru-RU" b="1" dirty="0"/>
              <a:t>Хук </a:t>
            </a:r>
            <a:r>
              <a:rPr lang="ru-RU" b="1" dirty="0" smtClean="0"/>
              <a:t>WH_JOURNALRECORD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Хук WH_JOURNALRECORD позволяет контролировать и создавать события ввода (</a:t>
            </a:r>
            <a:r>
              <a:rPr lang="ru-RU" dirty="0" err="1"/>
              <a:t>input</a:t>
            </a:r>
            <a:r>
              <a:rPr lang="ru-RU" dirty="0"/>
              <a:t> </a:t>
            </a:r>
            <a:r>
              <a:rPr lang="ru-RU" dirty="0" err="1"/>
              <a:t>events</a:t>
            </a:r>
            <a:r>
              <a:rPr lang="ru-RU" dirty="0"/>
              <a:t>). </a:t>
            </a:r>
            <a:endParaRPr lang="ru-RU" dirty="0" smtClean="0"/>
          </a:p>
          <a:p>
            <a:r>
              <a:rPr lang="ru-RU" dirty="0" smtClean="0"/>
              <a:t>Обычно </a:t>
            </a:r>
            <a:r>
              <a:rPr lang="ru-RU" dirty="0"/>
              <a:t>этот хук используется для записи последовательности событий от мыши и клавиатуры, чтобы позднее проиграть их с помощью хука WH_JOURNALPLAYBACK. </a:t>
            </a:r>
            <a:endParaRPr lang="ru-RU" dirty="0" smtClean="0"/>
          </a:p>
          <a:p>
            <a:r>
              <a:rPr lang="ru-RU" dirty="0" smtClean="0"/>
              <a:t>Хук </a:t>
            </a:r>
            <a:r>
              <a:rPr lang="ru-RU" dirty="0"/>
              <a:t>WH_JOURNALRECORD является глобальным и не может быть установлен для отдельного потока.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29796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Хук WH_KEYBOARD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Windows</a:t>
            </a:r>
            <a:r>
              <a:rPr lang="ru-RU" dirty="0" smtClean="0"/>
              <a:t> </a:t>
            </a:r>
            <a:r>
              <a:rPr lang="ru-RU" dirty="0"/>
              <a:t>вызывает функцию этого хука, когда функция </a:t>
            </a:r>
            <a:r>
              <a:rPr lang="ru-RU" dirty="0" err="1"/>
              <a:t>GetMessage</a:t>
            </a:r>
            <a:r>
              <a:rPr lang="ru-RU" dirty="0"/>
              <a:t>() или </a:t>
            </a:r>
            <a:r>
              <a:rPr lang="ru-RU" dirty="0" err="1"/>
              <a:t>PeekMessage</a:t>
            </a:r>
            <a:r>
              <a:rPr lang="ru-RU" dirty="0"/>
              <a:t>() собирается извлечь из системной очереди сообщение WM_KEYDOWN или WM_KEYUP. </a:t>
            </a:r>
            <a:endParaRPr lang="ru-RU" dirty="0" smtClean="0"/>
          </a:p>
          <a:p>
            <a:r>
              <a:rPr lang="ru-RU" dirty="0" smtClean="0"/>
              <a:t>Данный </a:t>
            </a:r>
            <a:r>
              <a:rPr lang="ru-RU" dirty="0"/>
              <a:t>хук можно использовать для отслеживания сообщений от клавиатуры, которые помещаются в системную очередь сообщений.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18276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Хук WH_MOUSE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Windows</a:t>
            </a:r>
            <a:r>
              <a:rPr lang="ru-RU" dirty="0" smtClean="0"/>
              <a:t> </a:t>
            </a:r>
            <a:r>
              <a:rPr lang="ru-RU" dirty="0"/>
              <a:t>вызывает функцию этого хука, когда функция </a:t>
            </a:r>
            <a:r>
              <a:rPr lang="ru-RU" dirty="0" err="1"/>
              <a:t>GetMessage</a:t>
            </a:r>
            <a:r>
              <a:rPr lang="ru-RU" dirty="0"/>
              <a:t>() или </a:t>
            </a:r>
            <a:r>
              <a:rPr lang="ru-RU" dirty="0" err="1"/>
              <a:t>PeekMessage</a:t>
            </a:r>
            <a:r>
              <a:rPr lang="ru-RU" dirty="0"/>
              <a:t>() собирается извлечь из системной очереди сообщение от мыши. </a:t>
            </a:r>
            <a:endParaRPr lang="ru-RU" dirty="0" smtClean="0"/>
          </a:p>
          <a:p>
            <a:r>
              <a:rPr lang="ru-RU" dirty="0" smtClean="0"/>
              <a:t>Данный </a:t>
            </a:r>
            <a:r>
              <a:rPr lang="ru-RU" dirty="0"/>
              <a:t>хук можно использовать для отслеживания сообщений от мыши, которые помещаются в системную очередь сообщений.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88793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563072" cy="1371600"/>
          </a:xfrm>
        </p:spPr>
        <p:txBody>
          <a:bodyPr>
            <a:normAutofit/>
          </a:bodyPr>
          <a:lstStyle/>
          <a:p>
            <a:r>
              <a:rPr lang="ru-RU" b="1" dirty="0"/>
              <a:t>Хуки</a:t>
            </a:r>
            <a:r>
              <a:rPr lang="en-US" b="1" dirty="0"/>
              <a:t> WH_MSGFILTER </a:t>
            </a:r>
            <a:r>
              <a:rPr lang="ru-RU" b="1" dirty="0"/>
              <a:t>и</a:t>
            </a:r>
            <a:r>
              <a:rPr lang="en-US" b="1" dirty="0"/>
              <a:t> </a:t>
            </a:r>
            <a:r>
              <a:rPr lang="en-US" b="1" dirty="0" smtClean="0"/>
              <a:t>WH_SYSMSGFILTER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позволяют перехватывать сообщения, предназначенные для меню, полос прокрутки, окон сообщений (</a:t>
            </a:r>
            <a:r>
              <a:rPr lang="ru-RU" dirty="0" err="1"/>
              <a:t>message</a:t>
            </a:r>
            <a:r>
              <a:rPr lang="ru-RU" dirty="0"/>
              <a:t> </a:t>
            </a:r>
            <a:r>
              <a:rPr lang="ru-RU" dirty="0" err="1"/>
              <a:t>box</a:t>
            </a:r>
            <a:r>
              <a:rPr lang="ru-RU" dirty="0"/>
              <a:t>), диалоговых окон. </a:t>
            </a:r>
            <a:r>
              <a:rPr lang="ru-RU" dirty="0" smtClean="0"/>
              <a:t>Э</a:t>
            </a:r>
          </a:p>
          <a:p>
            <a:r>
              <a:rPr lang="ru-RU" dirty="0" err="1" smtClean="0"/>
              <a:t>ти</a:t>
            </a:r>
            <a:r>
              <a:rPr lang="ru-RU" dirty="0" smtClean="0"/>
              <a:t> </a:t>
            </a:r>
            <a:r>
              <a:rPr lang="ru-RU" dirty="0"/>
              <a:t>хуки также позволяют определять, когда система собирается активировать другое окно в результате нажатия пользователем клавиш ALT+TAB </a:t>
            </a:r>
            <a:r>
              <a:rPr lang="ru-RU" dirty="0" err="1"/>
              <a:t>or</a:t>
            </a:r>
            <a:r>
              <a:rPr lang="ru-RU" dirty="0"/>
              <a:t> ALT+ESC. </a:t>
            </a:r>
            <a:endParaRPr lang="ru-RU" dirty="0" smtClean="0"/>
          </a:p>
          <a:p>
            <a:r>
              <a:rPr lang="ru-RU" dirty="0" smtClean="0"/>
              <a:t>Хук </a:t>
            </a:r>
            <a:r>
              <a:rPr lang="ru-RU" dirty="0"/>
              <a:t>WH_MSGFILTER может контролировать только сообщения для меню, полос прокрутки окон сообщений и диалоговых окон, созданных самим приложением, установившим хук. </a:t>
            </a:r>
            <a:endParaRPr lang="ru-RU" dirty="0" smtClean="0"/>
          </a:p>
          <a:p>
            <a:r>
              <a:rPr lang="ru-RU" dirty="0" smtClean="0"/>
              <a:t>Хук </a:t>
            </a:r>
            <a:r>
              <a:rPr lang="ru-RU" dirty="0"/>
              <a:t>WH_SYSMSGFILTER контролирует подобные сообщения для всех приложений.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10285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Хук WH_SHELL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Windows</a:t>
            </a:r>
            <a:r>
              <a:rPr lang="ru-RU" dirty="0" smtClean="0"/>
              <a:t> </a:t>
            </a:r>
            <a:r>
              <a:rPr lang="ru-RU" dirty="0"/>
              <a:t>вызывает функцию хука WH_SHELL, когда система собирается активировать оболочку приложения, а также перед созданием или уничтожением окна верхнего уровня (</a:t>
            </a:r>
            <a:r>
              <a:rPr lang="ru-RU" dirty="0" err="1"/>
              <a:t>top-level</a:t>
            </a:r>
            <a:r>
              <a:rPr lang="ru-RU" dirty="0"/>
              <a:t> </a:t>
            </a:r>
            <a:r>
              <a:rPr lang="ru-RU" dirty="0" err="1"/>
              <a:t>window</a:t>
            </a:r>
            <a:r>
              <a:rPr lang="ru-RU" dirty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29597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ая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Главная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ая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162</TotalTime>
  <Words>2941</Words>
  <Application>Microsoft Office PowerPoint</Application>
  <PresentationFormat>Экран (4:3)</PresentationFormat>
  <Paragraphs>207</Paragraphs>
  <Slides>45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46" baseType="lpstr">
      <vt:lpstr>Главная</vt:lpstr>
      <vt:lpstr>прерывания</vt:lpstr>
      <vt:lpstr>Прерывание</vt:lpstr>
      <vt:lpstr>Механизм обработки прерываний:</vt:lpstr>
      <vt:lpstr>Функции механизма прерывания:</vt:lpstr>
      <vt:lpstr>Реакция на появление сигнала запроса прерывания</vt:lpstr>
      <vt:lpstr>Реакция на появление сигнала запроса прерывания</vt:lpstr>
      <vt:lpstr>Время реакции</vt:lpstr>
      <vt:lpstr>Классы прерываний</vt:lpstr>
      <vt:lpstr>Классы прерываний</vt:lpstr>
      <vt:lpstr>Внешние прерывания</vt:lpstr>
      <vt:lpstr>Типы внешних прерываний</vt:lpstr>
      <vt:lpstr>Внешние прерывания</vt:lpstr>
      <vt:lpstr>Аппаратные (внешние) прерывания</vt:lpstr>
      <vt:lpstr>Аппаратные (внешние) прерывания</vt:lpstr>
      <vt:lpstr>Программные (внутренние) прерывания</vt:lpstr>
      <vt:lpstr>Исключения (внутренние прерывания) </vt:lpstr>
      <vt:lpstr>Аппаратные и программные средства системы прерываний </vt:lpstr>
      <vt:lpstr>Программные средства системы прерываний </vt:lpstr>
      <vt:lpstr>Таблица векторов </vt:lpstr>
      <vt:lpstr>Таблица векторов</vt:lpstr>
      <vt:lpstr>Обработка прерываний в однозадачном режиме</vt:lpstr>
      <vt:lpstr>Работа системы прерываний в многозадачном режиме</vt:lpstr>
      <vt:lpstr>Классификация прерываний в многозадачном (защищенном) режиме</vt:lpstr>
      <vt:lpstr>СБОЙ (ошибка) </vt:lpstr>
      <vt:lpstr>Аварийное завершение</vt:lpstr>
      <vt:lpstr>Ловушка (hook)</vt:lpstr>
      <vt:lpstr>Ловушки (hook)</vt:lpstr>
      <vt:lpstr>Функция ловушки</vt:lpstr>
      <vt:lpstr>Функция ловушки</vt:lpstr>
      <vt:lpstr>Функция ловушки</vt:lpstr>
      <vt:lpstr>Функция ловушки</vt:lpstr>
      <vt:lpstr>Функция ловушки</vt:lpstr>
      <vt:lpstr>Хуки WH_CALLWNDPROC и WH_CALLWNDPROCRET</vt:lpstr>
      <vt:lpstr>Хук WH_CBT</vt:lpstr>
      <vt:lpstr>Хук WH_CBT</vt:lpstr>
      <vt:lpstr>Параметр nCode может принимать следующие значения: </vt:lpstr>
      <vt:lpstr>Хук WH_DEBUG</vt:lpstr>
      <vt:lpstr>Хук WH_FOREGROUNDIDLE</vt:lpstr>
      <vt:lpstr>Хук WH_GETMESSAGE</vt:lpstr>
      <vt:lpstr>Хук WH_JOURNALPLAYBACK</vt:lpstr>
      <vt:lpstr>Хук WH_JOURNALRECORD</vt:lpstr>
      <vt:lpstr>Хук WH_KEYBOARD</vt:lpstr>
      <vt:lpstr>Хук WH_MOUSE</vt:lpstr>
      <vt:lpstr>Хуки WH_MSGFILTER и WH_SYSMSGFILTER</vt:lpstr>
      <vt:lpstr>Хук WH_SHELL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прерывания</dc:title>
  <dc:creator>kate</dc:creator>
  <cp:lastModifiedBy>kate</cp:lastModifiedBy>
  <cp:revision>27</cp:revision>
  <dcterms:created xsi:type="dcterms:W3CDTF">2017-04-09T13:51:46Z</dcterms:created>
  <dcterms:modified xsi:type="dcterms:W3CDTF">2017-04-09T16:33:54Z</dcterms:modified>
</cp:coreProperties>
</file>