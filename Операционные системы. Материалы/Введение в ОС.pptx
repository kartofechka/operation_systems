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103"/>
  </p:notesMasterIdLst>
  <p:sldIdLst>
    <p:sldId id="256" r:id="rId2"/>
    <p:sldId id="257" r:id="rId3"/>
    <p:sldId id="258" r:id="rId4"/>
    <p:sldId id="369" r:id="rId5"/>
    <p:sldId id="370" r:id="rId6"/>
    <p:sldId id="263" r:id="rId7"/>
    <p:sldId id="340" r:id="rId8"/>
    <p:sldId id="264" r:id="rId9"/>
    <p:sldId id="259" r:id="rId10"/>
    <p:sldId id="260" r:id="rId11"/>
    <p:sldId id="262" r:id="rId12"/>
    <p:sldId id="265" r:id="rId13"/>
    <p:sldId id="266" r:id="rId14"/>
    <p:sldId id="342" r:id="rId15"/>
    <p:sldId id="267" r:id="rId16"/>
    <p:sldId id="345" r:id="rId17"/>
    <p:sldId id="344" r:id="rId18"/>
    <p:sldId id="346" r:id="rId19"/>
    <p:sldId id="277" r:id="rId20"/>
    <p:sldId id="341" r:id="rId21"/>
    <p:sldId id="279" r:id="rId22"/>
    <p:sldId id="278" r:id="rId23"/>
    <p:sldId id="347" r:id="rId24"/>
    <p:sldId id="282" r:id="rId25"/>
    <p:sldId id="348" r:id="rId26"/>
    <p:sldId id="285" r:id="rId27"/>
    <p:sldId id="284" r:id="rId28"/>
    <p:sldId id="363" r:id="rId29"/>
    <p:sldId id="283" r:id="rId30"/>
    <p:sldId id="281" r:id="rId31"/>
    <p:sldId id="349" r:id="rId32"/>
    <p:sldId id="287" r:id="rId33"/>
    <p:sldId id="288" r:id="rId34"/>
    <p:sldId id="292" r:id="rId35"/>
    <p:sldId id="350" r:id="rId36"/>
    <p:sldId id="351" r:id="rId37"/>
    <p:sldId id="289" r:id="rId38"/>
    <p:sldId id="293" r:id="rId39"/>
    <p:sldId id="290" r:id="rId40"/>
    <p:sldId id="294" r:id="rId41"/>
    <p:sldId id="291" r:id="rId42"/>
    <p:sldId id="274" r:id="rId43"/>
    <p:sldId id="352" r:id="rId44"/>
    <p:sldId id="353" r:id="rId45"/>
    <p:sldId id="354" r:id="rId46"/>
    <p:sldId id="296" r:id="rId47"/>
    <p:sldId id="301" r:id="rId48"/>
    <p:sldId id="355" r:id="rId49"/>
    <p:sldId id="303" r:id="rId50"/>
    <p:sldId id="304" r:id="rId51"/>
    <p:sldId id="305" r:id="rId52"/>
    <p:sldId id="356" r:id="rId53"/>
    <p:sldId id="297" r:id="rId54"/>
    <p:sldId id="357" r:id="rId55"/>
    <p:sldId id="358" r:id="rId56"/>
    <p:sldId id="359" r:id="rId57"/>
    <p:sldId id="298" r:id="rId58"/>
    <p:sldId id="360" r:id="rId59"/>
    <p:sldId id="299" r:id="rId60"/>
    <p:sldId id="364" r:id="rId61"/>
    <p:sldId id="361" r:id="rId62"/>
    <p:sldId id="362" r:id="rId63"/>
    <p:sldId id="300" r:id="rId64"/>
    <p:sldId id="306" r:id="rId65"/>
    <p:sldId id="307" r:id="rId66"/>
    <p:sldId id="308" r:id="rId67"/>
    <p:sldId id="309" r:id="rId68"/>
    <p:sldId id="310" r:id="rId69"/>
    <p:sldId id="365" r:id="rId70"/>
    <p:sldId id="311" r:id="rId71"/>
    <p:sldId id="312" r:id="rId72"/>
    <p:sldId id="313" r:id="rId73"/>
    <p:sldId id="314" r:id="rId74"/>
    <p:sldId id="315" r:id="rId75"/>
    <p:sldId id="316" r:id="rId76"/>
    <p:sldId id="317" r:id="rId77"/>
    <p:sldId id="318" r:id="rId78"/>
    <p:sldId id="319" r:id="rId79"/>
    <p:sldId id="320" r:id="rId80"/>
    <p:sldId id="321" r:id="rId81"/>
    <p:sldId id="322" r:id="rId82"/>
    <p:sldId id="323" r:id="rId83"/>
    <p:sldId id="366" r:id="rId84"/>
    <p:sldId id="324" r:id="rId85"/>
    <p:sldId id="325" r:id="rId86"/>
    <p:sldId id="326" r:id="rId87"/>
    <p:sldId id="327" r:id="rId88"/>
    <p:sldId id="328" r:id="rId89"/>
    <p:sldId id="329" r:id="rId90"/>
    <p:sldId id="330" r:id="rId91"/>
    <p:sldId id="331" r:id="rId92"/>
    <p:sldId id="332" r:id="rId93"/>
    <p:sldId id="333" r:id="rId94"/>
    <p:sldId id="334" r:id="rId95"/>
    <p:sldId id="335" r:id="rId96"/>
    <p:sldId id="336" r:id="rId97"/>
    <p:sldId id="367" r:id="rId98"/>
    <p:sldId id="368" r:id="rId99"/>
    <p:sldId id="337" r:id="rId100"/>
    <p:sldId id="338" r:id="rId101"/>
    <p:sldId id="339" r:id="rId102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660066"/>
    <a:srgbClr val="320032"/>
    <a:srgbClr val="1B311F"/>
    <a:srgbClr val="2E0F00"/>
    <a:srgbClr val="3E1F00"/>
    <a:srgbClr val="422C16"/>
    <a:srgbClr val="0C788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71253" autoAdjust="0"/>
  </p:normalViewPr>
  <p:slideViewPr>
    <p:cSldViewPr>
      <p:cViewPr varScale="1">
        <p:scale>
          <a:sx n="47" d="100"/>
          <a:sy n="47" d="100"/>
        </p:scale>
        <p:origin x="-210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D5270FA-E976-4774-9860-FB44DC6A9475}" type="datetimeFigureOut">
              <a:rPr lang="ru-RU"/>
              <a:pPr>
                <a:defRPr/>
              </a:pPr>
              <a:t>12.02.2022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7DADD22-92D5-4E74-8C93-E8FC6839717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конце курса вы поймете низкоуровневые детали компьютерного оборудования и современных ЦП</a:t>
            </a:r>
          </a:p>
          <a:p>
            <a:r>
              <a:rPr lang="ru-RU" dirty="0" smtClean="0"/>
              <a:t>Вы узнаете ключевые</a:t>
            </a:r>
            <a:r>
              <a:rPr lang="ru-RU" baseline="0" dirty="0" smtClean="0"/>
              <a:t> функции операционных систем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aseline="0" dirty="0" smtClean="0"/>
              <a:t>Управление вводом/выводом и памятью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aseline="0" dirty="0" smtClean="0"/>
              <a:t>Загрузкой программ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aseline="0" dirty="0" smtClean="0"/>
              <a:t>Планированием ЦП и изоляции процессов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baseline="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baseline="0" dirty="0" smtClean="0"/>
              <a:t>Вы узнаете, что проектирование систем это искусство, а не наука: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baseline="0" dirty="0" smtClean="0"/>
              <a:t> - построение систем это об управлении уступками (компромиссами)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ADD22-92D5-4E74-8C93-E8FC68397170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5862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lvl="1">
              <a:lnSpc>
                <a:spcPct val="90000"/>
              </a:lnSpc>
            </a:pPr>
            <a:r>
              <a:rPr lang="ru-RU" dirty="0" smtClean="0"/>
              <a:t>ОС, как </a:t>
            </a:r>
            <a:r>
              <a:rPr lang="ru-RU" i="1" dirty="0" smtClean="0"/>
              <a:t>постоянно функционирующее ядро</a:t>
            </a:r>
          </a:p>
          <a:p>
            <a:pPr lvl="2">
              <a:lnSpc>
                <a:spcPct val="90000"/>
              </a:lnSpc>
            </a:pPr>
            <a:r>
              <a:rPr lang="ru-RU" sz="3600" dirty="0" smtClean="0"/>
              <a:t>Постоянно работающая программа (или ее часть – ядро), взаимодействующая со всеми прикладными программами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b="1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b="1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 smtClean="0"/>
              <a:t>Не существует</a:t>
            </a:r>
            <a:r>
              <a:rPr lang="ru-RU" dirty="0" smtClean="0"/>
              <a:t> точного адекватного определения, что такое ОС. Проще сказать, для чего нужна ОС и что делает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ADD22-92D5-4E74-8C93-E8FC68397170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50222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12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ECA69C4-3182-41EB-B966-61AA9BDF500E}" type="slidenum">
              <a:rPr lang="ru-RU"/>
              <a:pPr/>
              <a:t>13</a:t>
            </a:fld>
            <a:endParaRPr lang="ru-RU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14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9D7D200-E57A-43CC-9D0A-E64AB9F64518}" type="slidenum">
              <a:rPr lang="ru-RU"/>
              <a:pPr/>
              <a:t>15</a:t>
            </a:fld>
            <a:endParaRPr lang="ru-RU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9D7D200-E57A-43CC-9D0A-E64AB9F64518}" type="slidenum">
              <a:rPr lang="ru-RU"/>
              <a:pPr/>
              <a:t>16</a:t>
            </a:fld>
            <a:endParaRPr lang="ru-RU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9D7D200-E57A-43CC-9D0A-E64AB9F64518}" type="slidenum">
              <a:rPr lang="ru-RU"/>
              <a:pPr/>
              <a:t>17</a:t>
            </a:fld>
            <a:endParaRPr lang="ru-RU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18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C1E97D7-0E55-4109-9368-A732661326E9}" type="slidenum">
              <a:rPr lang="ru-RU"/>
              <a:pPr/>
              <a:t>19</a:t>
            </a:fld>
            <a:endParaRPr lang="ru-RU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C1E97D7-0E55-4109-9368-A732661326E9}" type="slidenum">
              <a:rPr lang="ru-RU"/>
              <a:pPr/>
              <a:t>20</a:t>
            </a:fld>
            <a:endParaRPr lang="ru-RU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9CE7E7F-FC6B-4E16-A6A2-59ED7D3DC7B0}" type="slidenum">
              <a:rPr lang="ru-RU"/>
              <a:pPr/>
              <a:t>21</a:t>
            </a:fld>
            <a:endParaRPr lang="ru-RU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8499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46574E6-BB45-4911-95D1-91383E008AC3}" type="slidenum">
              <a:rPr lang="ru-RU"/>
              <a:pPr/>
              <a:t>22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23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968DFEF-43DF-409E-A6F5-00433FA9F2F8}" type="slidenum">
              <a:rPr lang="ru-RU"/>
              <a:pPr/>
              <a:t>24</a:t>
            </a:fld>
            <a:endParaRPr lang="ru-RU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F676680-9854-4740-9149-8EFD76F0EF02}" type="slidenum">
              <a:rPr lang="ru-RU"/>
              <a:pPr/>
              <a:t>25</a:t>
            </a:fld>
            <a:endParaRPr lang="ru-RU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B85737C-D373-456F-B265-728EAA8D2F38}" type="slidenum">
              <a:rPr lang="ru-RU"/>
              <a:pPr/>
              <a:t>26</a:t>
            </a:fld>
            <a:endParaRPr lang="ru-RU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16867BF-EEE6-4B36-9123-77BD435A2703}" type="slidenum">
              <a:rPr lang="ru-RU"/>
              <a:pPr/>
              <a:t>27</a:t>
            </a:fld>
            <a:endParaRPr lang="ru-RU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16867BF-EEE6-4B36-9123-77BD435A2703}" type="slidenum">
              <a:rPr lang="ru-RU"/>
              <a:pPr/>
              <a:t>28</a:t>
            </a:fld>
            <a:endParaRPr lang="ru-RU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3A4345C-1B80-4523-96C0-D88DEECCBDFB}" type="slidenum">
              <a:rPr lang="ru-RU"/>
              <a:pPr/>
              <a:t>29</a:t>
            </a:fld>
            <a:endParaRPr lang="ru-RU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8EBEACE-1996-4266-B3DE-03C7B4CD2EC6}" type="slidenum">
              <a:rPr lang="ru-RU"/>
              <a:pPr/>
              <a:t>30</a:t>
            </a:fld>
            <a:endParaRPr lang="ru-RU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8EBEACE-1996-4266-B3DE-03C7B4CD2EC6}" type="slidenum">
              <a:rPr lang="ru-RU"/>
              <a:pPr/>
              <a:t>31</a:t>
            </a:fld>
            <a:endParaRPr lang="ru-RU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2654DA2-3B1D-4AB9-87A0-E79A29A2EA73}" type="slidenum">
              <a:rPr lang="ru-RU"/>
              <a:pPr/>
              <a:t>32</a:t>
            </a:fld>
            <a:endParaRPr lang="ru-RU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51FD499-537A-488F-AAF9-5C4936363565}" type="slidenum">
              <a:rPr lang="ru-RU"/>
              <a:pPr/>
              <a:t>33</a:t>
            </a:fld>
            <a:endParaRPr lang="ru-RU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004ADE3-DE9B-4ACE-8ABD-D3A7E95D8D9B}" type="slidenum">
              <a:rPr lang="ru-RU"/>
              <a:pPr/>
              <a:t>34</a:t>
            </a:fld>
            <a:endParaRPr lang="ru-RU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004ADE3-DE9B-4ACE-8ABD-D3A7E95D8D9B}" type="slidenum">
              <a:rPr lang="ru-RU"/>
              <a:pPr/>
              <a:t>35</a:t>
            </a:fld>
            <a:endParaRPr lang="ru-RU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36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5870588-0212-4BF0-BBA9-838DB1E13397}" type="slidenum">
              <a:rPr lang="ru-RU"/>
              <a:pPr/>
              <a:t>37</a:t>
            </a:fld>
            <a:endParaRPr lang="ru-RU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EF4CB91-2987-424B-B299-39DDD686CF41}" type="slidenum">
              <a:rPr lang="ru-RU"/>
              <a:pPr/>
              <a:t>38</a:t>
            </a:fld>
            <a:endParaRPr lang="ru-RU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A9CE332-444D-4F87-8B6F-5C6A59A0F7A6}" type="slidenum">
              <a:rPr lang="ru-RU"/>
              <a:pPr/>
              <a:t>39</a:t>
            </a:fld>
            <a:endParaRPr lang="ru-RU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1F8D498-0C21-4D73-A289-BD9C38D9F8C0}" type="slidenum">
              <a:rPr lang="ru-RU"/>
              <a:pPr/>
              <a:t>40</a:t>
            </a:fld>
            <a:endParaRPr lang="ru-RU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9672EC5-0195-45A8-B4A7-5138922EBD7C}" type="slidenum">
              <a:rPr lang="ru-RU"/>
              <a:pPr/>
              <a:t>41</a:t>
            </a:fld>
            <a:endParaRPr lang="ru-RU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3F3EC22-9C79-413D-841F-F8BA87005F49}" type="slidenum">
              <a:rPr lang="ru-RU"/>
              <a:pPr/>
              <a:t>42</a:t>
            </a:fld>
            <a:endParaRPr lang="ru-RU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43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3F3EC22-9C79-413D-841F-F8BA87005F49}" type="slidenum">
              <a:rPr lang="ru-RU"/>
              <a:pPr/>
              <a:t>44</a:t>
            </a:fld>
            <a:endParaRPr lang="ru-RU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45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E63D5FD-1549-41CE-94B1-14BA6E638CCA}" type="slidenum">
              <a:rPr lang="ru-RU"/>
              <a:pPr/>
              <a:t>46</a:t>
            </a:fld>
            <a:endParaRPr lang="ru-RU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C21B611-866D-4120-A1F5-B5830D580FBF}" type="slidenum">
              <a:rPr lang="ru-RU"/>
              <a:pPr/>
              <a:t>47</a:t>
            </a:fld>
            <a:endParaRPr lang="ru-RU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C21B611-866D-4120-A1F5-B5830D580FBF}" type="slidenum">
              <a:rPr lang="ru-RU"/>
              <a:pPr/>
              <a:t>48</a:t>
            </a:fld>
            <a:endParaRPr lang="ru-RU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85BEDF0-B150-4C44-88D7-C33ED9FA0CCB}" type="slidenum">
              <a:rPr lang="ru-RU"/>
              <a:pPr/>
              <a:t>49</a:t>
            </a:fld>
            <a:endParaRPr lang="ru-RU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109094B-2F3E-4CC8-9A75-337E2FDC330E}" type="slidenum">
              <a:rPr lang="ru-RU"/>
              <a:pPr/>
              <a:t>50</a:t>
            </a:fld>
            <a:endParaRPr lang="ru-RU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A1A9DEF-DEFB-4CAE-B907-80BCF331837F}" type="slidenum">
              <a:rPr lang="ru-RU"/>
              <a:pPr/>
              <a:t>51</a:t>
            </a:fld>
            <a:endParaRPr lang="ru-RU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52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87C6550-24CE-4D05-B130-73F96238B4D1}" type="slidenum">
              <a:rPr lang="ru-RU"/>
              <a:pPr/>
              <a:t>53</a:t>
            </a:fld>
            <a:endParaRPr lang="ru-RU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87C6550-24CE-4D05-B130-73F96238B4D1}" type="slidenum">
              <a:rPr lang="ru-RU"/>
              <a:pPr/>
              <a:t>54</a:t>
            </a:fld>
            <a:endParaRPr lang="ru-RU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55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7449A8F-9FEC-4B08-B966-9FEFAC008978}" type="slidenum">
              <a:rPr lang="ru-RU"/>
              <a:pPr/>
              <a:t>56</a:t>
            </a:fld>
            <a:endParaRPr lang="ru-RU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7449A8F-9FEC-4B08-B966-9FEFAC008978}" type="slidenum">
              <a:rPr lang="ru-RU"/>
              <a:pPr/>
              <a:t>57</a:t>
            </a:fld>
            <a:endParaRPr lang="ru-RU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58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1B9376A-F3B8-49AD-BB11-224D06BACD74}" type="slidenum">
              <a:rPr lang="ru-RU"/>
              <a:pPr/>
              <a:t>59</a:t>
            </a:fld>
            <a:endParaRPr lang="ru-RU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1B9376A-F3B8-49AD-BB11-224D06BACD74}" type="slidenum">
              <a:rPr lang="ru-RU"/>
              <a:pPr/>
              <a:t>60</a:t>
            </a:fld>
            <a:endParaRPr lang="ru-RU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F4BBA8-BD1A-4C12-ADBE-BC6D9DEEC136}" type="slidenum">
              <a:rPr lang="ru-RU"/>
              <a:pPr/>
              <a:t>61</a:t>
            </a:fld>
            <a:endParaRPr lang="ru-RU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BE0DBBA-EE9E-4CD9-A7B6-2579FA64ADCB}" type="slidenum">
              <a:rPr lang="ru-RU"/>
              <a:pPr/>
              <a:t>62</a:t>
            </a:fld>
            <a:endParaRPr lang="ru-RU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BE0DBBA-EE9E-4CD9-A7B6-2579FA64ADCB}" type="slidenum">
              <a:rPr lang="ru-RU"/>
              <a:pPr/>
              <a:t>63</a:t>
            </a:fld>
            <a:endParaRPr lang="ru-RU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rgbClr val="C00000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FF6D6D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rgbClr val="FF6D6D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1505830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338878" y="1348816"/>
            <a:ext cx="8492480" cy="5032512"/>
          </a:xfrm>
        </p:spPr>
        <p:txBody>
          <a:bodyPr vert="horz">
            <a:normAutofit/>
          </a:bodyPr>
          <a:lstStyle>
            <a:lvl1pPr>
              <a:defRPr sz="3600" b="1"/>
            </a:lvl1pPr>
            <a:lvl2pPr>
              <a:defRPr sz="36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 dirty="0"/>
          </a:p>
        </p:txBody>
      </p:sp>
      <p:sp>
        <p:nvSpPr>
          <p:cNvPr id="11" name="Заголовок 10"/>
          <p:cNvSpPr>
            <a:spLocks noGrp="1"/>
          </p:cNvSpPr>
          <p:nvPr>
            <p:ph type="title"/>
          </p:nvPr>
        </p:nvSpPr>
        <p:spPr>
          <a:xfrm>
            <a:off x="539552" y="130622"/>
            <a:ext cx="8208912" cy="92211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60261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>
            <a:normAutofit/>
          </a:bodyPr>
          <a:lstStyle>
            <a:lvl1pPr algn="l">
              <a:buNone/>
              <a:defRPr sz="4800" b="1" cap="none">
                <a:solidFill>
                  <a:srgbClr val="C00000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FF6D6D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375168"/>
            <a:ext cx="9014621" cy="45720"/>
          </a:xfrm>
          <a:prstGeom prst="rect">
            <a:avLst/>
          </a:prstGeom>
          <a:solidFill>
            <a:srgbClr val="FF6D6D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901684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188640"/>
            <a:ext cx="7772400" cy="850106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C00000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67544" y="1340768"/>
            <a:ext cx="4032448" cy="4680520"/>
          </a:xfrm>
        </p:spPr>
        <p:txBody>
          <a:bodyPr vert="horz">
            <a:normAutofit/>
          </a:bodyPr>
          <a:lstStyle>
            <a:lvl1pPr>
              <a:defRPr sz="3200" b="1"/>
            </a:lvl1pPr>
            <a:lvl2pPr>
              <a:defRPr sz="32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 dirty="0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716016" y="1340768"/>
            <a:ext cx="4032448" cy="4680520"/>
          </a:xfrm>
        </p:spPr>
        <p:txBody>
          <a:bodyPr vert="horz">
            <a:normAutofit/>
          </a:bodyPr>
          <a:lstStyle>
            <a:lvl1pPr>
              <a:defRPr sz="3200" b="1"/>
            </a:lvl1pPr>
            <a:lvl2pPr>
              <a:defRPr sz="32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228249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9796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922114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611560" y="1124744"/>
            <a:ext cx="8064896" cy="72008"/>
            <a:chOff x="539552" y="908720"/>
            <a:chExt cx="8064896" cy="72008"/>
          </a:xfrm>
        </p:grpSpPr>
        <p:cxnSp>
          <p:nvCxnSpPr>
            <p:cNvPr id="7" name="Прямая соединительная линия 6"/>
            <p:cNvCxnSpPr/>
            <p:nvPr/>
          </p:nvCxnSpPr>
          <p:spPr>
            <a:xfrm>
              <a:off x="539552" y="908720"/>
              <a:ext cx="8064896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/>
            <p:nvPr/>
          </p:nvCxnSpPr>
          <p:spPr>
            <a:xfrm>
              <a:off x="539552" y="980728"/>
              <a:ext cx="4536504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017310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189690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3304445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xmlns="" val="192977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281161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 sz="3600" b="1"/>
            </a:lvl1pPr>
            <a:lvl2pPr>
              <a:spcBef>
                <a:spcPts val="0"/>
              </a:spcBef>
              <a:defRPr sz="3600"/>
            </a:lvl2pPr>
            <a:lvl3pPr>
              <a:spcBef>
                <a:spcPts val="0"/>
              </a:spcBef>
              <a:defRPr sz="32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63635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1400175"/>
            <a:ext cx="7315200" cy="581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1828800" y="2133600"/>
            <a:ext cx="3505200" cy="40386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486400" y="2133600"/>
            <a:ext cx="3505200" cy="40386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3485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208912" cy="922114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dirty="0" smtClean="0"/>
              <a:t>Образец заголовка</a:t>
            </a:r>
            <a:endParaRPr kumimoji="0" lang="en-US" dirty="0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23528" y="1340768"/>
            <a:ext cx="8424936" cy="468052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dirty="0" smtClean="0"/>
              <a:t>Образец текста</a:t>
            </a:r>
          </a:p>
          <a:p>
            <a:pPr lvl="1" eaLnBrk="1" latinLnBrk="0" hangingPunct="1"/>
            <a:r>
              <a:rPr kumimoji="0" lang="ru-RU" dirty="0" smtClean="0"/>
              <a:t>Второй уровень</a:t>
            </a:r>
          </a:p>
          <a:p>
            <a:pPr lvl="2" eaLnBrk="1" latinLnBrk="0" hangingPunct="1"/>
            <a:r>
              <a:rPr kumimoji="0" lang="ru-RU" dirty="0" smtClean="0"/>
              <a:t>Третий уровень</a:t>
            </a:r>
          </a:p>
          <a:p>
            <a:pPr lvl="3" eaLnBrk="1" latinLnBrk="0" hangingPunct="1"/>
            <a:r>
              <a:rPr kumimoji="0" lang="ru-RU" dirty="0" smtClean="0"/>
              <a:t>Четвертый уровень</a:t>
            </a:r>
          </a:p>
          <a:p>
            <a:pPr lvl="4" eaLnBrk="1" latinLnBrk="0" hangingPunct="1"/>
            <a:r>
              <a:rPr kumimoji="0" lang="ru-RU" dirty="0" smtClean="0"/>
              <a:t>Пятый уровень</a:t>
            </a:r>
            <a:endParaRPr kumimoji="0" lang="en-US" dirty="0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5CD76569-45F4-4521-98B9-1DFCE977F689}" type="slidenum">
              <a:rPr lang="es-ES" smtClean="0"/>
              <a:pPr>
                <a:defRPr/>
              </a:pPr>
              <a:t>‹#›</a:t>
            </a:fld>
            <a:endParaRPr lang="es-ES" dirty="0"/>
          </a:p>
        </p:txBody>
      </p:sp>
      <p:grpSp>
        <p:nvGrpSpPr>
          <p:cNvPr id="2" name="Группа 9"/>
          <p:cNvGrpSpPr/>
          <p:nvPr/>
        </p:nvGrpSpPr>
        <p:grpSpPr>
          <a:xfrm>
            <a:off x="611560" y="1124744"/>
            <a:ext cx="8064896" cy="72008"/>
            <a:chOff x="539552" y="908720"/>
            <a:chExt cx="8064896" cy="72008"/>
          </a:xfrm>
        </p:grpSpPr>
        <p:cxnSp>
          <p:nvCxnSpPr>
            <p:cNvPr id="11" name="Прямая соединительная линия 10"/>
            <p:cNvCxnSpPr/>
            <p:nvPr/>
          </p:nvCxnSpPr>
          <p:spPr>
            <a:xfrm>
              <a:off x="539552" y="908720"/>
              <a:ext cx="8064896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/>
            <p:nvPr/>
          </p:nvCxnSpPr>
          <p:spPr>
            <a:xfrm>
              <a:off x="539552" y="980728"/>
              <a:ext cx="4536504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65196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3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3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3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3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32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70"/>
          <p:cNvSpPr>
            <a:spLocks noGrp="1" noChangeArrowheads="1"/>
          </p:cNvSpPr>
          <p:nvPr>
            <p:ph type="ctrTitle"/>
          </p:nvPr>
        </p:nvSpPr>
        <p:spPr>
          <a:xfrm>
            <a:off x="1187624" y="1700808"/>
            <a:ext cx="6912768" cy="1038225"/>
          </a:xfrm>
        </p:spPr>
        <p:txBody>
          <a:bodyPr>
            <a:noAutofit/>
          </a:bodyPr>
          <a:lstStyle/>
          <a:p>
            <a:pPr algn="l" eaLnBrk="1" hangingPunct="1"/>
            <a:r>
              <a:rPr lang="ru-RU" altLang="en-US" b="1" smtClean="0">
                <a:solidFill>
                  <a:schemeClr val="bg1"/>
                </a:solidFill>
              </a:rPr>
              <a:t>Тема </a:t>
            </a:r>
            <a:r>
              <a:rPr lang="ru-RU" altLang="en-US" b="1" dirty="0" smtClean="0">
                <a:solidFill>
                  <a:schemeClr val="bg1"/>
                </a:solidFill>
              </a:rPr>
              <a:t>1. Введение</a:t>
            </a:r>
            <a:endParaRPr lang="es-ES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4099" name="Rectangle 170"/>
          <p:cNvSpPr txBox="1">
            <a:spLocks noChangeArrowheads="1"/>
          </p:cNvSpPr>
          <p:nvPr/>
        </p:nvSpPr>
        <p:spPr bwMode="auto">
          <a:xfrm>
            <a:off x="715963" y="5335588"/>
            <a:ext cx="4864100" cy="97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ru-RU" altLang="en-US" sz="2000" b="1">
                <a:solidFill>
                  <a:srgbClr val="660066"/>
                </a:solidFill>
              </a:rPr>
              <a:t>Операционные системы</a:t>
            </a:r>
            <a:endParaRPr lang="es-ES" altLang="en-US" sz="2000" b="1">
              <a:solidFill>
                <a:srgbClr val="66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624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en-US" b="1" dirty="0" smtClean="0">
                <a:solidFill>
                  <a:schemeClr val="tx1"/>
                </a:solidFill>
              </a:rPr>
              <a:t>Список литературы</a:t>
            </a:r>
            <a:endParaRPr lang="en-US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323155" y="1268760"/>
            <a:ext cx="8569325" cy="4895850"/>
          </a:xfrm>
          <a:ln w="19050"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ru-RU" sz="3200" b="1" dirty="0" err="1" smtClean="0">
                <a:solidFill>
                  <a:schemeClr val="accent6">
                    <a:lumMod val="75000"/>
                  </a:schemeClr>
                </a:solidFill>
              </a:rPr>
              <a:t>Э.Таненбаум</a:t>
            </a:r>
            <a:endParaRPr lang="ru-RU" sz="32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Tx/>
              <a:buNone/>
              <a:defRPr/>
            </a:pPr>
            <a:r>
              <a:rPr lang="ru-RU" sz="3200" dirty="0" smtClean="0"/>
              <a:t>    </a:t>
            </a:r>
            <a:r>
              <a:rPr lang="ru-RU" sz="3200" i="1" dirty="0" smtClean="0"/>
              <a:t>Современные операционные системы</a:t>
            </a:r>
          </a:p>
          <a:p>
            <a:pPr>
              <a:buFontTx/>
              <a:buNone/>
              <a:defRPr/>
            </a:pPr>
            <a:r>
              <a:rPr lang="ru-RU" sz="3200" i="1" dirty="0" smtClean="0"/>
              <a:t>    </a:t>
            </a:r>
            <a:r>
              <a:rPr lang="ru-RU" sz="3200" dirty="0" smtClean="0">
                <a:solidFill>
                  <a:schemeClr val="accent6">
                    <a:lumMod val="75000"/>
                  </a:schemeClr>
                </a:solidFill>
              </a:rPr>
              <a:t>Питер, СПб., 3-изд., 2010</a:t>
            </a:r>
          </a:p>
          <a:p>
            <a:pPr>
              <a:defRPr/>
            </a:pPr>
            <a:endParaRPr lang="ru-RU" sz="1050" dirty="0" smtClean="0"/>
          </a:p>
          <a:p>
            <a:pPr>
              <a:buFont typeface="Arial" pitchFamily="34" charset="0"/>
              <a:buChar char="•"/>
              <a:defRPr/>
            </a:pPr>
            <a:r>
              <a:rPr lang="ru-RU" sz="32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sz="3200" b="1" dirty="0" smtClean="0">
                <a:solidFill>
                  <a:schemeClr val="accent6">
                    <a:lumMod val="75000"/>
                  </a:schemeClr>
                </a:solidFill>
              </a:rPr>
              <a:t>Д. В. </a:t>
            </a:r>
            <a:r>
              <a:rPr lang="ru-RU" sz="3200" b="1" dirty="0" err="1" smtClean="0">
                <a:solidFill>
                  <a:schemeClr val="accent6">
                    <a:lumMod val="75000"/>
                  </a:schemeClr>
                </a:solidFill>
              </a:rPr>
              <a:t>Иртегов</a:t>
            </a:r>
            <a:endParaRPr lang="ru-RU" sz="32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Tx/>
              <a:buNone/>
              <a:defRPr/>
            </a:pPr>
            <a:r>
              <a:rPr lang="ru-RU" sz="3200" dirty="0" smtClean="0"/>
              <a:t>     </a:t>
            </a:r>
            <a:r>
              <a:rPr lang="ru-RU" sz="3200" i="1" dirty="0" smtClean="0"/>
              <a:t>Введение в операционные системы</a:t>
            </a:r>
          </a:p>
          <a:p>
            <a:pPr>
              <a:buFontTx/>
              <a:buNone/>
              <a:defRPr/>
            </a:pPr>
            <a:r>
              <a:rPr lang="ru-RU" sz="3200" dirty="0" smtClean="0">
                <a:solidFill>
                  <a:schemeClr val="accent6">
                    <a:lumMod val="75000"/>
                  </a:schemeClr>
                </a:solidFill>
              </a:rPr>
              <a:t>     </a:t>
            </a:r>
            <a:r>
              <a:rPr lang="ru-RU" sz="3200" dirty="0" err="1" smtClean="0">
                <a:solidFill>
                  <a:schemeClr val="accent6">
                    <a:lumMod val="75000"/>
                  </a:schemeClr>
                </a:solidFill>
              </a:rPr>
              <a:t>БХВ-Петербург</a:t>
            </a:r>
            <a:r>
              <a:rPr lang="ru-RU" sz="3200" dirty="0" smtClean="0">
                <a:solidFill>
                  <a:schemeClr val="accent6">
                    <a:lumMod val="75000"/>
                  </a:schemeClr>
                </a:solidFill>
              </a:rPr>
              <a:t>, СПб., 2-е изд., 2008</a:t>
            </a:r>
          </a:p>
          <a:p>
            <a:pPr>
              <a:defRPr/>
            </a:pPr>
            <a:endParaRPr lang="ru-RU" sz="1400" i="1" dirty="0" smtClean="0"/>
          </a:p>
          <a:p>
            <a:pPr>
              <a:buFont typeface="Arial" pitchFamily="34" charset="0"/>
              <a:buChar char="•"/>
              <a:defRPr/>
            </a:pPr>
            <a:r>
              <a:rPr lang="ru-RU" sz="32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sz="3200" b="1" dirty="0" smtClean="0">
                <a:solidFill>
                  <a:schemeClr val="accent6">
                    <a:lumMod val="75000"/>
                  </a:schemeClr>
                </a:solidFill>
              </a:rPr>
              <a:t>В. </a:t>
            </a:r>
            <a:r>
              <a:rPr lang="ru-RU" sz="3200" b="1" dirty="0" err="1" smtClean="0">
                <a:solidFill>
                  <a:schemeClr val="accent6">
                    <a:lumMod val="75000"/>
                  </a:schemeClr>
                </a:solidFill>
              </a:rPr>
              <a:t>Столлингс</a:t>
            </a:r>
            <a:endParaRPr lang="ru-RU" sz="32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Tx/>
              <a:buNone/>
              <a:defRPr/>
            </a:pPr>
            <a:r>
              <a:rPr lang="ru-RU" sz="3200" i="1" dirty="0" smtClean="0"/>
              <a:t>     Операционные системы</a:t>
            </a:r>
          </a:p>
          <a:p>
            <a:pPr>
              <a:buFontTx/>
              <a:buNone/>
              <a:defRPr/>
            </a:pPr>
            <a:r>
              <a:rPr lang="ru-RU" sz="3200" dirty="0" smtClean="0">
                <a:solidFill>
                  <a:schemeClr val="accent6">
                    <a:lumMod val="75000"/>
                  </a:schemeClr>
                </a:solidFill>
              </a:rPr>
              <a:t>      Вильямс, М., 4-е изд., 2004</a:t>
            </a:r>
            <a:endParaRPr lang="ru-RU" sz="3200" i="1" dirty="0" smtClean="0"/>
          </a:p>
          <a:p>
            <a:pPr eaLnBrk="1" hangingPunct="1">
              <a:defRPr/>
            </a:pPr>
            <a:endParaRPr lang="en-US" alt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27384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en-US" b="1" dirty="0" smtClean="0">
                <a:solidFill>
                  <a:schemeClr val="tx1"/>
                </a:solidFill>
              </a:rPr>
              <a:t>Список литературы</a:t>
            </a:r>
            <a:endParaRPr lang="en-US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412875"/>
            <a:ext cx="8569325" cy="4895850"/>
          </a:xfrm>
          <a:ln w="19050"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2600" b="1" dirty="0" smtClean="0">
                <a:solidFill>
                  <a:schemeClr val="accent6">
                    <a:lumMod val="75000"/>
                  </a:schemeClr>
                </a:solidFill>
              </a:rPr>
              <a:t>А. А. </a:t>
            </a:r>
            <a:r>
              <a:rPr lang="ru-RU" sz="2600" b="1" dirty="0" err="1" smtClean="0">
                <a:solidFill>
                  <a:schemeClr val="accent6">
                    <a:lumMod val="75000"/>
                  </a:schemeClr>
                </a:solidFill>
              </a:rPr>
              <a:t>Стахнов</a:t>
            </a:r>
            <a:endParaRPr lang="ru-RU" sz="26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Tx/>
              <a:buNone/>
              <a:defRPr/>
            </a:pPr>
            <a:r>
              <a:rPr lang="ru-RU" sz="2800" dirty="0" smtClean="0"/>
              <a:t>    </a:t>
            </a:r>
            <a:r>
              <a:rPr lang="ru-RU" sz="2600" i="1" dirty="0" err="1" smtClean="0"/>
              <a:t>Linux</a:t>
            </a:r>
            <a:endParaRPr lang="ru-RU" sz="2600" i="1" dirty="0" smtClean="0"/>
          </a:p>
          <a:p>
            <a:pPr>
              <a:buFontTx/>
              <a:buNone/>
              <a:defRPr/>
            </a:pPr>
            <a:r>
              <a:rPr lang="ru-RU" sz="2800" dirty="0" smtClean="0"/>
              <a:t>    </a:t>
            </a:r>
            <a:r>
              <a:rPr lang="ru-RU" sz="2600" dirty="0" smtClean="0">
                <a:solidFill>
                  <a:schemeClr val="accent6">
                    <a:lumMod val="75000"/>
                  </a:schemeClr>
                </a:solidFill>
              </a:rPr>
              <a:t>СПб.: </a:t>
            </a:r>
            <a:r>
              <a:rPr lang="ru-RU" sz="2600" dirty="0" err="1" smtClean="0">
                <a:solidFill>
                  <a:schemeClr val="accent6">
                    <a:lumMod val="75000"/>
                  </a:schemeClr>
                </a:solidFill>
              </a:rPr>
              <a:t>БХВ-Петербург</a:t>
            </a:r>
            <a:r>
              <a:rPr lang="ru-RU" sz="2600" dirty="0" smtClean="0">
                <a:solidFill>
                  <a:schemeClr val="accent6">
                    <a:lumMod val="75000"/>
                  </a:schemeClr>
                </a:solidFill>
              </a:rPr>
              <a:t>, 2-е изд., 2007 </a:t>
            </a:r>
          </a:p>
          <a:p>
            <a:pPr>
              <a:buFontTx/>
              <a:buNone/>
              <a:defRPr/>
            </a:pPr>
            <a:endParaRPr lang="ru-RU" sz="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r>
              <a:rPr lang="ru-RU" sz="2600" b="1" dirty="0" smtClean="0">
                <a:solidFill>
                  <a:schemeClr val="accent6">
                    <a:lumMod val="75000"/>
                  </a:schemeClr>
                </a:solidFill>
              </a:rPr>
              <a:t>Т. Л. </a:t>
            </a:r>
            <a:r>
              <a:rPr lang="ru-RU" sz="2600" b="1" dirty="0" err="1" smtClean="0">
                <a:solidFill>
                  <a:schemeClr val="accent6">
                    <a:lumMod val="75000"/>
                  </a:schemeClr>
                </a:solidFill>
              </a:rPr>
              <a:t>Партыка</a:t>
            </a:r>
            <a:endParaRPr lang="ru-RU" sz="26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Tx/>
              <a:buNone/>
              <a:defRPr/>
            </a:pPr>
            <a:r>
              <a:rPr lang="ru-RU" sz="2800" dirty="0" smtClean="0"/>
              <a:t>    </a:t>
            </a:r>
            <a:r>
              <a:rPr lang="ru-RU" sz="2600" i="1" dirty="0" smtClean="0"/>
              <a:t>Операционные системы, среды и оболочки:</a:t>
            </a:r>
          </a:p>
          <a:p>
            <a:pPr>
              <a:buFontTx/>
              <a:buNone/>
              <a:defRPr/>
            </a:pPr>
            <a:r>
              <a:rPr lang="ru-RU" sz="2800" dirty="0" smtClean="0"/>
              <a:t>    </a:t>
            </a:r>
            <a:r>
              <a:rPr lang="ru-RU" sz="2600" dirty="0" smtClean="0">
                <a:solidFill>
                  <a:schemeClr val="accent6">
                    <a:lumMod val="75000"/>
                  </a:schemeClr>
                </a:solidFill>
              </a:rPr>
              <a:t>М.: ФОРУМ-ИНФРА-М, 2004</a:t>
            </a:r>
          </a:p>
          <a:p>
            <a:pPr>
              <a:buFontTx/>
              <a:buNone/>
              <a:defRPr/>
            </a:pPr>
            <a:endParaRPr lang="ru-RU" sz="1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ru-RU" sz="2600" b="1" dirty="0" smtClean="0">
                <a:solidFill>
                  <a:schemeClr val="accent6">
                    <a:lumMod val="75000"/>
                  </a:schemeClr>
                </a:solidFill>
              </a:rPr>
              <a:t>В.О</a:t>
            </a:r>
            <a:r>
              <a:rPr lang="ru-RU" sz="2800" dirty="0" smtClean="0"/>
              <a:t>. </a:t>
            </a:r>
            <a:r>
              <a:rPr lang="ru-RU" sz="2600" b="1" dirty="0" smtClean="0">
                <a:solidFill>
                  <a:schemeClr val="accent6">
                    <a:lumMod val="75000"/>
                  </a:schemeClr>
                </a:solidFill>
              </a:rPr>
              <a:t>Сафонов </a:t>
            </a:r>
          </a:p>
          <a:p>
            <a:pPr eaLnBrk="1" hangingPunct="1">
              <a:buFontTx/>
              <a:buNone/>
              <a:defRPr/>
            </a:pPr>
            <a:r>
              <a:rPr lang="ru-RU" sz="2600" b="1" dirty="0" smtClean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ru-RU" sz="2600" i="1" dirty="0" smtClean="0"/>
              <a:t>Основы современных операционных систем:</a:t>
            </a:r>
            <a:r>
              <a:rPr lang="ru-RU" sz="2600" dirty="0" smtClean="0"/>
              <a:t> учеб. пособие для вузов</a:t>
            </a:r>
          </a:p>
          <a:p>
            <a:pPr eaLnBrk="1" hangingPunct="1">
              <a:buFontTx/>
              <a:buNone/>
              <a:defRPr/>
            </a:pPr>
            <a:r>
              <a:rPr lang="ru-RU" sz="2600" dirty="0" smtClean="0"/>
              <a:t>   </a:t>
            </a:r>
            <a:r>
              <a:rPr lang="ru-RU" sz="2600" dirty="0" smtClean="0">
                <a:solidFill>
                  <a:schemeClr val="accent6">
                    <a:lumMod val="75000"/>
                  </a:schemeClr>
                </a:solidFill>
              </a:rPr>
              <a:t>М.: "ИНТУИТ", 2011</a:t>
            </a:r>
            <a:endParaRPr lang="en-US" alt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Компьютеры повсюду</a:t>
            </a:r>
          </a:p>
          <a:p>
            <a:pPr lvl="1"/>
            <a:r>
              <a:rPr lang="ru-RU" dirty="0" smtClean="0"/>
              <a:t>в вашем кармане</a:t>
            </a:r>
          </a:p>
          <a:p>
            <a:pPr lvl="1"/>
            <a:r>
              <a:rPr lang="ru-RU" dirty="0" smtClean="0"/>
              <a:t>в вашей микроволновой печи</a:t>
            </a:r>
          </a:p>
          <a:p>
            <a:pPr lvl="1"/>
            <a:r>
              <a:rPr lang="ru-RU" dirty="0" smtClean="0"/>
              <a:t>в космосе</a:t>
            </a:r>
          </a:p>
          <a:p>
            <a:r>
              <a:rPr lang="ru-RU" dirty="0" smtClean="0"/>
              <a:t>У нас есть оборудование и возможности ОС, позволяющие:</a:t>
            </a:r>
          </a:p>
          <a:p>
            <a:pPr lvl="1"/>
            <a:r>
              <a:rPr lang="ru-RU" dirty="0" smtClean="0"/>
              <a:t>Запускать программы двойным щелчком мыши</a:t>
            </a:r>
          </a:p>
          <a:p>
            <a:pPr lvl="1"/>
            <a:r>
              <a:rPr lang="ru-RU" dirty="0" smtClean="0"/>
              <a:t>работать устройствам</a:t>
            </a:r>
          </a:p>
          <a:p>
            <a:pPr lvl="1"/>
            <a:r>
              <a:rPr lang="ru-RU" dirty="0" smtClean="0"/>
              <a:t>Неправильно работающие приложения не могут сломать машину</a:t>
            </a:r>
          </a:p>
          <a:p>
            <a:r>
              <a:rPr lang="ru-RU" dirty="0" smtClean="0"/>
              <a:t>Но очень немногие люди действительно понимают как на самом деле работают компьютеры на низком уровне.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445392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Фундаментальное понимание об оборудовании ПК и ОС</a:t>
            </a:r>
          </a:p>
          <a:p>
            <a:pPr lvl="1"/>
            <a:r>
              <a:rPr lang="ru-RU" dirty="0" smtClean="0"/>
              <a:t>с момента загрузки</a:t>
            </a:r>
          </a:p>
          <a:p>
            <a:pPr lvl="1"/>
            <a:r>
              <a:rPr lang="ru-RU" dirty="0" smtClean="0"/>
              <a:t>… до управления устройствами и памятью</a:t>
            </a:r>
          </a:p>
          <a:p>
            <a:pPr lvl="1"/>
            <a:r>
              <a:rPr lang="ru-RU" dirty="0" smtClean="0"/>
              <a:t>… запуска комплексных многопоточных приложений</a:t>
            </a:r>
          </a:p>
          <a:p>
            <a:r>
              <a:rPr lang="ru-RU" dirty="0" smtClean="0"/>
              <a:t>Фокус на обеспечении и системах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231064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188640"/>
            <a:ext cx="912495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3775"/>
          </a:xfrm>
        </p:spPr>
        <p:txBody>
          <a:bodyPr/>
          <a:lstStyle/>
          <a:p>
            <a:r>
              <a:rPr lang="ru-RU" b="1" smtClean="0"/>
              <a:t>Предмет изучения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96752"/>
            <a:ext cx="8640762" cy="452596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ru-RU" altLang="en-US" b="1" dirty="0" smtClean="0">
                <a:solidFill>
                  <a:schemeClr val="accent2"/>
                </a:solidFill>
              </a:rPr>
              <a:t>Основные точки зрения:</a:t>
            </a:r>
          </a:p>
          <a:p>
            <a:pPr lvl="1">
              <a:lnSpc>
                <a:spcPct val="90000"/>
              </a:lnSpc>
            </a:pPr>
            <a:r>
              <a:rPr lang="ru-RU" dirty="0" smtClean="0"/>
              <a:t>ОС, как </a:t>
            </a:r>
            <a:r>
              <a:rPr lang="ru-RU" i="1" dirty="0" smtClean="0"/>
              <a:t>виртуальная машина</a:t>
            </a:r>
          </a:p>
          <a:p>
            <a:pPr lvl="2">
              <a:lnSpc>
                <a:spcPct val="90000"/>
              </a:lnSpc>
            </a:pPr>
            <a:r>
              <a:rPr lang="ru-RU" sz="3600" dirty="0" smtClean="0"/>
              <a:t>С помощью простых и ясных абстракций от программиста скрываются физические подробности работы компьютера</a:t>
            </a:r>
          </a:p>
          <a:p>
            <a:pPr lvl="1">
              <a:lnSpc>
                <a:spcPct val="90000"/>
              </a:lnSpc>
            </a:pPr>
            <a:r>
              <a:rPr lang="ru-RU" dirty="0" smtClean="0"/>
              <a:t>ОС, как </a:t>
            </a:r>
            <a:r>
              <a:rPr lang="ru-RU" i="1" dirty="0" smtClean="0"/>
              <a:t>менеджер ресурсов</a:t>
            </a:r>
          </a:p>
          <a:p>
            <a:pPr lvl="2">
              <a:lnSpc>
                <a:spcPct val="90000"/>
              </a:lnSpc>
            </a:pPr>
            <a:r>
              <a:rPr lang="ru-RU" sz="3600" dirty="0" smtClean="0"/>
              <a:t>Осуществляет упорядоченное и контролируемое распределение процессорного времени, памяти и др. между программами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3775"/>
          </a:xfrm>
        </p:spPr>
        <p:txBody>
          <a:bodyPr/>
          <a:lstStyle/>
          <a:p>
            <a:r>
              <a:rPr lang="ru-RU" b="1" smtClean="0"/>
              <a:t>Предмет изучения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4016" y="1351310"/>
            <a:ext cx="8820472" cy="4525962"/>
          </a:xfrm>
        </p:spPr>
        <p:txBody>
          <a:bodyPr>
            <a:noAutofit/>
          </a:bodyPr>
          <a:lstStyle/>
          <a:p>
            <a:r>
              <a:rPr lang="ru-RU" altLang="en-US" b="1" dirty="0" smtClean="0">
                <a:solidFill>
                  <a:schemeClr val="accent2"/>
                </a:solidFill>
              </a:rPr>
              <a:t>Основные точки зрения:</a:t>
            </a:r>
          </a:p>
          <a:p>
            <a:pPr lvl="1"/>
            <a:r>
              <a:rPr lang="ru-RU" dirty="0"/>
              <a:t>ОС, как </a:t>
            </a:r>
            <a:r>
              <a:rPr lang="ru-RU" i="1" dirty="0"/>
              <a:t>защитник пользователей и программ</a:t>
            </a:r>
          </a:p>
          <a:p>
            <a:pPr lvl="2"/>
            <a:r>
              <a:rPr lang="ru-RU" sz="3600" dirty="0"/>
              <a:t>Обеспечивает сохранность данных каждого пользователя и изолирует их выполняющиеся приложения друг от друга  </a:t>
            </a:r>
          </a:p>
          <a:p>
            <a:pPr lvl="1"/>
            <a:r>
              <a:rPr lang="ru-RU" dirty="0" smtClean="0"/>
              <a:t>ОС, как </a:t>
            </a:r>
            <a:r>
              <a:rPr lang="ru-RU" i="1" dirty="0" smtClean="0"/>
              <a:t>постоянно функционирующее ядро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6632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en-US" b="1" dirty="0" smtClean="0">
                <a:solidFill>
                  <a:schemeClr val="tx1"/>
                </a:solidFill>
              </a:rPr>
              <a:t>Предмет изучения</a:t>
            </a:r>
            <a:endParaRPr lang="en-US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251147" y="1268760"/>
            <a:ext cx="8892853" cy="5472608"/>
          </a:xfrm>
          <a:ln w="19050"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pPr marL="622300" indent="-622300">
              <a:spcBef>
                <a:spcPts val="0"/>
              </a:spcBef>
              <a:buFontTx/>
              <a:buNone/>
              <a:tabLst>
                <a:tab pos="450850" algn="l"/>
                <a:tab pos="1249363" algn="l"/>
              </a:tabLst>
              <a:defRPr/>
            </a:pPr>
            <a:r>
              <a:rPr lang="ru-RU" altLang="en-US" sz="3600" b="1" dirty="0" smtClean="0">
                <a:solidFill>
                  <a:schemeClr val="accent2"/>
                </a:solidFill>
              </a:rPr>
              <a:t>Операционная система</a:t>
            </a:r>
            <a:r>
              <a:rPr lang="ru-RU" altLang="en-US" sz="3600" dirty="0" smtClean="0"/>
              <a:t>: </a:t>
            </a:r>
            <a:r>
              <a:rPr lang="en-US" altLang="en-US" sz="3600" dirty="0" smtClean="0"/>
              <a:t>(Operating System)</a:t>
            </a:r>
            <a:r>
              <a:rPr lang="ru-RU" altLang="en-US" sz="3600" dirty="0" smtClean="0"/>
              <a:t> – ПО, управляющее </a:t>
            </a:r>
            <a:r>
              <a:rPr lang="ru-RU" altLang="en-US" sz="3600" dirty="0" smtClean="0">
                <a:solidFill>
                  <a:srgbClr val="FF0000"/>
                </a:solidFill>
              </a:rPr>
              <a:t>ресурсами</a:t>
            </a:r>
            <a:r>
              <a:rPr lang="ru-RU" altLang="en-US" sz="3600" dirty="0" smtClean="0"/>
              <a:t> </a:t>
            </a:r>
            <a:r>
              <a:rPr lang="ru-RU" altLang="en-US" sz="3600" dirty="0" smtClean="0">
                <a:solidFill>
                  <a:srgbClr val="FF0000"/>
                </a:solidFill>
              </a:rPr>
              <a:t>аппаратного обеспечения </a:t>
            </a:r>
            <a:r>
              <a:rPr lang="ru-RU" altLang="en-US" sz="3600" dirty="0" smtClean="0"/>
              <a:t>вычислительного устройства и предоставляющее общие услуги для исполнения </a:t>
            </a:r>
            <a:r>
              <a:rPr lang="ru-RU" altLang="en-US" sz="3600" dirty="0" smtClean="0">
                <a:solidFill>
                  <a:srgbClr val="FF0000"/>
                </a:solidFill>
              </a:rPr>
              <a:t>прикладных программ</a:t>
            </a:r>
            <a:r>
              <a:rPr lang="ru-RU" altLang="en-US" sz="3600" dirty="0" smtClean="0"/>
              <a:t>.</a:t>
            </a:r>
          </a:p>
          <a:p>
            <a:pPr marL="890588" indent="-890588">
              <a:spcBef>
                <a:spcPts val="0"/>
              </a:spcBef>
              <a:buFontTx/>
              <a:buNone/>
              <a:tabLst>
                <a:tab pos="450850" algn="l"/>
                <a:tab pos="1249363" algn="l"/>
              </a:tabLst>
              <a:defRPr/>
            </a:pPr>
            <a:r>
              <a:rPr lang="ru-RU" altLang="en-US" sz="3600" b="1" dirty="0" smtClean="0">
                <a:solidFill>
                  <a:schemeClr val="accent2"/>
                </a:solidFill>
              </a:rPr>
              <a:t>Основные особенности</a:t>
            </a:r>
          </a:p>
          <a:p>
            <a:pPr marL="890588" indent="-890588">
              <a:spcBef>
                <a:spcPts val="0"/>
              </a:spcBef>
              <a:tabLst>
                <a:tab pos="450850" algn="l"/>
                <a:tab pos="1249363" algn="l"/>
              </a:tabLst>
              <a:defRPr/>
            </a:pPr>
            <a:r>
              <a:rPr lang="ru-RU" altLang="en-US" sz="3600" dirty="0" smtClean="0"/>
              <a:t>большой объём</a:t>
            </a:r>
          </a:p>
          <a:p>
            <a:pPr marL="890588" indent="-890588">
              <a:spcBef>
                <a:spcPts val="0"/>
              </a:spcBef>
              <a:tabLst>
                <a:tab pos="450850" algn="l"/>
                <a:tab pos="1249363" algn="l"/>
              </a:tabLst>
              <a:defRPr/>
            </a:pPr>
            <a:r>
              <a:rPr lang="ru-RU" altLang="en-US" sz="3600" dirty="0" smtClean="0"/>
              <a:t>режимы </a:t>
            </a:r>
            <a:r>
              <a:rPr lang="ru-RU" altLang="en-US" sz="3600" i="1" dirty="0" smtClean="0"/>
              <a:t>ядра</a:t>
            </a:r>
            <a:r>
              <a:rPr lang="ru-RU" altLang="en-US" sz="3600" dirty="0" smtClean="0"/>
              <a:t> и </a:t>
            </a:r>
            <a:r>
              <a:rPr lang="ru-RU" altLang="en-US" sz="3600" i="1" dirty="0" smtClean="0"/>
              <a:t>пользователя</a:t>
            </a:r>
            <a:endParaRPr lang="en-US" altLang="en-US" sz="36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476672"/>
            <a:ext cx="8569325" cy="5688632"/>
          </a:xfrm>
          <a:ln w="19050"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890588" indent="-890588">
              <a:buFontTx/>
              <a:buNone/>
              <a:tabLst>
                <a:tab pos="450850" algn="l"/>
                <a:tab pos="1249363" algn="l"/>
              </a:tabLst>
              <a:defRPr/>
            </a:pPr>
            <a:r>
              <a:rPr lang="ru-RU" altLang="en-US" sz="4000" b="1" dirty="0" smtClean="0">
                <a:solidFill>
                  <a:schemeClr val="accent2"/>
                </a:solidFill>
              </a:rPr>
              <a:t>Основные компоненты ОС</a:t>
            </a:r>
            <a:r>
              <a:rPr lang="ru-RU" altLang="en-US" sz="3600" dirty="0" smtClean="0"/>
              <a:t>: </a:t>
            </a:r>
          </a:p>
          <a:p>
            <a:pPr marL="890588" indent="-890588">
              <a:buFontTx/>
              <a:buNone/>
              <a:tabLst>
                <a:tab pos="450850" algn="l"/>
                <a:tab pos="1249363" algn="l"/>
              </a:tabLst>
              <a:defRPr/>
            </a:pPr>
            <a:endParaRPr lang="ru-RU" altLang="en-US" sz="3600" dirty="0" smtClean="0"/>
          </a:p>
          <a:p>
            <a:pPr marL="890588" indent="-446088">
              <a:tabLst>
                <a:tab pos="450850" algn="l"/>
                <a:tab pos="1249363" algn="l"/>
              </a:tabLst>
              <a:defRPr/>
            </a:pPr>
            <a:r>
              <a:rPr lang="ru-RU" altLang="en-US" sz="3600" b="1" dirty="0" smtClean="0"/>
              <a:t>Ядро</a:t>
            </a:r>
            <a:r>
              <a:rPr lang="ru-RU" altLang="en-US" sz="3600" dirty="0" smtClean="0"/>
              <a:t> (</a:t>
            </a:r>
            <a:r>
              <a:rPr lang="en-US" altLang="en-US" sz="3600" dirty="0" smtClean="0"/>
              <a:t>kernel)</a:t>
            </a:r>
            <a:r>
              <a:rPr lang="ru-RU" altLang="en-US" sz="3600" dirty="0" smtClean="0"/>
              <a:t> – предоставляет базовый уровень управления аппаратными ресурсами (при помощи ПО прошивки и драйверов устройств);</a:t>
            </a:r>
          </a:p>
          <a:p>
            <a:pPr marL="890588" indent="-446088">
              <a:tabLst>
                <a:tab pos="450850" algn="l"/>
                <a:tab pos="1249363" algn="l"/>
              </a:tabLst>
              <a:defRPr/>
            </a:pPr>
            <a:r>
              <a:rPr lang="ru-RU" altLang="en-US" sz="3600" b="1" dirty="0" smtClean="0"/>
              <a:t>сетевые возможности</a:t>
            </a:r>
            <a:r>
              <a:rPr lang="ru-RU" altLang="en-US" sz="3600" dirty="0" smtClean="0"/>
              <a:t>;</a:t>
            </a:r>
          </a:p>
          <a:p>
            <a:pPr marL="890588" indent="-446088">
              <a:tabLst>
                <a:tab pos="450850" algn="l"/>
                <a:tab pos="1249363" algn="l"/>
              </a:tabLst>
              <a:defRPr/>
            </a:pPr>
            <a:r>
              <a:rPr lang="ru-RU" altLang="en-US" sz="3600" b="1" dirty="0" smtClean="0"/>
              <a:t>безопасность</a:t>
            </a:r>
            <a:r>
              <a:rPr lang="ru-RU" altLang="en-US" sz="3600" dirty="0" smtClean="0"/>
              <a:t>;</a:t>
            </a:r>
          </a:p>
          <a:p>
            <a:pPr marL="890588" indent="-446088">
              <a:tabLst>
                <a:tab pos="450850" algn="l"/>
                <a:tab pos="1249363" algn="l"/>
              </a:tabLst>
              <a:defRPr/>
            </a:pPr>
            <a:r>
              <a:rPr lang="ru-RU" altLang="en-US" sz="3600" b="1" dirty="0" smtClean="0"/>
              <a:t>пользовательский интерфейс.</a:t>
            </a:r>
            <a:endParaRPr lang="en-US" altLang="en-US" sz="3600" b="1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50825" y="404664"/>
            <a:ext cx="8569325" cy="5832648"/>
          </a:xfrm>
          <a:prstGeom prst="rect">
            <a:avLst/>
          </a:prstGeom>
          <a:noFill/>
          <a:ln w="19050">
            <a:solidFill>
              <a:schemeClr val="bg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890588" indent="-890588" eaLnBrk="0" hangingPunct="0">
              <a:spcBef>
                <a:spcPct val="20000"/>
              </a:spcBef>
              <a:tabLst>
                <a:tab pos="450850" algn="l"/>
                <a:tab pos="1249363" algn="l"/>
              </a:tabLst>
              <a:defRPr/>
            </a:pPr>
            <a:r>
              <a:rPr lang="ru-RU" altLang="en-US" sz="4000" b="1" kern="0" dirty="0">
                <a:solidFill>
                  <a:schemeClr val="accent2"/>
                </a:solidFill>
                <a:latin typeface="+mn-lt"/>
                <a:cs typeface="+mn-cs"/>
              </a:rPr>
              <a:t>Функции/компоненты ядра</a:t>
            </a:r>
            <a:r>
              <a:rPr lang="ru-RU" altLang="en-US" sz="4000" b="1" kern="0" dirty="0">
                <a:latin typeface="+mn-lt"/>
                <a:cs typeface="+mn-cs"/>
              </a:rPr>
              <a:t> </a:t>
            </a:r>
          </a:p>
          <a:p>
            <a:pPr marL="625475" indent="-625475" eaLnBrk="0" hangingPunct="0">
              <a:spcBef>
                <a:spcPct val="20000"/>
              </a:spcBef>
              <a:buFontTx/>
              <a:buChar char="•"/>
              <a:tabLst>
                <a:tab pos="450850" algn="l"/>
                <a:tab pos="1249363" algn="l"/>
              </a:tabLst>
              <a:defRPr/>
            </a:pPr>
            <a:r>
              <a:rPr lang="ru-RU" altLang="en-US" sz="3600" b="1" kern="0" dirty="0">
                <a:latin typeface="+mn-lt"/>
                <a:cs typeface="+mn-cs"/>
              </a:rPr>
              <a:t>поддержка исполнения программ;</a:t>
            </a:r>
          </a:p>
          <a:p>
            <a:pPr marL="625475" indent="-625475" eaLnBrk="0" hangingPunct="0">
              <a:spcBef>
                <a:spcPct val="20000"/>
              </a:spcBef>
              <a:buFontTx/>
              <a:buChar char="•"/>
              <a:tabLst>
                <a:tab pos="450850" algn="l"/>
                <a:tab pos="1249363" algn="l"/>
              </a:tabLst>
              <a:defRPr/>
            </a:pPr>
            <a:r>
              <a:rPr lang="ru-RU" altLang="en-US" sz="3600" b="1" kern="0" dirty="0">
                <a:latin typeface="+mn-lt"/>
                <a:cs typeface="+mn-cs"/>
              </a:rPr>
              <a:t>прерывания;</a:t>
            </a:r>
          </a:p>
          <a:p>
            <a:pPr marL="625475" indent="-625475" eaLnBrk="0" hangingPunct="0">
              <a:spcBef>
                <a:spcPct val="20000"/>
              </a:spcBef>
              <a:buFontTx/>
              <a:buChar char="•"/>
              <a:tabLst>
                <a:tab pos="450850" algn="l"/>
                <a:tab pos="1249363" algn="l"/>
              </a:tabLst>
              <a:defRPr/>
            </a:pPr>
            <a:r>
              <a:rPr lang="ru-RU" altLang="en-US" sz="3600" b="1" kern="0" dirty="0">
                <a:latin typeface="+mn-lt"/>
                <a:cs typeface="+mn-cs"/>
              </a:rPr>
              <a:t>режимы исполнения (защищённый.супервизора);</a:t>
            </a:r>
          </a:p>
          <a:p>
            <a:pPr marL="625475" indent="-625475" eaLnBrk="0" hangingPunct="0">
              <a:spcBef>
                <a:spcPct val="20000"/>
              </a:spcBef>
              <a:buFontTx/>
              <a:buChar char="•"/>
              <a:tabLst>
                <a:tab pos="450850" algn="l"/>
                <a:tab pos="1249363" algn="l"/>
              </a:tabLst>
              <a:defRPr/>
            </a:pPr>
            <a:r>
              <a:rPr lang="ru-RU" altLang="en-US" sz="3600" b="1" kern="0" dirty="0">
                <a:latin typeface="+mn-lt"/>
                <a:cs typeface="+mn-cs"/>
              </a:rPr>
              <a:t>управление памятью</a:t>
            </a:r>
          </a:p>
          <a:p>
            <a:pPr marL="625475" indent="-625475" eaLnBrk="0" hangingPunct="0">
              <a:spcBef>
                <a:spcPct val="20000"/>
              </a:spcBef>
              <a:buFontTx/>
              <a:buChar char="•"/>
              <a:tabLst>
                <a:tab pos="450850" algn="l"/>
                <a:tab pos="1249363" algn="l"/>
              </a:tabLst>
              <a:defRPr/>
            </a:pPr>
            <a:r>
              <a:rPr lang="ru-RU" altLang="en-US" sz="3600" b="1" kern="0" dirty="0">
                <a:latin typeface="+mn-lt"/>
                <a:cs typeface="+mn-cs"/>
              </a:rPr>
              <a:t>виртуальная память</a:t>
            </a:r>
          </a:p>
          <a:p>
            <a:pPr marL="625475" indent="-625475" eaLnBrk="0" hangingPunct="0">
              <a:spcBef>
                <a:spcPct val="20000"/>
              </a:spcBef>
              <a:buFontTx/>
              <a:buChar char="•"/>
              <a:tabLst>
                <a:tab pos="450850" algn="l"/>
                <a:tab pos="1249363" algn="l"/>
              </a:tabLst>
              <a:defRPr/>
            </a:pPr>
            <a:r>
              <a:rPr lang="ru-RU" altLang="en-US" sz="3600" b="1" kern="0" dirty="0">
                <a:latin typeface="+mn-lt"/>
                <a:cs typeface="+mn-cs"/>
              </a:rPr>
              <a:t>м</a:t>
            </a:r>
            <a:r>
              <a:rPr lang="ru-RU" altLang="en-US" sz="3600" b="1" kern="0" dirty="0" err="1">
                <a:latin typeface="+mn-lt"/>
                <a:cs typeface="+mn-cs"/>
              </a:rPr>
              <a:t>ногозадачность</a:t>
            </a:r>
            <a:endParaRPr lang="ru-RU" altLang="en-US" sz="3600" b="1" kern="0" dirty="0">
              <a:latin typeface="+mn-lt"/>
              <a:cs typeface="+mn-cs"/>
            </a:endParaRPr>
          </a:p>
          <a:p>
            <a:pPr marL="625475" indent="-625475" eaLnBrk="0" hangingPunct="0">
              <a:spcBef>
                <a:spcPct val="20000"/>
              </a:spcBef>
              <a:buFontTx/>
              <a:buChar char="•"/>
              <a:tabLst>
                <a:tab pos="450850" algn="l"/>
                <a:tab pos="1249363" algn="l"/>
              </a:tabLst>
              <a:defRPr/>
            </a:pPr>
            <a:r>
              <a:rPr lang="ru-RU" altLang="en-US" sz="3600" b="1" kern="0" dirty="0">
                <a:latin typeface="+mn-lt"/>
                <a:cs typeface="+mn-cs"/>
              </a:rPr>
              <a:t>драйверы устройств</a:t>
            </a:r>
            <a:endParaRPr lang="en-US" altLang="en-US" sz="3600" b="1" kern="0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1556792"/>
            <a:ext cx="8532813" cy="1223963"/>
          </a:xfrm>
          <a:noFill/>
        </p:spPr>
        <p:txBody>
          <a:bodyPr>
            <a:normAutofit fontScale="90000"/>
          </a:bodyPr>
          <a:lstStyle/>
          <a:p>
            <a:r>
              <a:rPr lang="ru-RU" sz="5400" b="1" dirty="0" smtClean="0">
                <a:solidFill>
                  <a:schemeClr val="bg1"/>
                </a:solidFill>
              </a:rPr>
              <a:t>История операционных систем</a:t>
            </a:r>
            <a:endParaRPr lang="ru-RU" sz="54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936104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3600" b="1" dirty="0" smtClean="0">
                <a:solidFill>
                  <a:schemeClr val="accent2"/>
                </a:solidFill>
              </a:rPr>
              <a:t>История операционных систем</a:t>
            </a:r>
            <a:endParaRPr lang="ru-RU" sz="3600" dirty="0">
              <a:solidFill>
                <a:schemeClr val="accent2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124744"/>
            <a:ext cx="8712968" cy="5328592"/>
          </a:xfrm>
        </p:spPr>
        <p:txBody>
          <a:bodyPr>
            <a:normAutofit lnSpcReduction="10000"/>
          </a:bodyPr>
          <a:lstStyle/>
          <a:p>
            <a:r>
              <a:rPr lang="en-US" sz="3600" dirty="0" smtClean="0"/>
              <a:t>Hardware </a:t>
            </a:r>
            <a:r>
              <a:rPr lang="ru-RU" sz="3600" dirty="0" smtClean="0"/>
              <a:t>и </a:t>
            </a:r>
            <a:r>
              <a:rPr lang="en-US" sz="3600" dirty="0" smtClean="0"/>
              <a:t>software</a:t>
            </a:r>
            <a:r>
              <a:rPr lang="ru-RU" sz="3600" dirty="0" smtClean="0"/>
              <a:t> эволюционируют </a:t>
            </a:r>
            <a:r>
              <a:rPr lang="ru-RU" sz="3600" i="1" dirty="0" smtClean="0"/>
              <a:t>совместно</a:t>
            </a:r>
            <a:r>
              <a:rPr lang="ru-RU" sz="3600" dirty="0" smtClean="0"/>
              <a:t>, влияя друг на друга.</a:t>
            </a:r>
          </a:p>
          <a:p>
            <a:r>
              <a:rPr lang="ru-RU" sz="3600" dirty="0" smtClean="0"/>
              <a:t>Критерии естественного отбора в эволюции </a:t>
            </a:r>
            <a:r>
              <a:rPr lang="ru-RU" dirty="0" smtClean="0"/>
              <a:t>ВС</a:t>
            </a:r>
            <a:r>
              <a:rPr lang="ru-RU" sz="3600" dirty="0" smtClean="0"/>
              <a:t>:</a:t>
            </a:r>
          </a:p>
          <a:p>
            <a:pPr lvl="1">
              <a:spcBef>
                <a:spcPts val="0"/>
              </a:spcBef>
            </a:pPr>
            <a:r>
              <a:rPr lang="ru-RU" sz="3200" dirty="0" smtClean="0"/>
              <a:t>Удобство</a:t>
            </a:r>
          </a:p>
          <a:p>
            <a:pPr lvl="1">
              <a:spcBef>
                <a:spcPts val="0"/>
              </a:spcBef>
            </a:pPr>
            <a:r>
              <a:rPr lang="ru-RU" sz="3200" dirty="0" smtClean="0"/>
              <a:t>Эффективность</a:t>
            </a:r>
          </a:p>
          <a:p>
            <a:pPr lvl="1">
              <a:spcBef>
                <a:spcPts val="0"/>
              </a:spcBef>
            </a:pPr>
            <a:r>
              <a:rPr lang="ru-RU" sz="3200" dirty="0" smtClean="0"/>
              <a:t>Безопасность</a:t>
            </a:r>
          </a:p>
          <a:p>
            <a:r>
              <a:rPr lang="ru-RU" sz="3600" dirty="0" smtClean="0"/>
              <a:t>История эволюции ВТ насчитывает </a:t>
            </a:r>
            <a:r>
              <a:rPr lang="ru-RU" sz="3600" i="1" dirty="0" smtClean="0"/>
              <a:t>четыре периода.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7659" y="1268933"/>
            <a:ext cx="8532813" cy="1223963"/>
          </a:xfrm>
          <a:noFill/>
        </p:spPr>
        <p:txBody>
          <a:bodyPr/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История операционных систем</a:t>
            </a:r>
            <a:endParaRPr lang="ru-RU" sz="48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31675" y="2852936"/>
            <a:ext cx="8532813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4400" b="1" dirty="0">
                <a:solidFill>
                  <a:schemeClr val="accent2"/>
                </a:solidFill>
              </a:rPr>
              <a:t>1-й период </a:t>
            </a:r>
            <a:r>
              <a:rPr lang="ru-RU" sz="4400" b="1" dirty="0" smtClean="0">
                <a:solidFill>
                  <a:schemeClr val="accent2"/>
                </a:solidFill>
              </a:rPr>
              <a:t>(1945-1955): </a:t>
            </a:r>
            <a:r>
              <a:rPr lang="ru-RU" sz="4400" b="1" dirty="0" smtClean="0">
                <a:solidFill>
                  <a:schemeClr val="tx1"/>
                </a:solidFill>
              </a:rPr>
              <a:t>Электронные лампы и коммутационные панели</a:t>
            </a:r>
            <a:endParaRPr kumimoji="0" lang="ru-RU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0825" y="4897710"/>
            <a:ext cx="2562225" cy="17716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41784"/>
            <a:ext cx="8496300" cy="638944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pPr algn="l">
              <a:defRPr/>
            </a:pPr>
            <a:r>
              <a:rPr lang="ru-RU" b="1" dirty="0" smtClean="0">
                <a:solidFill>
                  <a:schemeClr val="accent2"/>
                </a:solidFill>
              </a:rPr>
              <a:t>1-й период (1945-1955)</a:t>
            </a:r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43892" y="1340768"/>
            <a:ext cx="8964612" cy="5400600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spcBef>
                <a:spcPts val="300"/>
              </a:spcBef>
              <a:defRPr/>
            </a:pPr>
            <a:r>
              <a:rPr lang="ru-RU" sz="4400" b="1" i="1" dirty="0" smtClean="0"/>
              <a:t>ОС </a:t>
            </a:r>
            <a:r>
              <a:rPr lang="ru-RU" sz="4400" b="1" i="1" dirty="0"/>
              <a:t>отсутствуют</a:t>
            </a:r>
          </a:p>
          <a:p>
            <a:pPr lvl="1"/>
            <a:r>
              <a:rPr lang="ru-RU" sz="3600" dirty="0" smtClean="0"/>
              <a:t>Июнь 1945 – принципы Джона фон Неймана</a:t>
            </a:r>
          </a:p>
          <a:p>
            <a:pPr lvl="1"/>
            <a:r>
              <a:rPr lang="ru-RU" sz="3600" dirty="0" smtClean="0"/>
              <a:t>Программирование только на машинном языке</a:t>
            </a:r>
          </a:p>
          <a:p>
            <a:pPr lvl="1"/>
            <a:r>
              <a:rPr lang="ru-RU" sz="3600" dirty="0" smtClean="0"/>
              <a:t>Перфокарты или панели переключателей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188" y="197768"/>
            <a:ext cx="8496300" cy="638944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1-й период (1945-1955)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71884" y="1340768"/>
            <a:ext cx="8964612" cy="5400600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spcBef>
                <a:spcPts val="300"/>
              </a:spcBef>
              <a:defRPr/>
            </a:pPr>
            <a:r>
              <a:rPr lang="ru-RU" sz="4000" b="1" i="1" dirty="0" smtClean="0"/>
              <a:t>ОС отсутствуют</a:t>
            </a:r>
          </a:p>
          <a:p>
            <a:pPr lvl="1">
              <a:spcBef>
                <a:spcPts val="300"/>
              </a:spcBef>
              <a:defRPr/>
            </a:pPr>
            <a:r>
              <a:rPr lang="ru-RU" sz="3600" dirty="0" smtClean="0"/>
              <a:t>организация </a:t>
            </a:r>
            <a:r>
              <a:rPr lang="ru-RU" sz="3600" dirty="0"/>
              <a:t>вычислительного процесса выполнялась программистом с пульта управления</a:t>
            </a:r>
          </a:p>
          <a:p>
            <a:pPr lvl="1">
              <a:spcBef>
                <a:spcPts val="300"/>
              </a:spcBef>
              <a:defRPr/>
            </a:pPr>
            <a:r>
              <a:rPr lang="ru-RU" sz="3600" dirty="0" smtClean="0"/>
              <a:t>за </a:t>
            </a:r>
            <a:r>
              <a:rPr lang="ru-RU" sz="3600" dirty="0"/>
              <a:t>пультом – только один человек</a:t>
            </a:r>
          </a:p>
          <a:p>
            <a:pPr lvl="1">
              <a:spcBef>
                <a:spcPts val="300"/>
              </a:spcBef>
              <a:defRPr/>
            </a:pPr>
            <a:r>
              <a:rPr lang="ru-RU" sz="3600" dirty="0" smtClean="0"/>
              <a:t>управление основными функциями при помощи соединения коммутационных панелей проводами 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188" y="341784"/>
            <a:ext cx="8496300" cy="638944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1-й период (1945-1955)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71884" y="1340768"/>
            <a:ext cx="8964612" cy="5400600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spcBef>
                <a:spcPts val="300"/>
              </a:spcBef>
              <a:defRPr/>
            </a:pPr>
            <a:r>
              <a:rPr lang="ru-RU" sz="4000" b="1" i="1" dirty="0" smtClean="0"/>
              <a:t>ОС отсутствуют</a:t>
            </a:r>
          </a:p>
          <a:p>
            <a:pPr lvl="1"/>
            <a:r>
              <a:rPr lang="ru-RU" sz="3600" dirty="0" smtClean="0"/>
              <a:t>Одновременно выполняется только одна операция </a:t>
            </a:r>
          </a:p>
          <a:p>
            <a:pPr lvl="1"/>
            <a:r>
              <a:rPr lang="ru-RU" sz="3600" i="1" u="sng" dirty="0" smtClean="0"/>
              <a:t>1-е системное ПО:</a:t>
            </a:r>
          </a:p>
          <a:p>
            <a:pPr lvl="2"/>
            <a:r>
              <a:rPr lang="ru-RU" sz="3200" dirty="0" smtClean="0"/>
              <a:t>1951-52 гг. – прообразы компиляторов, например, с </a:t>
            </a:r>
            <a:r>
              <a:rPr lang="en-US" sz="3200" dirty="0" smtClean="0"/>
              <a:t>Fortran</a:t>
            </a:r>
          </a:p>
          <a:p>
            <a:pPr lvl="2"/>
            <a:r>
              <a:rPr lang="ru-RU" sz="3200" dirty="0" smtClean="0"/>
              <a:t>1954г. – ассемблер для </a:t>
            </a:r>
            <a:r>
              <a:rPr lang="en-US" sz="3200" dirty="0" smtClean="0"/>
              <a:t>IBM-701 (</a:t>
            </a:r>
            <a:r>
              <a:rPr lang="ru-RU" sz="3200" dirty="0" err="1" smtClean="0"/>
              <a:t>Нэт</a:t>
            </a:r>
            <a:r>
              <a:rPr lang="ru-RU" sz="3200" dirty="0" smtClean="0"/>
              <a:t> Рочестер)</a:t>
            </a:r>
            <a:endParaRPr lang="ru-RU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1196925"/>
            <a:ext cx="8532813" cy="1223963"/>
          </a:xfrm>
          <a:noFill/>
        </p:spPr>
        <p:txBody>
          <a:bodyPr/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История операционных систем</a:t>
            </a:r>
            <a:endParaRPr lang="ru-RU" sz="48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647699" y="2852936"/>
            <a:ext cx="8532813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4400" b="1" dirty="0" smtClean="0">
                <a:solidFill>
                  <a:schemeClr val="accent2"/>
                </a:solidFill>
              </a:rPr>
              <a:t>2-й </a:t>
            </a:r>
            <a:r>
              <a:rPr lang="ru-RU" sz="4400" b="1" dirty="0">
                <a:solidFill>
                  <a:schemeClr val="accent2"/>
                </a:solidFill>
              </a:rPr>
              <a:t>период </a:t>
            </a:r>
            <a:r>
              <a:rPr lang="ru-RU" sz="4400" b="1" dirty="0" smtClean="0">
                <a:solidFill>
                  <a:schemeClr val="accent2"/>
                </a:solidFill>
              </a:rPr>
              <a:t>(1955-1965): </a:t>
            </a:r>
            <a:r>
              <a:rPr lang="ru-RU" sz="4400" b="1" dirty="0" smtClean="0"/>
              <a:t>Транзисторы и системы пакетной обработки</a:t>
            </a:r>
            <a:endParaRPr kumimoji="0" lang="ru-RU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536" y="4506416"/>
            <a:ext cx="1762125" cy="1905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88224" y="4761706"/>
            <a:ext cx="1943100" cy="1943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496300" cy="64735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2-й период (1955-1965)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268761"/>
            <a:ext cx="8713787" cy="5256583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349250" lvl="1">
              <a:defRPr/>
            </a:pPr>
            <a:r>
              <a:rPr lang="ru-RU" sz="3600" b="1" i="1" dirty="0" smtClean="0"/>
              <a:t>Новая элементная база – транзисторы:</a:t>
            </a:r>
            <a:endParaRPr lang="ru-RU" sz="4000" b="1" i="1" dirty="0" smtClean="0"/>
          </a:p>
          <a:p>
            <a:pPr marL="622300" lvl="2">
              <a:spcBef>
                <a:spcPts val="0"/>
              </a:spcBef>
              <a:defRPr/>
            </a:pPr>
            <a:r>
              <a:rPr lang="ru-RU" sz="3600" dirty="0" smtClean="0"/>
              <a:t>Повышение надежности ВТ</a:t>
            </a:r>
          </a:p>
          <a:p>
            <a:pPr marL="622300" lvl="2">
              <a:spcBef>
                <a:spcPts val="0"/>
              </a:spcBef>
              <a:defRPr/>
            </a:pPr>
            <a:r>
              <a:rPr lang="ru-RU" sz="3600" dirty="0" smtClean="0"/>
              <a:t>Снижение энергопотребления</a:t>
            </a:r>
          </a:p>
          <a:p>
            <a:pPr marL="622300" lvl="2">
              <a:spcBef>
                <a:spcPts val="0"/>
              </a:spcBef>
              <a:defRPr/>
            </a:pPr>
            <a:r>
              <a:rPr lang="ru-RU" sz="3600" dirty="0" smtClean="0"/>
              <a:t>Упрощение систем охлаждения</a:t>
            </a:r>
          </a:p>
          <a:p>
            <a:pPr marL="622300" lvl="2">
              <a:spcBef>
                <a:spcPts val="0"/>
              </a:spcBef>
              <a:defRPr/>
            </a:pPr>
            <a:r>
              <a:rPr lang="ru-RU" sz="3600" dirty="0" smtClean="0"/>
              <a:t>Уменьшение размеров компьютеров</a:t>
            </a:r>
          </a:p>
          <a:p>
            <a:pPr marL="622300" lvl="2">
              <a:spcBef>
                <a:spcPts val="0"/>
              </a:spcBef>
              <a:defRPr/>
            </a:pPr>
            <a:r>
              <a:rPr lang="ru-RU" sz="3600" dirty="0" smtClean="0"/>
              <a:t>Снижение стоимости их эксплуатации и обслуживания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5383"/>
            <a:ext cx="8496300" cy="64735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2-й период (1955-1965)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80488" y="1269352"/>
            <a:ext cx="8784000" cy="5328000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349250" lvl="1">
              <a:tabLst>
                <a:tab pos="355600" algn="l"/>
              </a:tabLst>
              <a:defRPr/>
            </a:pPr>
            <a:r>
              <a:rPr lang="ru-RU" sz="3600" dirty="0" smtClean="0"/>
              <a:t>Бурное </a:t>
            </a:r>
            <a:r>
              <a:rPr lang="ru-RU" sz="3600" b="1" i="1" dirty="0" smtClean="0"/>
              <a:t>развитие алгоритмических языков </a:t>
            </a:r>
            <a:r>
              <a:rPr lang="ru-RU" sz="3600" dirty="0" smtClean="0"/>
              <a:t>(</a:t>
            </a:r>
            <a:r>
              <a:rPr lang="en-US" sz="3600" dirty="0" smtClean="0"/>
              <a:t>Algol-58, Lisp, Cobol, Algol-60, PL-1,…</a:t>
            </a:r>
            <a:r>
              <a:rPr lang="ru-RU" sz="3600" dirty="0" smtClean="0"/>
              <a:t>), </a:t>
            </a:r>
            <a:r>
              <a:rPr lang="ru-RU" sz="3600" i="1" dirty="0" smtClean="0"/>
              <a:t>настоящие</a:t>
            </a:r>
            <a:r>
              <a:rPr lang="ru-RU" sz="3600" dirty="0" smtClean="0"/>
              <a:t> инструментальные системы</a:t>
            </a:r>
          </a:p>
          <a:p>
            <a:pPr marL="349250" lvl="1">
              <a:tabLst>
                <a:tab pos="355600" algn="l"/>
              </a:tabLst>
              <a:defRPr/>
            </a:pPr>
            <a:r>
              <a:rPr lang="ru-RU" sz="3600" b="1" i="1" dirty="0" smtClean="0"/>
              <a:t>Разделение персонала на программистов и операторов;</a:t>
            </a:r>
          </a:p>
          <a:p>
            <a:pPr marL="349250" lvl="1">
              <a:tabLst>
                <a:tab pos="355600" algn="l"/>
              </a:tabLst>
              <a:defRPr/>
            </a:pPr>
            <a:r>
              <a:rPr lang="ru-RU" sz="3600" b="1" i="1" dirty="0" smtClean="0"/>
              <a:t>Задания</a:t>
            </a:r>
            <a:r>
              <a:rPr lang="ru-RU" sz="3600" dirty="0" smtClean="0"/>
              <a:t> (программа, входные данные, требуемые ресурсы),  </a:t>
            </a:r>
            <a:r>
              <a:rPr lang="ru-RU" sz="3600" b="1" dirty="0" smtClean="0"/>
              <a:t>пакеты заданий.</a:t>
            </a:r>
          </a:p>
          <a:p>
            <a:pPr lvl="1">
              <a:defRPr/>
            </a:pPr>
            <a:endParaRPr lang="ru-RU" sz="3600" b="1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6180" y="404813"/>
            <a:ext cx="8496300" cy="575915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2-й период (1955-1965)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0701" y="1340768"/>
            <a:ext cx="8713787" cy="5256584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349250" lvl="1">
              <a:spcBef>
                <a:spcPts val="600"/>
              </a:spcBef>
              <a:tabLst>
                <a:tab pos="533400" algn="l"/>
              </a:tabLst>
              <a:defRPr/>
            </a:pPr>
            <a:r>
              <a:rPr lang="ru-RU" sz="3600" dirty="0" smtClean="0"/>
              <a:t>Вычислительным процессом управляют </a:t>
            </a:r>
            <a:r>
              <a:rPr lang="ru-RU" sz="3600" b="1" i="1" dirty="0" smtClean="0"/>
              <a:t>системы пакетной обработки</a:t>
            </a:r>
            <a:r>
              <a:rPr lang="ru-RU" sz="3600" dirty="0" smtClean="0"/>
              <a:t>, имеющие формализованный язык управления заданиями.</a:t>
            </a:r>
          </a:p>
          <a:p>
            <a:pPr marL="349250" lvl="1">
              <a:spcBef>
                <a:spcPts val="600"/>
              </a:spcBef>
              <a:tabLst>
                <a:tab pos="533400" algn="l"/>
              </a:tabLst>
              <a:defRPr/>
            </a:pPr>
            <a:endParaRPr lang="ru-RU" sz="2000" dirty="0" smtClean="0"/>
          </a:p>
          <a:p>
            <a:pPr marL="349250" lvl="1">
              <a:spcBef>
                <a:spcPts val="600"/>
              </a:spcBef>
              <a:tabLst>
                <a:tab pos="533400" algn="l"/>
              </a:tabLst>
              <a:defRPr/>
            </a:pPr>
            <a:r>
              <a:rPr lang="ru-RU" sz="3600" b="1" u="sng" dirty="0" smtClean="0"/>
              <a:t>Первая система пакетной обработки</a:t>
            </a:r>
            <a:r>
              <a:rPr lang="ru-RU" sz="3600" dirty="0" smtClean="0"/>
              <a:t>: </a:t>
            </a:r>
            <a:r>
              <a:rPr lang="en-US" sz="3600" b="1" dirty="0" smtClean="0">
                <a:solidFill>
                  <a:srgbClr val="C00000"/>
                </a:solidFill>
              </a:rPr>
              <a:t>BESYS</a:t>
            </a:r>
            <a:r>
              <a:rPr lang="en-US" sz="3600" dirty="0" smtClean="0"/>
              <a:t> (</a:t>
            </a:r>
            <a:r>
              <a:rPr lang="ru-RU" sz="3600" dirty="0" smtClean="0"/>
              <a:t>компания </a:t>
            </a:r>
            <a:r>
              <a:rPr lang="en-US" sz="3600" dirty="0" smtClean="0"/>
              <a:t>Bell System</a:t>
            </a:r>
            <a:r>
              <a:rPr lang="ru-RU" sz="3600" dirty="0" smtClean="0"/>
              <a:t>, 1957 г.)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323850" y="357188"/>
            <a:ext cx="8424863" cy="1271587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75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ru-RU" sz="3600" b="1" dirty="0">
                <a:solidFill>
                  <a:schemeClr val="accent2"/>
                </a:solidFill>
              </a:rPr>
              <a:t>2-й период (1955-1965): </a:t>
            </a:r>
            <a:r>
              <a:rPr lang="ru-RU" sz="3600" b="1" dirty="0"/>
              <a:t>Т</a:t>
            </a:r>
            <a:r>
              <a:rPr lang="ru-RU" sz="3600" b="1" dirty="0">
                <a:solidFill>
                  <a:schemeClr val="tx2"/>
                </a:solidFill>
              </a:rPr>
              <a:t>ранзисторы и системы пакетной обработки</a:t>
            </a:r>
            <a:endParaRPr lang="ru-RU" sz="36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80975" y="2092325"/>
            <a:ext cx="9572625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1268933"/>
            <a:ext cx="8532813" cy="1223963"/>
          </a:xfrm>
          <a:noFill/>
        </p:spPr>
        <p:txBody>
          <a:bodyPr/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История операционных систем</a:t>
            </a:r>
            <a:endParaRPr lang="ru-RU" sz="48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971600" y="3150135"/>
            <a:ext cx="8532813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4400" b="1" dirty="0">
                <a:solidFill>
                  <a:schemeClr val="accent2"/>
                </a:solidFill>
              </a:rPr>
              <a:t>3</a:t>
            </a:r>
            <a:r>
              <a:rPr lang="ru-RU" sz="4400" b="1" dirty="0" smtClean="0">
                <a:solidFill>
                  <a:schemeClr val="accent2"/>
                </a:solidFill>
              </a:rPr>
              <a:t>-й </a:t>
            </a:r>
            <a:r>
              <a:rPr lang="ru-RU" sz="4400" b="1" dirty="0">
                <a:solidFill>
                  <a:schemeClr val="accent2"/>
                </a:solidFill>
              </a:rPr>
              <a:t>период </a:t>
            </a:r>
            <a:r>
              <a:rPr lang="ru-RU" sz="4400" b="1" dirty="0" smtClean="0">
                <a:solidFill>
                  <a:schemeClr val="accent2"/>
                </a:solidFill>
              </a:rPr>
              <a:t>(1965-1980): </a:t>
            </a:r>
            <a:r>
              <a:rPr lang="ru-RU" sz="4400" b="1" dirty="0" smtClean="0"/>
              <a:t>Компьютеры на основе интегральных микросхем (ИМС)</a:t>
            </a:r>
            <a:endParaRPr kumimoji="0" lang="ru-RU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928265"/>
            <a:ext cx="2736850" cy="19446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96180" y="476821"/>
            <a:ext cx="8496300" cy="575915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1340768"/>
            <a:ext cx="8858250" cy="5256584"/>
          </a:xfrm>
        </p:spPr>
        <p:txBody>
          <a:bodyPr>
            <a:normAutofit fontScale="92500"/>
          </a:bodyPr>
          <a:lstStyle/>
          <a:p>
            <a:pPr marL="527050" lvl="1">
              <a:spcBef>
                <a:spcPts val="0"/>
              </a:spcBef>
              <a:defRPr/>
            </a:pPr>
            <a:r>
              <a:rPr lang="ru-RU" sz="3600" b="1" i="1" dirty="0" smtClean="0"/>
              <a:t>Переход </a:t>
            </a:r>
            <a:r>
              <a:rPr lang="ru-RU" sz="3600" b="1" i="1" dirty="0"/>
              <a:t>от транзисторов к </a:t>
            </a:r>
            <a:r>
              <a:rPr lang="ru-RU" sz="3600" b="1" i="1" dirty="0" smtClean="0"/>
              <a:t>ИМС</a:t>
            </a:r>
            <a:r>
              <a:rPr lang="ru-RU" sz="3600" dirty="0" smtClean="0"/>
              <a:t>:</a:t>
            </a:r>
            <a:endParaRPr lang="ru-RU" sz="3600" dirty="0"/>
          </a:p>
          <a:p>
            <a:pPr marL="812800" lvl="2" indent="-347663">
              <a:spcBef>
                <a:spcPts val="0"/>
              </a:spcBef>
              <a:defRPr/>
            </a:pPr>
            <a:r>
              <a:rPr lang="ru-RU" sz="3200" dirty="0"/>
              <a:t>ВТ становится надежной и дешевой</a:t>
            </a:r>
          </a:p>
          <a:p>
            <a:pPr marL="812800" lvl="2" indent="-347663">
              <a:spcBef>
                <a:spcPts val="0"/>
              </a:spcBef>
              <a:defRPr/>
            </a:pPr>
            <a:r>
              <a:rPr lang="ru-RU" sz="3200" dirty="0"/>
              <a:t>Решаются многочисленные и сложные задачи</a:t>
            </a:r>
          </a:p>
          <a:p>
            <a:pPr marL="812800" lvl="2" indent="-347663">
              <a:spcBef>
                <a:spcPts val="0"/>
              </a:spcBef>
              <a:defRPr/>
            </a:pPr>
            <a:r>
              <a:rPr lang="ru-RU" sz="3200" dirty="0"/>
              <a:t>Растет производительность </a:t>
            </a:r>
            <a:r>
              <a:rPr lang="ru-RU" sz="3200" dirty="0" smtClean="0"/>
              <a:t>процессоров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ru-RU" sz="3600" b="1" i="1" dirty="0" smtClean="0"/>
              <a:t>Магнитные диски сменили магнитную ленту</a:t>
            </a:r>
          </a:p>
          <a:p>
            <a:pPr lvl="2">
              <a:lnSpc>
                <a:spcPct val="90000"/>
              </a:lnSpc>
              <a:spcBef>
                <a:spcPts val="0"/>
              </a:spcBef>
            </a:pPr>
            <a:r>
              <a:rPr lang="ru-RU" sz="3200" dirty="0" smtClean="0"/>
              <a:t>Планирование заданий</a:t>
            </a:r>
          </a:p>
          <a:p>
            <a:pPr marL="768350" lvl="1" indent="-347663">
              <a:spcBef>
                <a:spcPts val="0"/>
              </a:spcBef>
              <a:defRPr/>
            </a:pPr>
            <a:r>
              <a:rPr lang="ru-RU" sz="3600" b="1" dirty="0" smtClean="0"/>
              <a:t>«Бутылочное горлышко» </a:t>
            </a:r>
            <a:r>
              <a:rPr lang="ru-RU" sz="3600" dirty="0" smtClean="0"/>
              <a:t>- низкая скорость устройств ввода-вывода (УВВ)</a:t>
            </a:r>
          </a:p>
          <a:p>
            <a:pPr marL="2736850" lvl="1" indent="-347663">
              <a:spcBef>
                <a:spcPts val="0"/>
              </a:spcBef>
              <a:defRPr/>
            </a:pP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2" y="404728"/>
            <a:ext cx="8496300" cy="576000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484784"/>
            <a:ext cx="8856984" cy="4608512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285750" lvl="1">
              <a:defRPr/>
            </a:pPr>
            <a:r>
              <a:rPr lang="ru-RU" sz="3200" b="1" dirty="0" smtClean="0"/>
              <a:t>«Бутылочное горлышко» – низкая скорость УВВ: решение </a:t>
            </a:r>
            <a:r>
              <a:rPr lang="ru-RU" sz="3200" b="1" dirty="0" smtClean="0">
                <a:sym typeface="Symbol"/>
              </a:rPr>
              <a:t></a:t>
            </a:r>
            <a:r>
              <a:rPr lang="ru-RU" sz="3200" dirty="0" smtClean="0">
                <a:sym typeface="Symbol"/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буферизация</a:t>
            </a:r>
            <a:r>
              <a:rPr lang="ru-RU" sz="3200" dirty="0" smtClean="0"/>
              <a:t> </a:t>
            </a:r>
            <a:endParaRPr lang="ar-SA" sz="3200" dirty="0" smtClean="0"/>
          </a:p>
          <a:p>
            <a:pPr marL="714375" lvl="2">
              <a:defRPr/>
            </a:pPr>
            <a:r>
              <a:rPr lang="uk-UA" sz="3200" dirty="0" smtClean="0"/>
              <a:t>Р</a:t>
            </a:r>
            <a:r>
              <a:rPr lang="ru-RU" sz="3200" dirty="0" smtClean="0"/>
              <a:t>ежим</a:t>
            </a:r>
            <a:r>
              <a:rPr lang="ru-RU" sz="3200" b="1" dirty="0" smtClean="0">
                <a:solidFill>
                  <a:srgbClr val="0070C0"/>
                </a:solidFill>
              </a:rPr>
              <a:t> </a:t>
            </a:r>
            <a:r>
              <a:rPr lang="en-US" sz="3200" b="1" dirty="0" smtClean="0">
                <a:solidFill>
                  <a:srgbClr val="0070C0"/>
                </a:solidFill>
              </a:rPr>
              <a:t>off-line</a:t>
            </a:r>
            <a:r>
              <a:rPr lang="ru-RU" sz="3200" b="1" dirty="0" smtClean="0">
                <a:solidFill>
                  <a:srgbClr val="0070C0"/>
                </a:solidFill>
              </a:rPr>
              <a:t> </a:t>
            </a:r>
            <a:r>
              <a:rPr lang="ru-RU" sz="3200" dirty="0" smtClean="0"/>
              <a:t>– операции ввода-вывода выполняются на отдельно стоящих компьютерах</a:t>
            </a:r>
          </a:p>
          <a:p>
            <a:pPr marL="714375" lvl="2">
              <a:defRPr/>
            </a:pPr>
            <a:r>
              <a:rPr lang="uk-UA" sz="3200" dirty="0" smtClean="0"/>
              <a:t>Р</a:t>
            </a:r>
            <a:r>
              <a:rPr lang="ru-RU" sz="3200" dirty="0" smtClean="0"/>
              <a:t>ежим</a:t>
            </a:r>
            <a:r>
              <a:rPr lang="ru-RU" sz="3200" b="1" dirty="0" smtClean="0">
                <a:solidFill>
                  <a:srgbClr val="0070C0"/>
                </a:solidFill>
              </a:rPr>
              <a:t> </a:t>
            </a:r>
            <a:r>
              <a:rPr lang="en-US" sz="3200" b="1" dirty="0" smtClean="0">
                <a:solidFill>
                  <a:srgbClr val="0070C0"/>
                </a:solidFill>
              </a:rPr>
              <a:t>on-line – </a:t>
            </a:r>
            <a:r>
              <a:rPr lang="en-US" sz="3200" b="1" dirty="0" smtClean="0">
                <a:solidFill>
                  <a:srgbClr val="C00000"/>
                </a:solidFill>
              </a:rPr>
              <a:t>spooling</a:t>
            </a:r>
            <a:r>
              <a:rPr lang="en-US" sz="3200" b="1" dirty="0" smtClean="0">
                <a:solidFill>
                  <a:srgbClr val="0070C0"/>
                </a:solidFill>
              </a:rPr>
              <a:t> </a:t>
            </a:r>
            <a:r>
              <a:rPr lang="en-US" sz="3200" dirty="0" smtClean="0"/>
              <a:t>(</a:t>
            </a:r>
            <a:r>
              <a:rPr lang="en-US" sz="3200" b="1" i="1" dirty="0" smtClean="0"/>
              <a:t>Simultaneous Peripheral Operation On-Line</a:t>
            </a:r>
            <a:r>
              <a:rPr lang="en-US" sz="3200" dirty="0" smtClean="0"/>
              <a:t>) </a:t>
            </a:r>
            <a:r>
              <a:rPr lang="ru-RU" sz="3200" dirty="0" smtClean="0"/>
              <a:t>– операции ввода/вывода выполняются на том же компьютере, который производит вычисления.</a:t>
            </a:r>
          </a:p>
          <a:p>
            <a:pPr marL="990600" lvl="3">
              <a:tabLst>
                <a:tab pos="723900" algn="l"/>
              </a:tabLst>
              <a:defRPr/>
            </a:pPr>
            <a:r>
              <a:rPr lang="ru-RU" sz="3200" b="1" i="1" dirty="0" smtClean="0"/>
              <a:t> Аппаратная поддержка:</a:t>
            </a:r>
            <a:r>
              <a:rPr lang="ru-RU" sz="3200" dirty="0" smtClean="0"/>
              <a:t>  прерывания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6180" y="332805"/>
            <a:ext cx="8496300" cy="64792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0701" y="1459161"/>
            <a:ext cx="8713787" cy="5354215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defRPr/>
            </a:pPr>
            <a:r>
              <a:rPr lang="ru-RU" sz="3600" dirty="0" smtClean="0"/>
              <a:t>Реализованы практически </a:t>
            </a:r>
            <a:r>
              <a:rPr lang="ru-RU" sz="3600" b="1" dirty="0" smtClean="0"/>
              <a:t>все основные механизмы</a:t>
            </a:r>
            <a:r>
              <a:rPr lang="ru-RU" sz="3600" dirty="0" smtClean="0"/>
              <a:t>, присущие современным </a:t>
            </a:r>
            <a:r>
              <a:rPr lang="ru-RU" sz="3600" b="1" dirty="0" smtClean="0"/>
              <a:t>ОС</a:t>
            </a:r>
            <a:r>
              <a:rPr lang="ru-RU" sz="3600" dirty="0" smtClean="0"/>
              <a:t>: </a:t>
            </a:r>
          </a:p>
          <a:p>
            <a:pPr lvl="1">
              <a:spcBef>
                <a:spcPts val="0"/>
              </a:spcBef>
              <a:defRPr/>
            </a:pPr>
            <a:r>
              <a:rPr lang="ru-RU" sz="3600" dirty="0" smtClean="0">
                <a:ea typeface="+mn-ea"/>
              </a:rPr>
              <a:t>мультипрограммирование;</a:t>
            </a:r>
          </a:p>
          <a:p>
            <a:pPr lvl="1">
              <a:spcBef>
                <a:spcPts val="0"/>
              </a:spcBef>
              <a:defRPr/>
            </a:pPr>
            <a:r>
              <a:rPr lang="ru-RU" sz="3600" dirty="0" smtClean="0">
                <a:ea typeface="+mn-ea"/>
              </a:rPr>
              <a:t>поддержка многотерминального многопользовательского режима;</a:t>
            </a:r>
          </a:p>
          <a:p>
            <a:pPr lvl="1">
              <a:spcBef>
                <a:spcPts val="0"/>
              </a:spcBef>
              <a:defRPr/>
            </a:pPr>
            <a:r>
              <a:rPr lang="ru-RU" sz="3600" dirty="0" smtClean="0">
                <a:ea typeface="+mn-ea"/>
              </a:rPr>
              <a:t>виртуальная память;</a:t>
            </a:r>
          </a:p>
          <a:p>
            <a:pPr lvl="1">
              <a:spcBef>
                <a:spcPts val="0"/>
              </a:spcBef>
              <a:defRPr/>
            </a:pPr>
            <a:r>
              <a:rPr lang="ru-RU" sz="3600" dirty="0" smtClean="0">
                <a:ea typeface="+mn-ea"/>
              </a:rPr>
              <a:t>файловые системы;</a:t>
            </a:r>
          </a:p>
          <a:p>
            <a:pPr lvl="1">
              <a:spcBef>
                <a:spcPts val="0"/>
              </a:spcBef>
              <a:defRPr/>
            </a:pPr>
            <a:r>
              <a:rPr lang="ru-RU" sz="3600" dirty="0" smtClean="0">
                <a:ea typeface="+mn-ea"/>
              </a:rPr>
              <a:t>разграничение доступа;</a:t>
            </a:r>
          </a:p>
          <a:p>
            <a:pPr lvl="1">
              <a:spcBef>
                <a:spcPts val="0"/>
              </a:spcBef>
              <a:defRPr/>
            </a:pPr>
            <a:r>
              <a:rPr lang="ru-RU" sz="3600" dirty="0" smtClean="0">
                <a:ea typeface="+mn-ea"/>
              </a:rPr>
              <a:t>сетевая работа.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496300" cy="503907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2008" y="1540941"/>
            <a:ext cx="9036496" cy="5416451"/>
          </a:xfrm>
        </p:spPr>
        <p:txBody>
          <a:bodyPr/>
          <a:lstStyle/>
          <a:p>
            <a:pPr marL="452438" lvl="1">
              <a:lnSpc>
                <a:spcPct val="90000"/>
              </a:lnSpc>
            </a:pPr>
            <a:r>
              <a:rPr lang="ru-RU" sz="3600" b="1" dirty="0" smtClean="0"/>
              <a:t>Мультипрограммирование</a:t>
            </a:r>
            <a:r>
              <a:rPr lang="en-US" sz="3600" dirty="0" smtClean="0"/>
              <a:t> (</a:t>
            </a:r>
            <a:r>
              <a:rPr lang="ru-RU" sz="3600" dirty="0" smtClean="0"/>
              <a:t>многозадачность</a:t>
            </a:r>
            <a:r>
              <a:rPr lang="en-US" sz="3600" dirty="0" smtClean="0"/>
              <a:t>)</a:t>
            </a:r>
            <a:endParaRPr lang="ru-RU" sz="4000" dirty="0" smtClean="0"/>
          </a:p>
          <a:p>
            <a:pPr marL="806450" lvl="2">
              <a:lnSpc>
                <a:spcPct val="90000"/>
              </a:lnSpc>
            </a:pPr>
            <a:r>
              <a:rPr lang="ru-RU" sz="3600" dirty="0" smtClean="0"/>
              <a:t>Пока одна программа выполняет операцию ввода-вывода, процессор выполняет другую программу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76821"/>
            <a:ext cx="8496300" cy="503907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496" y="1324917"/>
            <a:ext cx="9036496" cy="5416451"/>
          </a:xfrm>
        </p:spPr>
        <p:txBody>
          <a:bodyPr>
            <a:normAutofit lnSpcReduction="10000"/>
          </a:bodyPr>
          <a:lstStyle/>
          <a:p>
            <a:pPr marL="452438" lvl="1">
              <a:lnSpc>
                <a:spcPct val="90000"/>
              </a:lnSpc>
            </a:pPr>
            <a:r>
              <a:rPr lang="ru-RU" sz="3600" b="1" dirty="0" smtClean="0"/>
              <a:t>Мультипрограммирование</a:t>
            </a:r>
            <a:endParaRPr lang="ru-RU" sz="4000" dirty="0" smtClean="0"/>
          </a:p>
          <a:p>
            <a:pPr marL="806450" lvl="2">
              <a:lnSpc>
                <a:spcPct val="90000"/>
              </a:lnSpc>
            </a:pPr>
            <a:r>
              <a:rPr lang="ru-RU" sz="3600" dirty="0" smtClean="0"/>
              <a:t>Аппаратная поддержка:</a:t>
            </a:r>
          </a:p>
          <a:p>
            <a:pPr marL="981075" lvl="3">
              <a:lnSpc>
                <a:spcPct val="90000"/>
              </a:lnSpc>
            </a:pPr>
            <a:r>
              <a:rPr lang="ru-RU" sz="3600" b="1" dirty="0" smtClean="0"/>
              <a:t>Защитные механизмы: </a:t>
            </a:r>
            <a:r>
              <a:rPr lang="ru-RU" sz="3600" dirty="0" smtClean="0"/>
              <a:t>(привилегированные и непривилегированные команды)</a:t>
            </a:r>
          </a:p>
          <a:p>
            <a:pPr marL="981075" lvl="3">
              <a:lnSpc>
                <a:spcPct val="90000"/>
              </a:lnSpc>
            </a:pPr>
            <a:r>
              <a:rPr lang="ru-RU" sz="3600" b="1" dirty="0" smtClean="0"/>
              <a:t>Прерывания</a:t>
            </a:r>
          </a:p>
          <a:p>
            <a:pPr marL="1619250" lvl="4" indent="-400050" defTabSz="876300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3600" dirty="0" smtClean="0"/>
              <a:t>Внешние – (асинхронное событие)</a:t>
            </a:r>
          </a:p>
          <a:p>
            <a:pPr marL="1619250" lvl="4" indent="-400050" defTabSz="876300">
              <a:lnSpc>
                <a:spcPct val="90000"/>
              </a:lnSpc>
              <a:buFont typeface="Wingdings" pitchFamily="2" charset="2"/>
              <a:buChar char="Ø"/>
            </a:pPr>
            <a:r>
              <a:rPr lang="ru-RU" sz="3600" dirty="0" smtClean="0"/>
              <a:t>Внутренние (исключительные ситуации) – ошибки, нарушения защиты,…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96180" y="332805"/>
            <a:ext cx="8496300" cy="64792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253455"/>
            <a:ext cx="8640763" cy="4695825"/>
          </a:xfrm>
        </p:spPr>
        <p:txBody>
          <a:bodyPr>
            <a:normAutofit fontScale="92500" lnSpcReduction="10000"/>
          </a:bodyPr>
          <a:lstStyle/>
          <a:p>
            <a:r>
              <a:rPr lang="ru-RU" sz="3600" b="1" dirty="0" smtClean="0"/>
              <a:t>Мультипрограммирование</a:t>
            </a:r>
          </a:p>
          <a:p>
            <a:pPr marL="4214813" lvl="1"/>
            <a:r>
              <a:rPr lang="ru-RU" sz="3600" dirty="0" smtClean="0"/>
              <a:t>Для реализации потребовалось создание </a:t>
            </a:r>
            <a:r>
              <a:rPr lang="ru-RU" sz="3600" b="1" dirty="0" smtClean="0">
                <a:solidFill>
                  <a:srgbClr val="C00000"/>
                </a:solidFill>
              </a:rPr>
              <a:t>системы распределения памяти</a:t>
            </a:r>
            <a:r>
              <a:rPr lang="ru-RU" sz="3600" dirty="0" smtClean="0"/>
              <a:t>, когда каждая задача загружается в свой </a:t>
            </a:r>
            <a:r>
              <a:rPr lang="ru-RU" sz="3600" b="1" dirty="0" smtClean="0"/>
              <a:t>раздел</a:t>
            </a:r>
            <a:r>
              <a:rPr lang="ru-RU" sz="3600" dirty="0" smtClean="0"/>
              <a:t> (участок ОЗУ).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31985" r="27542" b="14815"/>
          <a:stretch>
            <a:fillRect/>
          </a:stretch>
        </p:blipFill>
        <p:spPr bwMode="auto">
          <a:xfrm>
            <a:off x="142875" y="2231107"/>
            <a:ext cx="4429125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40196" y="333375"/>
            <a:ext cx="8496300" cy="64735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0701" y="1270025"/>
            <a:ext cx="8713787" cy="5471343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3600" dirty="0" smtClean="0"/>
              <a:t>Мультипрограммирование привело к изменению ОС:</a:t>
            </a:r>
          </a:p>
          <a:p>
            <a:pPr lvl="1">
              <a:defRPr/>
            </a:pPr>
            <a:r>
              <a:rPr lang="ru-RU" b="1" i="1" dirty="0" smtClean="0">
                <a:solidFill>
                  <a:srgbClr val="0070C0"/>
                </a:solidFill>
              </a:rPr>
              <a:t>Системные вызовы</a:t>
            </a:r>
            <a:r>
              <a:rPr lang="ru-RU" b="1" dirty="0" smtClean="0"/>
              <a:t>, как интерфейс между ОС и прикладными программами</a:t>
            </a:r>
          </a:p>
          <a:p>
            <a:pPr lvl="1">
              <a:defRPr/>
            </a:pPr>
            <a:r>
              <a:rPr lang="ru-RU" b="1" i="1" dirty="0" smtClean="0">
                <a:solidFill>
                  <a:srgbClr val="0070C0"/>
                </a:solidFill>
              </a:rPr>
              <a:t>Планирование заданий</a:t>
            </a:r>
          </a:p>
          <a:p>
            <a:pPr lvl="1">
              <a:defRPr/>
            </a:pPr>
            <a:r>
              <a:rPr lang="ru-RU" b="1" dirty="0" smtClean="0"/>
              <a:t>Необходимость сохранения </a:t>
            </a:r>
            <a:r>
              <a:rPr lang="ru-RU" b="1" i="1" dirty="0" smtClean="0"/>
              <a:t>контекста</a:t>
            </a:r>
            <a:r>
              <a:rPr lang="ru-RU" b="1" dirty="0" smtClean="0"/>
              <a:t> (содержимого регистров и структур данных) при переключении задач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6180" y="405383"/>
            <a:ext cx="8496300" cy="64735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340768"/>
            <a:ext cx="8713787" cy="5256584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3600" dirty="0" smtClean="0"/>
              <a:t>Мультипрограммирование привело к изменению ОС:</a:t>
            </a:r>
          </a:p>
          <a:p>
            <a:pPr lvl="1">
              <a:defRPr/>
            </a:pPr>
            <a:r>
              <a:rPr lang="ru-RU" b="1" i="1" dirty="0" smtClean="0">
                <a:solidFill>
                  <a:srgbClr val="0070C0"/>
                </a:solidFill>
              </a:rPr>
              <a:t>Стратегии</a:t>
            </a:r>
            <a:r>
              <a:rPr lang="ru-RU" b="1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управления</a:t>
            </a:r>
            <a:r>
              <a:rPr lang="ru-RU" b="1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памятью</a:t>
            </a:r>
          </a:p>
          <a:p>
            <a:pPr lvl="1">
              <a:defRPr/>
            </a:pPr>
            <a:r>
              <a:rPr lang="ru-RU" b="1" dirty="0" smtClean="0"/>
              <a:t>Средства </a:t>
            </a:r>
            <a:r>
              <a:rPr lang="ru-RU" b="1" i="1" dirty="0" smtClean="0">
                <a:solidFill>
                  <a:srgbClr val="0070C0"/>
                </a:solidFill>
              </a:rPr>
              <a:t>коммуникации</a:t>
            </a:r>
            <a:r>
              <a:rPr lang="ru-RU" b="1" dirty="0" smtClean="0"/>
              <a:t> и </a:t>
            </a:r>
            <a:r>
              <a:rPr lang="ru-RU" b="1" i="1" dirty="0" smtClean="0">
                <a:solidFill>
                  <a:srgbClr val="0070C0"/>
                </a:solidFill>
              </a:rPr>
              <a:t>синхронизации</a:t>
            </a:r>
            <a:r>
              <a:rPr lang="ru-RU" b="1" dirty="0" smtClean="0"/>
              <a:t> между программами </a:t>
            </a:r>
          </a:p>
          <a:p>
            <a:pPr lvl="1">
              <a:defRPr/>
            </a:pPr>
            <a:r>
              <a:rPr lang="ru-RU" b="1" dirty="0" smtClean="0"/>
              <a:t>Появились </a:t>
            </a:r>
            <a:r>
              <a:rPr lang="ru-RU" b="1" i="1" dirty="0" smtClean="0">
                <a:solidFill>
                  <a:srgbClr val="0070C0"/>
                </a:solidFill>
              </a:rPr>
              <a:t>дисплеи</a:t>
            </a:r>
            <a:r>
              <a:rPr lang="ru-RU" b="1" dirty="0" smtClean="0"/>
              <a:t> на основе </a:t>
            </a:r>
            <a:r>
              <a:rPr lang="ru-RU" dirty="0" smtClean="0"/>
              <a:t>электронно-лучевой трубки</a:t>
            </a:r>
            <a:r>
              <a:rPr lang="ru-RU" b="1" dirty="0" smtClean="0"/>
              <a:t> </a:t>
            </a:r>
            <a:r>
              <a:rPr lang="ru-RU" b="1" dirty="0" smtClean="0"/>
              <a:t>и полноценные </a:t>
            </a:r>
            <a:r>
              <a:rPr lang="ru-RU" b="1" i="1" dirty="0" smtClean="0">
                <a:solidFill>
                  <a:srgbClr val="0070C0"/>
                </a:solidFill>
              </a:rPr>
              <a:t>клавиатуры</a:t>
            </a:r>
            <a:endParaRPr lang="ru-RU" b="1" dirty="0" smtClean="0">
              <a:solidFill>
                <a:srgbClr val="0070C0"/>
              </a:solidFill>
            </a:endParaRPr>
          </a:p>
          <a:p>
            <a:pPr lvl="1">
              <a:defRPr/>
            </a:pPr>
            <a:endParaRPr lang="ru-RU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6180" y="333375"/>
            <a:ext cx="8496300" cy="64735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124744"/>
            <a:ext cx="8713787" cy="5184576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ru-RU" sz="4000" b="1" dirty="0" smtClean="0"/>
              <a:t>Мультипрограммирование</a:t>
            </a:r>
            <a:r>
              <a:rPr lang="ru-RU" sz="4000" dirty="0" smtClean="0"/>
              <a:t> привело к появлению </a:t>
            </a:r>
            <a:r>
              <a:rPr lang="ru-RU" sz="4000" b="1" i="1" dirty="0" smtClean="0">
                <a:solidFill>
                  <a:srgbClr val="C00000"/>
                </a:solidFill>
              </a:rPr>
              <a:t>систем разделения времени </a:t>
            </a:r>
            <a:r>
              <a:rPr lang="ru-RU" sz="4000" dirty="0" smtClean="0"/>
              <a:t> (</a:t>
            </a:r>
            <a:r>
              <a:rPr lang="en-US" sz="4000" i="1" dirty="0" smtClean="0"/>
              <a:t>time-sharing</a:t>
            </a:r>
            <a:r>
              <a:rPr lang="ru-RU" sz="4000" i="1" dirty="0" smtClean="0"/>
              <a:t> </a:t>
            </a:r>
            <a:r>
              <a:rPr lang="en-US" sz="4000" dirty="0" smtClean="0"/>
              <a:t>–</a:t>
            </a:r>
            <a:r>
              <a:rPr lang="ru-RU" sz="4000" dirty="0" smtClean="0"/>
              <a:t>системы),</a:t>
            </a:r>
            <a:endParaRPr lang="ru-RU" sz="4000" b="1" dirty="0" smtClean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  <a:defRPr/>
            </a:pPr>
            <a:r>
              <a:rPr lang="ru-RU" sz="3600" b="1" dirty="0" smtClean="0"/>
              <a:t>Процессор переключается между задачами не только во время операций ввода-вывода, но и просто через </a:t>
            </a:r>
            <a:r>
              <a:rPr lang="ru-RU" b="1" dirty="0" smtClean="0">
                <a:solidFill>
                  <a:srgbClr val="0070C0"/>
                </a:solidFill>
              </a:rPr>
              <a:t>определенные промежутки времени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9359"/>
            <a:ext cx="8496300" cy="719361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341363"/>
            <a:ext cx="8713787" cy="5183981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ru-RU" sz="4000" b="1" dirty="0" smtClean="0"/>
              <a:t>Системы разделения времени</a:t>
            </a:r>
          </a:p>
          <a:p>
            <a:pPr lvl="1">
              <a:lnSpc>
                <a:spcPct val="90000"/>
              </a:lnSpc>
              <a:defRPr/>
            </a:pPr>
            <a:r>
              <a:rPr lang="ru-RU" b="1" i="1" dirty="0" smtClean="0">
                <a:solidFill>
                  <a:srgbClr val="0070C0"/>
                </a:solidFill>
              </a:rPr>
              <a:t>Многопользовательский</a:t>
            </a:r>
            <a:r>
              <a:rPr lang="ru-RU" b="1" i="1" dirty="0" smtClean="0"/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режим</a:t>
            </a:r>
          </a:p>
          <a:p>
            <a:pPr lvl="1">
              <a:lnSpc>
                <a:spcPct val="90000"/>
              </a:lnSpc>
              <a:defRPr/>
            </a:pPr>
            <a:r>
              <a:rPr lang="ru-RU" b="1" dirty="0" smtClean="0"/>
              <a:t>Механизм </a:t>
            </a:r>
            <a:r>
              <a:rPr lang="ru-RU" b="1" i="1" dirty="0" smtClean="0">
                <a:solidFill>
                  <a:srgbClr val="0070C0"/>
                </a:solidFill>
              </a:rPr>
              <a:t>виртуальной</a:t>
            </a:r>
            <a:r>
              <a:rPr lang="ru-RU" b="1" i="1" dirty="0" smtClean="0"/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памяти</a:t>
            </a:r>
          </a:p>
          <a:p>
            <a:pPr lvl="1">
              <a:lnSpc>
                <a:spcPct val="90000"/>
              </a:lnSpc>
              <a:defRPr/>
            </a:pPr>
            <a:r>
              <a:rPr lang="ru-RU" b="1" dirty="0" smtClean="0"/>
              <a:t>Развитые </a:t>
            </a:r>
            <a:r>
              <a:rPr lang="ru-RU" b="1" i="1" dirty="0" smtClean="0">
                <a:solidFill>
                  <a:srgbClr val="0070C0"/>
                </a:solidFill>
              </a:rPr>
              <a:t>файловые</a:t>
            </a:r>
            <a:r>
              <a:rPr lang="ru-RU" b="1" i="1" dirty="0" smtClean="0"/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системы</a:t>
            </a:r>
            <a:endParaRPr lang="en-US" b="1" i="1" dirty="0" smtClean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defRPr/>
            </a:pPr>
            <a:endParaRPr lang="en-US" sz="1000" b="1" i="1" dirty="0" smtClean="0"/>
          </a:p>
          <a:p>
            <a:pPr lvl="1">
              <a:lnSpc>
                <a:spcPct val="90000"/>
              </a:lnSpc>
              <a:buFontTx/>
              <a:buNone/>
              <a:defRPr/>
            </a:pPr>
            <a:r>
              <a:rPr lang="ru-RU" b="1" dirty="0" smtClean="0"/>
              <a:t>Одна из первых многопользовательских систем – система </a:t>
            </a:r>
            <a:r>
              <a:rPr lang="en-US" b="1" dirty="0" smtClean="0">
                <a:solidFill>
                  <a:srgbClr val="660066"/>
                </a:solidFill>
              </a:rPr>
              <a:t>MULTICS</a:t>
            </a:r>
            <a:r>
              <a:rPr lang="ru-RU" b="1" dirty="0" smtClean="0"/>
              <a:t> (</a:t>
            </a:r>
            <a:r>
              <a:rPr lang="en-US" b="1" dirty="0" err="1" smtClean="0">
                <a:latin typeface="Calibri" pitchFamily="34" charset="0"/>
              </a:rPr>
              <a:t>MULTiplexed</a:t>
            </a:r>
            <a:r>
              <a:rPr lang="en-US" b="1" dirty="0" smtClean="0">
                <a:latin typeface="Calibri" pitchFamily="34" charset="0"/>
              </a:rPr>
              <a:t> Information and Computing service)</a:t>
            </a:r>
            <a:r>
              <a:rPr lang="ru-RU" b="1" dirty="0" smtClean="0">
                <a:latin typeface="Calibri" pitchFamily="34" charset="0"/>
              </a:rPr>
              <a:t> </a:t>
            </a:r>
          </a:p>
          <a:p>
            <a:pPr lvl="1">
              <a:lnSpc>
                <a:spcPct val="90000"/>
              </a:lnSpc>
              <a:buFontTx/>
              <a:buNone/>
              <a:defRPr/>
            </a:pPr>
            <a:r>
              <a:rPr lang="ru-RU" b="1" dirty="0" smtClean="0"/>
              <a:t>В дальнейшем эта работа развилась в систему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UNIX</a:t>
            </a:r>
            <a:endParaRPr lang="ru-RU" b="1" dirty="0" smtClean="0"/>
          </a:p>
          <a:p>
            <a:pPr lvl="1">
              <a:lnSpc>
                <a:spcPct val="90000"/>
              </a:lnSpc>
              <a:buFontTx/>
              <a:buNone/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6180" y="333375"/>
            <a:ext cx="8496300" cy="575345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314822"/>
            <a:ext cx="8964612" cy="5354538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dirty="0" smtClean="0"/>
              <a:t>Множество разновидностей несовместимых </a:t>
            </a:r>
            <a:r>
              <a:rPr lang="en-US" dirty="0" smtClean="0"/>
              <a:t>UNIX</a:t>
            </a:r>
            <a:r>
              <a:rPr lang="ru-RU" dirty="0" smtClean="0"/>
              <a:t>, основные: </a:t>
            </a:r>
          </a:p>
          <a:p>
            <a:pPr lvl="1">
              <a:defRPr/>
            </a:pPr>
            <a:r>
              <a:rPr lang="en-US" b="1" dirty="0" smtClean="0">
                <a:ea typeface="+mn-ea"/>
              </a:rPr>
              <a:t>System V </a:t>
            </a:r>
            <a:r>
              <a:rPr lang="ru-RU" dirty="0" smtClean="0">
                <a:ea typeface="+mn-ea"/>
              </a:rPr>
              <a:t>корпорации </a:t>
            </a:r>
            <a:r>
              <a:rPr lang="en-US" b="1" dirty="0" smtClean="0">
                <a:ea typeface="+mn-ea"/>
              </a:rPr>
              <a:t>AT&amp;T</a:t>
            </a:r>
            <a:r>
              <a:rPr lang="en-US" dirty="0" smtClean="0">
                <a:ea typeface="+mn-ea"/>
              </a:rPr>
              <a:t>; </a:t>
            </a:r>
            <a:endParaRPr lang="ru-RU" dirty="0" smtClean="0">
              <a:ea typeface="+mn-ea"/>
            </a:endParaRPr>
          </a:p>
          <a:p>
            <a:pPr lvl="1">
              <a:defRPr/>
            </a:pPr>
            <a:r>
              <a:rPr lang="en-US" b="1" dirty="0" smtClean="0">
                <a:ea typeface="+mn-ea"/>
              </a:rPr>
              <a:t>BSD </a:t>
            </a:r>
            <a:r>
              <a:rPr lang="ru-RU" dirty="0" smtClean="0">
                <a:ea typeface="+mn-ea"/>
              </a:rPr>
              <a:t>(</a:t>
            </a:r>
            <a:r>
              <a:rPr lang="en-US" dirty="0" smtClean="0">
                <a:ea typeface="+mn-ea"/>
              </a:rPr>
              <a:t>Berkeley Software Distribution</a:t>
            </a:r>
            <a:r>
              <a:rPr lang="ru-RU" dirty="0" smtClean="0">
                <a:ea typeface="+mn-ea"/>
              </a:rPr>
              <a:t>) Калифорнийского университета Беркли. </a:t>
            </a:r>
          </a:p>
          <a:p>
            <a:pPr>
              <a:defRPr/>
            </a:pPr>
            <a:r>
              <a:rPr lang="ru-RU" dirty="0" smtClean="0"/>
              <a:t>Для написания универсальных программ, работающих в любой </a:t>
            </a:r>
            <a:r>
              <a:rPr lang="en-US" dirty="0" smtClean="0"/>
              <a:t>UNIX</a:t>
            </a:r>
            <a:r>
              <a:rPr lang="ru-RU" dirty="0" smtClean="0"/>
              <a:t>-системе, разработан </a:t>
            </a:r>
            <a:r>
              <a:rPr lang="ru-RU" b="1" dirty="0" smtClean="0"/>
              <a:t>стандарт </a:t>
            </a:r>
            <a:r>
              <a:rPr lang="en-US" dirty="0" smtClean="0">
                <a:solidFill>
                  <a:srgbClr val="0070C0"/>
                </a:solidFill>
              </a:rPr>
              <a:t>POSIX</a:t>
            </a:r>
            <a:r>
              <a:rPr lang="ru-RU" dirty="0" smtClean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6180" y="261367"/>
            <a:ext cx="8496300" cy="575345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bIns="91440" anchor="b" anchorCtr="0">
            <a:no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3-й период (1965-1980)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70806"/>
            <a:ext cx="8785225" cy="5354538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3600" dirty="0" smtClean="0"/>
              <a:t>Стандарт </a:t>
            </a:r>
            <a:r>
              <a:rPr lang="en-US" sz="3600" b="1" dirty="0" smtClean="0"/>
              <a:t>POSIX</a:t>
            </a:r>
            <a:r>
              <a:rPr lang="ru-RU" sz="3600" dirty="0" smtClean="0"/>
              <a:t> переделяет минимальный интерфейс системного вызова, который должны поддерживать совместимые системы </a:t>
            </a:r>
            <a:r>
              <a:rPr lang="en-US" sz="3600" dirty="0" smtClean="0"/>
              <a:t>UNIX</a:t>
            </a:r>
            <a:r>
              <a:rPr lang="ru-RU" sz="3600" dirty="0" smtClean="0"/>
              <a:t>. </a:t>
            </a:r>
          </a:p>
          <a:p>
            <a:pPr lvl="1">
              <a:lnSpc>
                <a:spcPct val="90000"/>
              </a:lnSpc>
              <a:buFontTx/>
              <a:buNone/>
              <a:defRPr/>
            </a:pPr>
            <a:endParaRPr lang="ru-RU" sz="3600" dirty="0"/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2124744" y="3717032"/>
            <a:ext cx="5903640" cy="2554545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b="1" dirty="0">
                <a:latin typeface="Calibri" pitchFamily="34" charset="0"/>
              </a:rPr>
              <a:t>UNIX → </a:t>
            </a:r>
            <a:endParaRPr lang="ru-RU" sz="4000" b="1" dirty="0" smtClean="0">
              <a:latin typeface="Calibri" pitchFamily="34" charset="0"/>
            </a:endParaRPr>
          </a:p>
          <a:p>
            <a:r>
              <a:rPr lang="ru-RU" sz="4000" b="1" dirty="0" smtClean="0">
                <a:latin typeface="Calibri" pitchFamily="34" charset="0"/>
              </a:rPr>
              <a:t>     </a:t>
            </a:r>
            <a:r>
              <a:rPr lang="en-US" sz="4000" b="1" dirty="0" smtClean="0">
                <a:latin typeface="Calibri" pitchFamily="34" charset="0"/>
              </a:rPr>
              <a:t>POSIX </a:t>
            </a:r>
            <a:r>
              <a:rPr lang="en-US" sz="4000" b="1" dirty="0">
                <a:latin typeface="Calibri" pitchFamily="34" charset="0"/>
              </a:rPr>
              <a:t>→ </a:t>
            </a:r>
            <a:endParaRPr lang="ru-RU" sz="4000" b="1" dirty="0" smtClean="0">
              <a:latin typeface="Calibri" pitchFamily="34" charset="0"/>
            </a:endParaRPr>
          </a:p>
          <a:p>
            <a:r>
              <a:rPr lang="ru-RU" sz="4000" b="1" dirty="0" smtClean="0">
                <a:latin typeface="Calibri" pitchFamily="34" charset="0"/>
              </a:rPr>
              <a:t>        </a:t>
            </a:r>
            <a:r>
              <a:rPr lang="en-US" sz="4000" b="1" dirty="0" smtClean="0">
                <a:latin typeface="Calibri" pitchFamily="34" charset="0"/>
              </a:rPr>
              <a:t>MINIX </a:t>
            </a:r>
            <a:r>
              <a:rPr lang="ru-RU" sz="4000" b="1" dirty="0">
                <a:latin typeface="Calibri" pitchFamily="34" charset="0"/>
              </a:rPr>
              <a:t>(1987)</a:t>
            </a:r>
            <a:r>
              <a:rPr lang="en-US" sz="4000" b="1" dirty="0">
                <a:latin typeface="Calibri" pitchFamily="34" charset="0"/>
              </a:rPr>
              <a:t>→ </a:t>
            </a:r>
            <a:endParaRPr lang="ru-RU" sz="4000" b="1" dirty="0" smtClean="0">
              <a:latin typeface="Calibri" pitchFamily="34" charset="0"/>
            </a:endParaRPr>
          </a:p>
          <a:p>
            <a:r>
              <a:rPr lang="ru-RU" sz="4000" b="1" dirty="0" smtClean="0">
                <a:latin typeface="Calibri" pitchFamily="34" charset="0"/>
              </a:rPr>
              <a:t>                   </a:t>
            </a:r>
            <a:r>
              <a:rPr lang="en-US" sz="4000" b="1" dirty="0" smtClean="0">
                <a:latin typeface="Calibri" pitchFamily="34" charset="0"/>
              </a:rPr>
              <a:t>LINUX</a:t>
            </a:r>
            <a:r>
              <a:rPr lang="ru-RU" sz="4000" b="1" dirty="0" smtClean="0">
                <a:latin typeface="Calibri" pitchFamily="34" charset="0"/>
              </a:rPr>
              <a:t> </a:t>
            </a:r>
            <a:r>
              <a:rPr lang="ru-RU" sz="4000" b="1" dirty="0">
                <a:latin typeface="Calibri" pitchFamily="34" charset="0"/>
              </a:rPr>
              <a:t>(1991)</a:t>
            </a:r>
            <a:endParaRPr lang="ru-RU" sz="40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476672"/>
            <a:ext cx="8532813" cy="1223963"/>
          </a:xfrm>
          <a:noFill/>
        </p:spPr>
        <p:txBody>
          <a:bodyPr/>
          <a:lstStyle/>
          <a:p>
            <a:r>
              <a:rPr lang="ru-RU" sz="4800" b="1" dirty="0" smtClean="0">
                <a:solidFill>
                  <a:srgbClr val="C00000"/>
                </a:solidFill>
              </a:rPr>
              <a:t>История операционных систем</a:t>
            </a:r>
            <a:endParaRPr lang="ru-RU" sz="4800" dirty="0" smtClean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23528" y="2276872"/>
            <a:ext cx="8532813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4400" b="1" dirty="0" smtClean="0">
                <a:solidFill>
                  <a:schemeClr val="accent2"/>
                </a:solidFill>
              </a:rPr>
              <a:t>4-й </a:t>
            </a:r>
            <a:r>
              <a:rPr lang="ru-RU" sz="4400" b="1" dirty="0">
                <a:solidFill>
                  <a:schemeClr val="accent2"/>
                </a:solidFill>
              </a:rPr>
              <a:t>период </a:t>
            </a:r>
            <a:r>
              <a:rPr lang="ru-RU" sz="4400" b="1" dirty="0" smtClean="0">
                <a:solidFill>
                  <a:schemeClr val="accent2"/>
                </a:solidFill>
              </a:rPr>
              <a:t>(1980-настоящее время): </a:t>
            </a:r>
            <a:r>
              <a:rPr lang="ru-RU" sz="4400" b="1" i="1" dirty="0" smtClean="0"/>
              <a:t>Персональные компьютеры. Классические, сетевые и распределенные системы</a:t>
            </a:r>
            <a:r>
              <a:rPr lang="ru-RU" sz="4400" b="1" dirty="0" smtClean="0"/>
              <a:t>)</a:t>
            </a:r>
            <a:endParaRPr kumimoji="0" lang="ru-RU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4728560"/>
            <a:ext cx="1656184" cy="166207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4653136"/>
            <a:ext cx="2122641" cy="15927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496300" cy="647799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pPr>
              <a:defRPr/>
            </a:pPr>
            <a:r>
              <a:rPr lang="ru-RU" sz="3600" b="1" dirty="0" smtClean="0">
                <a:solidFill>
                  <a:schemeClr val="accent2"/>
                </a:solidFill>
              </a:rPr>
              <a:t>4-й период (1980 по настоящее время)</a:t>
            </a:r>
            <a:endParaRPr lang="ru-RU" sz="3600" dirty="0" smtClean="0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268760"/>
            <a:ext cx="8568952" cy="5184576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438150" lvl="1">
              <a:lnSpc>
                <a:spcPct val="90000"/>
              </a:lnSpc>
              <a:defRPr/>
            </a:pPr>
            <a:r>
              <a:rPr lang="ru-RU" sz="4000" b="1" dirty="0" smtClean="0">
                <a:solidFill>
                  <a:srgbClr val="0070C0"/>
                </a:solidFill>
              </a:rPr>
              <a:t>БИС (большая интегральная система)</a:t>
            </a:r>
            <a:endParaRPr lang="ru-RU" sz="4000" b="1" dirty="0" smtClean="0">
              <a:solidFill>
                <a:srgbClr val="0070C0"/>
              </a:solidFill>
            </a:endParaRPr>
          </a:p>
          <a:p>
            <a:pPr lvl="2">
              <a:lnSpc>
                <a:spcPct val="90000"/>
              </a:lnSpc>
              <a:defRPr/>
            </a:pPr>
            <a:r>
              <a:rPr lang="ru-RU" sz="3600" b="1" dirty="0" smtClean="0"/>
              <a:t>Возрастание степени интеграции</a:t>
            </a:r>
          </a:p>
          <a:p>
            <a:pPr lvl="2">
              <a:lnSpc>
                <a:spcPct val="90000"/>
              </a:lnSpc>
              <a:defRPr/>
            </a:pPr>
            <a:r>
              <a:rPr lang="ru-RU" sz="3600" b="1" dirty="0" smtClean="0"/>
              <a:t>Очередное удешевление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ru-RU" sz="4000" b="1" dirty="0" smtClean="0">
                <a:solidFill>
                  <a:srgbClr val="0070C0"/>
                </a:solidFill>
              </a:rPr>
              <a:t>Персональные компьютеры</a:t>
            </a:r>
          </a:p>
          <a:p>
            <a:pPr marL="838200" lvl="2">
              <a:lnSpc>
                <a:spcPct val="90000"/>
              </a:lnSpc>
              <a:defRPr/>
            </a:pPr>
            <a:r>
              <a:rPr lang="ru-RU" sz="3600" b="1" dirty="0" smtClean="0"/>
              <a:t>«Дружественный», интуитивно понятный интерфейс</a:t>
            </a:r>
          </a:p>
          <a:p>
            <a:pPr marL="838200" lvl="2">
              <a:lnSpc>
                <a:spcPct val="90000"/>
              </a:lnSpc>
              <a:defRPr/>
            </a:pPr>
            <a:r>
              <a:rPr lang="ru-RU" sz="3600" b="1" dirty="0" smtClean="0"/>
              <a:t>Автономные (классические), сетевые и распределенные ОС</a:t>
            </a:r>
          </a:p>
          <a:p>
            <a:pPr marL="838200" lvl="2">
              <a:lnSpc>
                <a:spcPct val="90000"/>
              </a:lnSpc>
              <a:defRPr/>
            </a:pPr>
            <a:endParaRPr lang="ru-RU" sz="3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496300" cy="719807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3200" b="1" dirty="0" smtClean="0">
                <a:solidFill>
                  <a:schemeClr val="accent2"/>
                </a:solidFill>
              </a:rPr>
              <a:t>4-й период (1980 по настоящее время)</a:t>
            </a:r>
            <a:endParaRPr lang="ru-RU" sz="3200" dirty="0" smtClean="0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96752"/>
            <a:ext cx="8713788" cy="4752528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438150" lvl="1">
              <a:lnSpc>
                <a:spcPct val="90000"/>
              </a:lnSpc>
              <a:defRPr/>
            </a:pPr>
            <a:r>
              <a:rPr lang="en-US" b="1" dirty="0" smtClean="0">
                <a:solidFill>
                  <a:srgbClr val="C00000"/>
                </a:solidFill>
              </a:rPr>
              <a:t>MS DOS </a:t>
            </a:r>
            <a:r>
              <a:rPr lang="en-US" b="1" dirty="0" smtClean="0"/>
              <a:t>(</a:t>
            </a:r>
            <a:r>
              <a:rPr lang="ru-RU" b="1" dirty="0" smtClean="0"/>
              <a:t>начало 80-х гг.</a:t>
            </a:r>
            <a:r>
              <a:rPr lang="en-US" b="1" dirty="0" smtClean="0"/>
              <a:t>)</a:t>
            </a:r>
            <a:r>
              <a:rPr lang="ru-RU" b="1" dirty="0" smtClean="0"/>
              <a:t> – основная ОС для микрокомпьютеров</a:t>
            </a:r>
          </a:p>
          <a:p>
            <a:pPr marL="438150" lvl="1">
              <a:lnSpc>
                <a:spcPct val="90000"/>
              </a:lnSpc>
              <a:defRPr/>
            </a:pPr>
            <a:endParaRPr lang="ru-RU" sz="2000" b="1" dirty="0" smtClean="0"/>
          </a:p>
          <a:p>
            <a:pPr marL="438150" lvl="1">
              <a:lnSpc>
                <a:spcPct val="90000"/>
              </a:lnSpc>
              <a:defRPr/>
            </a:pPr>
            <a:r>
              <a:rPr lang="ru-RU" b="1" dirty="0" smtClean="0">
                <a:solidFill>
                  <a:srgbClr val="C00000"/>
                </a:solidFill>
              </a:rPr>
              <a:t>Графический интерфейс пользователя</a:t>
            </a:r>
            <a:r>
              <a:rPr lang="ru-RU" b="1" dirty="0" smtClean="0">
                <a:solidFill>
                  <a:srgbClr val="0070C0"/>
                </a:solidFill>
              </a:rPr>
              <a:t> </a:t>
            </a:r>
            <a:r>
              <a:rPr lang="ru-RU" b="1" dirty="0" smtClean="0"/>
              <a:t>(</a:t>
            </a:r>
            <a:r>
              <a:rPr lang="en-US" b="1" dirty="0" smtClean="0"/>
              <a:t>GUI – Graphical User Interface</a:t>
            </a:r>
            <a:r>
              <a:rPr lang="ru-RU" b="1" dirty="0" smtClean="0"/>
              <a:t>)</a:t>
            </a:r>
            <a:r>
              <a:rPr lang="en-US" b="1" dirty="0" smtClean="0"/>
              <a:t> –</a:t>
            </a:r>
            <a:r>
              <a:rPr lang="ru-RU" b="1" dirty="0" smtClean="0"/>
              <a:t> корпорация </a:t>
            </a:r>
            <a:r>
              <a:rPr lang="en-US" b="1" dirty="0" smtClean="0"/>
              <a:t>Macintosh – 1984 </a:t>
            </a:r>
            <a:r>
              <a:rPr lang="ru-RU" b="1" dirty="0" smtClean="0"/>
              <a:t>г.</a:t>
            </a:r>
          </a:p>
          <a:p>
            <a:pPr marL="438150" lvl="1">
              <a:lnSpc>
                <a:spcPct val="90000"/>
              </a:lnSpc>
              <a:defRPr/>
            </a:pPr>
            <a:endParaRPr lang="ru-RU" sz="2400" b="1" dirty="0" smtClean="0"/>
          </a:p>
          <a:p>
            <a:pPr marL="438150" lvl="1">
              <a:lnSpc>
                <a:spcPct val="90000"/>
              </a:lnSpc>
              <a:defRPr/>
            </a:pPr>
            <a:r>
              <a:rPr lang="en-US" b="1" dirty="0" smtClean="0">
                <a:solidFill>
                  <a:srgbClr val="C00000"/>
                </a:solidFill>
              </a:rPr>
              <a:t>WINDOWS</a:t>
            </a:r>
            <a:r>
              <a:rPr lang="ru-RU" b="1" dirty="0" smtClean="0"/>
              <a:t> (с 1985 г)</a:t>
            </a:r>
            <a:endParaRPr lang="ru-RU" sz="4000" b="1" dirty="0" smtClean="0"/>
          </a:p>
          <a:p>
            <a:pPr marL="838200" lvl="2">
              <a:lnSpc>
                <a:spcPct val="90000"/>
              </a:lnSpc>
              <a:defRPr/>
            </a:pPr>
            <a:endParaRPr lang="ru-RU" b="1" dirty="0" smtClean="0"/>
          </a:p>
        </p:txBody>
      </p:sp>
      <p:sp>
        <p:nvSpPr>
          <p:cNvPr id="4" name="Управляющая кнопка: настраиваемая 3">
            <a:hlinkClick r:id="" action="ppaction://hlinkshowjump?jump=nextslide" highlightClick="1"/>
          </p:cNvPr>
          <p:cNvSpPr/>
          <p:nvPr/>
        </p:nvSpPr>
        <p:spPr>
          <a:xfrm>
            <a:off x="5940152" y="5517232"/>
            <a:ext cx="2592288" cy="720080"/>
          </a:xfrm>
          <a:prstGeom prst="actionButtonBlank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См. Эволюция ОС </a:t>
            </a:r>
            <a:r>
              <a:rPr lang="en-US" dirty="0" smtClean="0"/>
              <a:t>Windows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9359"/>
            <a:ext cx="8642350" cy="64735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3200" b="1" dirty="0" smtClean="0">
                <a:solidFill>
                  <a:schemeClr val="accent2"/>
                </a:solidFill>
              </a:rPr>
              <a:t>4-й период (1980 по настоящее время)</a:t>
            </a:r>
            <a:endParaRPr lang="ru-RU" sz="3200" dirty="0" smtClean="0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43891" y="1268760"/>
            <a:ext cx="8964613" cy="5256584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pPr marL="438150" lvl="1">
              <a:lnSpc>
                <a:spcPct val="90000"/>
              </a:lnSpc>
              <a:defRPr/>
            </a:pPr>
            <a:r>
              <a:rPr lang="ru-RU" sz="4000" b="1" dirty="0" smtClean="0">
                <a:solidFill>
                  <a:srgbClr val="C00000"/>
                </a:solidFill>
              </a:rPr>
              <a:t>Сетевая операционная система </a:t>
            </a:r>
            <a:r>
              <a:rPr lang="ru-RU" sz="4000" b="1" dirty="0" smtClean="0"/>
              <a:t>– </a:t>
            </a:r>
            <a:r>
              <a:rPr lang="ru-RU" b="1" dirty="0" smtClean="0"/>
              <a:t>не имеет отличий от ОС однопроцессорного компьютера. 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ru-RU" b="1" dirty="0" smtClean="0"/>
              <a:t>Обязательно содержит:</a:t>
            </a:r>
          </a:p>
          <a:p>
            <a:pPr marL="838200" lvl="2">
              <a:lnSpc>
                <a:spcPct val="90000"/>
              </a:lnSpc>
              <a:defRPr/>
            </a:pPr>
            <a:r>
              <a:rPr lang="ru-RU" sz="3600" b="1" dirty="0" smtClean="0"/>
              <a:t>программную поддержку для сетевых интерфейсных устройств (драйвер сетевого адаптера), </a:t>
            </a:r>
          </a:p>
          <a:p>
            <a:pPr marL="838200" lvl="2">
              <a:lnSpc>
                <a:spcPct val="90000"/>
              </a:lnSpc>
              <a:defRPr/>
            </a:pPr>
            <a:r>
              <a:rPr lang="ru-RU" sz="3600" b="1" dirty="0" smtClean="0"/>
              <a:t>средства для удаленного входа в другие компьютеры сети </a:t>
            </a:r>
          </a:p>
          <a:p>
            <a:pPr marL="838200" lvl="2">
              <a:lnSpc>
                <a:spcPct val="90000"/>
              </a:lnSpc>
              <a:defRPr/>
            </a:pPr>
            <a:r>
              <a:rPr lang="ru-RU" sz="3600" b="1" dirty="0" smtClean="0"/>
              <a:t>средства доступа к удаленным файлам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640"/>
            <a:ext cx="8642350" cy="64735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3200" b="1" dirty="0" smtClean="0">
                <a:solidFill>
                  <a:schemeClr val="accent2"/>
                </a:solidFill>
              </a:rPr>
              <a:t>4-й период (1980 по настоящее время)</a:t>
            </a:r>
            <a:endParaRPr lang="ru-RU" sz="3200" dirty="0" smtClean="0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5496" y="1268760"/>
            <a:ext cx="8964488" cy="5472608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438150" lvl="1">
              <a:lnSpc>
                <a:spcPct val="90000"/>
              </a:lnSpc>
              <a:defRPr/>
            </a:pPr>
            <a:r>
              <a:rPr lang="ru-RU" sz="4000" b="1" dirty="0" smtClean="0">
                <a:solidFill>
                  <a:srgbClr val="C00000"/>
                </a:solidFill>
              </a:rPr>
              <a:t>Распределенная ОС </a:t>
            </a:r>
            <a:r>
              <a:rPr lang="ru-RU" sz="4000" b="1" dirty="0" smtClean="0"/>
              <a:t>– </a:t>
            </a:r>
            <a:r>
              <a:rPr lang="ru-RU" b="1" i="1" dirty="0" smtClean="0"/>
              <a:t>представляется пользователям традиционной однопроцессорной системой, хотя она и составлена из множества процессоров. 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ru-RU" b="1" dirty="0" smtClean="0"/>
              <a:t>Пользователи могут не беспокоиться о том, где работают их программы или где расположены файлы; 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ru-RU" b="1" dirty="0" smtClean="0"/>
              <a:t>все автоматически и эффективно обрабатывается ОС.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496300" cy="791815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3200" b="1" dirty="0" smtClean="0">
                <a:solidFill>
                  <a:schemeClr val="accent2"/>
                </a:solidFill>
              </a:rPr>
              <a:t>4-й период (1980 по настоящее время)</a:t>
            </a:r>
            <a:endParaRPr lang="ru-RU" sz="3200" dirty="0" smtClean="0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15690"/>
            <a:ext cx="8713788" cy="4777606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438150" lvl="1">
              <a:lnSpc>
                <a:spcPct val="90000"/>
              </a:lnSpc>
              <a:defRPr/>
            </a:pPr>
            <a:r>
              <a:rPr lang="en-US" sz="3200" b="1" dirty="0" smtClean="0"/>
              <a:t>WINDOWS NT</a:t>
            </a:r>
            <a:r>
              <a:rPr lang="en-US" sz="3200" dirty="0" smtClean="0"/>
              <a:t> (New Technology</a:t>
            </a:r>
            <a:r>
              <a:rPr lang="ru-RU" sz="3200" dirty="0" smtClean="0"/>
              <a:t> – 1993 г.</a:t>
            </a:r>
            <a:r>
              <a:rPr lang="en-US" sz="3200" dirty="0" smtClean="0"/>
              <a:t>)</a:t>
            </a:r>
            <a:endParaRPr lang="ru-RU" sz="3200" b="1" dirty="0" smtClean="0"/>
          </a:p>
          <a:p>
            <a:pPr marL="438150" lvl="1">
              <a:lnSpc>
                <a:spcPct val="90000"/>
              </a:lnSpc>
              <a:defRPr/>
            </a:pPr>
            <a:r>
              <a:rPr lang="en-US" sz="3200" b="1" dirty="0" smtClean="0"/>
              <a:t>WINDOWS</a:t>
            </a:r>
            <a:r>
              <a:rPr lang="ru-RU" sz="3200" dirty="0" smtClean="0"/>
              <a:t> 95 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en-US" b="1" dirty="0" smtClean="0"/>
              <a:t>WINDOWS</a:t>
            </a:r>
            <a:r>
              <a:rPr lang="ru-RU" dirty="0" smtClean="0"/>
              <a:t> 98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ru-RU" dirty="0" smtClean="0"/>
              <a:t> </a:t>
            </a:r>
            <a:r>
              <a:rPr lang="en-US" b="1" dirty="0" smtClean="0"/>
              <a:t>WINDOWS</a:t>
            </a:r>
            <a:r>
              <a:rPr lang="ru-RU" dirty="0" smtClean="0"/>
              <a:t> 2000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en-US" b="1" dirty="0" smtClean="0"/>
              <a:t>WINDOWS</a:t>
            </a:r>
            <a:r>
              <a:rPr lang="ru-RU" dirty="0" smtClean="0"/>
              <a:t> </a:t>
            </a:r>
            <a:r>
              <a:rPr lang="en-US" dirty="0" smtClean="0"/>
              <a:t>XP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en-US" b="1" dirty="0" smtClean="0"/>
              <a:t>WINDOWS</a:t>
            </a:r>
            <a:r>
              <a:rPr lang="ru-RU" dirty="0" smtClean="0"/>
              <a:t> </a:t>
            </a:r>
            <a:r>
              <a:rPr lang="en-US" dirty="0" smtClean="0"/>
              <a:t>VISTA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en-US" b="1" dirty="0" smtClean="0"/>
              <a:t>WINDOWS</a:t>
            </a:r>
            <a:r>
              <a:rPr lang="ru-RU" dirty="0" smtClean="0"/>
              <a:t> </a:t>
            </a:r>
            <a:r>
              <a:rPr lang="en-US" dirty="0" smtClean="0"/>
              <a:t>seven</a:t>
            </a:r>
            <a:endParaRPr lang="ru-RU" dirty="0" smtClean="0"/>
          </a:p>
          <a:p>
            <a:pPr marL="438150" lvl="1">
              <a:lnSpc>
                <a:spcPct val="90000"/>
              </a:lnSpc>
              <a:defRPr/>
            </a:pPr>
            <a:r>
              <a:rPr lang="en-US" b="1" dirty="0" smtClean="0"/>
              <a:t>WINDOWS</a:t>
            </a:r>
            <a:r>
              <a:rPr lang="ru-RU" dirty="0" smtClean="0"/>
              <a:t> 8, 8.1</a:t>
            </a:r>
          </a:p>
          <a:p>
            <a:pPr marL="438150" lvl="1">
              <a:lnSpc>
                <a:spcPct val="90000"/>
              </a:lnSpc>
              <a:defRPr/>
            </a:pPr>
            <a:r>
              <a:rPr lang="en-US" b="1" dirty="0" smtClean="0"/>
              <a:t>WINDOWS</a:t>
            </a:r>
            <a:r>
              <a:rPr lang="ru-RU" dirty="0" smtClean="0"/>
              <a:t> 10</a:t>
            </a:r>
          </a:p>
          <a:p>
            <a:pPr marL="438150" lvl="1">
              <a:lnSpc>
                <a:spcPct val="90000"/>
              </a:lnSpc>
              <a:defRPr/>
            </a:pPr>
            <a:endParaRPr lang="ru-RU" dirty="0" smtClean="0"/>
          </a:p>
          <a:p>
            <a:pPr marL="438150" lvl="1">
              <a:lnSpc>
                <a:spcPct val="90000"/>
              </a:lnSpc>
              <a:defRPr/>
            </a:pPr>
            <a:endParaRPr lang="ru-RU" dirty="0" smtClean="0"/>
          </a:p>
          <a:p>
            <a:pPr marL="438150" lvl="1">
              <a:lnSpc>
                <a:spcPct val="90000"/>
              </a:lnSpc>
              <a:defRPr/>
            </a:pPr>
            <a:endParaRPr lang="ru-RU" dirty="0" smtClean="0"/>
          </a:p>
          <a:p>
            <a:pPr marL="838200" lvl="2">
              <a:lnSpc>
                <a:spcPct val="90000"/>
              </a:lnSpc>
              <a:defRPr/>
            </a:pPr>
            <a:endParaRPr lang="ru-RU" sz="2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8435280" cy="864096"/>
          </a:xfr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chemeClr val="accent2">
                    <a:lumMod val="75000"/>
                  </a:schemeClr>
                </a:solidFill>
              </a:rPr>
              <a:t>История </a:t>
            </a:r>
            <a:r>
              <a:rPr lang="ru-RU" sz="4000" b="1" dirty="0" smtClean="0">
                <a:solidFill>
                  <a:schemeClr val="accent2">
                    <a:lumMod val="75000"/>
                  </a:schemeClr>
                </a:solidFill>
              </a:rPr>
              <a:t>развития ОС </a:t>
            </a:r>
            <a:r>
              <a:rPr lang="ru-RU" sz="4000" b="1" dirty="0"/>
              <a:t>– выводы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412776"/>
            <a:ext cx="8640960" cy="5184553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0" indent="0" algn="ctr">
              <a:lnSpc>
                <a:spcPct val="90000"/>
              </a:lnSpc>
              <a:buNone/>
              <a:defRPr/>
            </a:pPr>
            <a:r>
              <a:rPr lang="ru-RU" sz="4000" dirty="0" smtClean="0">
                <a:solidFill>
                  <a:srgbClr val="C00000"/>
                </a:solidFill>
              </a:rPr>
              <a:t>Основные функции </a:t>
            </a:r>
            <a:r>
              <a:rPr lang="ru-RU" sz="4000" dirty="0">
                <a:solidFill>
                  <a:srgbClr val="C00000"/>
                </a:solidFill>
              </a:rPr>
              <a:t>классических </a:t>
            </a:r>
            <a:r>
              <a:rPr lang="ru-RU" sz="4000" dirty="0" smtClean="0">
                <a:solidFill>
                  <a:srgbClr val="C00000"/>
                </a:solidFill>
              </a:rPr>
              <a:t>ОС</a:t>
            </a:r>
            <a:endParaRPr lang="ru-RU" sz="4000" dirty="0"/>
          </a:p>
          <a:p>
            <a:pPr lvl="1">
              <a:lnSpc>
                <a:spcPct val="90000"/>
              </a:lnSpc>
              <a:defRPr/>
            </a:pPr>
            <a:r>
              <a:rPr lang="ru-RU" b="1" dirty="0"/>
              <a:t>Планирование заданий</a:t>
            </a:r>
          </a:p>
          <a:p>
            <a:pPr lvl="1">
              <a:lnSpc>
                <a:spcPct val="90000"/>
              </a:lnSpc>
              <a:defRPr/>
            </a:pPr>
            <a:r>
              <a:rPr lang="ru-RU" b="1" dirty="0"/>
              <a:t>Средства коммуникации и синхронизации программ</a:t>
            </a:r>
          </a:p>
          <a:p>
            <a:pPr lvl="1">
              <a:lnSpc>
                <a:spcPct val="90000"/>
              </a:lnSpc>
              <a:defRPr/>
            </a:pPr>
            <a:r>
              <a:rPr lang="ru-RU" b="1" dirty="0"/>
              <a:t>Управление памятью</a:t>
            </a:r>
          </a:p>
          <a:p>
            <a:pPr lvl="1">
              <a:lnSpc>
                <a:spcPct val="90000"/>
              </a:lnSpc>
              <a:defRPr/>
            </a:pPr>
            <a:r>
              <a:rPr lang="ru-RU" b="1" dirty="0"/>
              <a:t>Файловая система</a:t>
            </a:r>
          </a:p>
          <a:p>
            <a:pPr lvl="1">
              <a:lnSpc>
                <a:spcPct val="90000"/>
              </a:lnSpc>
              <a:defRPr/>
            </a:pPr>
            <a:r>
              <a:rPr lang="ru-RU" b="1" dirty="0"/>
              <a:t>Управление вводом-выводом</a:t>
            </a:r>
          </a:p>
          <a:p>
            <a:pPr lvl="1">
              <a:lnSpc>
                <a:spcPct val="90000"/>
              </a:lnSpc>
              <a:defRPr/>
            </a:pPr>
            <a:r>
              <a:rPr lang="ru-RU" b="1" dirty="0"/>
              <a:t>Обеспечение </a:t>
            </a:r>
            <a:r>
              <a:rPr lang="ru-RU" b="1" dirty="0" smtClean="0"/>
              <a:t>безопасности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1556792"/>
            <a:ext cx="8532813" cy="1223963"/>
          </a:xfrm>
          <a:noFill/>
        </p:spPr>
        <p:txBody>
          <a:bodyPr>
            <a:normAutofit fontScale="90000"/>
          </a:bodyPr>
          <a:lstStyle/>
          <a:p>
            <a:r>
              <a:rPr lang="ru-RU" sz="5400" b="1" dirty="0" smtClean="0">
                <a:solidFill>
                  <a:schemeClr val="bg1"/>
                </a:solidFill>
              </a:rPr>
              <a:t>Основные понятия и концепции ОС</a:t>
            </a:r>
            <a:endParaRPr lang="ru-RU" sz="54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8435280" cy="1296144"/>
          </a:xfr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sz="4000" b="1" dirty="0" smtClean="0">
                <a:solidFill>
                  <a:schemeClr val="accent2">
                    <a:lumMod val="75000"/>
                  </a:schemeClr>
                </a:solidFill>
              </a:rPr>
              <a:t>Основные понятия и концепции ОС</a:t>
            </a:r>
            <a:endParaRPr lang="ru-RU" sz="4000" b="1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556793"/>
            <a:ext cx="8640960" cy="4680496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ru-RU" sz="3600" b="1" i="1" dirty="0" smtClean="0">
                <a:solidFill>
                  <a:srgbClr val="C00000"/>
                </a:solidFill>
              </a:rPr>
              <a:t>Системные вызовы </a:t>
            </a:r>
            <a:r>
              <a:rPr lang="ru-RU" sz="3600" dirty="0" smtClean="0"/>
              <a:t>(обеспечивают взаимодействие ОС с прикладной программой)</a:t>
            </a:r>
          </a:p>
          <a:p>
            <a:pPr>
              <a:lnSpc>
                <a:spcPct val="90000"/>
              </a:lnSpc>
              <a:defRPr/>
            </a:pPr>
            <a:r>
              <a:rPr lang="ru-RU" sz="3600" b="1" i="1" dirty="0" smtClean="0">
                <a:solidFill>
                  <a:srgbClr val="C00000"/>
                </a:solidFill>
              </a:rPr>
              <a:t>Прерывания</a:t>
            </a:r>
            <a:r>
              <a:rPr lang="ru-RU" sz="3600" dirty="0" smtClean="0"/>
              <a:t> – обработка различных событий в ОС</a:t>
            </a:r>
          </a:p>
          <a:p>
            <a:pPr>
              <a:lnSpc>
                <a:spcPct val="90000"/>
              </a:lnSpc>
              <a:defRPr/>
            </a:pPr>
            <a:r>
              <a:rPr lang="ru-RU" sz="3600" b="1" i="1" dirty="0" smtClean="0">
                <a:solidFill>
                  <a:srgbClr val="C00000"/>
                </a:solidFill>
              </a:rPr>
              <a:t>Исключительные ситуации</a:t>
            </a:r>
          </a:p>
          <a:p>
            <a:pPr>
              <a:lnSpc>
                <a:spcPct val="90000"/>
              </a:lnSpc>
              <a:defRPr/>
            </a:pPr>
            <a:r>
              <a:rPr lang="ru-RU" sz="3600" b="1" i="1" dirty="0" smtClean="0">
                <a:solidFill>
                  <a:srgbClr val="C00000"/>
                </a:solidFill>
              </a:rPr>
              <a:t>Файлы</a:t>
            </a:r>
          </a:p>
          <a:p>
            <a:pPr>
              <a:lnSpc>
                <a:spcPct val="90000"/>
              </a:lnSpc>
              <a:defRPr/>
            </a:pPr>
            <a:r>
              <a:rPr lang="ru-RU" sz="3600" b="1" i="1" dirty="0" smtClean="0">
                <a:solidFill>
                  <a:srgbClr val="C00000"/>
                </a:solidFill>
              </a:rPr>
              <a:t>Процессы и нити</a:t>
            </a:r>
          </a:p>
          <a:p>
            <a:pPr>
              <a:lnSpc>
                <a:spcPct val="90000"/>
              </a:lnSpc>
              <a:defRPr/>
            </a:pPr>
            <a:endParaRPr lang="ru-RU" sz="3600" dirty="0" smtClean="0"/>
          </a:p>
          <a:p>
            <a:pPr>
              <a:lnSpc>
                <a:spcPct val="90000"/>
              </a:lnSpc>
              <a:defRPr/>
            </a:pP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1412776"/>
            <a:ext cx="8532813" cy="1512168"/>
          </a:xfrm>
          <a:noFill/>
        </p:spPr>
        <p:txBody>
          <a:bodyPr>
            <a:normAutofit fontScale="90000"/>
          </a:bodyPr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Основные понятия и концепции ОС</a:t>
            </a:r>
            <a:endParaRPr lang="ru-RU" sz="48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23528" y="2636912"/>
            <a:ext cx="8532813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4400" b="1" dirty="0" smtClean="0">
                <a:solidFill>
                  <a:schemeClr val="accent2"/>
                </a:solidFill>
              </a:rPr>
              <a:t>Системные вызовы</a:t>
            </a:r>
            <a:endParaRPr kumimoji="0" lang="ru-RU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20230048">
            <a:off x="527443" y="4253405"/>
            <a:ext cx="3270284" cy="2453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88640"/>
            <a:ext cx="8229600" cy="64735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3600" b="1" dirty="0" smtClean="0">
                <a:solidFill>
                  <a:schemeClr val="accent2"/>
                </a:solidFill>
              </a:rPr>
              <a:t>Системные вызовы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96752"/>
            <a:ext cx="8784976" cy="54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i="1" dirty="0" smtClean="0">
                <a:solidFill>
                  <a:srgbClr val="C00000"/>
                </a:solidFill>
              </a:rPr>
              <a:t>System calls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ru-RU" dirty="0" smtClean="0"/>
              <a:t>– </a:t>
            </a:r>
            <a:r>
              <a:rPr lang="ru-RU" b="1" dirty="0" smtClean="0"/>
              <a:t>интерфейс</a:t>
            </a:r>
            <a:r>
              <a:rPr lang="ru-RU" dirty="0" smtClean="0"/>
              <a:t> между ОС и прикладной программой</a:t>
            </a:r>
          </a:p>
          <a:p>
            <a:pPr marL="615950" lvl="1">
              <a:lnSpc>
                <a:spcPct val="90000"/>
              </a:lnSpc>
            </a:pPr>
            <a:r>
              <a:rPr lang="ru-RU" dirty="0" smtClean="0"/>
              <a:t>Создают, используют и удаляют различные объекты: процессы, файлы, и т.п.</a:t>
            </a:r>
          </a:p>
          <a:p>
            <a:pPr marL="615950" lvl="1">
              <a:lnSpc>
                <a:spcPct val="90000"/>
              </a:lnSpc>
            </a:pPr>
            <a:r>
              <a:rPr lang="ru-RU" dirty="0" smtClean="0"/>
              <a:t>Переход задачи в режим ядра (</a:t>
            </a:r>
            <a:r>
              <a:rPr lang="en-US" b="1" i="1" dirty="0" smtClean="0"/>
              <a:t>kernel</a:t>
            </a:r>
            <a:r>
              <a:rPr lang="en-US" dirty="0" smtClean="0"/>
              <a:t> </a:t>
            </a:r>
            <a:r>
              <a:rPr lang="en-US" b="1" i="1" dirty="0" smtClean="0"/>
              <a:t>mode</a:t>
            </a:r>
            <a:r>
              <a:rPr lang="ru-RU" dirty="0" smtClean="0"/>
              <a:t>) </a:t>
            </a:r>
            <a:endParaRPr lang="en-US" dirty="0" smtClean="0"/>
          </a:p>
          <a:p>
            <a:pPr marL="1016000" lvl="2">
              <a:lnSpc>
                <a:spcPct val="90000"/>
              </a:lnSpc>
            </a:pPr>
            <a:r>
              <a:rPr lang="ru-RU" sz="3200" dirty="0" smtClean="0"/>
              <a:t>Осуществляется командой программного прерывания (</a:t>
            </a:r>
            <a:r>
              <a:rPr lang="en-US" sz="3200" dirty="0" smtClean="0"/>
              <a:t>INT</a:t>
            </a:r>
            <a:r>
              <a:rPr lang="ru-RU" sz="3200" dirty="0" smtClean="0"/>
              <a:t>) – </a:t>
            </a:r>
            <a:r>
              <a:rPr lang="ru-RU" sz="3200" b="1" i="1" dirty="0" smtClean="0"/>
              <a:t>синхронное</a:t>
            </a:r>
            <a:r>
              <a:rPr lang="ru-RU" sz="3200" dirty="0" smtClean="0"/>
              <a:t> событие (связано с выполняемым процессором кодом)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16632"/>
            <a:ext cx="8229600" cy="720080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Системные вызовы</a:t>
            </a:r>
            <a:r>
              <a:rPr lang="en-US" sz="4000" b="1" dirty="0" smtClean="0">
                <a:solidFill>
                  <a:schemeClr val="accent2"/>
                </a:solidFill>
              </a:rPr>
              <a:t> </a:t>
            </a:r>
            <a:r>
              <a:rPr lang="ru-RU" sz="4000" b="1" dirty="0" smtClean="0">
                <a:solidFill>
                  <a:schemeClr val="tx1"/>
                </a:solidFill>
              </a:rPr>
              <a:t> - </a:t>
            </a:r>
            <a:r>
              <a:rPr lang="en-US" sz="4000" b="1" dirty="0" smtClean="0">
                <a:solidFill>
                  <a:schemeClr val="tx1"/>
                </a:solidFill>
              </a:rPr>
              <a:t>POSIX</a:t>
            </a:r>
            <a:r>
              <a:rPr lang="ru-RU" sz="4000" b="1" dirty="0" smtClean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196752"/>
            <a:ext cx="9073008" cy="5760640"/>
          </a:xfrm>
        </p:spPr>
        <p:txBody>
          <a:bodyPr/>
          <a:lstStyle/>
          <a:p>
            <a:pPr>
              <a:buNone/>
              <a:defRPr/>
            </a:pPr>
            <a:r>
              <a:rPr lang="ru-RU" dirty="0" smtClean="0"/>
              <a:t> В </a:t>
            </a:r>
            <a:r>
              <a:rPr lang="en-US" dirty="0" smtClean="0"/>
              <a:t>POSIX</a:t>
            </a:r>
            <a:r>
              <a:rPr lang="ru-RU" dirty="0" smtClean="0"/>
              <a:t> более 100 системных вызовов</a:t>
            </a:r>
          </a:p>
          <a:p>
            <a:pPr marL="533400" lvl="1"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fork</a:t>
            </a:r>
            <a:r>
              <a:rPr lang="ru-RU" b="1" dirty="0" smtClean="0">
                <a:ea typeface="+mn-ea"/>
              </a:rPr>
              <a:t> (</a:t>
            </a:r>
            <a:r>
              <a:rPr lang="en-US" b="1" dirty="0" smtClean="0">
                <a:solidFill>
                  <a:srgbClr val="C00000"/>
                </a:solidFill>
                <a:latin typeface="Cambria" panose="02040503050406030204" pitchFamily="18" charset="0"/>
              </a:rPr>
              <a:t>e</a:t>
            </a:r>
            <a:r>
              <a:rPr lang="ru-RU" b="1" dirty="0" err="1" smtClean="0">
                <a:solidFill>
                  <a:srgbClr val="C00000"/>
                </a:solidFill>
                <a:latin typeface="+mn-lt"/>
                <a:cs typeface="+mn-cs"/>
              </a:rPr>
              <a:t>xit</a:t>
            </a:r>
            <a:r>
              <a:rPr lang="ru-RU" b="1" dirty="0" smtClean="0">
                <a:ea typeface="+mn-ea"/>
              </a:rPr>
              <a:t>)- создание/</a:t>
            </a:r>
            <a:r>
              <a:rPr lang="ru-RU" b="1" dirty="0" smtClean="0">
                <a:solidFill>
                  <a:schemeClr val="tx1"/>
                </a:solidFill>
                <a:latin typeface="+mn-lt"/>
                <a:cs typeface="+mn-cs"/>
              </a:rPr>
              <a:t>завершение</a:t>
            </a:r>
            <a:r>
              <a:rPr lang="ru-RU" b="1" dirty="0" smtClean="0">
                <a:ea typeface="+mn-ea"/>
              </a:rPr>
              <a:t> процесса</a:t>
            </a:r>
          </a:p>
          <a:p>
            <a:pPr marL="533400" lvl="1"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open</a:t>
            </a:r>
            <a:r>
              <a:rPr lang="ru-RU" b="1" dirty="0" smtClean="0">
                <a:ea typeface="+mn-ea"/>
              </a:rPr>
              <a:t> (</a:t>
            </a:r>
            <a:r>
              <a:rPr lang="en-US" b="1" dirty="0" smtClean="0">
                <a:solidFill>
                  <a:srgbClr val="C00000"/>
                </a:solidFill>
                <a:latin typeface="Cambria" panose="02040503050406030204" pitchFamily="18" charset="0"/>
              </a:rPr>
              <a:t>close</a:t>
            </a:r>
            <a:r>
              <a:rPr lang="ru-RU" b="1" dirty="0" smtClean="0">
                <a:ea typeface="+mn-ea"/>
              </a:rPr>
              <a:t>)- открыть/закрыть файл</a:t>
            </a:r>
          </a:p>
          <a:p>
            <a:pPr marL="533400" lvl="1"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read</a:t>
            </a:r>
            <a:r>
              <a:rPr lang="ru-RU" b="1" dirty="0" smtClean="0">
                <a:ea typeface="+mn-ea"/>
              </a:rPr>
              <a:t> - читает данные из файла в буфер</a:t>
            </a:r>
          </a:p>
          <a:p>
            <a:pPr marL="533400" lvl="1"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write</a:t>
            </a:r>
            <a:r>
              <a:rPr lang="ru-RU" b="1" dirty="0" smtClean="0">
                <a:ea typeface="+mn-ea"/>
              </a:rPr>
              <a:t> - пишет данные из буфера в файл</a:t>
            </a:r>
          </a:p>
          <a:p>
            <a:pPr marL="533400" lvl="1"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stat</a:t>
            </a:r>
            <a:r>
              <a:rPr lang="ru-RU" b="1" dirty="0" smtClean="0">
                <a:ea typeface="+mn-ea"/>
              </a:rPr>
              <a:t> - получить информацию о состоянии файла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16632"/>
            <a:ext cx="8229600" cy="720080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Системные вызовы</a:t>
            </a:r>
            <a:r>
              <a:rPr lang="ru-RU" sz="4000" b="1" dirty="0" smtClean="0">
                <a:solidFill>
                  <a:schemeClr val="tx1"/>
                </a:solidFill>
              </a:rPr>
              <a:t> - </a:t>
            </a:r>
            <a:r>
              <a:rPr lang="en-US" sz="4000" b="1" dirty="0" smtClean="0">
                <a:solidFill>
                  <a:schemeClr val="tx1"/>
                </a:solidFill>
              </a:rPr>
              <a:t>POSIX</a:t>
            </a:r>
            <a:r>
              <a:rPr lang="ru-RU" sz="4000" b="1" dirty="0" smtClean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484784"/>
            <a:ext cx="8856984" cy="45259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ru-RU" sz="4000" dirty="0" smtClean="0"/>
              <a:t>В </a:t>
            </a:r>
            <a:r>
              <a:rPr lang="en-US" sz="4000" dirty="0" smtClean="0"/>
              <a:t>POSIX</a:t>
            </a:r>
            <a:r>
              <a:rPr lang="ru-RU" sz="4000" dirty="0" smtClean="0"/>
              <a:t> существует более 100 системных вызовов:</a:t>
            </a:r>
          </a:p>
          <a:p>
            <a:pPr lvl="1">
              <a:defRPr/>
            </a:pPr>
            <a:r>
              <a:rPr lang="ru-RU" b="1" dirty="0" err="1" smtClean="0">
                <a:solidFill>
                  <a:srgbClr val="C00000"/>
                </a:solidFill>
                <a:latin typeface="+mn-lt"/>
                <a:cs typeface="+mn-cs"/>
              </a:rPr>
              <a:t>mkdir</a:t>
            </a:r>
            <a:r>
              <a:rPr lang="ru-RU" b="1" dirty="0" smtClean="0">
                <a:solidFill>
                  <a:schemeClr val="tx1"/>
                </a:solidFill>
                <a:latin typeface="+mn-lt"/>
                <a:cs typeface="+mn-cs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</a:rPr>
              <a:t>rmdir</a:t>
            </a:r>
            <a:r>
              <a:rPr lang="ru-RU" b="1" dirty="0" smtClean="0"/>
              <a:t>) </a:t>
            </a:r>
            <a:r>
              <a:rPr lang="ru-RU" b="1" dirty="0" smtClean="0">
                <a:solidFill>
                  <a:schemeClr val="tx1"/>
                </a:solidFill>
                <a:latin typeface="+mn-lt"/>
                <a:cs typeface="+mn-cs"/>
              </a:rPr>
              <a:t>– создает (удаляет) каталог</a:t>
            </a:r>
          </a:p>
          <a:p>
            <a:pPr lvl="1">
              <a:defRPr/>
            </a:pPr>
            <a:r>
              <a:rPr lang="ru-RU" b="1" dirty="0" err="1" smtClean="0">
                <a:solidFill>
                  <a:srgbClr val="C00000"/>
                </a:solidFill>
                <a:latin typeface="+mn-lt"/>
                <a:cs typeface="+mn-cs"/>
              </a:rPr>
              <a:t>link</a:t>
            </a:r>
            <a:r>
              <a:rPr lang="ru-RU" b="1" dirty="0" smtClean="0">
                <a:solidFill>
                  <a:schemeClr val="tx1"/>
                </a:solidFill>
                <a:latin typeface="+mn-lt"/>
                <a:cs typeface="+mn-cs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</a:rPr>
              <a:t>unlink</a:t>
            </a:r>
            <a:r>
              <a:rPr lang="ru-RU" b="1" dirty="0" smtClean="0"/>
              <a:t>)- создает (удаляет) </a:t>
            </a:r>
            <a:r>
              <a:rPr lang="ru-RU" b="1" dirty="0" smtClean="0">
                <a:solidFill>
                  <a:schemeClr val="tx1"/>
                </a:solidFill>
                <a:latin typeface="+mn-lt"/>
                <a:cs typeface="+mn-cs"/>
              </a:rPr>
              <a:t>ссылку</a:t>
            </a:r>
          </a:p>
          <a:p>
            <a:pPr lvl="1">
              <a:defRPr/>
            </a:pPr>
            <a:r>
              <a:rPr lang="ru-RU" b="1" dirty="0" err="1" smtClean="0">
                <a:solidFill>
                  <a:srgbClr val="C00000"/>
                </a:solidFill>
                <a:latin typeface="+mn-lt"/>
                <a:cs typeface="+mn-cs"/>
              </a:rPr>
              <a:t>mount</a:t>
            </a:r>
            <a:r>
              <a:rPr lang="ru-RU" b="1" dirty="0" smtClean="0">
                <a:solidFill>
                  <a:schemeClr val="tx1"/>
                </a:solidFill>
                <a:latin typeface="+mn-lt"/>
                <a:cs typeface="+mn-cs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</a:rPr>
              <a:t>umount</a:t>
            </a:r>
            <a:r>
              <a:rPr lang="ru-RU" b="1" dirty="0" smtClean="0">
                <a:solidFill>
                  <a:schemeClr val="tx1"/>
                </a:solidFill>
                <a:latin typeface="+mn-lt"/>
                <a:cs typeface="+mn-cs"/>
              </a:rPr>
              <a:t>) – монтирует (демонтирует) файловую систему </a:t>
            </a:r>
          </a:p>
          <a:p>
            <a:pPr lvl="1">
              <a:defRPr/>
            </a:pPr>
            <a:r>
              <a:rPr lang="ru-RU" b="1" dirty="0" err="1" smtClean="0">
                <a:solidFill>
                  <a:srgbClr val="C00000"/>
                </a:solidFill>
                <a:latin typeface="+mn-lt"/>
                <a:cs typeface="+mn-cs"/>
              </a:rPr>
              <a:t>chdir</a:t>
            </a:r>
            <a:r>
              <a:rPr lang="ru-RU" b="1" dirty="0" smtClean="0">
                <a:solidFill>
                  <a:schemeClr val="tx1"/>
                </a:solidFill>
                <a:latin typeface="+mn-lt"/>
                <a:cs typeface="+mn-cs"/>
              </a:rPr>
              <a:t> - изменяет рабочий каталог</a:t>
            </a:r>
            <a:endParaRPr lang="en-US" b="1" dirty="0" smtClean="0">
              <a:solidFill>
                <a:schemeClr val="tx1"/>
              </a:solidFill>
              <a:latin typeface="+mn-lt"/>
              <a:cs typeface="+mn-cs"/>
            </a:endParaRPr>
          </a:p>
          <a:p>
            <a:pPr lvl="1">
              <a:defRPr/>
            </a:pPr>
            <a:r>
              <a:rPr lang="en-US" b="1" dirty="0" smtClean="0">
                <a:solidFill>
                  <a:schemeClr val="tx1"/>
                </a:solidFill>
                <a:latin typeface="+mn-lt"/>
                <a:cs typeface="+mn-cs"/>
              </a:rPr>
              <a:t>…</a:t>
            </a:r>
            <a:endParaRPr lang="ru-RU" b="1" dirty="0" smtClean="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8568952" cy="720080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Системные вызовы 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5496" y="1124744"/>
            <a:ext cx="9108504" cy="525658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dirty="0" smtClean="0"/>
              <a:t>Системные вызовы в </a:t>
            </a:r>
            <a:r>
              <a:rPr lang="en-US" dirty="0" smtClean="0"/>
              <a:t>Windows</a:t>
            </a:r>
            <a:r>
              <a:rPr lang="ru-RU" dirty="0" smtClean="0"/>
              <a:t> – интерфейс прикладного программирования </a:t>
            </a:r>
            <a:r>
              <a:rPr lang="en-US" b="1" dirty="0" smtClean="0">
                <a:solidFill>
                  <a:srgbClr val="C00000"/>
                </a:solidFill>
              </a:rPr>
              <a:t>Win 32/Win64 API</a:t>
            </a:r>
            <a:r>
              <a:rPr lang="ru-RU" dirty="0" smtClean="0"/>
              <a:t>:</a:t>
            </a:r>
          </a:p>
          <a:p>
            <a:r>
              <a:rPr lang="en-US" b="1" dirty="0" smtClean="0"/>
              <a:t>Win API </a:t>
            </a:r>
            <a:r>
              <a:rPr lang="ru-RU" dirty="0" smtClean="0"/>
              <a:t>отделен от системных вызовов, что позволяет менять системные вызовы в разных версиях, не переписывая программы.</a:t>
            </a:r>
          </a:p>
          <a:p>
            <a:r>
              <a:rPr lang="ru-RU" dirty="0" smtClean="0"/>
              <a:t>В </a:t>
            </a:r>
            <a:r>
              <a:rPr lang="en-US" b="1" dirty="0" smtClean="0">
                <a:solidFill>
                  <a:srgbClr val="C00000"/>
                </a:solidFill>
              </a:rPr>
              <a:t>Win 32/Win64 API</a:t>
            </a:r>
            <a:r>
              <a:rPr lang="ru-RU" dirty="0" smtClean="0"/>
              <a:t> существует более 1000 вызовов.</a:t>
            </a:r>
          </a:p>
          <a:p>
            <a:pPr>
              <a:lnSpc>
                <a:spcPct val="90000"/>
              </a:lnSpc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8568952" cy="648072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Системные вызовы - </a:t>
            </a:r>
            <a:r>
              <a:rPr lang="en-US" sz="4000" b="1" dirty="0" smtClean="0"/>
              <a:t>Win</a:t>
            </a:r>
            <a:r>
              <a:rPr lang="ru-RU" sz="4000" b="1" dirty="0" smtClean="0"/>
              <a:t> API</a:t>
            </a:r>
            <a:endParaRPr lang="ru-RU" sz="4000" b="1" dirty="0" smtClean="0">
              <a:solidFill>
                <a:schemeClr val="accent2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340768"/>
            <a:ext cx="9036496" cy="5256584"/>
          </a:xfrm>
        </p:spPr>
        <p:txBody>
          <a:bodyPr/>
          <a:lstStyle/>
          <a:p>
            <a:pPr marL="615950" lvl="1">
              <a:tabLst>
                <a:tab pos="533400" algn="l"/>
              </a:tabLst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Creat</a:t>
            </a:r>
            <a:r>
              <a:rPr lang="en-US" b="1" dirty="0" smtClean="0">
                <a:solidFill>
                  <a:srgbClr val="C00000"/>
                </a:solidFill>
                <a:ea typeface="+mn-ea"/>
              </a:rPr>
              <a:t>e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Process</a:t>
            </a:r>
            <a:r>
              <a:rPr lang="ru-RU" b="1" dirty="0" smtClean="0">
                <a:ea typeface="+mn-ea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fork</a:t>
            </a:r>
            <a:r>
              <a:rPr lang="ru-RU" b="1" dirty="0" smtClean="0">
                <a:ea typeface="+mn-ea"/>
              </a:rPr>
              <a:t>) - создание нового процесса</a:t>
            </a:r>
          </a:p>
          <a:p>
            <a:pPr marL="615950" lvl="1">
              <a:tabLst>
                <a:tab pos="533400" algn="l"/>
              </a:tabLst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ExitProcess</a:t>
            </a:r>
            <a:r>
              <a:rPr lang="ru-RU" b="1" dirty="0" smtClean="0">
                <a:ea typeface="+mn-ea"/>
              </a:rPr>
              <a:t> (</a:t>
            </a:r>
            <a:r>
              <a:rPr lang="en-US" b="1" dirty="0" smtClean="0">
                <a:ea typeface="+mn-ea"/>
              </a:rPr>
              <a:t>e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xit</a:t>
            </a:r>
            <a:r>
              <a:rPr lang="ru-RU" b="1" dirty="0" smtClean="0">
                <a:ea typeface="+mn-ea"/>
              </a:rPr>
              <a:t>) - завершение процесса</a:t>
            </a:r>
          </a:p>
          <a:p>
            <a:pPr marL="615950" lvl="1">
              <a:tabLst>
                <a:tab pos="533400" algn="l"/>
              </a:tabLst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Creat</a:t>
            </a:r>
            <a:r>
              <a:rPr lang="en-US" b="1" dirty="0" smtClean="0">
                <a:solidFill>
                  <a:srgbClr val="C00000"/>
                </a:solidFill>
                <a:ea typeface="+mn-ea"/>
              </a:rPr>
              <a:t>e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File</a:t>
            </a:r>
            <a:r>
              <a:rPr lang="ru-RU" b="1" dirty="0" smtClean="0">
                <a:ea typeface="+mn-ea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open</a:t>
            </a:r>
            <a:r>
              <a:rPr lang="ru-RU" b="1" dirty="0" smtClean="0">
                <a:ea typeface="+mn-ea"/>
              </a:rPr>
              <a:t>) - открывает файл</a:t>
            </a:r>
          </a:p>
          <a:p>
            <a:pPr marL="615950" lvl="1">
              <a:tabLst>
                <a:tab pos="533400" algn="l"/>
              </a:tabLst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CloseHandle</a:t>
            </a:r>
            <a:r>
              <a:rPr lang="ru-RU" b="1" dirty="0" smtClean="0">
                <a:ea typeface="+mn-ea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close</a:t>
            </a:r>
            <a:r>
              <a:rPr lang="ru-RU" b="1" dirty="0" smtClean="0">
                <a:ea typeface="+mn-ea"/>
              </a:rPr>
              <a:t>) - закрывает файл</a:t>
            </a:r>
          </a:p>
          <a:p>
            <a:pPr marL="615950" lvl="1">
              <a:tabLst>
                <a:tab pos="533400" algn="l"/>
              </a:tabLst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ReadFile</a:t>
            </a:r>
            <a:r>
              <a:rPr lang="ru-RU" b="1" dirty="0" smtClean="0">
                <a:ea typeface="+mn-ea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read</a:t>
            </a:r>
            <a:r>
              <a:rPr lang="ru-RU" b="1" dirty="0" smtClean="0">
                <a:ea typeface="+mn-ea"/>
              </a:rPr>
              <a:t>) - читает данные из файла в буфер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8568952" cy="648072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Системные вызовы - </a:t>
            </a:r>
            <a:r>
              <a:rPr lang="en-US" sz="4000" b="1" dirty="0" smtClean="0"/>
              <a:t>Win</a:t>
            </a:r>
            <a:r>
              <a:rPr lang="ru-RU" sz="4000" b="1" dirty="0" smtClean="0"/>
              <a:t> API</a:t>
            </a:r>
            <a:endParaRPr lang="ru-RU" sz="4000" b="1" dirty="0" smtClean="0">
              <a:solidFill>
                <a:schemeClr val="accent2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233680" y="1340222"/>
            <a:ext cx="8659495" cy="5113114"/>
          </a:xfrm>
        </p:spPr>
        <p:txBody>
          <a:bodyPr/>
          <a:lstStyle/>
          <a:p>
            <a:pPr marL="615950" lvl="1">
              <a:tabLst>
                <a:tab pos="533400" algn="l"/>
              </a:tabLst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WriteFile</a:t>
            </a:r>
            <a:r>
              <a:rPr lang="ru-RU" b="1" dirty="0" smtClean="0">
                <a:ea typeface="+mn-ea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write</a:t>
            </a:r>
            <a:r>
              <a:rPr lang="ru-RU" b="1" dirty="0" smtClean="0">
                <a:ea typeface="+mn-ea"/>
              </a:rPr>
              <a:t>) - пишет данные из буфера в файл</a:t>
            </a:r>
          </a:p>
          <a:p>
            <a:pPr lvl="1"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Creat</a:t>
            </a:r>
            <a:r>
              <a:rPr lang="en-US" b="1" dirty="0" smtClean="0">
                <a:solidFill>
                  <a:srgbClr val="C00000"/>
                </a:solidFill>
                <a:ea typeface="+mn-ea"/>
              </a:rPr>
              <a:t>e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Directory</a:t>
            </a:r>
            <a:r>
              <a:rPr lang="ru-RU" b="1" dirty="0" smtClean="0">
                <a:solidFill>
                  <a:srgbClr val="C00000"/>
                </a:solidFill>
                <a:ea typeface="+mn-ea"/>
              </a:rPr>
              <a:t> </a:t>
            </a:r>
            <a:r>
              <a:rPr lang="ru-RU" b="1" dirty="0" smtClean="0">
                <a:ea typeface="+mn-ea"/>
              </a:rPr>
              <a:t>(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mkdir</a:t>
            </a:r>
            <a:r>
              <a:rPr lang="ru-RU" b="1" dirty="0" smtClean="0">
                <a:ea typeface="+mn-ea"/>
              </a:rPr>
              <a:t>) - создает новый каталог</a:t>
            </a:r>
          </a:p>
          <a:p>
            <a:pPr lvl="1"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RemoveDirectory</a:t>
            </a:r>
            <a:r>
              <a:rPr lang="ru-RU" b="1" dirty="0" smtClean="0">
                <a:ea typeface="+mn-ea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rmdir</a:t>
            </a:r>
            <a:r>
              <a:rPr lang="ru-RU" b="1" dirty="0" smtClean="0">
                <a:ea typeface="+mn-ea"/>
              </a:rPr>
              <a:t>) - удаляет каталог</a:t>
            </a:r>
          </a:p>
          <a:p>
            <a:pPr lvl="1">
              <a:defRPr/>
            </a:pP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SetCurrentDirectory</a:t>
            </a:r>
            <a:r>
              <a:rPr lang="ru-RU" b="1" dirty="0" smtClean="0">
                <a:ea typeface="+mn-ea"/>
              </a:rPr>
              <a:t> (</a:t>
            </a:r>
            <a:r>
              <a:rPr lang="ru-RU" b="1" dirty="0" err="1" smtClean="0">
                <a:solidFill>
                  <a:srgbClr val="C00000"/>
                </a:solidFill>
                <a:ea typeface="+mn-ea"/>
              </a:rPr>
              <a:t>chdir</a:t>
            </a:r>
            <a:r>
              <a:rPr lang="ru-RU" b="1" dirty="0" smtClean="0">
                <a:ea typeface="+mn-ea"/>
              </a:rPr>
              <a:t>) - изменяет рабочий каталог</a:t>
            </a:r>
            <a:endParaRPr lang="en-US" b="1" dirty="0" smtClean="0">
              <a:ea typeface="+mn-ea"/>
            </a:endParaRPr>
          </a:p>
          <a:p>
            <a:pPr lvl="1">
              <a:defRPr/>
            </a:pPr>
            <a:r>
              <a:rPr lang="en-US" b="1" dirty="0" smtClean="0">
                <a:ea typeface="+mn-ea"/>
              </a:rPr>
              <a:t>…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1340768"/>
            <a:ext cx="8532813" cy="1512168"/>
          </a:xfrm>
          <a:noFill/>
        </p:spPr>
        <p:txBody>
          <a:bodyPr>
            <a:normAutofit fontScale="90000"/>
          </a:bodyPr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Основные понятия и концепции ОС</a:t>
            </a:r>
            <a:endParaRPr lang="ru-RU" sz="48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23528" y="2636912"/>
            <a:ext cx="8532813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4400" b="1" noProof="0" dirty="0" smtClean="0">
                <a:solidFill>
                  <a:schemeClr val="accent2"/>
                </a:solidFill>
              </a:rPr>
              <a:t>Прерывания</a:t>
            </a:r>
            <a:endParaRPr kumimoji="0" lang="ru-RU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3375"/>
            <a:ext cx="8229600" cy="791369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Прерывания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760"/>
            <a:ext cx="8642350" cy="5184428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sz="3600" b="1" i="1" dirty="0"/>
              <a:t>Hardware interrupt</a:t>
            </a:r>
            <a:r>
              <a:rPr lang="en-US" sz="3600" b="1" dirty="0"/>
              <a:t> </a:t>
            </a:r>
            <a:r>
              <a:rPr lang="en-US" sz="3600" dirty="0"/>
              <a:t>– </a:t>
            </a:r>
            <a:r>
              <a:rPr lang="ru-RU" sz="3600" dirty="0"/>
              <a:t>событие, генерируемое внешним (по отношению к процессору) устройством</a:t>
            </a:r>
          </a:p>
          <a:p>
            <a:pPr lvl="1">
              <a:spcBef>
                <a:spcPts val="0"/>
              </a:spcBef>
              <a:defRPr/>
            </a:pPr>
            <a:r>
              <a:rPr lang="ru-RU" dirty="0"/>
              <a:t>Например,</a:t>
            </a:r>
            <a:r>
              <a:rPr lang="ru-RU" b="1" i="1" dirty="0"/>
              <a:t> </a:t>
            </a:r>
            <a:r>
              <a:rPr lang="ru-RU" b="1" i="1" dirty="0" smtClean="0"/>
              <a:t>нажатие клавиши клавиатуры;</a:t>
            </a:r>
          </a:p>
          <a:p>
            <a:pPr lvl="1">
              <a:spcBef>
                <a:spcPts val="0"/>
              </a:spcBef>
              <a:defRPr/>
            </a:pPr>
            <a:endParaRPr lang="ru-RU" sz="1600" b="1" i="1" dirty="0"/>
          </a:p>
          <a:p>
            <a:pPr lvl="1">
              <a:spcBef>
                <a:spcPts val="0"/>
              </a:spcBef>
              <a:defRPr/>
            </a:pPr>
            <a:r>
              <a:rPr lang="ru-RU" b="1" i="1" dirty="0" smtClean="0"/>
              <a:t>Завершение асинхронной операции ввода-вывода;</a:t>
            </a:r>
            <a:endParaRPr lang="ru-RU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3375"/>
            <a:ext cx="8229600" cy="791369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Прерывания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96752"/>
            <a:ext cx="8642350" cy="5184428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defRPr/>
            </a:pPr>
            <a:r>
              <a:rPr lang="en-US" sz="3600" b="1" i="1" dirty="0" smtClean="0"/>
              <a:t>Hardware interrupt</a:t>
            </a:r>
            <a:r>
              <a:rPr lang="en-US" sz="3600" b="1" dirty="0" smtClean="0"/>
              <a:t> </a:t>
            </a:r>
            <a:r>
              <a:rPr lang="en-US" sz="3600" dirty="0" smtClean="0"/>
              <a:t>– </a:t>
            </a:r>
            <a:r>
              <a:rPr lang="ru-RU" sz="3600" dirty="0" smtClean="0"/>
              <a:t>событие, генерируемое внешним устройством:</a:t>
            </a:r>
          </a:p>
          <a:p>
            <a:pPr lvl="1">
              <a:spcBef>
                <a:spcPts val="0"/>
              </a:spcBef>
              <a:defRPr/>
            </a:pPr>
            <a:r>
              <a:rPr lang="ru-RU" b="1" dirty="0" smtClean="0"/>
              <a:t>Прерывания таймера</a:t>
            </a:r>
            <a:r>
              <a:rPr lang="en-US" b="1" dirty="0" smtClean="0"/>
              <a:t> </a:t>
            </a:r>
            <a:endParaRPr lang="ru-RU" b="1" dirty="0"/>
          </a:p>
          <a:p>
            <a:pPr lvl="2">
              <a:spcBef>
                <a:spcPts val="0"/>
              </a:spcBef>
              <a:defRPr/>
            </a:pPr>
            <a:r>
              <a:rPr lang="ru-RU" dirty="0"/>
              <a:t>Планирование процессов</a:t>
            </a:r>
          </a:p>
          <a:p>
            <a:pPr lvl="1">
              <a:spcBef>
                <a:spcPts val="0"/>
              </a:spcBef>
              <a:defRPr/>
            </a:pPr>
            <a:r>
              <a:rPr lang="ru-RU" b="1" i="1" dirty="0"/>
              <a:t>Асинхронное</a:t>
            </a:r>
            <a:r>
              <a:rPr lang="ru-RU" b="1" dirty="0"/>
              <a:t> событие</a:t>
            </a:r>
            <a:r>
              <a:rPr lang="ru-RU" dirty="0"/>
              <a:t> – </a:t>
            </a:r>
            <a:r>
              <a:rPr lang="ru-RU" sz="3200" dirty="0"/>
              <a:t>возникает независимо от того, какой код выполняется процессором в данный </a:t>
            </a:r>
            <a:r>
              <a:rPr lang="ru-RU" sz="3200" dirty="0" smtClean="0"/>
              <a:t>момент</a:t>
            </a:r>
            <a:endParaRPr lang="ru-RU" dirty="0" smtClean="0"/>
          </a:p>
          <a:p>
            <a:pPr lvl="1">
              <a:spcBef>
                <a:spcPts val="0"/>
              </a:spcBef>
              <a:defRPr/>
            </a:pPr>
            <a:r>
              <a:rPr lang="ru-RU" dirty="0" smtClean="0"/>
              <a:t>и т.д.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1484784"/>
            <a:ext cx="8532813" cy="1512168"/>
          </a:xfrm>
          <a:noFill/>
        </p:spPr>
        <p:txBody>
          <a:bodyPr>
            <a:normAutofit fontScale="90000"/>
          </a:bodyPr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Основные понятия и концепции ОС</a:t>
            </a:r>
            <a:endParaRPr lang="ru-RU" sz="48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23528" y="2636912"/>
            <a:ext cx="8532813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4400" b="1" noProof="0" dirty="0" smtClean="0">
                <a:solidFill>
                  <a:schemeClr val="accent2"/>
                </a:solidFill>
              </a:rPr>
              <a:t>Исключительные ситуации</a:t>
            </a:r>
            <a:endParaRPr kumimoji="0" lang="ru-RU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8712968" cy="64792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Исключительные ситуации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1521" y="1261740"/>
            <a:ext cx="8640960" cy="4975572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n-US" sz="3600" b="1" i="1" dirty="0">
                <a:solidFill>
                  <a:srgbClr val="C00000"/>
                </a:solidFill>
              </a:rPr>
              <a:t>Exception</a:t>
            </a:r>
            <a:r>
              <a:rPr lang="en-US" sz="3600" b="1" dirty="0"/>
              <a:t> – </a:t>
            </a:r>
            <a:r>
              <a:rPr lang="ru-RU" sz="3600" b="1" dirty="0"/>
              <a:t>возникает в результате выполнения программой недопустимой </a:t>
            </a:r>
            <a:r>
              <a:rPr lang="ru-RU" sz="3600" b="1" dirty="0" smtClean="0"/>
              <a:t>операции, например:</a:t>
            </a:r>
          </a:p>
          <a:p>
            <a:pPr lvl="1">
              <a:defRPr/>
            </a:pPr>
            <a:r>
              <a:rPr lang="ru-RU" sz="3200" b="1" dirty="0" smtClean="0"/>
              <a:t>доступ </a:t>
            </a:r>
            <a:r>
              <a:rPr lang="ru-RU" sz="3200" b="1" dirty="0"/>
              <a:t>к ресурсу при отсутствии необходимых привилегий, </a:t>
            </a:r>
            <a:endParaRPr lang="ru-RU" sz="3200" b="1" dirty="0" smtClean="0"/>
          </a:p>
          <a:p>
            <a:pPr lvl="1">
              <a:defRPr/>
            </a:pPr>
            <a:r>
              <a:rPr lang="ru-RU" sz="3200" b="1" dirty="0" smtClean="0"/>
              <a:t>обращение </a:t>
            </a:r>
            <a:r>
              <a:rPr lang="ru-RU" sz="3200" b="1" dirty="0"/>
              <a:t>к отсутствующей странице </a:t>
            </a:r>
            <a:r>
              <a:rPr lang="ru-RU" sz="3200" b="1" dirty="0" smtClean="0"/>
              <a:t>памяти;</a:t>
            </a:r>
          </a:p>
          <a:p>
            <a:pPr lvl="1">
              <a:defRPr/>
            </a:pPr>
            <a:r>
              <a:rPr lang="ru-RU" sz="3200" b="1" dirty="0" smtClean="0"/>
              <a:t>и т.п.</a:t>
            </a:r>
            <a:endParaRPr lang="ru-RU" sz="3200" b="1" dirty="0"/>
          </a:p>
          <a:p>
            <a:pPr lvl="1">
              <a:buNone/>
              <a:defRPr/>
            </a:pPr>
            <a:endParaRPr lang="ru-RU" sz="3600" b="1" dirty="0"/>
          </a:p>
        </p:txBody>
      </p:sp>
      <p:pic>
        <p:nvPicPr>
          <p:cNvPr id="102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84576" y="4653136"/>
            <a:ext cx="3147864" cy="2125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8712968" cy="647923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Исключительные ситуации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1261740"/>
            <a:ext cx="8964488" cy="4975572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sz="4000" b="1" i="1" dirty="0">
                <a:solidFill>
                  <a:srgbClr val="C00000"/>
                </a:solidFill>
              </a:rPr>
              <a:t>Exception</a:t>
            </a:r>
            <a:r>
              <a:rPr lang="en-US" sz="4000" b="1" dirty="0"/>
              <a:t> – </a:t>
            </a:r>
            <a:r>
              <a:rPr lang="ru-RU" sz="4000" b="1" dirty="0" smtClean="0"/>
              <a:t>в отличие от прерываний – это </a:t>
            </a:r>
            <a:r>
              <a:rPr lang="ru-RU" sz="3600" b="1" dirty="0" smtClean="0"/>
              <a:t> </a:t>
            </a:r>
            <a:r>
              <a:rPr lang="ru-RU" sz="3600" b="1" i="1" dirty="0">
                <a:solidFill>
                  <a:srgbClr val="C00000"/>
                </a:solidFill>
              </a:rPr>
              <a:t>синхронные</a:t>
            </a:r>
            <a:r>
              <a:rPr lang="ru-RU" sz="3600" b="1" dirty="0"/>
              <a:t> события, возникающие в контексте текущей задачи (как и системные вызовы)</a:t>
            </a:r>
          </a:p>
          <a:p>
            <a:pPr marL="989013" lvl="2">
              <a:defRPr/>
            </a:pPr>
            <a:r>
              <a:rPr lang="ru-RU" sz="3600" b="1" i="1" dirty="0">
                <a:solidFill>
                  <a:srgbClr val="C00000"/>
                </a:solidFill>
              </a:rPr>
              <a:t>Исправимые</a:t>
            </a:r>
            <a:r>
              <a:rPr lang="ru-RU" sz="3600" b="1" dirty="0"/>
              <a:t> (нет нужных данных в памяти)</a:t>
            </a:r>
          </a:p>
          <a:p>
            <a:pPr marL="989013" lvl="2">
              <a:defRPr/>
            </a:pPr>
            <a:r>
              <a:rPr lang="ru-RU" sz="3600" b="1" i="1" dirty="0">
                <a:solidFill>
                  <a:srgbClr val="C00000"/>
                </a:solidFill>
              </a:rPr>
              <a:t>Неисправимые</a:t>
            </a:r>
            <a:r>
              <a:rPr lang="ru-RU" sz="3600" b="1" dirty="0"/>
              <a:t> (ошибка в программе)   </a:t>
            </a:r>
            <a:r>
              <a:rPr lang="ru-RU" sz="3600" b="1" dirty="0" smtClean="0">
                <a:sym typeface="Symbol"/>
              </a:rPr>
              <a:t></a:t>
            </a:r>
            <a:r>
              <a:rPr lang="ru-RU" sz="3600" b="1" dirty="0" smtClean="0"/>
              <a:t>     </a:t>
            </a:r>
            <a:r>
              <a:rPr lang="ru-RU" sz="3600" b="1" dirty="0"/>
              <a:t>завершение программы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1412776"/>
            <a:ext cx="8532813" cy="1512168"/>
          </a:xfrm>
          <a:noFill/>
        </p:spPr>
        <p:txBody>
          <a:bodyPr>
            <a:normAutofit fontScale="90000"/>
          </a:bodyPr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Основные понятия и концепции ОС</a:t>
            </a:r>
            <a:endParaRPr lang="ru-RU" sz="48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23528" y="2636912"/>
            <a:ext cx="8532813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4400" b="1" noProof="0" dirty="0" smtClean="0">
                <a:solidFill>
                  <a:schemeClr val="accent2"/>
                </a:solidFill>
              </a:rPr>
              <a:t>Файлы</a:t>
            </a:r>
            <a:endParaRPr kumimoji="0" lang="ru-RU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16633"/>
            <a:ext cx="8568952" cy="720080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Файлы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96180" y="1340792"/>
            <a:ext cx="8496300" cy="5184552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b="1" i="1" dirty="0">
                <a:solidFill>
                  <a:srgbClr val="C00000"/>
                </a:solidFill>
              </a:rPr>
              <a:t>Файл</a:t>
            </a:r>
            <a:r>
              <a:rPr lang="ru-RU" dirty="0"/>
              <a:t> (</a:t>
            </a:r>
            <a:r>
              <a:rPr lang="en-US" dirty="0"/>
              <a:t>file</a:t>
            </a:r>
            <a:r>
              <a:rPr lang="ru-RU" dirty="0"/>
              <a:t>) – часть пространства на носителе информации, имеющая имя </a:t>
            </a:r>
          </a:p>
          <a:p>
            <a:pPr>
              <a:defRPr/>
            </a:pPr>
            <a:r>
              <a:rPr lang="ru-RU" b="1" i="1" dirty="0">
                <a:solidFill>
                  <a:srgbClr val="C00000"/>
                </a:solidFill>
              </a:rPr>
              <a:t>Файловая система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dirty="0"/>
              <a:t>(</a:t>
            </a:r>
            <a:r>
              <a:rPr lang="en-US" dirty="0"/>
              <a:t>file system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– скрывает особенности ввода-вывода и дает программисту простую абстрактную модель файлов, независимую от </a:t>
            </a:r>
            <a:r>
              <a:rPr lang="ru-RU" dirty="0" smtClean="0"/>
              <a:t>устройств.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16633"/>
            <a:ext cx="8568952" cy="720080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Файлы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40792"/>
            <a:ext cx="8496300" cy="5184552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i="1" dirty="0" smtClean="0"/>
              <a:t>Файловая </a:t>
            </a:r>
            <a:r>
              <a:rPr lang="ru-RU" i="1" dirty="0"/>
              <a:t>система</a:t>
            </a:r>
            <a:r>
              <a:rPr lang="ru-RU" dirty="0"/>
              <a:t> (</a:t>
            </a:r>
            <a:r>
              <a:rPr lang="en-US" dirty="0"/>
              <a:t>file system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– </a:t>
            </a:r>
            <a:r>
              <a:rPr lang="ru-RU" dirty="0" smtClean="0"/>
              <a:t>включает:</a:t>
            </a:r>
            <a:endParaRPr lang="ru-RU" dirty="0"/>
          </a:p>
          <a:p>
            <a:pPr lvl="1">
              <a:defRPr/>
            </a:pPr>
            <a:r>
              <a:rPr lang="ru-RU" b="1" dirty="0"/>
              <a:t>Системные вызовы для работы с файлами</a:t>
            </a:r>
          </a:p>
          <a:p>
            <a:pPr lvl="1">
              <a:defRPr/>
            </a:pPr>
            <a:r>
              <a:rPr lang="ru-RU" b="1" dirty="0"/>
              <a:t>Понятия каталога, пути</a:t>
            </a:r>
            <a:r>
              <a:rPr lang="ru-RU" b="1" dirty="0" smtClean="0"/>
              <a:t>,</a:t>
            </a:r>
          </a:p>
          <a:p>
            <a:pPr lvl="1">
              <a:defRPr/>
            </a:pPr>
            <a:r>
              <a:rPr lang="ru-RU" b="1" dirty="0" smtClean="0"/>
              <a:t>и т.п.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1412776"/>
            <a:ext cx="8532813" cy="1512168"/>
          </a:xfrm>
          <a:noFill/>
        </p:spPr>
        <p:txBody>
          <a:bodyPr>
            <a:normAutofit fontScale="90000"/>
          </a:bodyPr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Основные понятия и концепции ОС</a:t>
            </a:r>
            <a:endParaRPr lang="ru-RU" sz="48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23528" y="2636912"/>
            <a:ext cx="8532813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4400" b="1" noProof="0" dirty="0" smtClean="0">
                <a:solidFill>
                  <a:schemeClr val="accent2"/>
                </a:solidFill>
              </a:rPr>
              <a:t>Процессы и нити</a:t>
            </a:r>
            <a:endParaRPr kumimoji="0" lang="ru-RU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712968" cy="720080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Процессы и нити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268760"/>
            <a:ext cx="8640960" cy="5400600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rgbClr val="C00000"/>
                </a:solidFill>
              </a:rPr>
              <a:t>Процесс</a:t>
            </a:r>
            <a:r>
              <a:rPr lang="ru-RU" dirty="0"/>
              <a:t> – наиболее фундаментальная концепция в ОС</a:t>
            </a:r>
          </a:p>
          <a:p>
            <a:pPr>
              <a:lnSpc>
                <a:spcPct val="90000"/>
              </a:lnSpc>
            </a:pPr>
            <a:r>
              <a:rPr lang="ru-RU" dirty="0" smtClean="0">
                <a:solidFill>
                  <a:srgbClr val="C00000"/>
                </a:solidFill>
              </a:rPr>
              <a:t>Основная задача ОС </a:t>
            </a:r>
            <a:r>
              <a:rPr lang="ru-RU" dirty="0" smtClean="0"/>
              <a:t>– </a:t>
            </a:r>
            <a:r>
              <a:rPr lang="ru-RU" i="1" dirty="0" smtClean="0"/>
              <a:t>распределение ресурсов между процессами и потоками</a:t>
            </a:r>
            <a:r>
              <a:rPr lang="ru-RU" dirty="0" smtClean="0"/>
              <a:t>.</a:t>
            </a:r>
          </a:p>
          <a:p>
            <a:pPr lvl="1">
              <a:lnSpc>
                <a:spcPct val="90000"/>
              </a:lnSpc>
            </a:pPr>
            <a:r>
              <a:rPr lang="ru-RU" b="1" dirty="0" smtClean="0">
                <a:solidFill>
                  <a:srgbClr val="C00000"/>
                </a:solidFill>
              </a:rPr>
              <a:t>Процесс</a:t>
            </a:r>
            <a:r>
              <a:rPr lang="ru-RU" dirty="0" smtClean="0"/>
              <a:t>, связан с программным кодом исполняемого модуля и рассматривается ОС как заявка на потребление всех видов ресурсов, кроме процессорного времени. </a:t>
            </a:r>
          </a:p>
          <a:p>
            <a:pPr>
              <a:buNone/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712968" cy="720080"/>
          </a:xfr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Процессы и нити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16024" y="1412776"/>
            <a:ext cx="8964488" cy="5688632"/>
          </a:xfrm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b="1" dirty="0" smtClean="0">
                <a:solidFill>
                  <a:srgbClr val="C00000"/>
                </a:solidFill>
              </a:rPr>
              <a:t>Нити</a:t>
            </a:r>
            <a:r>
              <a:rPr lang="ru-RU" dirty="0" smtClean="0"/>
              <a:t> </a:t>
            </a:r>
            <a:r>
              <a:rPr lang="ru-RU" dirty="0"/>
              <a:t>(потоки, </a:t>
            </a:r>
            <a:r>
              <a:rPr lang="en-US" dirty="0"/>
              <a:t>threads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endParaRPr lang="en-US" dirty="0" smtClean="0"/>
          </a:p>
          <a:p>
            <a:pPr>
              <a:defRPr/>
            </a:pPr>
            <a:r>
              <a:rPr lang="ru-RU" b="1" dirty="0" smtClean="0">
                <a:solidFill>
                  <a:srgbClr val="C00000"/>
                </a:solidFill>
              </a:rPr>
              <a:t>Поток</a:t>
            </a:r>
            <a:r>
              <a:rPr lang="ru-RU" dirty="0" smtClean="0"/>
              <a:t> (</a:t>
            </a:r>
            <a:r>
              <a:rPr lang="ru-RU" b="1" dirty="0" smtClean="0"/>
              <a:t>нить</a:t>
            </a:r>
            <a:r>
              <a:rPr lang="ru-RU" dirty="0" smtClean="0"/>
              <a:t>) – последовательность команд, выполняемых ЦП. </a:t>
            </a:r>
          </a:p>
          <a:p>
            <a:pPr>
              <a:defRPr/>
            </a:pPr>
            <a:r>
              <a:rPr lang="ru-RU" dirty="0" smtClean="0"/>
              <a:t>Процесс может иметь один или несколько потоков. </a:t>
            </a:r>
          </a:p>
          <a:p>
            <a:pPr>
              <a:lnSpc>
                <a:spcPct val="90000"/>
              </a:lnSpc>
            </a:pPr>
            <a:r>
              <a:rPr lang="ru-RU" dirty="0" smtClean="0"/>
              <a:t>ОС распределяет процессорное время между </a:t>
            </a:r>
            <a:r>
              <a:rPr lang="ru-RU" b="1" dirty="0" smtClean="0"/>
              <a:t>потоками</a:t>
            </a:r>
            <a:r>
              <a:rPr lang="ru-RU" dirty="0" smtClean="0"/>
              <a:t>. </a:t>
            </a:r>
          </a:p>
          <a:p>
            <a:pPr>
              <a:lnSpc>
                <a:spcPct val="90000"/>
              </a:lnSpc>
            </a:pPr>
            <a:r>
              <a:rPr lang="ru-RU" dirty="0" smtClean="0"/>
              <a:t>Процессу назначается адресное пространство и набор ресурсов, которые используются всеми его потоками.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ru-RU" smtClean="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Архитектура операционных систем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Архитектура ОС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Состав модулей (компонент) ОС</a:t>
            </a:r>
          </a:p>
          <a:p>
            <a:r>
              <a:rPr lang="ru-RU" dirty="0" smtClean="0"/>
              <a:t>Структура связей между отдельными модулями ОС</a:t>
            </a:r>
          </a:p>
          <a:p>
            <a:r>
              <a:rPr lang="ru-RU" dirty="0" smtClean="0"/>
              <a:t>Принципы взаимодействия модулей ОС</a:t>
            </a:r>
          </a:p>
          <a:p>
            <a:r>
              <a:rPr lang="ru-RU" dirty="0" smtClean="0"/>
              <a:t>Принципы функционирования ОС в плане выполнения отдельных функций и в целом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Типы архитектур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Монолитная архитектура</a:t>
            </a:r>
          </a:p>
          <a:p>
            <a:r>
              <a:rPr lang="ru-RU" dirty="0" smtClean="0"/>
              <a:t>Многослойная архитектура</a:t>
            </a:r>
          </a:p>
          <a:p>
            <a:r>
              <a:rPr lang="ru-RU" dirty="0" err="1" smtClean="0"/>
              <a:t>Микроядерная</a:t>
            </a:r>
            <a:r>
              <a:rPr lang="ru-RU" dirty="0" smtClean="0"/>
              <a:t> архитектура</a:t>
            </a:r>
            <a:endParaRPr lang="en-US" dirty="0" smtClean="0"/>
          </a:p>
          <a:p>
            <a:r>
              <a:rPr lang="ru-RU" dirty="0" smtClean="0"/>
              <a:t>и др.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Монолитная архитектура</a:t>
            </a:r>
          </a:p>
        </p:txBody>
      </p:sp>
      <p:sp>
        <p:nvSpPr>
          <p:cNvPr id="47107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216024" y="1556792"/>
            <a:ext cx="6228184" cy="4525962"/>
          </a:xfrm>
        </p:spPr>
        <p:txBody>
          <a:bodyPr/>
          <a:lstStyle/>
          <a:p>
            <a:r>
              <a:rPr lang="ru-RU" sz="3600" b="1" dirty="0" smtClean="0"/>
              <a:t>Нет разделения на отдельные модули</a:t>
            </a:r>
          </a:p>
          <a:p>
            <a:r>
              <a:rPr lang="ru-RU" sz="3600" b="1" dirty="0" smtClean="0"/>
              <a:t>Модули ОС сильно связаны</a:t>
            </a:r>
          </a:p>
          <a:p>
            <a:r>
              <a:rPr lang="ru-RU" sz="3600" b="1" dirty="0" smtClean="0"/>
              <a:t>Затруднены обновление,  разработка и отладка ОС</a:t>
            </a:r>
          </a:p>
          <a:p>
            <a:r>
              <a:rPr lang="ru-RU" sz="3600" b="1" dirty="0" smtClean="0"/>
              <a:t>Пример: </a:t>
            </a:r>
            <a:r>
              <a:rPr lang="en-US" sz="3600" b="1" dirty="0" smtClean="0">
                <a:solidFill>
                  <a:srgbClr val="C00000"/>
                </a:solidFill>
              </a:rPr>
              <a:t>LINUX</a:t>
            </a:r>
            <a:endParaRPr lang="ru-RU" sz="3600" b="1" dirty="0" smtClean="0">
              <a:solidFill>
                <a:srgbClr val="C00000"/>
              </a:solidFill>
            </a:endParaRPr>
          </a:p>
        </p:txBody>
      </p:sp>
      <p:sp>
        <p:nvSpPr>
          <p:cNvPr id="47109" name="Oval 6"/>
          <p:cNvSpPr>
            <a:spLocks noChangeArrowheads="1"/>
          </p:cNvSpPr>
          <p:nvPr/>
        </p:nvSpPr>
        <p:spPr bwMode="auto">
          <a:xfrm>
            <a:off x="5580112" y="1556792"/>
            <a:ext cx="3168352" cy="29523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3600" b="1" dirty="0"/>
              <a:t>ОС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6075"/>
            <a:ext cx="8229600" cy="779463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Монолитная архитектура</a:t>
            </a:r>
          </a:p>
        </p:txBody>
      </p:sp>
      <p:sp>
        <p:nvSpPr>
          <p:cNvPr id="48132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24950" y="5737225"/>
            <a:ext cx="21336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E2B5199A-73D6-4457-8B87-4014CAB56DB5}" type="slidenum">
              <a:rPr lang="ru-RU" smtClean="0"/>
              <a:pPr/>
              <a:t>68</a:t>
            </a:fld>
            <a:endParaRPr lang="ru-RU" smtClean="0"/>
          </a:p>
        </p:txBody>
      </p:sp>
      <p:sp>
        <p:nvSpPr>
          <p:cNvPr id="48131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79511" y="1206500"/>
            <a:ext cx="8712969" cy="5030812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tx2"/>
              </a:buClr>
            </a:pPr>
            <a:r>
              <a:rPr lang="ru-RU" sz="3600" b="1" dirty="0" smtClean="0"/>
              <a:t>Каждая процедура может вызывать любую другую</a:t>
            </a:r>
          </a:p>
          <a:p>
            <a:pPr>
              <a:spcBef>
                <a:spcPct val="0"/>
              </a:spcBef>
              <a:buClr>
                <a:schemeClr val="tx2"/>
              </a:buClr>
            </a:pPr>
            <a:r>
              <a:rPr lang="ru-RU" sz="3600" b="1" dirty="0" smtClean="0"/>
              <a:t>Все процедуры работают в привилегированном режиме</a:t>
            </a:r>
          </a:p>
          <a:p>
            <a:pPr>
              <a:spcBef>
                <a:spcPct val="0"/>
              </a:spcBef>
              <a:buClr>
                <a:schemeClr val="tx2"/>
              </a:buClr>
            </a:pPr>
            <a:r>
              <a:rPr lang="ru-RU" sz="3600" b="1" dirty="0" smtClean="0"/>
              <a:t>Ядро совпадает со всей операционной системой</a:t>
            </a:r>
          </a:p>
          <a:p>
            <a:pPr>
              <a:spcBef>
                <a:spcPct val="0"/>
              </a:spcBef>
              <a:buClr>
                <a:schemeClr val="tx2"/>
              </a:buClr>
            </a:pPr>
            <a:r>
              <a:rPr lang="ru-RU" sz="3600" b="1" dirty="0" smtClean="0"/>
              <a:t>Пользовательские программы взаимодействуют</a:t>
            </a:r>
            <a:r>
              <a:rPr lang="en-US" sz="3600" b="1" dirty="0" smtClean="0"/>
              <a:t> </a:t>
            </a:r>
            <a:r>
              <a:rPr lang="ru-RU" sz="3600" b="1" dirty="0" smtClean="0"/>
              <a:t>с ядром через системные вызовы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6075"/>
            <a:ext cx="8229600" cy="779463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Монолитная архитектура</a:t>
            </a:r>
          </a:p>
        </p:txBody>
      </p:sp>
      <p:sp>
        <p:nvSpPr>
          <p:cNvPr id="48132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24950" y="5737225"/>
            <a:ext cx="21336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E2B5199A-73D6-4457-8B87-4014CAB56DB5}" type="slidenum">
              <a:rPr lang="ru-RU" smtClean="0"/>
              <a:pPr/>
              <a:t>69</a:t>
            </a:fld>
            <a:endParaRPr lang="ru-RU" smtClean="0"/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2483768" y="2132856"/>
            <a:ext cx="5040560" cy="3510707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635896" y="3284984"/>
            <a:ext cx="171450" cy="1762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4644008" y="2924944"/>
            <a:ext cx="147637" cy="17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6248400" y="4869160"/>
            <a:ext cx="180975" cy="1793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364088" y="3356992"/>
            <a:ext cx="141288" cy="17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5500688" y="4683125"/>
            <a:ext cx="188912" cy="174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7093421" y="4510261"/>
            <a:ext cx="142875" cy="142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2860923" y="4510861"/>
            <a:ext cx="293521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ОС  = ядро</a:t>
            </a: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179512" y="5445224"/>
            <a:ext cx="511256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ru-RU" sz="3600" b="1" dirty="0">
                <a:solidFill>
                  <a:srgbClr val="C00000"/>
                </a:solidFill>
              </a:rPr>
              <a:t>точки входа в ядро –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ru-RU" sz="3600" b="1" dirty="0">
                <a:solidFill>
                  <a:srgbClr val="C00000"/>
                </a:solidFill>
              </a:rPr>
              <a:t>системные вызовы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2843808" y="3429000"/>
            <a:ext cx="46085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Привилегированный</a:t>
            </a:r>
            <a:r>
              <a:rPr lang="ru-RU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ru-RU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режим</a:t>
            </a:r>
            <a:endParaRPr lang="ru-RU" sz="36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539552" y="1271662"/>
            <a:ext cx="3528392" cy="107721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Программа пользователя</a:t>
            </a: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5652120" y="1196752"/>
            <a:ext cx="3240360" cy="107721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Программа пользователя</a:t>
            </a:r>
          </a:p>
        </p:txBody>
      </p:sp>
      <p:sp>
        <p:nvSpPr>
          <p:cNvPr id="23" name="Text Box 26"/>
          <p:cNvSpPr txBox="1">
            <a:spLocks noChangeArrowheads="1"/>
          </p:cNvSpPr>
          <p:nvPr/>
        </p:nvSpPr>
        <p:spPr bwMode="auto">
          <a:xfrm>
            <a:off x="6156176" y="5517232"/>
            <a:ext cx="3312592" cy="107721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Программа пользователя</a:t>
            </a:r>
          </a:p>
        </p:txBody>
      </p:sp>
      <p:cxnSp>
        <p:nvCxnSpPr>
          <p:cNvPr id="24" name="AutoShape 29"/>
          <p:cNvCxnSpPr>
            <a:cxnSpLocks noChangeShapeType="1"/>
            <a:stCxn id="8" idx="1"/>
            <a:endCxn id="21" idx="2"/>
          </p:cNvCxnSpPr>
          <p:nvPr/>
        </p:nvCxnSpPr>
        <p:spPr bwMode="auto">
          <a:xfrm flipH="1" flipV="1">
            <a:off x="2303748" y="2348880"/>
            <a:ext cx="1332148" cy="102421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25" name="AutoShape 30"/>
          <p:cNvCxnSpPr>
            <a:cxnSpLocks noChangeShapeType="1"/>
            <a:stCxn id="9" idx="1"/>
            <a:endCxn id="21" idx="2"/>
          </p:cNvCxnSpPr>
          <p:nvPr/>
        </p:nvCxnSpPr>
        <p:spPr bwMode="auto">
          <a:xfrm flipH="1" flipV="1">
            <a:off x="2303748" y="2348880"/>
            <a:ext cx="2340260" cy="661789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26" name="AutoShape 31"/>
          <p:cNvCxnSpPr>
            <a:cxnSpLocks noChangeShapeType="1"/>
            <a:stCxn id="15" idx="3"/>
            <a:endCxn id="22" idx="2"/>
          </p:cNvCxnSpPr>
          <p:nvPr/>
        </p:nvCxnSpPr>
        <p:spPr bwMode="auto">
          <a:xfrm flipV="1">
            <a:off x="7236296" y="2273970"/>
            <a:ext cx="36004" cy="2307729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27" name="AutoShape 32"/>
          <p:cNvCxnSpPr>
            <a:cxnSpLocks noChangeShapeType="1"/>
            <a:stCxn id="22" idx="2"/>
            <a:endCxn id="13" idx="0"/>
          </p:cNvCxnSpPr>
          <p:nvPr/>
        </p:nvCxnSpPr>
        <p:spPr bwMode="auto">
          <a:xfrm flipH="1">
            <a:off x="5434732" y="2273970"/>
            <a:ext cx="1837568" cy="1083022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28" name="AutoShape 33"/>
          <p:cNvCxnSpPr>
            <a:cxnSpLocks noChangeShapeType="1"/>
            <a:stCxn id="10" idx="0"/>
            <a:endCxn id="23" idx="0"/>
          </p:cNvCxnSpPr>
          <p:nvPr/>
        </p:nvCxnSpPr>
        <p:spPr bwMode="auto">
          <a:xfrm>
            <a:off x="6338888" y="4869160"/>
            <a:ext cx="1473584" cy="648072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61" name="AutoShape 29"/>
          <p:cNvCxnSpPr>
            <a:cxnSpLocks noChangeShapeType="1"/>
            <a:stCxn id="18" idx="3"/>
            <a:endCxn id="10" idx="1"/>
          </p:cNvCxnSpPr>
          <p:nvPr/>
        </p:nvCxnSpPr>
        <p:spPr bwMode="auto">
          <a:xfrm flipV="1">
            <a:off x="5292080" y="4958854"/>
            <a:ext cx="956320" cy="108653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64" name="AutoShape 29"/>
          <p:cNvCxnSpPr>
            <a:cxnSpLocks noChangeShapeType="1"/>
            <a:endCxn id="14" idx="2"/>
          </p:cNvCxnSpPr>
          <p:nvPr/>
        </p:nvCxnSpPr>
        <p:spPr bwMode="auto">
          <a:xfrm flipV="1">
            <a:off x="5220072" y="4857750"/>
            <a:ext cx="375072" cy="109153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6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Монолитная архитектура</a:t>
            </a:r>
          </a:p>
        </p:txBody>
      </p:sp>
      <p:sp>
        <p:nvSpPr>
          <p:cNvPr id="49155" name="AutoShape 2" descr="D:\%D0%9F%D1%80%D0%B5%D0%B7%D0%B5%D0%BD%D1%82%D0%B0%D1%86%D0%B8%D0%B8 %D0%BA %D0%BB%D0%B5%D0%BA%D1%86%D0%B8%D1%8F%D0%BC\%D0%9E%D0%BF%D0%B5%D1%80%D0%B0%D1%86%D0%B8%D0%BE%D0%BD%D0%BD%D1%8B%D0%B5 %D1%81%D0%B8%D1%81%D1%82%D0%B5%D0%BC%D1%8B\os\lec\1-1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9156" name="AutoShape 4" descr="D:\%D0%9F%D1%80%D0%B5%D0%B7%D0%B5%D0%BD%D1%82%D0%B0%D1%86%D0%B8%D0%B8 %D0%BA %D0%BB%D0%B5%D0%BA%D1%86%D0%B8%D1%8F%D0%BC\%D0%9E%D0%BF%D0%B5%D1%80%D0%B0%D1%86%D0%B8%D0%BE%D0%BD%D0%BD%D1%8B%D0%B5 %D1%81%D0%B8%D1%81%D1%82%D0%B5%D0%BC%D1%8B\os\lec\1-1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9157" name="AutoShape 6" descr="D:\%D0%9F%D1%80%D0%B5%D0%B7%D0%B5%D0%BD%D1%82%D0%B0%D1%86%D0%B8%D0%B8 %D0%BA %D0%BB%D0%B5%D0%BA%D1%86%D0%B8%D1%8F%D0%BC\%D0%9E%D0%BF%D0%B5%D1%80%D0%B0%D1%86%D0%B8%D0%BE%D0%BD%D0%BD%D1%8B%D0%B5 %D1%81%D0%B8%D1%81%D1%82%D0%B5%D0%BC%D1%8B\os\lec\1-1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49158" name="Picture 8" descr="D:\Презентации к лекциям\Операционные системы\os\lec\1-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88" y="2214563"/>
            <a:ext cx="6572250" cy="436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9" name="Прямоугольник 8"/>
          <p:cNvSpPr>
            <a:spLocks noChangeArrowheads="1"/>
          </p:cNvSpPr>
          <p:nvPr/>
        </p:nvSpPr>
        <p:spPr bwMode="auto">
          <a:xfrm>
            <a:off x="109538" y="1428750"/>
            <a:ext cx="36766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200" b="1"/>
              <a:t>Структура системы: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Заголовок 9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Монолитная архитектура</a:t>
            </a:r>
          </a:p>
        </p:txBody>
      </p:sp>
      <p:sp>
        <p:nvSpPr>
          <p:cNvPr id="50178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28625" y="1785938"/>
            <a:ext cx="8429625" cy="4525962"/>
          </a:xfrm>
        </p:spPr>
        <p:txBody>
          <a:bodyPr/>
          <a:lstStyle/>
          <a:p>
            <a:pPr>
              <a:buFontTx/>
              <a:buNone/>
            </a:pPr>
            <a:r>
              <a:rPr lang="ru-RU" sz="3200" b="1" smtClean="0"/>
              <a:t>Структура системы:</a:t>
            </a:r>
          </a:p>
          <a:p>
            <a:r>
              <a:rPr lang="ru-RU" sz="3200" smtClean="0"/>
              <a:t>Главная программа, которая вызывает требуемые сервисные процедуры.</a:t>
            </a:r>
          </a:p>
          <a:p>
            <a:r>
              <a:rPr lang="ru-RU" sz="3200" smtClean="0"/>
              <a:t>Набор сервисных процедур, реализующих системные вызовы.</a:t>
            </a:r>
          </a:p>
          <a:p>
            <a:r>
              <a:rPr lang="ru-RU" sz="3200" smtClean="0"/>
              <a:t>Набор утилит, обслуживающих сервисные процедуры.</a:t>
            </a:r>
          </a:p>
        </p:txBody>
      </p:sp>
      <p:sp>
        <p:nvSpPr>
          <p:cNvPr id="50179" name="AutoShape 2" descr="D:\%D0%9F%D1%80%D0%B5%D0%B7%D0%B5%D0%BD%D1%82%D0%B0%D1%86%D0%B8%D0%B8 %D0%BA %D0%BB%D0%B5%D0%BA%D1%86%D0%B8%D1%8F%D0%BC\%D0%9E%D0%BF%D0%B5%D1%80%D0%B0%D1%86%D0%B8%D0%BE%D0%BD%D0%BD%D1%8B%D0%B5 %D1%81%D0%B8%D1%81%D1%82%D0%B5%D0%BC%D1%8B\os\lec\1-1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0180" name="AutoShape 4" descr="D:\%D0%9F%D1%80%D0%B5%D0%B7%D0%B5%D0%BD%D1%82%D0%B0%D1%86%D0%B8%D0%B8 %D0%BA %D0%BB%D0%B5%D0%BA%D1%86%D0%B8%D1%8F%D0%BC\%D0%9E%D0%BF%D0%B5%D1%80%D0%B0%D1%86%D0%B8%D0%BE%D0%BD%D0%BD%D1%8B%D0%B5 %D1%81%D0%B8%D1%81%D1%82%D0%B5%D0%BC%D1%8B\os\lec\1-1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0181" name="AutoShape 6" descr="D:\%D0%9F%D1%80%D0%B5%D0%B7%D0%B5%D0%BD%D1%82%D0%B0%D1%86%D0%B8%D0%B8 %D0%BA %D0%BB%D0%B5%D0%BA%D1%86%D0%B8%D1%8F%D0%BC\%D0%9E%D0%BF%D0%B5%D1%80%D0%B0%D1%86%D0%B8%D0%BE%D0%BD%D0%BD%D1%8B%D0%B5 %D1%81%D0%B8%D1%81%D1%82%D0%B5%D0%BC%D1%8B\os\lec\1-1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ОС с ядром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07950" y="1639888"/>
            <a:ext cx="4495800" cy="45259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 dirty="0"/>
              <a:t>Выделяется специальный модуль – </a:t>
            </a:r>
            <a:r>
              <a:rPr lang="ru-RU" sz="3200" b="1" i="1" dirty="0"/>
              <a:t>ядро</a:t>
            </a:r>
          </a:p>
          <a:p>
            <a:pPr>
              <a:defRPr/>
            </a:pPr>
            <a:r>
              <a:rPr lang="ru-RU" sz="3200" dirty="0"/>
              <a:t>Для выполнения дополнительных задач используются </a:t>
            </a:r>
            <a:r>
              <a:rPr lang="ru-RU" sz="3200" b="1" i="1" dirty="0"/>
              <a:t>вспомогательные модули</a:t>
            </a:r>
          </a:p>
          <a:p>
            <a:pPr>
              <a:defRPr/>
            </a:pPr>
            <a:endParaRPr lang="ru-RU" sz="3200" dirty="0"/>
          </a:p>
        </p:txBody>
      </p:sp>
      <p:sp>
        <p:nvSpPr>
          <p:cNvPr id="51204" name="Rectangle 5"/>
          <p:cNvSpPr>
            <a:spLocks noGrp="1" noChangeArrowheads="1"/>
          </p:cNvSpPr>
          <p:nvPr>
            <p:ph sz="quarter" idx="2"/>
          </p:nvPr>
        </p:nvSpPr>
        <p:spPr>
          <a:solidFill>
            <a:schemeClr val="bg1"/>
          </a:solidFill>
        </p:spPr>
        <p:txBody>
          <a:bodyPr/>
          <a:lstStyle/>
          <a:p>
            <a:endParaRPr lang="ru-RU" smtClean="0"/>
          </a:p>
        </p:txBody>
      </p:sp>
      <p:sp>
        <p:nvSpPr>
          <p:cNvPr id="51205" name="Oval 6"/>
          <p:cNvSpPr>
            <a:spLocks noChangeArrowheads="1"/>
          </p:cNvSpPr>
          <p:nvPr/>
        </p:nvSpPr>
        <p:spPr bwMode="auto">
          <a:xfrm>
            <a:off x="6011863" y="3213100"/>
            <a:ext cx="1439862" cy="1439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/>
              <a:t>Ядро</a:t>
            </a:r>
            <a:endParaRPr lang="ru-RU"/>
          </a:p>
        </p:txBody>
      </p:sp>
      <p:sp>
        <p:nvSpPr>
          <p:cNvPr id="51206" name="Oval 7"/>
          <p:cNvSpPr>
            <a:spLocks noChangeArrowheads="1"/>
          </p:cNvSpPr>
          <p:nvPr/>
        </p:nvSpPr>
        <p:spPr bwMode="auto">
          <a:xfrm>
            <a:off x="5580063" y="2924175"/>
            <a:ext cx="287337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07" name="Oval 8"/>
          <p:cNvSpPr>
            <a:spLocks noChangeArrowheads="1"/>
          </p:cNvSpPr>
          <p:nvPr/>
        </p:nvSpPr>
        <p:spPr bwMode="auto">
          <a:xfrm>
            <a:off x="6443663" y="2492375"/>
            <a:ext cx="287337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08" name="Oval 9"/>
          <p:cNvSpPr>
            <a:spLocks noChangeArrowheads="1"/>
          </p:cNvSpPr>
          <p:nvPr/>
        </p:nvSpPr>
        <p:spPr bwMode="auto">
          <a:xfrm>
            <a:off x="5435600" y="3860800"/>
            <a:ext cx="287338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09" name="Oval 10"/>
          <p:cNvSpPr>
            <a:spLocks noChangeArrowheads="1"/>
          </p:cNvSpPr>
          <p:nvPr/>
        </p:nvSpPr>
        <p:spPr bwMode="auto">
          <a:xfrm>
            <a:off x="5940425" y="4724400"/>
            <a:ext cx="287338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0" name="Oval 11"/>
          <p:cNvSpPr>
            <a:spLocks noChangeArrowheads="1"/>
          </p:cNvSpPr>
          <p:nvPr/>
        </p:nvSpPr>
        <p:spPr bwMode="auto">
          <a:xfrm>
            <a:off x="7164388" y="4868863"/>
            <a:ext cx="287337" cy="2873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1" name="Oval 12"/>
          <p:cNvSpPr>
            <a:spLocks noChangeArrowheads="1"/>
          </p:cNvSpPr>
          <p:nvPr/>
        </p:nvSpPr>
        <p:spPr bwMode="auto">
          <a:xfrm>
            <a:off x="7740650" y="4005263"/>
            <a:ext cx="287338" cy="2873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2" name="Oval 13"/>
          <p:cNvSpPr>
            <a:spLocks noChangeArrowheads="1"/>
          </p:cNvSpPr>
          <p:nvPr/>
        </p:nvSpPr>
        <p:spPr bwMode="auto">
          <a:xfrm>
            <a:off x="7596188" y="2924175"/>
            <a:ext cx="287337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3" name="Oval 14"/>
          <p:cNvSpPr>
            <a:spLocks noChangeArrowheads="1"/>
          </p:cNvSpPr>
          <p:nvPr/>
        </p:nvSpPr>
        <p:spPr bwMode="auto">
          <a:xfrm>
            <a:off x="6516688" y="5445125"/>
            <a:ext cx="287337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4" name="Oval 15"/>
          <p:cNvSpPr>
            <a:spLocks noChangeArrowheads="1"/>
          </p:cNvSpPr>
          <p:nvPr/>
        </p:nvSpPr>
        <p:spPr bwMode="auto">
          <a:xfrm>
            <a:off x="5076825" y="4724400"/>
            <a:ext cx="287338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5" name="Oval 16"/>
          <p:cNvSpPr>
            <a:spLocks noChangeArrowheads="1"/>
          </p:cNvSpPr>
          <p:nvPr/>
        </p:nvSpPr>
        <p:spPr bwMode="auto">
          <a:xfrm>
            <a:off x="4859338" y="3068638"/>
            <a:ext cx="287337" cy="2873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6" name="Oval 17"/>
          <p:cNvSpPr>
            <a:spLocks noChangeArrowheads="1"/>
          </p:cNvSpPr>
          <p:nvPr/>
        </p:nvSpPr>
        <p:spPr bwMode="auto">
          <a:xfrm>
            <a:off x="5795963" y="2205038"/>
            <a:ext cx="287337" cy="2873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7" name="Oval 18"/>
          <p:cNvSpPr>
            <a:spLocks noChangeArrowheads="1"/>
          </p:cNvSpPr>
          <p:nvPr/>
        </p:nvSpPr>
        <p:spPr bwMode="auto">
          <a:xfrm>
            <a:off x="7235825" y="2276475"/>
            <a:ext cx="287338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8" name="Oval 19"/>
          <p:cNvSpPr>
            <a:spLocks noChangeArrowheads="1"/>
          </p:cNvSpPr>
          <p:nvPr/>
        </p:nvSpPr>
        <p:spPr bwMode="auto">
          <a:xfrm>
            <a:off x="8316913" y="3284538"/>
            <a:ext cx="287337" cy="2873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9" name="Oval 20"/>
          <p:cNvSpPr>
            <a:spLocks noChangeArrowheads="1"/>
          </p:cNvSpPr>
          <p:nvPr/>
        </p:nvSpPr>
        <p:spPr bwMode="auto">
          <a:xfrm>
            <a:off x="8172450" y="4868863"/>
            <a:ext cx="287338" cy="2873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0" name="Oval 21"/>
          <p:cNvSpPr>
            <a:spLocks noChangeArrowheads="1"/>
          </p:cNvSpPr>
          <p:nvPr/>
        </p:nvSpPr>
        <p:spPr bwMode="auto">
          <a:xfrm>
            <a:off x="5508625" y="5229225"/>
            <a:ext cx="287338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1" name="Oval 22"/>
          <p:cNvSpPr>
            <a:spLocks noChangeArrowheads="1"/>
          </p:cNvSpPr>
          <p:nvPr/>
        </p:nvSpPr>
        <p:spPr bwMode="auto">
          <a:xfrm>
            <a:off x="6443663" y="4868863"/>
            <a:ext cx="287337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2" name="Oval 23"/>
          <p:cNvSpPr>
            <a:spLocks noChangeArrowheads="1"/>
          </p:cNvSpPr>
          <p:nvPr/>
        </p:nvSpPr>
        <p:spPr bwMode="auto">
          <a:xfrm>
            <a:off x="7596188" y="5373688"/>
            <a:ext cx="287337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3" name="Oval 24"/>
          <p:cNvSpPr>
            <a:spLocks noChangeArrowheads="1"/>
          </p:cNvSpPr>
          <p:nvPr/>
        </p:nvSpPr>
        <p:spPr bwMode="auto">
          <a:xfrm>
            <a:off x="7596188" y="4652963"/>
            <a:ext cx="287337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4" name="Oval 25"/>
          <p:cNvSpPr>
            <a:spLocks noChangeArrowheads="1"/>
          </p:cNvSpPr>
          <p:nvPr/>
        </p:nvSpPr>
        <p:spPr bwMode="auto">
          <a:xfrm>
            <a:off x="8316913" y="4149725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5" name="Oval 26"/>
          <p:cNvSpPr>
            <a:spLocks noChangeArrowheads="1"/>
          </p:cNvSpPr>
          <p:nvPr/>
        </p:nvSpPr>
        <p:spPr bwMode="auto">
          <a:xfrm>
            <a:off x="7740650" y="3500438"/>
            <a:ext cx="287338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6" name="Oval 27"/>
          <p:cNvSpPr>
            <a:spLocks noChangeArrowheads="1"/>
          </p:cNvSpPr>
          <p:nvPr/>
        </p:nvSpPr>
        <p:spPr bwMode="auto">
          <a:xfrm>
            <a:off x="8027988" y="2565400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7" name="Oval 28"/>
          <p:cNvSpPr>
            <a:spLocks noChangeArrowheads="1"/>
          </p:cNvSpPr>
          <p:nvPr/>
        </p:nvSpPr>
        <p:spPr bwMode="auto">
          <a:xfrm>
            <a:off x="7019925" y="2781300"/>
            <a:ext cx="287338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8" name="Oval 29"/>
          <p:cNvSpPr>
            <a:spLocks noChangeArrowheads="1"/>
          </p:cNvSpPr>
          <p:nvPr/>
        </p:nvSpPr>
        <p:spPr bwMode="auto">
          <a:xfrm>
            <a:off x="6588125" y="1989138"/>
            <a:ext cx="287338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9" name="Oval 30"/>
          <p:cNvSpPr>
            <a:spLocks noChangeArrowheads="1"/>
          </p:cNvSpPr>
          <p:nvPr/>
        </p:nvSpPr>
        <p:spPr bwMode="auto">
          <a:xfrm>
            <a:off x="5076825" y="2420938"/>
            <a:ext cx="287338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30" name="Oval 31"/>
          <p:cNvSpPr>
            <a:spLocks noChangeArrowheads="1"/>
          </p:cNvSpPr>
          <p:nvPr/>
        </p:nvSpPr>
        <p:spPr bwMode="auto">
          <a:xfrm>
            <a:off x="4859338" y="3573463"/>
            <a:ext cx="287337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31" name="Oval 32"/>
          <p:cNvSpPr>
            <a:spLocks noChangeArrowheads="1"/>
          </p:cNvSpPr>
          <p:nvPr/>
        </p:nvSpPr>
        <p:spPr bwMode="auto">
          <a:xfrm>
            <a:off x="5435600" y="4292600"/>
            <a:ext cx="287338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32" name="AutoShape 33"/>
          <p:cNvSpPr>
            <a:spLocks noChangeArrowheads="1"/>
          </p:cNvSpPr>
          <p:nvPr/>
        </p:nvSpPr>
        <p:spPr bwMode="auto">
          <a:xfrm rot="10800000">
            <a:off x="1403350" y="5786438"/>
            <a:ext cx="3387725" cy="914400"/>
          </a:xfrm>
          <a:prstGeom prst="wedgeRectCallout">
            <a:avLst>
              <a:gd name="adj1" fmla="val -60583"/>
              <a:gd name="adj2" fmla="val 14049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/>
          <a:p>
            <a:pPr algn="ctr"/>
            <a:r>
              <a:rPr lang="ru-RU" sz="2800"/>
              <a:t>Вспомогательный модуль</a:t>
            </a:r>
          </a:p>
          <a:p>
            <a:pPr algn="ctr"/>
            <a:endParaRPr lang="ru-RU" sz="2000"/>
          </a:p>
        </p:txBody>
      </p:sp>
      <p:sp>
        <p:nvSpPr>
          <p:cNvPr id="51233" name="AutoShape 34"/>
          <p:cNvSpPr>
            <a:spLocks noChangeArrowheads="1"/>
          </p:cNvSpPr>
          <p:nvPr/>
        </p:nvSpPr>
        <p:spPr bwMode="auto">
          <a:xfrm rot="10800000">
            <a:off x="5146675" y="5786438"/>
            <a:ext cx="2711450" cy="1000125"/>
          </a:xfrm>
          <a:prstGeom prst="wedgeRectCallout">
            <a:avLst>
              <a:gd name="adj1" fmla="val -44125"/>
              <a:gd name="adj2" fmla="val 14006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/>
          <a:p>
            <a:pPr algn="ctr"/>
            <a:r>
              <a:rPr lang="ru-RU" sz="2800"/>
              <a:t>Приложение пользователя</a:t>
            </a:r>
          </a:p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Функции ядра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Внутрисистемные задачи организации вычислительного процесса</a:t>
            </a:r>
          </a:p>
          <a:p>
            <a:r>
              <a:rPr lang="ru-RU" dirty="0" smtClean="0"/>
              <a:t>Создание прикладной программной среды (предоставление </a:t>
            </a:r>
            <a:r>
              <a:rPr lang="en-US" dirty="0" smtClean="0"/>
              <a:t>API-</a:t>
            </a:r>
            <a:r>
              <a:rPr lang="ru-RU" dirty="0" smtClean="0"/>
              <a:t>функций приложениям пользователя и вспомогательным модулям)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Особенности реализации ядра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277688" y="1484784"/>
            <a:ext cx="8686800" cy="4525963"/>
          </a:xfrm>
        </p:spPr>
        <p:txBody>
          <a:bodyPr/>
          <a:lstStyle/>
          <a:p>
            <a:r>
              <a:rPr lang="ru-RU" dirty="0" smtClean="0"/>
              <a:t>Ядро реализует только основные функции ОС</a:t>
            </a:r>
          </a:p>
          <a:p>
            <a:r>
              <a:rPr lang="ru-RU" dirty="0" smtClean="0"/>
              <a:t>При реализации ядра важна скорость выполнения его функций</a:t>
            </a:r>
          </a:p>
          <a:p>
            <a:r>
              <a:rPr lang="ru-RU" dirty="0" smtClean="0"/>
              <a:t>Функции ядра реализуются как </a:t>
            </a:r>
            <a:r>
              <a:rPr lang="ru-RU" i="1" dirty="0" smtClean="0"/>
              <a:t>резидентные </a:t>
            </a:r>
            <a:r>
              <a:rPr lang="ru-RU" dirty="0" smtClean="0"/>
              <a:t>модули</a:t>
            </a:r>
          </a:p>
          <a:p>
            <a:r>
              <a:rPr lang="ru-RU" dirty="0" smtClean="0"/>
              <a:t>Ядро реализуется как программный модуль специального формата</a:t>
            </a:r>
          </a:p>
          <a:p>
            <a:endParaRPr lang="ru-RU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smtClean="0">
                <a:solidFill>
                  <a:schemeClr val="accent2"/>
                </a:solidFill>
              </a:rPr>
              <a:t>Виды вспомогательных модулей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smtClean="0"/>
              <a:t>Утилиты ОС</a:t>
            </a:r>
          </a:p>
          <a:p>
            <a:r>
              <a:rPr lang="ru-RU" smtClean="0"/>
              <a:t>Системные обрабатывающие программы (СОП)</a:t>
            </a:r>
          </a:p>
          <a:p>
            <a:r>
              <a:rPr lang="ru-RU" smtClean="0"/>
              <a:t>Программы предоставления пользователю дополнительных услуг</a:t>
            </a:r>
          </a:p>
          <a:p>
            <a:r>
              <a:rPr lang="ru-RU" smtClean="0"/>
              <a:t>Библиотеки процедур различного назначения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sz="4000" b="1" dirty="0">
                <a:solidFill>
                  <a:schemeClr val="accent2"/>
                </a:solidFill>
              </a:rPr>
              <a:t>Особенности реализации вспомогательных модулей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u-RU" sz="2800" smtClean="0"/>
              <a:t>Реализуются в виде дополнительных программ или библиотек</a:t>
            </a:r>
          </a:p>
          <a:p>
            <a:pPr>
              <a:lnSpc>
                <a:spcPct val="90000"/>
              </a:lnSpc>
            </a:pPr>
            <a:r>
              <a:rPr lang="ru-RU" sz="2800" smtClean="0"/>
              <a:t>Загружаются в ОЗУ только на время использования, т.е. являются </a:t>
            </a:r>
            <a:r>
              <a:rPr lang="ru-RU" sz="2800" b="1" i="1" smtClean="0"/>
              <a:t>транзитными модулями</a:t>
            </a:r>
            <a:endParaRPr lang="ru-RU" sz="2800" b="1" smtClean="0"/>
          </a:p>
          <a:p>
            <a:pPr>
              <a:lnSpc>
                <a:spcPct val="90000"/>
              </a:lnSpc>
            </a:pPr>
            <a:r>
              <a:rPr lang="ru-RU" sz="2800" smtClean="0"/>
              <a:t>Формат модулей совпадает с форматом приложений пользователя</a:t>
            </a:r>
          </a:p>
          <a:p>
            <a:pPr>
              <a:lnSpc>
                <a:spcPct val="90000"/>
              </a:lnSpc>
            </a:pPr>
            <a:r>
              <a:rPr lang="ru-RU" sz="2800" smtClean="0"/>
              <a:t>Нет четкого различия между вспомогательными модулями и приложениями пользователя</a:t>
            </a:r>
          </a:p>
          <a:p>
            <a:pPr>
              <a:lnSpc>
                <a:spcPct val="90000"/>
              </a:lnSpc>
            </a:pPr>
            <a:r>
              <a:rPr lang="ru-RU" sz="2800" smtClean="0"/>
              <a:t>Для выполнения своих задач используют </a:t>
            </a:r>
            <a:r>
              <a:rPr lang="en-US" sz="2800" smtClean="0"/>
              <a:t>API-</a:t>
            </a:r>
            <a:r>
              <a:rPr lang="ru-RU" sz="2800" smtClean="0"/>
              <a:t>функции, предоставляемые ядром</a:t>
            </a:r>
          </a:p>
          <a:p>
            <a:pPr>
              <a:lnSpc>
                <a:spcPct val="90000"/>
              </a:lnSpc>
            </a:pPr>
            <a:endParaRPr lang="ru-RU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Достоинства ОС с ядром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smtClean="0"/>
              <a:t>Легкая расширяемость</a:t>
            </a:r>
          </a:p>
          <a:p>
            <a:r>
              <a:rPr lang="ru-RU" smtClean="0"/>
              <a:t>Возможность обеспечения защиты системного программного кода  и данных ОС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Ядро в привилегированном режиме</a:t>
            </a:r>
          </a:p>
        </p:txBody>
      </p:sp>
      <p:sp>
        <p:nvSpPr>
          <p:cNvPr id="57347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0" y="1600200"/>
            <a:ext cx="4495800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ru-RU" smtClean="0"/>
              <a:t>Повышение привилегий основной части ОС по сравнению со вспомогательными модулями и приложениями пользователя</a:t>
            </a:r>
          </a:p>
          <a:p>
            <a:pPr>
              <a:lnSpc>
                <a:spcPct val="90000"/>
              </a:lnSpc>
            </a:pPr>
            <a:r>
              <a:rPr lang="ru-RU" smtClean="0"/>
              <a:t>Повышение уровня защищенности системного программного кода и данных операционной системы</a:t>
            </a:r>
          </a:p>
        </p:txBody>
      </p:sp>
      <p:sp>
        <p:nvSpPr>
          <p:cNvPr id="57348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4591050" y="1571625"/>
            <a:ext cx="4038600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endParaRPr lang="ru-RU" sz="2400" smtClean="0"/>
          </a:p>
        </p:txBody>
      </p:sp>
      <p:sp>
        <p:nvSpPr>
          <p:cNvPr id="57349" name="Line 6"/>
          <p:cNvSpPr>
            <a:spLocks noChangeShapeType="1"/>
          </p:cNvSpPr>
          <p:nvPr/>
        </p:nvSpPr>
        <p:spPr bwMode="auto">
          <a:xfrm>
            <a:off x="4500563" y="4000500"/>
            <a:ext cx="4286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7350" name="Text Box 7"/>
          <p:cNvSpPr txBox="1">
            <a:spLocks noChangeArrowheads="1"/>
          </p:cNvSpPr>
          <p:nvPr/>
        </p:nvSpPr>
        <p:spPr bwMode="auto">
          <a:xfrm>
            <a:off x="4643438" y="3436938"/>
            <a:ext cx="395287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600" b="1">
                <a:solidFill>
                  <a:srgbClr val="00B050"/>
                </a:solidFill>
              </a:rPr>
              <a:t>Пользовательский режим</a:t>
            </a:r>
          </a:p>
        </p:txBody>
      </p:sp>
      <p:sp>
        <p:nvSpPr>
          <p:cNvPr id="57351" name="Text Box 8"/>
          <p:cNvSpPr txBox="1">
            <a:spLocks noChangeArrowheads="1"/>
          </p:cNvSpPr>
          <p:nvPr/>
        </p:nvSpPr>
        <p:spPr bwMode="auto">
          <a:xfrm>
            <a:off x="4643438" y="4151313"/>
            <a:ext cx="431958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600" b="1">
                <a:solidFill>
                  <a:srgbClr val="FF0000"/>
                </a:solidFill>
              </a:rPr>
              <a:t>Привилегированный режим</a:t>
            </a:r>
          </a:p>
        </p:txBody>
      </p:sp>
      <p:sp>
        <p:nvSpPr>
          <p:cNvPr id="57352" name="Oval 9"/>
          <p:cNvSpPr>
            <a:spLocks noChangeArrowheads="1"/>
          </p:cNvSpPr>
          <p:nvPr/>
        </p:nvSpPr>
        <p:spPr bwMode="auto">
          <a:xfrm>
            <a:off x="5857875" y="4633913"/>
            <a:ext cx="1595438" cy="150971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3200" b="1">
                <a:solidFill>
                  <a:schemeClr val="bg1"/>
                </a:solidFill>
              </a:rPr>
              <a:t>Ядро</a:t>
            </a:r>
          </a:p>
        </p:txBody>
      </p:sp>
      <p:sp>
        <p:nvSpPr>
          <p:cNvPr id="57353" name="Oval 10"/>
          <p:cNvSpPr>
            <a:spLocks noChangeArrowheads="1"/>
          </p:cNvSpPr>
          <p:nvPr/>
        </p:nvSpPr>
        <p:spPr bwMode="auto">
          <a:xfrm>
            <a:off x="4787900" y="2997200"/>
            <a:ext cx="288925" cy="2889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7354" name="Oval 11"/>
          <p:cNvSpPr>
            <a:spLocks noChangeArrowheads="1"/>
          </p:cNvSpPr>
          <p:nvPr/>
        </p:nvSpPr>
        <p:spPr bwMode="auto">
          <a:xfrm>
            <a:off x="5219700" y="2997200"/>
            <a:ext cx="288925" cy="2889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7355" name="Oval 12"/>
          <p:cNvSpPr>
            <a:spLocks noChangeArrowheads="1"/>
          </p:cNvSpPr>
          <p:nvPr/>
        </p:nvSpPr>
        <p:spPr bwMode="auto">
          <a:xfrm>
            <a:off x="5651500" y="2997200"/>
            <a:ext cx="288925" cy="2889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7356" name="Oval 13"/>
          <p:cNvSpPr>
            <a:spLocks noChangeArrowheads="1"/>
          </p:cNvSpPr>
          <p:nvPr/>
        </p:nvSpPr>
        <p:spPr bwMode="auto">
          <a:xfrm>
            <a:off x="6156325" y="2997200"/>
            <a:ext cx="288925" cy="288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7357" name="Oval 14"/>
          <p:cNvSpPr>
            <a:spLocks noChangeArrowheads="1"/>
          </p:cNvSpPr>
          <p:nvPr/>
        </p:nvSpPr>
        <p:spPr bwMode="auto">
          <a:xfrm>
            <a:off x="6588125" y="2997200"/>
            <a:ext cx="288925" cy="288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7358" name="Oval 15"/>
          <p:cNvSpPr>
            <a:spLocks noChangeArrowheads="1"/>
          </p:cNvSpPr>
          <p:nvPr/>
        </p:nvSpPr>
        <p:spPr bwMode="auto">
          <a:xfrm>
            <a:off x="7019925" y="2997200"/>
            <a:ext cx="288925" cy="288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7359" name="Oval 16"/>
          <p:cNvSpPr>
            <a:spLocks noChangeArrowheads="1"/>
          </p:cNvSpPr>
          <p:nvPr/>
        </p:nvSpPr>
        <p:spPr bwMode="auto">
          <a:xfrm>
            <a:off x="7705725" y="2997200"/>
            <a:ext cx="288925" cy="288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7360" name="Oval 17"/>
          <p:cNvSpPr>
            <a:spLocks noChangeArrowheads="1"/>
          </p:cNvSpPr>
          <p:nvPr/>
        </p:nvSpPr>
        <p:spPr bwMode="auto">
          <a:xfrm>
            <a:off x="8137525" y="2997200"/>
            <a:ext cx="288925" cy="288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7361" name="Oval 18"/>
          <p:cNvSpPr>
            <a:spLocks noChangeArrowheads="1"/>
          </p:cNvSpPr>
          <p:nvPr/>
        </p:nvSpPr>
        <p:spPr bwMode="auto">
          <a:xfrm>
            <a:off x="8569325" y="2997200"/>
            <a:ext cx="288925" cy="288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7362" name="Text Box 19"/>
          <p:cNvSpPr txBox="1">
            <a:spLocks noChangeArrowheads="1"/>
          </p:cNvSpPr>
          <p:nvPr/>
        </p:nvSpPr>
        <p:spPr bwMode="auto">
          <a:xfrm>
            <a:off x="4643438" y="2538413"/>
            <a:ext cx="15001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800" b="1">
                <a:solidFill>
                  <a:schemeClr val="accent2"/>
                </a:solidFill>
              </a:rPr>
              <a:t>Утилиты</a:t>
            </a: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7363" name="Text Box 20"/>
          <p:cNvSpPr txBox="1">
            <a:spLocks noChangeArrowheads="1"/>
          </p:cNvSpPr>
          <p:nvPr/>
        </p:nvSpPr>
        <p:spPr bwMode="auto">
          <a:xfrm>
            <a:off x="6286500" y="2500313"/>
            <a:ext cx="8429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800" b="1">
                <a:solidFill>
                  <a:srgbClr val="0070C0"/>
                </a:solidFill>
              </a:rPr>
              <a:t>СОП</a:t>
            </a:r>
            <a:endParaRPr lang="ru-RU" b="1">
              <a:solidFill>
                <a:srgbClr val="0070C0"/>
              </a:solidFill>
            </a:endParaRPr>
          </a:p>
        </p:txBody>
      </p:sp>
      <p:sp>
        <p:nvSpPr>
          <p:cNvPr id="57364" name="Text Box 21"/>
          <p:cNvSpPr txBox="1">
            <a:spLocks noChangeArrowheads="1"/>
          </p:cNvSpPr>
          <p:nvPr/>
        </p:nvSpPr>
        <p:spPr bwMode="auto">
          <a:xfrm>
            <a:off x="7286625" y="2500313"/>
            <a:ext cx="19081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400" b="1"/>
              <a:t>Приложения</a:t>
            </a:r>
            <a:endParaRPr lang="ru-RU" b="1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Привилегированный режим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smtClean="0"/>
              <a:t>Содержит модули, выполняющие критические функции (ядро)</a:t>
            </a:r>
          </a:p>
          <a:p>
            <a:r>
              <a:rPr lang="ru-RU" smtClean="0"/>
              <a:t>Содержит модули, реализующие прямые обращения к аппаратной части вычислительной системы</a:t>
            </a:r>
          </a:p>
          <a:p>
            <a:r>
              <a:rPr lang="ru-RU" smtClean="0"/>
              <a:t>Гарантирует защиту областей памяти ОС от воздействия приложений пользователей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850106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Пользовательский режим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991269"/>
            <a:ext cx="8784976" cy="4525963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Для выполнения вспомогательных модулей ОС</a:t>
            </a:r>
          </a:p>
          <a:p>
            <a:r>
              <a:rPr lang="ru-RU" dirty="0" smtClean="0"/>
              <a:t>Для выполнения приложений пользователя</a:t>
            </a:r>
          </a:p>
          <a:p>
            <a:r>
              <a:rPr lang="ru-RU" dirty="0" smtClean="0"/>
              <a:t>Обеспечивает защиту областей памяти приложений от воздействия других приложений (выполнение приложений в защищенном адресном пространстве)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656184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sz="4000" b="1" dirty="0">
                <a:solidFill>
                  <a:schemeClr val="accent2"/>
                </a:solidFill>
              </a:rPr>
              <a:t>Особенности выполнения приложений в пользовательском режиме</a:t>
            </a:r>
          </a:p>
        </p:txBody>
      </p:sp>
      <p:sp>
        <p:nvSpPr>
          <p:cNvPr id="60419" name="Line 5"/>
          <p:cNvSpPr>
            <a:spLocks noChangeShapeType="1"/>
          </p:cNvSpPr>
          <p:nvPr/>
        </p:nvSpPr>
        <p:spPr bwMode="auto">
          <a:xfrm>
            <a:off x="1476375" y="2565400"/>
            <a:ext cx="17287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0" name="Line 8"/>
          <p:cNvSpPr>
            <a:spLocks noChangeShapeType="1"/>
          </p:cNvSpPr>
          <p:nvPr/>
        </p:nvSpPr>
        <p:spPr bwMode="auto">
          <a:xfrm>
            <a:off x="4068763" y="4076700"/>
            <a:ext cx="1728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1" name="Line 11"/>
          <p:cNvSpPr>
            <a:spLocks noChangeShapeType="1"/>
          </p:cNvSpPr>
          <p:nvPr/>
        </p:nvSpPr>
        <p:spPr bwMode="auto">
          <a:xfrm>
            <a:off x="6516688" y="2565400"/>
            <a:ext cx="1728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2" name="Line 12"/>
          <p:cNvSpPr>
            <a:spLocks noChangeShapeType="1"/>
          </p:cNvSpPr>
          <p:nvPr/>
        </p:nvSpPr>
        <p:spPr bwMode="auto">
          <a:xfrm>
            <a:off x="3205163" y="2565400"/>
            <a:ext cx="863600" cy="151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3" name="Line 13"/>
          <p:cNvSpPr>
            <a:spLocks noChangeShapeType="1"/>
          </p:cNvSpPr>
          <p:nvPr/>
        </p:nvSpPr>
        <p:spPr bwMode="auto">
          <a:xfrm flipV="1">
            <a:off x="5797550" y="2565400"/>
            <a:ext cx="719138" cy="151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4" name="Line 14"/>
          <p:cNvSpPr>
            <a:spLocks noChangeShapeType="1"/>
          </p:cNvSpPr>
          <p:nvPr/>
        </p:nvSpPr>
        <p:spPr bwMode="auto">
          <a:xfrm>
            <a:off x="3205163" y="2205038"/>
            <a:ext cx="0" cy="30956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5" name="Line 15"/>
          <p:cNvSpPr>
            <a:spLocks noChangeShapeType="1"/>
          </p:cNvSpPr>
          <p:nvPr/>
        </p:nvSpPr>
        <p:spPr bwMode="auto">
          <a:xfrm>
            <a:off x="4068763" y="2205038"/>
            <a:ext cx="0" cy="30956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6" name="Line 16"/>
          <p:cNvSpPr>
            <a:spLocks noChangeShapeType="1"/>
          </p:cNvSpPr>
          <p:nvPr/>
        </p:nvSpPr>
        <p:spPr bwMode="auto">
          <a:xfrm>
            <a:off x="5797550" y="2205038"/>
            <a:ext cx="0" cy="30956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7" name="Line 17"/>
          <p:cNvSpPr>
            <a:spLocks noChangeShapeType="1"/>
          </p:cNvSpPr>
          <p:nvPr/>
        </p:nvSpPr>
        <p:spPr bwMode="auto">
          <a:xfrm>
            <a:off x="6516688" y="2205038"/>
            <a:ext cx="0" cy="30956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8" name="Line 18"/>
          <p:cNvSpPr>
            <a:spLocks noChangeShapeType="1"/>
          </p:cNvSpPr>
          <p:nvPr/>
        </p:nvSpPr>
        <p:spPr bwMode="auto">
          <a:xfrm>
            <a:off x="3205163" y="4797425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0429" name="Line 19"/>
          <p:cNvSpPr>
            <a:spLocks noChangeShapeType="1"/>
          </p:cNvSpPr>
          <p:nvPr/>
        </p:nvSpPr>
        <p:spPr bwMode="auto">
          <a:xfrm>
            <a:off x="5797550" y="4797425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0430" name="Text Box 20"/>
          <p:cNvSpPr txBox="1">
            <a:spLocks noChangeArrowheads="1"/>
          </p:cNvSpPr>
          <p:nvPr/>
        </p:nvSpPr>
        <p:spPr bwMode="auto">
          <a:xfrm>
            <a:off x="1143000" y="1679575"/>
            <a:ext cx="2214563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600" b="1">
                <a:solidFill>
                  <a:srgbClr val="C00000"/>
                </a:solidFill>
              </a:rPr>
              <a:t>Работа приложения</a:t>
            </a:r>
          </a:p>
        </p:txBody>
      </p:sp>
      <p:sp>
        <p:nvSpPr>
          <p:cNvPr id="18455" name="AutoShape 23"/>
          <p:cNvSpPr>
            <a:spLocks/>
          </p:cNvSpPr>
          <p:nvPr/>
        </p:nvSpPr>
        <p:spPr bwMode="auto">
          <a:xfrm>
            <a:off x="171183" y="3717032"/>
            <a:ext cx="2271713" cy="609600"/>
          </a:xfrm>
          <a:prstGeom prst="callout1">
            <a:avLst>
              <a:gd name="adj1" fmla="val 18750"/>
              <a:gd name="adj2" fmla="val 104412"/>
              <a:gd name="adj3" fmla="val -186438"/>
              <a:gd name="adj4" fmla="val 13283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Системный вызов</a:t>
            </a:r>
          </a:p>
        </p:txBody>
      </p:sp>
      <p:sp>
        <p:nvSpPr>
          <p:cNvPr id="60432" name="Text Box 24"/>
          <p:cNvSpPr txBox="1">
            <a:spLocks noChangeArrowheads="1"/>
          </p:cNvSpPr>
          <p:nvPr/>
        </p:nvSpPr>
        <p:spPr bwMode="auto">
          <a:xfrm>
            <a:off x="4119563" y="4000500"/>
            <a:ext cx="1595437" cy="954088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b="1">
                <a:solidFill>
                  <a:srgbClr val="0070C0"/>
                </a:solidFill>
              </a:rPr>
              <a:t>Работа ядра</a:t>
            </a:r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2786063" y="5661025"/>
            <a:ext cx="51339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Время переключения режимов</a:t>
            </a:r>
          </a:p>
        </p:txBody>
      </p:sp>
      <p:sp>
        <p:nvSpPr>
          <p:cNvPr id="60434" name="Line 26"/>
          <p:cNvSpPr>
            <a:spLocks noChangeShapeType="1"/>
          </p:cNvSpPr>
          <p:nvPr/>
        </p:nvSpPr>
        <p:spPr bwMode="auto">
          <a:xfrm flipH="1" flipV="1">
            <a:off x="3568700" y="4857750"/>
            <a:ext cx="288925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0435" name="Line 27"/>
          <p:cNvSpPr>
            <a:spLocks noChangeShapeType="1"/>
          </p:cNvSpPr>
          <p:nvPr/>
        </p:nvSpPr>
        <p:spPr bwMode="auto">
          <a:xfrm flipV="1">
            <a:off x="6011863" y="4868863"/>
            <a:ext cx="215900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0436" name="Text Box 20"/>
          <p:cNvSpPr txBox="1">
            <a:spLocks noChangeArrowheads="1"/>
          </p:cNvSpPr>
          <p:nvPr/>
        </p:nvSpPr>
        <p:spPr bwMode="auto">
          <a:xfrm>
            <a:off x="6572250" y="1714500"/>
            <a:ext cx="228600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600" b="1">
                <a:solidFill>
                  <a:srgbClr val="C00000"/>
                </a:solidFill>
              </a:rPr>
              <a:t>Работа приложения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77809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 smtClean="0"/>
              <a:t>Многослойная структура ОС</a:t>
            </a:r>
          </a:p>
        </p:txBody>
      </p:sp>
      <p:grpSp>
        <p:nvGrpSpPr>
          <p:cNvPr id="61444" name="Group 10"/>
          <p:cNvGrpSpPr>
            <a:grpSpLocks/>
          </p:cNvGrpSpPr>
          <p:nvPr/>
        </p:nvGrpSpPr>
        <p:grpSpPr bwMode="auto">
          <a:xfrm>
            <a:off x="1619672" y="980728"/>
            <a:ext cx="6048672" cy="5472608"/>
            <a:chOff x="3016" y="1117"/>
            <a:chExt cx="2267" cy="2313"/>
          </a:xfrm>
        </p:grpSpPr>
        <p:sp>
          <p:nvSpPr>
            <p:cNvPr id="61448" name="Oval 8"/>
            <p:cNvSpPr>
              <a:spLocks noChangeArrowheads="1"/>
            </p:cNvSpPr>
            <p:nvPr/>
          </p:nvSpPr>
          <p:spPr bwMode="auto">
            <a:xfrm>
              <a:off x="3016" y="1117"/>
              <a:ext cx="2267" cy="231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61449" name="Oval 7"/>
            <p:cNvSpPr>
              <a:spLocks noChangeArrowheads="1"/>
            </p:cNvSpPr>
            <p:nvPr/>
          </p:nvSpPr>
          <p:spPr bwMode="auto">
            <a:xfrm>
              <a:off x="3391" y="1501"/>
              <a:ext cx="1514" cy="15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/>
            </a:p>
          </p:txBody>
        </p:sp>
        <p:sp>
          <p:nvSpPr>
            <p:cNvPr id="61450" name="Oval 5"/>
            <p:cNvSpPr>
              <a:spLocks noChangeArrowheads="1"/>
            </p:cNvSpPr>
            <p:nvPr/>
          </p:nvSpPr>
          <p:spPr bwMode="auto">
            <a:xfrm>
              <a:off x="3577" y="1715"/>
              <a:ext cx="1137" cy="1059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CanUp">
                <a:avLst/>
              </a:prstTxWarp>
            </a:bodyPr>
            <a:lstStyle/>
            <a:p>
              <a:pPr algn="ctr"/>
              <a:r>
                <a:rPr lang="ru-RU" sz="2800" b="1" dirty="0">
                  <a:solidFill>
                    <a:schemeClr val="bg1"/>
                  </a:solidFill>
                </a:rPr>
                <a:t>Аппаратная </a:t>
              </a:r>
            </a:p>
            <a:p>
              <a:pPr algn="ctr"/>
              <a:r>
                <a:rPr lang="ru-RU" sz="2800" b="1" dirty="0">
                  <a:solidFill>
                    <a:schemeClr val="bg1"/>
                  </a:solidFill>
                </a:rPr>
                <a:t>часть</a:t>
              </a:r>
            </a:p>
          </p:txBody>
        </p:sp>
      </p:grpSp>
      <p:sp>
        <p:nvSpPr>
          <p:cNvPr id="61445" name="Text Box 12"/>
          <p:cNvSpPr txBox="1">
            <a:spLocks noChangeArrowheads="1"/>
          </p:cNvSpPr>
          <p:nvPr/>
        </p:nvSpPr>
        <p:spPr bwMode="auto">
          <a:xfrm>
            <a:off x="3923928" y="4922004"/>
            <a:ext cx="142972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3600" b="1" dirty="0"/>
              <a:t>Ядро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3148562" y="5373216"/>
            <a:ext cx="2719582" cy="649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ArchDown">
              <a:avLst>
                <a:gd name="adj" fmla="val 2"/>
              </a:avLst>
            </a:prstTxWarp>
            <a:spAutoFit/>
          </a:bodyPr>
          <a:lstStyle/>
          <a:p>
            <a:pPr algn="ctr">
              <a:defRPr/>
            </a:pPr>
            <a:r>
              <a:rPr lang="ru-RU" sz="4000" b="1" dirty="0">
                <a:ln>
                  <a:solidFill>
                    <a:sysClr val="windowText" lastClr="000000"/>
                  </a:solidFill>
                </a:ln>
                <a:solidFill>
                  <a:srgbClr val="006666"/>
                </a:solidFill>
              </a:rPr>
              <a:t>модули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931763" y="1431279"/>
            <a:ext cx="5490726" cy="5009208"/>
          </a:xfrm>
          <a:prstGeom prst="rect">
            <a:avLst/>
          </a:prstGeom>
          <a:noFill/>
          <a:ln>
            <a:solidFill>
              <a:srgbClr val="006666"/>
            </a:solidFill>
          </a:ln>
        </p:spPr>
        <p:txBody>
          <a:bodyPr wrap="none" lIns="91440" tIns="45720" rIns="91440" bIns="45720">
            <a:prstTxWarp prst="textArchUp">
              <a:avLst>
                <a:gd name="adj" fmla="val 10202729"/>
              </a:avLst>
            </a:prstTxWarp>
            <a:spAutoFit/>
          </a:bodyPr>
          <a:lstStyle/>
          <a:p>
            <a:pPr algn="ctr"/>
            <a:r>
              <a:rPr lang="ru-RU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</a:rPr>
              <a:t>Вспомогательные</a:t>
            </a:r>
            <a:endParaRPr lang="ru-RU" sz="4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0622"/>
            <a:ext cx="8229600" cy="77809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 smtClean="0"/>
              <a:t>Многослойная структура ОС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51520" y="1268760"/>
            <a:ext cx="8604448" cy="532859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ru-RU" sz="3600" b="1" dirty="0" smtClean="0"/>
              <a:t>Развитие архитектуры ОС с ядром в привилегированном режиме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ru-RU" sz="3600" b="1" dirty="0" smtClean="0"/>
              <a:t>Повышение уровня</a:t>
            </a:r>
            <a:r>
              <a:rPr lang="en-US" sz="3600" b="1" dirty="0" smtClean="0"/>
              <a:t>:</a:t>
            </a:r>
            <a:endParaRPr lang="en-US" sz="4000" b="1" dirty="0" smtClean="0"/>
          </a:p>
          <a:p>
            <a:pPr marL="452438" lvl="1">
              <a:lnSpc>
                <a:spcPct val="90000"/>
              </a:lnSpc>
              <a:spcBef>
                <a:spcPts val="0"/>
              </a:spcBef>
            </a:pPr>
            <a:r>
              <a:rPr lang="ru-RU" sz="3600" b="1" dirty="0" smtClean="0">
                <a:solidFill>
                  <a:srgbClr val="C00000"/>
                </a:solidFill>
              </a:rPr>
              <a:t>защищенности</a:t>
            </a:r>
            <a:r>
              <a:rPr lang="ru-RU" sz="3600" b="1" dirty="0" smtClean="0"/>
              <a:t> отдельных модулей ОС от воздействия других модулей</a:t>
            </a:r>
            <a:r>
              <a:rPr lang="en-US" sz="3600" b="1" dirty="0" smtClean="0"/>
              <a:t>;</a:t>
            </a:r>
          </a:p>
          <a:p>
            <a:pPr marL="452438" lvl="1">
              <a:lnSpc>
                <a:spcPct val="90000"/>
              </a:lnSpc>
              <a:spcBef>
                <a:spcPts val="0"/>
              </a:spcBef>
            </a:pPr>
            <a:r>
              <a:rPr lang="ru-RU" sz="3600" b="1" dirty="0" smtClean="0">
                <a:solidFill>
                  <a:srgbClr val="C00000"/>
                </a:solidFill>
              </a:rPr>
              <a:t>абстрагирования</a:t>
            </a:r>
            <a:r>
              <a:rPr lang="ru-RU" sz="3600" b="1" dirty="0" smtClean="0"/>
              <a:t> </a:t>
            </a:r>
            <a:r>
              <a:rPr lang="ru-RU" sz="3600" b="1" dirty="0" smtClean="0">
                <a:solidFill>
                  <a:srgbClr val="C00000"/>
                </a:solidFill>
              </a:rPr>
              <a:t>модулей</a:t>
            </a:r>
            <a:r>
              <a:rPr lang="ru-RU" sz="3600" b="1" dirty="0" smtClean="0"/>
              <a:t> верхних уровней ОС от аппаратной части</a:t>
            </a:r>
            <a:r>
              <a:rPr lang="en-US" sz="3600" b="1" dirty="0" smtClean="0"/>
              <a:t>;</a:t>
            </a:r>
          </a:p>
          <a:p>
            <a:pPr marL="452438" lvl="1">
              <a:lnSpc>
                <a:spcPct val="90000"/>
              </a:lnSpc>
              <a:spcBef>
                <a:spcPts val="0"/>
              </a:spcBef>
            </a:pPr>
            <a:r>
              <a:rPr lang="ru-RU" sz="3600" b="1" dirty="0" smtClean="0">
                <a:solidFill>
                  <a:srgbClr val="C00000"/>
                </a:solidFill>
              </a:rPr>
              <a:t>независимости модулей</a:t>
            </a:r>
            <a:r>
              <a:rPr lang="ru-RU" sz="3600" b="1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ru-RU" sz="4000" b="1" dirty="0"/>
              <a:t>Схема функционирования ОС с многослойной архитектурой</a:t>
            </a:r>
          </a:p>
        </p:txBody>
      </p:sp>
      <p:sp>
        <p:nvSpPr>
          <p:cNvPr id="62467" name="Rectangle 5"/>
          <p:cNvSpPr>
            <a:spLocks noChangeArrowheads="1"/>
          </p:cNvSpPr>
          <p:nvPr/>
        </p:nvSpPr>
        <p:spPr bwMode="auto">
          <a:xfrm>
            <a:off x="323528" y="2636912"/>
            <a:ext cx="8748464" cy="865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68" name="Rectangle 6"/>
          <p:cNvSpPr>
            <a:spLocks noChangeArrowheads="1"/>
          </p:cNvSpPr>
          <p:nvPr/>
        </p:nvSpPr>
        <p:spPr bwMode="auto">
          <a:xfrm>
            <a:off x="395536" y="4580036"/>
            <a:ext cx="8604250" cy="865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ru-RU"/>
          </a:p>
        </p:txBody>
      </p:sp>
      <p:sp>
        <p:nvSpPr>
          <p:cNvPr id="62469" name="Text Box 8"/>
          <p:cNvSpPr txBox="1">
            <a:spLocks noChangeArrowheads="1"/>
          </p:cNvSpPr>
          <p:nvPr/>
        </p:nvSpPr>
        <p:spPr bwMode="auto">
          <a:xfrm>
            <a:off x="7092280" y="4705980"/>
            <a:ext cx="175593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600" b="1" dirty="0"/>
              <a:t>Слой </a:t>
            </a:r>
            <a:r>
              <a:rPr lang="en-US" sz="3600" b="1" i="1" dirty="0"/>
              <a:t>k</a:t>
            </a:r>
            <a:endParaRPr lang="ru-RU" sz="3600" b="1" i="1" dirty="0"/>
          </a:p>
        </p:txBody>
      </p:sp>
      <p:sp>
        <p:nvSpPr>
          <p:cNvPr id="62470" name="Text Box 9"/>
          <p:cNvSpPr txBox="1">
            <a:spLocks noChangeArrowheads="1"/>
          </p:cNvSpPr>
          <p:nvPr/>
        </p:nvSpPr>
        <p:spPr bwMode="auto">
          <a:xfrm>
            <a:off x="6876256" y="2708275"/>
            <a:ext cx="221765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600" dirty="0"/>
              <a:t>Слой </a:t>
            </a:r>
            <a:r>
              <a:rPr lang="en-US" sz="3600" b="1" i="1" dirty="0"/>
              <a:t>k+1</a:t>
            </a:r>
            <a:endParaRPr lang="ru-RU" sz="3600" b="1" i="1" dirty="0"/>
          </a:p>
        </p:txBody>
      </p:sp>
      <p:sp>
        <p:nvSpPr>
          <p:cNvPr id="62471" name="Rectangle 10"/>
          <p:cNvSpPr>
            <a:spLocks noChangeArrowheads="1"/>
          </p:cNvSpPr>
          <p:nvPr/>
        </p:nvSpPr>
        <p:spPr bwMode="auto">
          <a:xfrm>
            <a:off x="971550" y="4652963"/>
            <a:ext cx="7921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72" name="Rectangle 13"/>
          <p:cNvSpPr>
            <a:spLocks noChangeArrowheads="1"/>
          </p:cNvSpPr>
          <p:nvPr/>
        </p:nvSpPr>
        <p:spPr bwMode="auto">
          <a:xfrm>
            <a:off x="2195513" y="4652963"/>
            <a:ext cx="792162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73" name="Rectangle 14"/>
          <p:cNvSpPr>
            <a:spLocks noChangeArrowheads="1"/>
          </p:cNvSpPr>
          <p:nvPr/>
        </p:nvSpPr>
        <p:spPr bwMode="auto">
          <a:xfrm>
            <a:off x="3419475" y="4652963"/>
            <a:ext cx="7921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74" name="Rectangle 15"/>
          <p:cNvSpPr>
            <a:spLocks noChangeArrowheads="1"/>
          </p:cNvSpPr>
          <p:nvPr/>
        </p:nvSpPr>
        <p:spPr bwMode="auto">
          <a:xfrm>
            <a:off x="4716463" y="4652963"/>
            <a:ext cx="792162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75" name="Rectangle 16"/>
          <p:cNvSpPr>
            <a:spLocks noChangeArrowheads="1"/>
          </p:cNvSpPr>
          <p:nvPr/>
        </p:nvSpPr>
        <p:spPr bwMode="auto">
          <a:xfrm>
            <a:off x="5867400" y="4652963"/>
            <a:ext cx="7921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76" name="Rectangle 17"/>
          <p:cNvSpPr>
            <a:spLocks noChangeArrowheads="1"/>
          </p:cNvSpPr>
          <p:nvPr/>
        </p:nvSpPr>
        <p:spPr bwMode="auto">
          <a:xfrm>
            <a:off x="1763713" y="5013325"/>
            <a:ext cx="792162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77" name="Rectangle 18"/>
          <p:cNvSpPr>
            <a:spLocks noChangeArrowheads="1"/>
          </p:cNvSpPr>
          <p:nvPr/>
        </p:nvSpPr>
        <p:spPr bwMode="auto">
          <a:xfrm>
            <a:off x="4067175" y="5013325"/>
            <a:ext cx="7921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78" name="Rectangle 19"/>
          <p:cNvSpPr>
            <a:spLocks noChangeArrowheads="1"/>
          </p:cNvSpPr>
          <p:nvPr/>
        </p:nvSpPr>
        <p:spPr bwMode="auto">
          <a:xfrm>
            <a:off x="5867400" y="5013325"/>
            <a:ext cx="7921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79" name="Line 20"/>
          <p:cNvSpPr>
            <a:spLocks noChangeShapeType="1"/>
          </p:cNvSpPr>
          <p:nvPr/>
        </p:nvSpPr>
        <p:spPr bwMode="auto">
          <a:xfrm>
            <a:off x="1763713" y="47974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2480" name="Line 21"/>
          <p:cNvSpPr>
            <a:spLocks noChangeShapeType="1"/>
          </p:cNvSpPr>
          <p:nvPr/>
        </p:nvSpPr>
        <p:spPr bwMode="auto">
          <a:xfrm>
            <a:off x="1979613" y="47974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481" name="Line 24"/>
          <p:cNvSpPr>
            <a:spLocks noChangeShapeType="1"/>
          </p:cNvSpPr>
          <p:nvPr/>
        </p:nvSpPr>
        <p:spPr bwMode="auto">
          <a:xfrm>
            <a:off x="2987675" y="4797425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2482" name="Line 27"/>
          <p:cNvSpPr>
            <a:spLocks noChangeShapeType="1"/>
          </p:cNvSpPr>
          <p:nvPr/>
        </p:nvSpPr>
        <p:spPr bwMode="auto">
          <a:xfrm>
            <a:off x="4211638" y="47974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2483" name="Line 30"/>
          <p:cNvSpPr>
            <a:spLocks noChangeShapeType="1"/>
          </p:cNvSpPr>
          <p:nvPr/>
        </p:nvSpPr>
        <p:spPr bwMode="auto">
          <a:xfrm>
            <a:off x="4427538" y="47974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484" name="Line 31"/>
          <p:cNvSpPr>
            <a:spLocks noChangeShapeType="1"/>
          </p:cNvSpPr>
          <p:nvPr/>
        </p:nvSpPr>
        <p:spPr bwMode="auto">
          <a:xfrm>
            <a:off x="5508625" y="4797425"/>
            <a:ext cx="358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2485" name="Line 32"/>
          <p:cNvSpPr>
            <a:spLocks noChangeShapeType="1"/>
          </p:cNvSpPr>
          <p:nvPr/>
        </p:nvSpPr>
        <p:spPr bwMode="auto">
          <a:xfrm>
            <a:off x="6227763" y="4941888"/>
            <a:ext cx="0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486" name="Line 33"/>
          <p:cNvSpPr>
            <a:spLocks noChangeShapeType="1"/>
          </p:cNvSpPr>
          <p:nvPr/>
        </p:nvSpPr>
        <p:spPr bwMode="auto">
          <a:xfrm>
            <a:off x="2051050" y="530066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487" name="Line 34"/>
          <p:cNvSpPr>
            <a:spLocks noChangeShapeType="1"/>
          </p:cNvSpPr>
          <p:nvPr/>
        </p:nvSpPr>
        <p:spPr bwMode="auto">
          <a:xfrm>
            <a:off x="4427538" y="530066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488" name="Line 35"/>
          <p:cNvSpPr>
            <a:spLocks noChangeShapeType="1"/>
          </p:cNvSpPr>
          <p:nvPr/>
        </p:nvSpPr>
        <p:spPr bwMode="auto">
          <a:xfrm>
            <a:off x="6227763" y="530066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489" name="Text Box 37"/>
          <p:cNvSpPr txBox="1">
            <a:spLocks noChangeArrowheads="1"/>
          </p:cNvSpPr>
          <p:nvPr/>
        </p:nvSpPr>
        <p:spPr bwMode="auto">
          <a:xfrm>
            <a:off x="5508104" y="3429000"/>
            <a:ext cx="381642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3600" b="1" i="1" dirty="0"/>
              <a:t>Межслойный интерфейс</a:t>
            </a:r>
          </a:p>
        </p:txBody>
      </p:sp>
      <p:sp>
        <p:nvSpPr>
          <p:cNvPr id="62490" name="AutoShape 40"/>
          <p:cNvSpPr>
            <a:spLocks/>
          </p:cNvSpPr>
          <p:nvPr/>
        </p:nvSpPr>
        <p:spPr bwMode="auto">
          <a:xfrm rot="5400000">
            <a:off x="3887788" y="3465513"/>
            <a:ext cx="360362" cy="5040312"/>
          </a:xfrm>
          <a:prstGeom prst="rightBrace">
            <a:avLst>
              <a:gd name="adj1" fmla="val 1165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91" name="AutoShape 41"/>
          <p:cNvSpPr>
            <a:spLocks/>
          </p:cNvSpPr>
          <p:nvPr/>
        </p:nvSpPr>
        <p:spPr bwMode="auto">
          <a:xfrm rot="-5400000">
            <a:off x="3887787" y="-206374"/>
            <a:ext cx="360363" cy="5040312"/>
          </a:xfrm>
          <a:prstGeom prst="rightBrace">
            <a:avLst>
              <a:gd name="adj1" fmla="val 116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92" name="Text Box 42"/>
          <p:cNvSpPr txBox="1">
            <a:spLocks noChangeArrowheads="1"/>
          </p:cNvSpPr>
          <p:nvPr/>
        </p:nvSpPr>
        <p:spPr bwMode="auto">
          <a:xfrm>
            <a:off x="2987824" y="6021288"/>
            <a:ext cx="261033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600" b="1" dirty="0"/>
              <a:t>К слою </a:t>
            </a:r>
            <a:r>
              <a:rPr lang="en-US" sz="3600" b="1" i="1" dirty="0"/>
              <a:t>k-1</a:t>
            </a:r>
            <a:endParaRPr lang="ru-RU" sz="3600" b="1" dirty="0"/>
          </a:p>
        </p:txBody>
      </p:sp>
      <p:sp>
        <p:nvSpPr>
          <p:cNvPr id="62493" name="Text Box 43"/>
          <p:cNvSpPr txBox="1">
            <a:spLocks noChangeArrowheads="1"/>
          </p:cNvSpPr>
          <p:nvPr/>
        </p:nvSpPr>
        <p:spPr bwMode="auto">
          <a:xfrm>
            <a:off x="2915816" y="1558533"/>
            <a:ext cx="272574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600" b="1" dirty="0"/>
              <a:t>К слою </a:t>
            </a:r>
            <a:r>
              <a:rPr lang="en-US" sz="3600" b="1" i="1" dirty="0"/>
              <a:t>k+2</a:t>
            </a:r>
            <a:endParaRPr lang="ru-RU" sz="3600" b="1" dirty="0"/>
          </a:p>
        </p:txBody>
      </p:sp>
      <p:sp>
        <p:nvSpPr>
          <p:cNvPr id="62494" name="Rectangle 44"/>
          <p:cNvSpPr>
            <a:spLocks noChangeArrowheads="1"/>
          </p:cNvSpPr>
          <p:nvPr/>
        </p:nvSpPr>
        <p:spPr bwMode="auto">
          <a:xfrm>
            <a:off x="900113" y="2852738"/>
            <a:ext cx="792162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95" name="Rectangle 45"/>
          <p:cNvSpPr>
            <a:spLocks noChangeArrowheads="1"/>
          </p:cNvSpPr>
          <p:nvPr/>
        </p:nvSpPr>
        <p:spPr bwMode="auto">
          <a:xfrm>
            <a:off x="2051050" y="3141663"/>
            <a:ext cx="7921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96" name="Rectangle 46"/>
          <p:cNvSpPr>
            <a:spLocks noChangeArrowheads="1"/>
          </p:cNvSpPr>
          <p:nvPr/>
        </p:nvSpPr>
        <p:spPr bwMode="auto">
          <a:xfrm>
            <a:off x="3348038" y="2852738"/>
            <a:ext cx="792162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97" name="Rectangle 47"/>
          <p:cNvSpPr>
            <a:spLocks noChangeArrowheads="1"/>
          </p:cNvSpPr>
          <p:nvPr/>
        </p:nvSpPr>
        <p:spPr bwMode="auto">
          <a:xfrm>
            <a:off x="4572000" y="3141663"/>
            <a:ext cx="7921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98" name="Rectangle 48"/>
          <p:cNvSpPr>
            <a:spLocks noChangeArrowheads="1"/>
          </p:cNvSpPr>
          <p:nvPr/>
        </p:nvSpPr>
        <p:spPr bwMode="auto">
          <a:xfrm>
            <a:off x="5867400" y="2852738"/>
            <a:ext cx="7921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2499" name="Line 49"/>
          <p:cNvSpPr>
            <a:spLocks noChangeShapeType="1"/>
          </p:cNvSpPr>
          <p:nvPr/>
        </p:nvSpPr>
        <p:spPr bwMode="auto">
          <a:xfrm>
            <a:off x="3708400" y="31416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2500" name="Line 50"/>
          <p:cNvSpPr>
            <a:spLocks noChangeShapeType="1"/>
          </p:cNvSpPr>
          <p:nvPr/>
        </p:nvSpPr>
        <p:spPr bwMode="auto">
          <a:xfrm>
            <a:off x="3708400" y="335756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01" name="Line 51"/>
          <p:cNvSpPr>
            <a:spLocks noChangeShapeType="1"/>
          </p:cNvSpPr>
          <p:nvPr/>
        </p:nvSpPr>
        <p:spPr bwMode="auto">
          <a:xfrm>
            <a:off x="5364163" y="335756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2502" name="Line 52"/>
          <p:cNvSpPr>
            <a:spLocks noChangeShapeType="1"/>
          </p:cNvSpPr>
          <p:nvPr/>
        </p:nvSpPr>
        <p:spPr bwMode="auto">
          <a:xfrm flipV="1">
            <a:off x="6227763" y="31416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03" name="Line 53"/>
          <p:cNvSpPr>
            <a:spLocks noChangeShapeType="1"/>
          </p:cNvSpPr>
          <p:nvPr/>
        </p:nvSpPr>
        <p:spPr bwMode="auto">
          <a:xfrm>
            <a:off x="1692275" y="2997200"/>
            <a:ext cx="719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2504" name="Line 54"/>
          <p:cNvSpPr>
            <a:spLocks noChangeShapeType="1"/>
          </p:cNvSpPr>
          <p:nvPr/>
        </p:nvSpPr>
        <p:spPr bwMode="auto">
          <a:xfrm>
            <a:off x="2411413" y="29972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05" name="Line 55"/>
          <p:cNvSpPr>
            <a:spLocks noChangeShapeType="1"/>
          </p:cNvSpPr>
          <p:nvPr/>
        </p:nvSpPr>
        <p:spPr bwMode="auto">
          <a:xfrm flipV="1">
            <a:off x="1619250" y="24923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06" name="Line 56"/>
          <p:cNvSpPr>
            <a:spLocks noChangeShapeType="1"/>
          </p:cNvSpPr>
          <p:nvPr/>
        </p:nvSpPr>
        <p:spPr bwMode="auto">
          <a:xfrm flipV="1">
            <a:off x="3708400" y="24923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07" name="Line 57"/>
          <p:cNvSpPr>
            <a:spLocks noChangeShapeType="1"/>
          </p:cNvSpPr>
          <p:nvPr/>
        </p:nvSpPr>
        <p:spPr bwMode="auto">
          <a:xfrm flipV="1">
            <a:off x="3995738" y="24923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08" name="Line 58"/>
          <p:cNvSpPr>
            <a:spLocks noChangeShapeType="1"/>
          </p:cNvSpPr>
          <p:nvPr/>
        </p:nvSpPr>
        <p:spPr bwMode="auto">
          <a:xfrm flipV="1">
            <a:off x="6156325" y="24923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09" name="Line 59"/>
          <p:cNvSpPr>
            <a:spLocks noChangeShapeType="1"/>
          </p:cNvSpPr>
          <p:nvPr/>
        </p:nvSpPr>
        <p:spPr bwMode="auto">
          <a:xfrm>
            <a:off x="1331913" y="3141663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10" name="Line 60"/>
          <p:cNvSpPr>
            <a:spLocks noChangeShapeType="1"/>
          </p:cNvSpPr>
          <p:nvPr/>
        </p:nvSpPr>
        <p:spPr bwMode="auto">
          <a:xfrm>
            <a:off x="2484438" y="3429000"/>
            <a:ext cx="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11" name="Line 61"/>
          <p:cNvSpPr>
            <a:spLocks noChangeShapeType="1"/>
          </p:cNvSpPr>
          <p:nvPr/>
        </p:nvSpPr>
        <p:spPr bwMode="auto">
          <a:xfrm>
            <a:off x="5003800" y="3429000"/>
            <a:ext cx="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2512" name="Text Box 62"/>
          <p:cNvSpPr txBox="1">
            <a:spLocks noChangeArrowheads="1"/>
          </p:cNvSpPr>
          <p:nvPr/>
        </p:nvSpPr>
        <p:spPr bwMode="auto">
          <a:xfrm>
            <a:off x="3327400" y="388143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  <a:endParaRPr lang="ru-RU"/>
          </a:p>
        </p:txBody>
      </p:sp>
      <p:sp>
        <p:nvSpPr>
          <p:cNvPr id="62513" name="Text Box 63"/>
          <p:cNvSpPr txBox="1">
            <a:spLocks noChangeArrowheads="1"/>
          </p:cNvSpPr>
          <p:nvPr/>
        </p:nvSpPr>
        <p:spPr bwMode="auto">
          <a:xfrm>
            <a:off x="4572000" y="220503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  <a:endParaRPr lang="ru-RU"/>
          </a:p>
        </p:txBody>
      </p:sp>
      <p:sp>
        <p:nvSpPr>
          <p:cNvPr id="62514" name="Text Box 64"/>
          <p:cNvSpPr txBox="1">
            <a:spLocks noChangeArrowheads="1"/>
          </p:cNvSpPr>
          <p:nvPr/>
        </p:nvSpPr>
        <p:spPr bwMode="auto">
          <a:xfrm>
            <a:off x="5148263" y="537368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Многослойная структура ОС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340768"/>
            <a:ext cx="8496944" cy="452596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dirty="0" smtClean="0"/>
              <a:t>Уровни (слои) </a:t>
            </a:r>
            <a:r>
              <a:rPr lang="ru-RU" dirty="0"/>
              <a:t>образуются группами функций </a:t>
            </a:r>
            <a:r>
              <a:rPr lang="ru-RU" dirty="0" smtClean="0"/>
              <a:t>ОС. </a:t>
            </a:r>
          </a:p>
          <a:p>
            <a:pPr>
              <a:defRPr/>
            </a:pPr>
            <a:r>
              <a:rPr lang="ru-RU" dirty="0" smtClean="0"/>
              <a:t>Каждый слой может </a:t>
            </a:r>
            <a:r>
              <a:rPr lang="ru-RU" dirty="0"/>
              <a:t>взаимодействовать только со </a:t>
            </a:r>
            <a:r>
              <a:rPr lang="ru-RU" dirty="0" smtClean="0"/>
              <a:t>своими непосредственными соседями. </a:t>
            </a:r>
          </a:p>
          <a:p>
            <a:pPr>
              <a:defRPr/>
            </a:pPr>
            <a:r>
              <a:rPr lang="ru-RU" dirty="0" smtClean="0"/>
              <a:t>Прикладные </a:t>
            </a:r>
            <a:r>
              <a:rPr lang="ru-RU" dirty="0"/>
              <a:t>программы или модули самой </a:t>
            </a:r>
            <a:r>
              <a:rPr lang="ru-RU" dirty="0" smtClean="0"/>
              <a:t>ОС </a:t>
            </a:r>
            <a:r>
              <a:rPr lang="ru-RU" dirty="0"/>
              <a:t>передают запросы вверх и вниз по </a:t>
            </a:r>
            <a:r>
              <a:rPr lang="ru-RU" dirty="0" smtClean="0"/>
              <a:t>уровням</a:t>
            </a:r>
            <a:r>
              <a:rPr lang="ru-RU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Типовой состав слоев ОС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Средства аппаратной поддержки ОС</a:t>
            </a:r>
          </a:p>
          <a:p>
            <a:r>
              <a:rPr lang="ru-RU" dirty="0" smtClean="0"/>
              <a:t>Машинно-зависимые компоненты</a:t>
            </a:r>
          </a:p>
          <a:p>
            <a:r>
              <a:rPr lang="ru-RU" dirty="0" smtClean="0"/>
              <a:t>Базовые механизмы ядра</a:t>
            </a:r>
          </a:p>
          <a:p>
            <a:r>
              <a:rPr lang="ru-RU" dirty="0" smtClean="0"/>
              <a:t>Менеджеры ресурсов</a:t>
            </a:r>
          </a:p>
          <a:p>
            <a:r>
              <a:rPr lang="ru-RU" dirty="0" smtClean="0"/>
              <a:t>Интерфейс системных вызовов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989856"/>
            <a:ext cx="8929687" cy="1143000"/>
          </a:xfrm>
        </p:spPr>
        <p:txBody>
          <a:bodyPr/>
          <a:lstStyle/>
          <a:p>
            <a:pPr algn="l"/>
            <a:r>
              <a:rPr lang="ru-RU" sz="3600" b="1" dirty="0" smtClean="0">
                <a:solidFill>
                  <a:srgbClr val="0070C0"/>
                </a:solidFill>
              </a:rPr>
              <a:t>1. Средства аппаратной поддержки ОС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988840"/>
            <a:ext cx="8686800" cy="4525962"/>
          </a:xfrm>
        </p:spPr>
        <p:txBody>
          <a:bodyPr/>
          <a:lstStyle/>
          <a:p>
            <a:r>
              <a:rPr lang="ru-RU" dirty="0" smtClean="0"/>
              <a:t>Часть функций ОС </a:t>
            </a:r>
            <a:r>
              <a:rPr lang="ru-RU" i="1" dirty="0" smtClean="0"/>
              <a:t>может</a:t>
            </a:r>
            <a:r>
              <a:rPr lang="ru-RU" dirty="0" smtClean="0"/>
              <a:t> быть реализована аппаратно</a:t>
            </a:r>
          </a:p>
          <a:p>
            <a:r>
              <a:rPr lang="ru-RU" dirty="0" smtClean="0"/>
              <a:t>Система прерываний</a:t>
            </a:r>
          </a:p>
          <a:p>
            <a:r>
              <a:rPr lang="ru-RU" dirty="0" smtClean="0"/>
              <a:t>Средства поддержки привилегированного режима</a:t>
            </a:r>
          </a:p>
          <a:p>
            <a:r>
              <a:rPr lang="ru-RU" dirty="0" smtClean="0"/>
              <a:t>Средства переключения контекстов</a:t>
            </a:r>
          </a:p>
          <a:p>
            <a:r>
              <a:rPr lang="ru-RU" dirty="0" smtClean="0"/>
              <a:t>Средства защиты областей памяти</a:t>
            </a:r>
          </a:p>
        </p:txBody>
      </p:sp>
      <p:sp>
        <p:nvSpPr>
          <p:cNvPr id="65540" name="Прямоугольник 3"/>
          <p:cNvSpPr>
            <a:spLocks noChangeArrowheads="1"/>
          </p:cNvSpPr>
          <p:nvPr/>
        </p:nvSpPr>
        <p:spPr bwMode="auto">
          <a:xfrm>
            <a:off x="1169344" y="285750"/>
            <a:ext cx="6797375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ru-RU" sz="40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Типовой состав слоев ОС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0788"/>
            <a:ext cx="8229600" cy="1143000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ru-RU" sz="3600" b="1" dirty="0" smtClean="0">
                <a:solidFill>
                  <a:srgbClr val="0070C0"/>
                </a:solidFill>
              </a:rPr>
              <a:t>2. Машинно-зависимые </a:t>
            </a:r>
            <a:r>
              <a:rPr lang="ru-RU" sz="3600" b="1" dirty="0">
                <a:solidFill>
                  <a:srgbClr val="0070C0"/>
                </a:solidFill>
              </a:rPr>
              <a:t>компоненты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546350"/>
            <a:ext cx="8229600" cy="3811588"/>
          </a:xfrm>
        </p:spPr>
        <p:txBody>
          <a:bodyPr/>
          <a:lstStyle/>
          <a:p>
            <a:r>
              <a:rPr lang="ru-RU" dirty="0" smtClean="0"/>
              <a:t>Напрямую взаимодействуют с аппаратной частью ВС</a:t>
            </a:r>
          </a:p>
          <a:p>
            <a:r>
              <a:rPr lang="ru-RU" i="1" dirty="0" smtClean="0"/>
              <a:t>В идеале</a:t>
            </a:r>
            <a:r>
              <a:rPr lang="ru-RU" dirty="0" smtClean="0"/>
              <a:t> полностью изолируют аппаратуру от модулей ОС, находящихся выше и приложений пользователей</a:t>
            </a:r>
            <a:endParaRPr lang="ru-RU" i="1" dirty="0" smtClean="0"/>
          </a:p>
        </p:txBody>
      </p:sp>
      <p:sp>
        <p:nvSpPr>
          <p:cNvPr id="66564" name="Прямоугольник 3"/>
          <p:cNvSpPr>
            <a:spLocks noChangeArrowheads="1"/>
          </p:cNvSpPr>
          <p:nvPr/>
        </p:nvSpPr>
        <p:spPr bwMode="auto">
          <a:xfrm>
            <a:off x="827584" y="260648"/>
            <a:ext cx="7632848" cy="86409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ru-RU" sz="4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Типовой состав слоев ОС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1143000"/>
            <a:ext cx="8229600" cy="1143000"/>
          </a:xfrm>
        </p:spPr>
        <p:txBody>
          <a:bodyPr/>
          <a:lstStyle/>
          <a:p>
            <a:pPr algn="l"/>
            <a:r>
              <a:rPr lang="ru-RU" sz="3600" b="1" dirty="0" smtClean="0">
                <a:solidFill>
                  <a:srgbClr val="0070C0"/>
                </a:solidFill>
              </a:rPr>
              <a:t>3. Базовые механизмы ядра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332038"/>
            <a:ext cx="8229600" cy="4525962"/>
          </a:xfrm>
        </p:spPr>
        <p:txBody>
          <a:bodyPr/>
          <a:lstStyle/>
          <a:p>
            <a:r>
              <a:rPr lang="ru-RU" dirty="0" smtClean="0"/>
              <a:t>Наиболее примитивные функции и объекты ядра</a:t>
            </a:r>
          </a:p>
          <a:p>
            <a:r>
              <a:rPr lang="ru-RU" dirty="0" smtClean="0"/>
              <a:t>Переключение контекстов</a:t>
            </a:r>
          </a:p>
          <a:p>
            <a:r>
              <a:rPr lang="ru-RU" dirty="0" smtClean="0"/>
              <a:t>Диспетчеризация процессов</a:t>
            </a:r>
          </a:p>
          <a:p>
            <a:r>
              <a:rPr lang="ru-RU" dirty="0" smtClean="0"/>
              <a:t>Перемещение страниц памяти на диск и обратно</a:t>
            </a:r>
          </a:p>
          <a:p>
            <a:r>
              <a:rPr lang="ru-RU" dirty="0" smtClean="0"/>
              <a:t>Системные объекты</a:t>
            </a:r>
          </a:p>
        </p:txBody>
      </p:sp>
      <p:sp>
        <p:nvSpPr>
          <p:cNvPr id="67588" name="Прямоугольник 3"/>
          <p:cNvSpPr>
            <a:spLocks noChangeArrowheads="1"/>
          </p:cNvSpPr>
          <p:nvPr/>
        </p:nvSpPr>
        <p:spPr bwMode="auto">
          <a:xfrm>
            <a:off x="899592" y="292100"/>
            <a:ext cx="712879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ru-RU" sz="4000" b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Типовой состав слоев ОС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3963"/>
            <a:ext cx="8229600" cy="1143000"/>
          </a:xfrm>
        </p:spPr>
        <p:txBody>
          <a:bodyPr/>
          <a:lstStyle/>
          <a:p>
            <a:pPr algn="l"/>
            <a:r>
              <a:rPr lang="ru-RU" sz="3600" b="1" smtClean="0">
                <a:solidFill>
                  <a:srgbClr val="0070C0"/>
                </a:solidFill>
              </a:rPr>
              <a:t>4. Менеджеры ресурсов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549525"/>
            <a:ext cx="8229600" cy="4525963"/>
          </a:xfrm>
        </p:spPr>
        <p:txBody>
          <a:bodyPr/>
          <a:lstStyle/>
          <a:p>
            <a:r>
              <a:rPr lang="ru-RU" smtClean="0"/>
              <a:t>Мощные функциональные модули, осуществляющие управление основными ресурсами системы</a:t>
            </a:r>
          </a:p>
          <a:p>
            <a:r>
              <a:rPr lang="ru-RU" smtClean="0"/>
              <a:t>Менеджеры процессов, ввода/вывода, файловой системы, безопасности…</a:t>
            </a:r>
          </a:p>
        </p:txBody>
      </p:sp>
      <p:sp>
        <p:nvSpPr>
          <p:cNvPr id="68612" name="Прямоугольник 3"/>
          <p:cNvSpPr>
            <a:spLocks noChangeArrowheads="1"/>
          </p:cNvSpPr>
          <p:nvPr/>
        </p:nvSpPr>
        <p:spPr bwMode="auto">
          <a:xfrm>
            <a:off x="1259632" y="292100"/>
            <a:ext cx="7177980" cy="7080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ru-RU" sz="40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Типовой состав слоев ОС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04925"/>
            <a:ext cx="8229600" cy="1143000"/>
          </a:xfrm>
        </p:spPr>
        <p:txBody>
          <a:bodyPr/>
          <a:lstStyle/>
          <a:p>
            <a:pPr algn="l"/>
            <a:r>
              <a:rPr lang="ru-RU" sz="3600" b="1" smtClean="0">
                <a:solidFill>
                  <a:srgbClr val="0070C0"/>
                </a:solidFill>
              </a:rPr>
              <a:t>5. Интерфейс системных вызовов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630488"/>
            <a:ext cx="8229600" cy="4525962"/>
          </a:xfrm>
        </p:spPr>
        <p:txBody>
          <a:bodyPr/>
          <a:lstStyle/>
          <a:p>
            <a:r>
              <a:rPr lang="ru-RU" smtClean="0"/>
              <a:t>Верхний слой ядра, взаимодействующий с системными утилитами и приложениями пользователя</a:t>
            </a:r>
          </a:p>
          <a:p>
            <a:r>
              <a:rPr lang="ru-RU" smtClean="0"/>
              <a:t>Образуют прикладной программный интерфейс</a:t>
            </a:r>
          </a:p>
          <a:p>
            <a:endParaRPr lang="ru-RU" smtClean="0"/>
          </a:p>
        </p:txBody>
      </p:sp>
      <p:sp>
        <p:nvSpPr>
          <p:cNvPr id="69636" name="Прямоугольник 3"/>
          <p:cNvSpPr>
            <a:spLocks noChangeArrowheads="1"/>
          </p:cNvSpPr>
          <p:nvPr/>
        </p:nvSpPr>
        <p:spPr bwMode="auto">
          <a:xfrm>
            <a:off x="755576" y="292100"/>
            <a:ext cx="7704856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ru-RU" sz="40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Типовой состав слоев ОС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Многослойная структура ОС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b="1" dirty="0" smtClean="0">
                <a:solidFill>
                  <a:srgbClr val="C00000"/>
                </a:solidFill>
              </a:rPr>
              <a:t>Преимущества</a:t>
            </a:r>
            <a:r>
              <a:rPr lang="ru-RU" dirty="0" smtClean="0"/>
              <a:t>:</a:t>
            </a:r>
          </a:p>
          <a:p>
            <a:r>
              <a:rPr lang="ru-RU" dirty="0" smtClean="0"/>
              <a:t>Высокая производительность</a:t>
            </a:r>
          </a:p>
          <a:p>
            <a:pPr>
              <a:buFontTx/>
              <a:buNone/>
            </a:pPr>
            <a:endParaRPr lang="ru-RU" sz="2000" dirty="0" smtClean="0"/>
          </a:p>
          <a:p>
            <a:pPr>
              <a:buFontTx/>
              <a:buNone/>
            </a:pPr>
            <a:r>
              <a:rPr lang="ru-RU" b="1" dirty="0" smtClean="0">
                <a:solidFill>
                  <a:srgbClr val="C00000"/>
                </a:solidFill>
              </a:rPr>
              <a:t>Недостатки</a:t>
            </a:r>
            <a:r>
              <a:rPr lang="ru-RU" dirty="0" smtClean="0"/>
              <a:t>:</a:t>
            </a:r>
          </a:p>
          <a:p>
            <a:r>
              <a:rPr lang="ru-RU" dirty="0" smtClean="0"/>
              <a:t>Большой код ядра, и как следствие большое содержание ошибок</a:t>
            </a:r>
          </a:p>
          <a:p>
            <a:r>
              <a:rPr lang="ru-RU" dirty="0" smtClean="0"/>
              <a:t>Ядро плохо защищено от вспомогательных процессов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44624"/>
            <a:ext cx="8892480" cy="1143000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sz="4000" b="1" dirty="0" err="1">
                <a:solidFill>
                  <a:schemeClr val="accent2"/>
                </a:solidFill>
              </a:rPr>
              <a:t>Микроядерная</a:t>
            </a:r>
            <a:r>
              <a:rPr lang="ru-RU" sz="4000" b="1" dirty="0">
                <a:solidFill>
                  <a:schemeClr val="accent2"/>
                </a:solidFill>
              </a:rPr>
              <a:t> </a:t>
            </a:r>
            <a:r>
              <a:rPr lang="ru-RU" sz="4000" b="1" dirty="0" smtClean="0">
                <a:solidFill>
                  <a:schemeClr val="accent2"/>
                </a:solidFill>
              </a:rPr>
              <a:t>(клиент-серверная) архитектура</a:t>
            </a:r>
            <a:endParaRPr lang="ru-RU" sz="4000" b="1" dirty="0">
              <a:solidFill>
                <a:schemeClr val="accent2"/>
              </a:solidFill>
            </a:endParaRPr>
          </a:p>
        </p:txBody>
      </p:sp>
      <p:sp>
        <p:nvSpPr>
          <p:cNvPr id="71683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251519" y="1512168"/>
            <a:ext cx="8424937" cy="479715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3600" b="1" dirty="0" smtClean="0"/>
              <a:t>Облегчение ядра</a:t>
            </a:r>
          </a:p>
          <a:p>
            <a:pPr>
              <a:lnSpc>
                <a:spcPct val="80000"/>
              </a:lnSpc>
            </a:pPr>
            <a:r>
              <a:rPr lang="ru-RU" sz="3600" b="1" dirty="0" smtClean="0"/>
              <a:t>Перемещение всех дополнительных модулей и части модулей ядра на уровень пользователя</a:t>
            </a:r>
          </a:p>
          <a:p>
            <a:pPr>
              <a:lnSpc>
                <a:spcPct val="80000"/>
              </a:lnSpc>
            </a:pPr>
            <a:r>
              <a:rPr lang="ru-RU" sz="3600" b="1" dirty="0" smtClean="0"/>
              <a:t>Формирование набора </a:t>
            </a:r>
            <a:r>
              <a:rPr lang="ru-RU" sz="3600" b="1" dirty="0" smtClean="0">
                <a:solidFill>
                  <a:srgbClr val="C00000"/>
                </a:solidFill>
              </a:rPr>
              <a:t>серверов</a:t>
            </a:r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sz="3600" b="1" dirty="0" smtClean="0"/>
              <a:t> ОС, обеспечивающих выполнение функций ядра в режиме пользователя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44624"/>
            <a:ext cx="8697912" cy="1656184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sz="4000" b="1" dirty="0">
                <a:solidFill>
                  <a:schemeClr val="accent2"/>
                </a:solidFill>
              </a:rPr>
              <a:t>Особенности выполнения приложений в ОС с </a:t>
            </a:r>
            <a:r>
              <a:rPr lang="ru-RU" sz="4000" b="1" dirty="0" err="1">
                <a:solidFill>
                  <a:schemeClr val="accent2"/>
                </a:solidFill>
              </a:rPr>
              <a:t>микроядерной</a:t>
            </a:r>
            <a:r>
              <a:rPr lang="ru-RU" sz="4000" b="1" dirty="0">
                <a:solidFill>
                  <a:schemeClr val="accent2"/>
                </a:solidFill>
              </a:rPr>
              <a:t> архитектурой</a:t>
            </a:r>
          </a:p>
        </p:txBody>
      </p:sp>
      <p:sp>
        <p:nvSpPr>
          <p:cNvPr id="72707" name="Line 4"/>
          <p:cNvSpPr>
            <a:spLocks noChangeShapeType="1"/>
          </p:cNvSpPr>
          <p:nvPr/>
        </p:nvSpPr>
        <p:spPr bwMode="auto">
          <a:xfrm>
            <a:off x="468313" y="4509120"/>
            <a:ext cx="8280400" cy="0"/>
          </a:xfrm>
          <a:prstGeom prst="line">
            <a:avLst/>
          </a:prstGeom>
          <a:ln w="133350"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72708" name="Oval 5"/>
          <p:cNvSpPr>
            <a:spLocks noChangeArrowheads="1"/>
          </p:cNvSpPr>
          <p:nvPr/>
        </p:nvSpPr>
        <p:spPr bwMode="auto">
          <a:xfrm>
            <a:off x="4933652" y="5000625"/>
            <a:ext cx="2806700" cy="1357313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Микроядро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72709" name="Oval 6"/>
          <p:cNvSpPr>
            <a:spLocks noChangeArrowheads="1"/>
          </p:cNvSpPr>
          <p:nvPr/>
        </p:nvSpPr>
        <p:spPr bwMode="auto">
          <a:xfrm>
            <a:off x="611460" y="3212976"/>
            <a:ext cx="431800" cy="4318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2710" name="Oval 7"/>
          <p:cNvSpPr>
            <a:spLocks noChangeArrowheads="1"/>
          </p:cNvSpPr>
          <p:nvPr/>
        </p:nvSpPr>
        <p:spPr bwMode="auto">
          <a:xfrm>
            <a:off x="1330598" y="3212976"/>
            <a:ext cx="431800" cy="4318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2711" name="Oval 8"/>
          <p:cNvSpPr>
            <a:spLocks noChangeArrowheads="1"/>
          </p:cNvSpPr>
          <p:nvPr/>
        </p:nvSpPr>
        <p:spPr bwMode="auto">
          <a:xfrm>
            <a:off x="2051323" y="3212976"/>
            <a:ext cx="431800" cy="4318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2712" name="Oval 9"/>
          <p:cNvSpPr>
            <a:spLocks noChangeArrowheads="1"/>
          </p:cNvSpPr>
          <p:nvPr/>
        </p:nvSpPr>
        <p:spPr bwMode="auto">
          <a:xfrm>
            <a:off x="2772048" y="3212976"/>
            <a:ext cx="431800" cy="4318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2713" name="Text Box 10"/>
          <p:cNvSpPr txBox="1">
            <a:spLocks noChangeArrowheads="1"/>
          </p:cNvSpPr>
          <p:nvPr/>
        </p:nvSpPr>
        <p:spPr bwMode="auto">
          <a:xfrm>
            <a:off x="251520" y="2060848"/>
            <a:ext cx="378276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rgbClr val="006666"/>
                </a:solidFill>
              </a:rPr>
              <a:t>Приложения пользователей</a:t>
            </a:r>
          </a:p>
        </p:txBody>
      </p:sp>
      <p:sp>
        <p:nvSpPr>
          <p:cNvPr id="72714" name="AutoShape 11"/>
          <p:cNvSpPr>
            <a:spLocks noChangeArrowheads="1"/>
          </p:cNvSpPr>
          <p:nvPr/>
        </p:nvSpPr>
        <p:spPr bwMode="auto">
          <a:xfrm>
            <a:off x="4356100" y="2997200"/>
            <a:ext cx="1223963" cy="1058863"/>
          </a:xfrm>
          <a:prstGeom prst="hexagon">
            <a:avLst>
              <a:gd name="adj" fmla="val 28898"/>
              <a:gd name="vf" fmla="val 1154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 dirty="0"/>
              <a:t>Сервер</a:t>
            </a:r>
            <a:endParaRPr lang="ru-RU" b="1" dirty="0"/>
          </a:p>
        </p:txBody>
      </p:sp>
      <p:sp>
        <p:nvSpPr>
          <p:cNvPr id="72715" name="AutoShape 12"/>
          <p:cNvSpPr>
            <a:spLocks noChangeArrowheads="1"/>
          </p:cNvSpPr>
          <p:nvPr/>
        </p:nvSpPr>
        <p:spPr bwMode="auto">
          <a:xfrm>
            <a:off x="5795963" y="2997200"/>
            <a:ext cx="1223962" cy="1058863"/>
          </a:xfrm>
          <a:prstGeom prst="hexagon">
            <a:avLst>
              <a:gd name="adj" fmla="val 28898"/>
              <a:gd name="vf" fmla="val 1154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/>
              <a:t>Сервер</a:t>
            </a:r>
            <a:endParaRPr lang="ru-RU" b="1"/>
          </a:p>
        </p:txBody>
      </p:sp>
      <p:sp>
        <p:nvSpPr>
          <p:cNvPr id="72716" name="AutoShape 13"/>
          <p:cNvSpPr>
            <a:spLocks noChangeArrowheads="1"/>
          </p:cNvSpPr>
          <p:nvPr/>
        </p:nvSpPr>
        <p:spPr bwMode="auto">
          <a:xfrm>
            <a:off x="7235825" y="2997200"/>
            <a:ext cx="1223963" cy="1058863"/>
          </a:xfrm>
          <a:prstGeom prst="hexagon">
            <a:avLst>
              <a:gd name="adj" fmla="val 28898"/>
              <a:gd name="vf" fmla="val 1154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/>
              <a:t>Сервер</a:t>
            </a:r>
            <a:endParaRPr lang="ru-RU" b="1"/>
          </a:p>
        </p:txBody>
      </p:sp>
      <p:sp>
        <p:nvSpPr>
          <p:cNvPr id="72717" name="Oval 14"/>
          <p:cNvSpPr>
            <a:spLocks noChangeArrowheads="1"/>
          </p:cNvSpPr>
          <p:nvPr/>
        </p:nvSpPr>
        <p:spPr bwMode="auto">
          <a:xfrm>
            <a:off x="4716463" y="2277690"/>
            <a:ext cx="503237" cy="5032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2718" name="Oval 15"/>
          <p:cNvSpPr>
            <a:spLocks noChangeArrowheads="1"/>
          </p:cNvSpPr>
          <p:nvPr/>
        </p:nvSpPr>
        <p:spPr bwMode="auto">
          <a:xfrm>
            <a:off x="7524750" y="2277690"/>
            <a:ext cx="503238" cy="5032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2719" name="Oval 16"/>
          <p:cNvSpPr>
            <a:spLocks noChangeArrowheads="1"/>
          </p:cNvSpPr>
          <p:nvPr/>
        </p:nvSpPr>
        <p:spPr bwMode="auto">
          <a:xfrm>
            <a:off x="6156325" y="2277690"/>
            <a:ext cx="503238" cy="5032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2720" name="Text Box 17"/>
          <p:cNvSpPr txBox="1">
            <a:spLocks noChangeArrowheads="1"/>
          </p:cNvSpPr>
          <p:nvPr/>
        </p:nvSpPr>
        <p:spPr bwMode="auto">
          <a:xfrm>
            <a:off x="5436096" y="1702549"/>
            <a:ext cx="217880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Утилиты</a:t>
            </a:r>
            <a:endParaRPr lang="ru-RU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721" name="Freeform 18"/>
          <p:cNvSpPr>
            <a:spLocks/>
          </p:cNvSpPr>
          <p:nvPr/>
        </p:nvSpPr>
        <p:spPr bwMode="auto">
          <a:xfrm>
            <a:off x="1475656" y="3645024"/>
            <a:ext cx="4993903" cy="1944217"/>
          </a:xfrm>
          <a:custGeom>
            <a:avLst/>
            <a:gdLst>
              <a:gd name="T0" fmla="*/ 0 w 3554"/>
              <a:gd name="T1" fmla="*/ 0 h 1058"/>
              <a:gd name="T2" fmla="*/ 3085 w 3554"/>
              <a:gd name="T3" fmla="*/ 1043 h 1058"/>
              <a:gd name="T4" fmla="*/ 2813 w 3554"/>
              <a:gd name="T5" fmla="*/ 91 h 1058"/>
              <a:gd name="T6" fmla="*/ 0 60000 65536"/>
              <a:gd name="T7" fmla="*/ 0 60000 65536"/>
              <a:gd name="T8" fmla="*/ 0 60000 65536"/>
              <a:gd name="T9" fmla="*/ 0 w 3554"/>
              <a:gd name="T10" fmla="*/ 0 h 1058"/>
              <a:gd name="T11" fmla="*/ 3554 w 3554"/>
              <a:gd name="T12" fmla="*/ 1058 h 10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54" h="1058">
                <a:moveTo>
                  <a:pt x="0" y="0"/>
                </a:moveTo>
                <a:cubicBezTo>
                  <a:pt x="1308" y="514"/>
                  <a:pt x="2616" y="1028"/>
                  <a:pt x="3085" y="1043"/>
                </a:cubicBezTo>
                <a:cubicBezTo>
                  <a:pt x="3554" y="1058"/>
                  <a:pt x="2858" y="250"/>
                  <a:pt x="2813" y="91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2722" name="Freeform 24"/>
          <p:cNvSpPr>
            <a:spLocks/>
          </p:cNvSpPr>
          <p:nvPr/>
        </p:nvSpPr>
        <p:spPr bwMode="auto">
          <a:xfrm>
            <a:off x="1691680" y="3645024"/>
            <a:ext cx="4464644" cy="1584201"/>
          </a:xfrm>
          <a:custGeom>
            <a:avLst/>
            <a:gdLst>
              <a:gd name="T0" fmla="*/ 0 w 3554"/>
              <a:gd name="T1" fmla="*/ 0 h 1058"/>
              <a:gd name="T2" fmla="*/ 3085 w 3554"/>
              <a:gd name="T3" fmla="*/ 1043 h 1058"/>
              <a:gd name="T4" fmla="*/ 2813 w 3554"/>
              <a:gd name="T5" fmla="*/ 91 h 1058"/>
              <a:gd name="T6" fmla="*/ 0 60000 65536"/>
              <a:gd name="T7" fmla="*/ 0 60000 65536"/>
              <a:gd name="T8" fmla="*/ 0 60000 65536"/>
              <a:gd name="T9" fmla="*/ 0 w 3554"/>
              <a:gd name="T10" fmla="*/ 0 h 1058"/>
              <a:gd name="T11" fmla="*/ 3554 w 3554"/>
              <a:gd name="T12" fmla="*/ 1058 h 10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54" h="1058">
                <a:moveTo>
                  <a:pt x="0" y="0"/>
                </a:moveTo>
                <a:cubicBezTo>
                  <a:pt x="1308" y="514"/>
                  <a:pt x="2616" y="1028"/>
                  <a:pt x="3085" y="1043"/>
                </a:cubicBezTo>
                <a:cubicBezTo>
                  <a:pt x="3554" y="1058"/>
                  <a:pt x="2858" y="250"/>
                  <a:pt x="2813" y="91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2723" name="Freeform 26"/>
          <p:cNvSpPr>
            <a:spLocks/>
          </p:cNvSpPr>
          <p:nvPr/>
        </p:nvSpPr>
        <p:spPr bwMode="auto">
          <a:xfrm>
            <a:off x="6130925" y="4076700"/>
            <a:ext cx="1970088" cy="1439863"/>
          </a:xfrm>
          <a:custGeom>
            <a:avLst/>
            <a:gdLst>
              <a:gd name="T0" fmla="*/ 61 w 1241"/>
              <a:gd name="T1" fmla="*/ 0 h 907"/>
              <a:gd name="T2" fmla="*/ 197 w 1241"/>
              <a:gd name="T3" fmla="*/ 907 h 907"/>
              <a:gd name="T4" fmla="*/ 1241 w 1241"/>
              <a:gd name="T5" fmla="*/ 0 h 907"/>
              <a:gd name="T6" fmla="*/ 0 60000 65536"/>
              <a:gd name="T7" fmla="*/ 0 60000 65536"/>
              <a:gd name="T8" fmla="*/ 0 60000 65536"/>
              <a:gd name="T9" fmla="*/ 0 w 1241"/>
              <a:gd name="T10" fmla="*/ 0 h 907"/>
              <a:gd name="T11" fmla="*/ 1241 w 1241"/>
              <a:gd name="T12" fmla="*/ 907 h 9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41" h="907">
                <a:moveTo>
                  <a:pt x="61" y="0"/>
                </a:moveTo>
                <a:cubicBezTo>
                  <a:pt x="30" y="453"/>
                  <a:pt x="0" y="907"/>
                  <a:pt x="197" y="907"/>
                </a:cubicBezTo>
                <a:cubicBezTo>
                  <a:pt x="394" y="907"/>
                  <a:pt x="817" y="453"/>
                  <a:pt x="1241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2724" name="Freeform 27"/>
          <p:cNvSpPr>
            <a:spLocks/>
          </p:cNvSpPr>
          <p:nvPr/>
        </p:nvSpPr>
        <p:spPr bwMode="auto">
          <a:xfrm>
            <a:off x="6419850" y="4076700"/>
            <a:ext cx="1465263" cy="1152525"/>
          </a:xfrm>
          <a:custGeom>
            <a:avLst/>
            <a:gdLst>
              <a:gd name="T0" fmla="*/ 923 w 923"/>
              <a:gd name="T1" fmla="*/ 0 h 726"/>
              <a:gd name="T2" fmla="*/ 151 w 923"/>
              <a:gd name="T3" fmla="*/ 726 h 726"/>
              <a:gd name="T4" fmla="*/ 15 w 923"/>
              <a:gd name="T5" fmla="*/ 0 h 726"/>
              <a:gd name="T6" fmla="*/ 0 60000 65536"/>
              <a:gd name="T7" fmla="*/ 0 60000 65536"/>
              <a:gd name="T8" fmla="*/ 0 60000 65536"/>
              <a:gd name="T9" fmla="*/ 0 w 923"/>
              <a:gd name="T10" fmla="*/ 0 h 726"/>
              <a:gd name="T11" fmla="*/ 923 w 923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23" h="726">
                <a:moveTo>
                  <a:pt x="923" y="0"/>
                </a:moveTo>
                <a:cubicBezTo>
                  <a:pt x="612" y="363"/>
                  <a:pt x="302" y="726"/>
                  <a:pt x="151" y="726"/>
                </a:cubicBezTo>
                <a:cubicBezTo>
                  <a:pt x="0" y="726"/>
                  <a:pt x="7" y="363"/>
                  <a:pt x="15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-36512" y="5157192"/>
            <a:ext cx="518457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C00000"/>
                </a:solidFill>
              </a:rPr>
              <a:t>Привилегированный режим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07504" y="3933056"/>
            <a:ext cx="42449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800" b="1" dirty="0"/>
              <a:t>Пользовательский режим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sz="4000" b="1" dirty="0" err="1">
                <a:solidFill>
                  <a:schemeClr val="accent2"/>
                </a:solidFill>
              </a:rPr>
              <a:t>Микроядерная</a:t>
            </a:r>
            <a:r>
              <a:rPr lang="ru-RU" sz="4000" b="1" dirty="0">
                <a:solidFill>
                  <a:schemeClr val="accent2"/>
                </a:solidFill>
              </a:rPr>
              <a:t> </a:t>
            </a:r>
            <a:r>
              <a:rPr lang="ru-RU" sz="4000" b="1" dirty="0" smtClean="0">
                <a:solidFill>
                  <a:schemeClr val="accent2"/>
                </a:solidFill>
              </a:rPr>
              <a:t>(клиент-серверная) архитектура</a:t>
            </a:r>
            <a:endParaRPr lang="ru-RU" sz="4000" b="1" dirty="0">
              <a:solidFill>
                <a:schemeClr val="accent2"/>
              </a:solidFill>
            </a:endParaRPr>
          </a:p>
        </p:txBody>
      </p:sp>
      <p:sp>
        <p:nvSpPr>
          <p:cNvPr id="73731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42875" y="1556792"/>
            <a:ext cx="8786813" cy="4740275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ru-RU" sz="3600" b="1" dirty="0" smtClean="0">
                <a:solidFill>
                  <a:srgbClr val="C00000"/>
                </a:solidFill>
              </a:rPr>
              <a:t>Преимущества</a:t>
            </a:r>
            <a:r>
              <a:rPr lang="ru-RU" sz="3600" b="1" dirty="0" smtClean="0"/>
              <a:t>:</a:t>
            </a:r>
          </a:p>
          <a:p>
            <a:r>
              <a:rPr lang="ru-RU" sz="3600" b="1" dirty="0" smtClean="0"/>
              <a:t>Малый код ядра и отдельных подсистем, и как следствие меньшее содержание ошибок.</a:t>
            </a:r>
          </a:p>
          <a:p>
            <a:r>
              <a:rPr lang="ru-RU" sz="3600" b="1" dirty="0" smtClean="0"/>
              <a:t>Ядро лучше защищено от вспомогательных процессов.</a:t>
            </a:r>
          </a:p>
          <a:p>
            <a:pPr>
              <a:buFontTx/>
              <a:buNone/>
            </a:pPr>
            <a:r>
              <a:rPr lang="ru-RU" sz="3600" b="1" dirty="0" smtClean="0">
                <a:solidFill>
                  <a:srgbClr val="C00000"/>
                </a:solidFill>
              </a:rPr>
              <a:t>Недостатки</a:t>
            </a:r>
            <a:r>
              <a:rPr lang="ru-RU" sz="3600" b="1" dirty="0" smtClean="0"/>
              <a:t>:</a:t>
            </a:r>
          </a:p>
          <a:p>
            <a:r>
              <a:rPr lang="ru-RU" sz="3600" b="1" dirty="0" smtClean="0"/>
              <a:t>Уменьшение производительности.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Структура операционных систем </a:t>
            </a:r>
          </a:p>
        </p:txBody>
      </p:sp>
      <p:sp>
        <p:nvSpPr>
          <p:cNvPr id="7577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07504" y="2204814"/>
            <a:ext cx="8540750" cy="3600450"/>
          </a:xfrm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  <a:buClr>
                <a:schemeClr val="tx2"/>
              </a:buClr>
              <a:defRPr/>
            </a:pPr>
            <a:r>
              <a:rPr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Монолитное ядро </a:t>
            </a:r>
            <a:r>
              <a:rPr lang="ru-RU" dirty="0" smtClean="0"/>
              <a:t>– необходимость перекомпиляции при каждом изменении, сложность отладки, высокая скорость работы.</a:t>
            </a:r>
          </a:p>
        </p:txBody>
      </p:sp>
      <p:sp>
        <p:nvSpPr>
          <p:cNvPr id="74756" name="Номер слайда 5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5225"/>
            <a:ext cx="2133600" cy="47625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34FDBB3E-3ADC-4B7F-990E-51F868A1160E}" type="slidenum">
              <a:rPr lang="ru-RU" smtClean="0"/>
              <a:pPr/>
              <a:t>96</a:t>
            </a:fld>
            <a:endParaRPr lang="ru-RU" smtClean="0"/>
          </a:p>
        </p:txBody>
      </p:sp>
      <p:sp>
        <p:nvSpPr>
          <p:cNvPr id="74757" name="Text Box 4"/>
          <p:cNvSpPr txBox="1">
            <a:spLocks noChangeArrowheads="1"/>
          </p:cNvSpPr>
          <p:nvPr/>
        </p:nvSpPr>
        <p:spPr bwMode="auto">
          <a:xfrm>
            <a:off x="468313" y="1340768"/>
            <a:ext cx="8280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ru-RU" sz="3600" b="1" dirty="0">
                <a:solidFill>
                  <a:schemeClr val="tx2"/>
                </a:solidFill>
              </a:rPr>
              <a:t>Смешанные системы – почему?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Структура операционных систем </a:t>
            </a:r>
          </a:p>
        </p:txBody>
      </p:sp>
      <p:sp>
        <p:nvSpPr>
          <p:cNvPr id="7577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279722" y="1988840"/>
            <a:ext cx="8540750" cy="3600450"/>
          </a:xfrm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  <a:buClr>
                <a:schemeClr val="tx2"/>
              </a:buClr>
              <a:defRPr/>
            </a:pPr>
            <a:r>
              <a:rPr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Многоуровневые </a:t>
            </a:r>
            <a:r>
              <a:rPr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системы </a:t>
            </a:r>
            <a:r>
              <a:rPr lang="ru-RU" dirty="0" smtClean="0"/>
              <a:t>– необходимость перекомпиляции при изменениях, отлаживается только измененный уровень, меньшая скорость работы</a:t>
            </a:r>
            <a:endParaRPr lang="en-US" dirty="0" smtClean="0"/>
          </a:p>
          <a:p>
            <a:pPr eaLnBrk="1" hangingPunct="1">
              <a:spcBef>
                <a:spcPct val="0"/>
              </a:spcBef>
              <a:buClr>
                <a:schemeClr val="tx2"/>
              </a:buClr>
              <a:buNone/>
              <a:defRPr/>
            </a:pPr>
            <a:endParaRPr lang="en-US" sz="1200" dirty="0" smtClean="0"/>
          </a:p>
          <a:p>
            <a:pPr algn="ctr" eaLnBrk="1" hangingPunct="1">
              <a:spcBef>
                <a:spcPct val="0"/>
              </a:spcBef>
              <a:buClr>
                <a:schemeClr val="tx2"/>
              </a:buClr>
              <a:buNone/>
              <a:defRPr/>
            </a:pPr>
            <a:r>
              <a:rPr lang="ru-RU" dirty="0" smtClean="0">
                <a:solidFill>
                  <a:schemeClr val="accent1">
                    <a:lumMod val="50000"/>
                  </a:schemeClr>
                </a:solidFill>
              </a:rPr>
              <a:t>Многоуровневый подход применяется почти во всех ОС в их отдельных компонентах  </a:t>
            </a:r>
          </a:p>
          <a:p>
            <a:pPr eaLnBrk="1" hangingPunct="1">
              <a:spcBef>
                <a:spcPct val="0"/>
              </a:spcBef>
              <a:buClr>
                <a:schemeClr val="tx2"/>
              </a:buClr>
              <a:buNone/>
              <a:defRPr/>
            </a:pPr>
            <a:endParaRPr lang="ru-RU" dirty="0" smtClean="0"/>
          </a:p>
        </p:txBody>
      </p:sp>
      <p:sp>
        <p:nvSpPr>
          <p:cNvPr id="74756" name="Номер слайда 5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5225"/>
            <a:ext cx="2133600" cy="47625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34FDBB3E-3ADC-4B7F-990E-51F868A1160E}" type="slidenum">
              <a:rPr lang="ru-RU" smtClean="0"/>
              <a:pPr/>
              <a:t>97</a:t>
            </a:fld>
            <a:endParaRPr lang="ru-RU" smtClean="0"/>
          </a:p>
        </p:txBody>
      </p:sp>
      <p:sp>
        <p:nvSpPr>
          <p:cNvPr id="74757" name="Text Box 4"/>
          <p:cNvSpPr txBox="1">
            <a:spLocks noChangeArrowheads="1"/>
          </p:cNvSpPr>
          <p:nvPr/>
        </p:nvSpPr>
        <p:spPr bwMode="auto">
          <a:xfrm>
            <a:off x="468313" y="1340768"/>
            <a:ext cx="8280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ru-RU" sz="3600" b="1" dirty="0">
                <a:solidFill>
                  <a:schemeClr val="tx2"/>
                </a:solidFill>
              </a:rPr>
              <a:t>Смешанные системы – почему?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Структура операционных систем </a:t>
            </a:r>
          </a:p>
        </p:txBody>
      </p:sp>
      <p:sp>
        <p:nvSpPr>
          <p:cNvPr id="7577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279722" y="2276822"/>
            <a:ext cx="8540750" cy="3600450"/>
          </a:xfrm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  <a:buClr>
                <a:schemeClr val="tx2"/>
              </a:buClr>
              <a:defRPr/>
            </a:pPr>
            <a:r>
              <a:rPr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Микроядро</a:t>
            </a:r>
            <a:r>
              <a:rPr lang="ru-RU" dirty="0" smtClean="0"/>
              <a:t> – простота отладки, возможность замены компонент без перекомпиляции и остановки системы, очень медленные	</a:t>
            </a:r>
          </a:p>
        </p:txBody>
      </p:sp>
      <p:sp>
        <p:nvSpPr>
          <p:cNvPr id="74756" name="Номер слайда 5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5225"/>
            <a:ext cx="2133600" cy="47625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34FDBB3E-3ADC-4B7F-990E-51F868A1160E}" type="slidenum">
              <a:rPr lang="ru-RU" smtClean="0"/>
              <a:pPr/>
              <a:t>98</a:t>
            </a:fld>
            <a:endParaRPr lang="ru-RU" smtClean="0"/>
          </a:p>
        </p:txBody>
      </p:sp>
      <p:sp>
        <p:nvSpPr>
          <p:cNvPr id="74757" name="Text Box 4"/>
          <p:cNvSpPr txBox="1">
            <a:spLocks noChangeArrowheads="1"/>
          </p:cNvSpPr>
          <p:nvPr/>
        </p:nvSpPr>
        <p:spPr bwMode="auto">
          <a:xfrm>
            <a:off x="468313" y="1340768"/>
            <a:ext cx="8280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ru-RU" sz="3600" b="1" dirty="0">
                <a:solidFill>
                  <a:schemeClr val="tx2"/>
                </a:solidFill>
              </a:rPr>
              <a:t>Смешанные системы – почему?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4000" b="1" dirty="0" smtClean="0">
                <a:solidFill>
                  <a:schemeClr val="accent2"/>
                </a:solidFill>
              </a:rPr>
              <a:t>Структура операционных систем </a:t>
            </a:r>
          </a:p>
        </p:txBody>
      </p:sp>
      <p:sp>
        <p:nvSpPr>
          <p:cNvPr id="7577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79512" y="1988840"/>
            <a:ext cx="8964488" cy="3600450"/>
          </a:xfrm>
        </p:spPr>
        <p:txBody>
          <a:bodyPr>
            <a:normAutofit lnSpcReduction="10000"/>
          </a:bodyPr>
          <a:lstStyle/>
          <a:p>
            <a:pPr>
              <a:spcBef>
                <a:spcPct val="0"/>
              </a:spcBef>
              <a:buClr>
                <a:schemeClr val="tx2"/>
              </a:buClr>
            </a:pPr>
            <a:r>
              <a:rPr lang="en-US" b="1" dirty="0" smtClean="0">
                <a:solidFill>
                  <a:srgbClr val="C00000"/>
                </a:solidFill>
              </a:rPr>
              <a:t>Linux</a:t>
            </a:r>
            <a:r>
              <a:rPr lang="en-US" dirty="0" smtClean="0"/>
              <a:t> </a:t>
            </a:r>
            <a:r>
              <a:rPr lang="ru-RU" dirty="0" smtClean="0"/>
              <a:t>– монолитная с элементами </a:t>
            </a:r>
            <a:r>
              <a:rPr lang="ru-RU" dirty="0" err="1" smtClean="0"/>
              <a:t>микроядерной</a:t>
            </a:r>
            <a:r>
              <a:rPr lang="ru-RU" dirty="0" smtClean="0"/>
              <a:t> архитектуры (подгружаемые модули).</a:t>
            </a:r>
          </a:p>
          <a:p>
            <a:pPr>
              <a:spcBef>
                <a:spcPct val="0"/>
              </a:spcBef>
              <a:buClr>
                <a:schemeClr val="tx2"/>
              </a:buClr>
            </a:pPr>
            <a:r>
              <a:rPr lang="ru-RU" b="1" dirty="0" smtClean="0">
                <a:solidFill>
                  <a:srgbClr val="C00000"/>
                </a:solidFill>
              </a:rPr>
              <a:t>4.4 </a:t>
            </a:r>
            <a:r>
              <a:rPr lang="en-US" b="1" dirty="0" smtClean="0">
                <a:solidFill>
                  <a:srgbClr val="C00000"/>
                </a:solidFill>
              </a:rPr>
              <a:t>BSD </a:t>
            </a:r>
            <a:r>
              <a:rPr lang="en-US" dirty="0" smtClean="0"/>
              <a:t>–</a:t>
            </a:r>
            <a:r>
              <a:rPr lang="ru-RU" dirty="0" smtClean="0"/>
              <a:t> запуск монолитной системы под управлением микроядра</a:t>
            </a:r>
          </a:p>
          <a:p>
            <a:pPr>
              <a:spcBef>
                <a:spcPct val="0"/>
              </a:spcBef>
              <a:buClr>
                <a:schemeClr val="tx2"/>
              </a:buClr>
            </a:pPr>
            <a:r>
              <a:rPr lang="en-US" b="1" dirty="0" smtClean="0">
                <a:solidFill>
                  <a:srgbClr val="C00000"/>
                </a:solidFill>
              </a:rPr>
              <a:t>Windows NT </a:t>
            </a:r>
            <a:r>
              <a:rPr lang="en-US" dirty="0" smtClean="0"/>
              <a:t>– </a:t>
            </a:r>
            <a:r>
              <a:rPr lang="ru-RU" dirty="0" smtClean="0"/>
              <a:t>почти </a:t>
            </a:r>
            <a:r>
              <a:rPr lang="ru-RU" dirty="0" err="1" smtClean="0"/>
              <a:t>микроядерная</a:t>
            </a:r>
            <a:r>
              <a:rPr lang="ru-RU" dirty="0" smtClean="0"/>
              <a:t> с элементами монолитности</a:t>
            </a:r>
          </a:p>
        </p:txBody>
      </p:sp>
      <p:sp>
        <p:nvSpPr>
          <p:cNvPr id="75780" name="Номер слайда 5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5225"/>
            <a:ext cx="2133600" cy="47625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A6DDDE85-A3FD-4669-BA21-EF139D5C16B8}" type="slidenum">
              <a:rPr lang="ru-RU" smtClean="0"/>
              <a:pPr/>
              <a:t>99</a:t>
            </a:fld>
            <a:endParaRPr lang="ru-RU" smtClean="0"/>
          </a:p>
        </p:txBody>
      </p:sp>
      <p:sp>
        <p:nvSpPr>
          <p:cNvPr id="75781" name="Text Box 4"/>
          <p:cNvSpPr txBox="1">
            <a:spLocks noChangeArrowheads="1"/>
          </p:cNvSpPr>
          <p:nvPr/>
        </p:nvSpPr>
        <p:spPr bwMode="auto">
          <a:xfrm>
            <a:off x="468313" y="1340768"/>
            <a:ext cx="8280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ru-RU" sz="3600" b="1" dirty="0">
                <a:solidFill>
                  <a:schemeClr val="tx2"/>
                </a:solidFill>
              </a:rPr>
              <a:t>Смешанные системы – почему?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9884" y="0"/>
            <a:ext cx="8510588" cy="108897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ru-RU" sz="4000" b="1" dirty="0" smtClean="0"/>
              <a:t>Структура операционных систем</a:t>
            </a:r>
            <a:r>
              <a:rPr lang="ru-RU" b="1" dirty="0" smtClean="0"/>
              <a:t> </a:t>
            </a:r>
          </a:p>
        </p:txBody>
      </p:sp>
      <p:sp>
        <p:nvSpPr>
          <p:cNvPr id="7270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700808"/>
            <a:ext cx="9144000" cy="863600"/>
          </a:xfrm>
        </p:spPr>
        <p:txBody>
          <a:bodyPr>
            <a:normAutofit fontScale="85000" lnSpcReduction="20000"/>
          </a:bodyPr>
          <a:lstStyle/>
          <a:p>
            <a:pPr algn="ctr" eaLnBrk="1" hangingPunct="1">
              <a:buClr>
                <a:schemeClr val="tx2"/>
              </a:buClr>
              <a:buFont typeface="Wingdings" pitchFamily="2" charset="2"/>
              <a:buNone/>
            </a:pPr>
            <a:r>
              <a:rPr lang="ru-RU" dirty="0" smtClean="0"/>
              <a:t>Каждому пользователю</a:t>
            </a:r>
            <a:r>
              <a:rPr lang="en-US" dirty="0" smtClean="0"/>
              <a:t> – </a:t>
            </a:r>
            <a:r>
              <a:rPr lang="ru-RU" dirty="0" smtClean="0"/>
              <a:t>своя копия виртуального </a:t>
            </a:r>
            <a:r>
              <a:rPr lang="en-US" dirty="0" smtClean="0"/>
              <a:t>hardware</a:t>
            </a:r>
            <a:endParaRPr lang="ru-RU" dirty="0" smtClean="0"/>
          </a:p>
        </p:txBody>
      </p:sp>
      <p:sp>
        <p:nvSpPr>
          <p:cNvPr id="76804" name="Номер слайда 5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5225"/>
            <a:ext cx="2133600" cy="47625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0429BFD-646E-4DBE-9307-21D3DBEF4B8C}" type="slidenum">
              <a:rPr lang="ru-RU" smtClean="0"/>
              <a:pPr/>
              <a:t>100</a:t>
            </a:fld>
            <a:endParaRPr lang="ru-RU" smtClean="0"/>
          </a:p>
        </p:txBody>
      </p:sp>
      <p:sp>
        <p:nvSpPr>
          <p:cNvPr id="76805" name="Text Box 15"/>
          <p:cNvSpPr txBox="1">
            <a:spLocks noChangeArrowheads="1"/>
          </p:cNvSpPr>
          <p:nvPr/>
        </p:nvSpPr>
        <p:spPr bwMode="auto">
          <a:xfrm>
            <a:off x="214313" y="1196752"/>
            <a:ext cx="8280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ru-RU" sz="3600" b="1" dirty="0">
                <a:solidFill>
                  <a:srgbClr val="C00000"/>
                </a:solidFill>
              </a:rPr>
              <a:t>Виртуальные машины</a:t>
            </a:r>
          </a:p>
        </p:txBody>
      </p:sp>
      <p:sp>
        <p:nvSpPr>
          <p:cNvPr id="72733" name="AutoShape 29"/>
          <p:cNvSpPr>
            <a:spLocks noChangeArrowheads="1"/>
          </p:cNvSpPr>
          <p:nvPr/>
        </p:nvSpPr>
        <p:spPr bwMode="auto">
          <a:xfrm>
            <a:off x="323528" y="5775325"/>
            <a:ext cx="8248650" cy="389979"/>
          </a:xfrm>
          <a:prstGeom prst="roundRect">
            <a:avLst>
              <a:gd name="adj" fmla="val 16667"/>
            </a:avLst>
          </a:prstGeom>
          <a:solidFill>
            <a:srgbClr val="9B1103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>
                <a:solidFill>
                  <a:schemeClr val="bg1"/>
                </a:solidFill>
              </a:rPr>
              <a:t>Реальное</a:t>
            </a:r>
            <a:r>
              <a:rPr lang="en-US" sz="2800" b="1">
                <a:solidFill>
                  <a:schemeClr val="bg1"/>
                </a:solidFill>
              </a:rPr>
              <a:t> hardware</a:t>
            </a:r>
            <a:endParaRPr lang="ru-RU" sz="2800" b="1">
              <a:solidFill>
                <a:schemeClr val="bg1"/>
              </a:solidFill>
            </a:endParaRPr>
          </a:p>
        </p:txBody>
      </p:sp>
      <p:sp>
        <p:nvSpPr>
          <p:cNvPr id="72734" name="AutoShape 30"/>
          <p:cNvSpPr>
            <a:spLocks noChangeArrowheads="1"/>
          </p:cNvSpPr>
          <p:nvPr/>
        </p:nvSpPr>
        <p:spPr bwMode="auto">
          <a:xfrm>
            <a:off x="323528" y="5270500"/>
            <a:ext cx="8248650" cy="389979"/>
          </a:xfrm>
          <a:prstGeom prst="roundRect">
            <a:avLst>
              <a:gd name="adj" fmla="val 16667"/>
            </a:avLst>
          </a:prstGeom>
          <a:solidFill>
            <a:srgbClr val="9B1103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>
                <a:solidFill>
                  <a:schemeClr val="bg1"/>
                </a:solidFill>
              </a:rPr>
              <a:t>Реальная операционная система</a:t>
            </a:r>
          </a:p>
        </p:txBody>
      </p:sp>
      <p:sp>
        <p:nvSpPr>
          <p:cNvPr id="72735" name="AutoShape 31"/>
          <p:cNvSpPr>
            <a:spLocks noChangeArrowheads="1"/>
          </p:cNvSpPr>
          <p:nvPr/>
        </p:nvSpPr>
        <p:spPr bwMode="auto">
          <a:xfrm>
            <a:off x="323528" y="4262438"/>
            <a:ext cx="2520280" cy="822746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Виртуальное</a:t>
            </a:r>
            <a:br>
              <a:rPr lang="ru-RU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hardware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72737" name="AutoShape 33"/>
          <p:cNvSpPr>
            <a:spLocks noChangeArrowheads="1"/>
          </p:cNvSpPr>
          <p:nvPr/>
        </p:nvSpPr>
        <p:spPr bwMode="auto">
          <a:xfrm>
            <a:off x="5994826" y="4262438"/>
            <a:ext cx="2681630" cy="750737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>
                <a:solidFill>
                  <a:schemeClr val="bg1"/>
                </a:solidFill>
              </a:rPr>
              <a:t>Виртуальное</a:t>
            </a:r>
            <a:br>
              <a:rPr lang="ru-RU" sz="2800" b="1">
                <a:solidFill>
                  <a:schemeClr val="bg1"/>
                </a:solidFill>
              </a:rPr>
            </a:br>
            <a:r>
              <a:rPr lang="en-US" sz="2800" b="1">
                <a:solidFill>
                  <a:schemeClr val="bg1"/>
                </a:solidFill>
              </a:rPr>
              <a:t>hardware</a:t>
            </a:r>
            <a:endParaRPr lang="ru-RU" sz="2800" b="1">
              <a:solidFill>
                <a:schemeClr val="bg1"/>
              </a:solidFill>
            </a:endParaRPr>
          </a:p>
        </p:txBody>
      </p:sp>
      <p:sp>
        <p:nvSpPr>
          <p:cNvPr id="72738" name="AutoShape 34"/>
          <p:cNvSpPr>
            <a:spLocks noChangeArrowheads="1"/>
          </p:cNvSpPr>
          <p:nvPr/>
        </p:nvSpPr>
        <p:spPr bwMode="auto">
          <a:xfrm>
            <a:off x="3114506" y="4262438"/>
            <a:ext cx="2753638" cy="750737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>
                <a:solidFill>
                  <a:schemeClr val="bg1"/>
                </a:solidFill>
              </a:rPr>
              <a:t>Виртуальное</a:t>
            </a:r>
            <a:br>
              <a:rPr lang="ru-RU" sz="2800" b="1">
                <a:solidFill>
                  <a:schemeClr val="bg1"/>
                </a:solidFill>
              </a:rPr>
            </a:br>
            <a:r>
              <a:rPr lang="en-US" sz="2800" b="1">
                <a:solidFill>
                  <a:schemeClr val="bg1"/>
                </a:solidFill>
              </a:rPr>
              <a:t>hardware</a:t>
            </a:r>
            <a:endParaRPr lang="ru-RU" sz="2800" b="1">
              <a:solidFill>
                <a:schemeClr val="bg1"/>
              </a:solidFill>
            </a:endParaRPr>
          </a:p>
        </p:txBody>
      </p:sp>
      <p:sp>
        <p:nvSpPr>
          <p:cNvPr id="72739" name="AutoShape 35"/>
          <p:cNvSpPr>
            <a:spLocks noChangeArrowheads="1"/>
          </p:cNvSpPr>
          <p:nvPr/>
        </p:nvSpPr>
        <p:spPr bwMode="auto">
          <a:xfrm>
            <a:off x="251520" y="3686175"/>
            <a:ext cx="2304256" cy="390897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Linux</a:t>
            </a:r>
            <a:endParaRPr lang="ru-RU" sz="2800" b="1">
              <a:solidFill>
                <a:schemeClr val="bg1"/>
              </a:solidFill>
            </a:endParaRPr>
          </a:p>
        </p:txBody>
      </p:sp>
      <p:sp>
        <p:nvSpPr>
          <p:cNvPr id="72740" name="AutoShape 36"/>
          <p:cNvSpPr>
            <a:spLocks noChangeArrowheads="1"/>
          </p:cNvSpPr>
          <p:nvPr/>
        </p:nvSpPr>
        <p:spPr bwMode="auto">
          <a:xfrm>
            <a:off x="3042498" y="3686175"/>
            <a:ext cx="2681630" cy="391418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Windows-</a:t>
            </a:r>
            <a:r>
              <a:rPr lang="ru-RU" sz="2800" b="1" dirty="0" smtClean="0">
                <a:solidFill>
                  <a:schemeClr val="bg1"/>
                </a:solidFill>
              </a:rPr>
              <a:t>8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72741" name="AutoShape 37"/>
          <p:cNvSpPr>
            <a:spLocks noChangeArrowheads="1"/>
          </p:cNvSpPr>
          <p:nvPr/>
        </p:nvSpPr>
        <p:spPr bwMode="auto">
          <a:xfrm>
            <a:off x="5778802" y="3686175"/>
            <a:ext cx="2681630" cy="391418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FreeBSD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72742" name="AutoShape 38"/>
          <p:cNvSpPr>
            <a:spLocks noChangeArrowheads="1"/>
          </p:cNvSpPr>
          <p:nvPr/>
        </p:nvSpPr>
        <p:spPr bwMode="auto">
          <a:xfrm>
            <a:off x="107504" y="3109913"/>
            <a:ext cx="2681630" cy="39141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Пользователь</a:t>
            </a:r>
          </a:p>
        </p:txBody>
      </p:sp>
      <p:sp>
        <p:nvSpPr>
          <p:cNvPr id="72743" name="AutoShape 39"/>
          <p:cNvSpPr>
            <a:spLocks noChangeArrowheads="1"/>
          </p:cNvSpPr>
          <p:nvPr/>
        </p:nvSpPr>
        <p:spPr bwMode="auto">
          <a:xfrm>
            <a:off x="2970490" y="3109913"/>
            <a:ext cx="2681630" cy="39141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>
                <a:solidFill>
                  <a:schemeClr val="bg1"/>
                </a:solidFill>
              </a:rPr>
              <a:t>Пользователь</a:t>
            </a:r>
          </a:p>
        </p:txBody>
      </p:sp>
      <p:sp>
        <p:nvSpPr>
          <p:cNvPr id="72744" name="AutoShape 40"/>
          <p:cNvSpPr>
            <a:spLocks noChangeArrowheads="1"/>
          </p:cNvSpPr>
          <p:nvPr/>
        </p:nvSpPr>
        <p:spPr bwMode="auto">
          <a:xfrm>
            <a:off x="5922818" y="3109913"/>
            <a:ext cx="2681630" cy="39141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Пользователь</a:t>
            </a:r>
          </a:p>
        </p:txBody>
      </p:sp>
      <p:cxnSp>
        <p:nvCxnSpPr>
          <p:cNvPr id="72745" name="AutoShape 41"/>
          <p:cNvCxnSpPr>
            <a:cxnSpLocks noChangeShapeType="1"/>
            <a:stCxn id="72734" idx="2"/>
            <a:endCxn id="72733" idx="0"/>
          </p:cNvCxnSpPr>
          <p:nvPr/>
        </p:nvCxnSpPr>
        <p:spPr bwMode="auto">
          <a:xfrm>
            <a:off x="4447853" y="5660479"/>
            <a:ext cx="0" cy="114846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72746" name="AutoShape 42"/>
          <p:cNvCxnSpPr>
            <a:cxnSpLocks noChangeShapeType="1"/>
            <a:stCxn id="72742" idx="2"/>
            <a:endCxn id="72739" idx="0"/>
          </p:cNvCxnSpPr>
          <p:nvPr/>
        </p:nvCxnSpPr>
        <p:spPr bwMode="auto">
          <a:xfrm flipH="1">
            <a:off x="1403648" y="3501331"/>
            <a:ext cx="44671" cy="184844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72747" name="AutoShape 43"/>
          <p:cNvCxnSpPr>
            <a:cxnSpLocks noChangeShapeType="1"/>
            <a:stCxn id="72739" idx="2"/>
            <a:endCxn id="72735" idx="0"/>
          </p:cNvCxnSpPr>
          <p:nvPr/>
        </p:nvCxnSpPr>
        <p:spPr bwMode="auto">
          <a:xfrm>
            <a:off x="1403648" y="4077072"/>
            <a:ext cx="180020" cy="185366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72748" name="AutoShape 44"/>
          <p:cNvCxnSpPr>
            <a:cxnSpLocks noChangeShapeType="1"/>
            <a:stCxn id="72743" idx="2"/>
            <a:endCxn id="72740" idx="0"/>
          </p:cNvCxnSpPr>
          <p:nvPr/>
        </p:nvCxnSpPr>
        <p:spPr bwMode="auto">
          <a:xfrm>
            <a:off x="4311305" y="3501331"/>
            <a:ext cx="72008" cy="184844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72749" name="AutoShape 45"/>
          <p:cNvCxnSpPr>
            <a:cxnSpLocks noChangeShapeType="1"/>
            <a:stCxn id="72740" idx="2"/>
            <a:endCxn id="72738" idx="0"/>
          </p:cNvCxnSpPr>
          <p:nvPr/>
        </p:nvCxnSpPr>
        <p:spPr bwMode="auto">
          <a:xfrm>
            <a:off x="4383313" y="4077593"/>
            <a:ext cx="108012" cy="184845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72750" name="AutoShape 46"/>
          <p:cNvCxnSpPr>
            <a:cxnSpLocks noChangeShapeType="1"/>
            <a:stCxn id="72744" idx="2"/>
            <a:endCxn id="72741" idx="0"/>
          </p:cNvCxnSpPr>
          <p:nvPr/>
        </p:nvCxnSpPr>
        <p:spPr bwMode="auto">
          <a:xfrm flipH="1">
            <a:off x="7119617" y="3501331"/>
            <a:ext cx="144016" cy="184844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72751" name="AutoShape 47"/>
          <p:cNvCxnSpPr>
            <a:cxnSpLocks noChangeShapeType="1"/>
            <a:stCxn id="72741" idx="2"/>
            <a:endCxn id="72737" idx="0"/>
          </p:cNvCxnSpPr>
          <p:nvPr/>
        </p:nvCxnSpPr>
        <p:spPr bwMode="auto">
          <a:xfrm>
            <a:off x="7119617" y="4077593"/>
            <a:ext cx="216024" cy="184845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72752" name="AutoShape 48"/>
          <p:cNvCxnSpPr>
            <a:cxnSpLocks noChangeShapeType="1"/>
            <a:stCxn id="72735" idx="2"/>
            <a:endCxn id="72734" idx="0"/>
          </p:cNvCxnSpPr>
          <p:nvPr/>
        </p:nvCxnSpPr>
        <p:spPr bwMode="auto">
          <a:xfrm>
            <a:off x="1583668" y="5085184"/>
            <a:ext cx="2864185" cy="185316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72753" name="AutoShape 49"/>
          <p:cNvCxnSpPr>
            <a:cxnSpLocks noChangeShapeType="1"/>
            <a:stCxn id="72738" idx="2"/>
            <a:endCxn id="72734" idx="0"/>
          </p:cNvCxnSpPr>
          <p:nvPr/>
        </p:nvCxnSpPr>
        <p:spPr bwMode="auto">
          <a:xfrm flipH="1">
            <a:off x="4447853" y="5013175"/>
            <a:ext cx="43472" cy="257325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72754" name="AutoShape 50"/>
          <p:cNvCxnSpPr>
            <a:cxnSpLocks noChangeShapeType="1"/>
            <a:stCxn id="72737" idx="2"/>
            <a:endCxn id="72734" idx="0"/>
          </p:cNvCxnSpPr>
          <p:nvPr/>
        </p:nvCxnSpPr>
        <p:spPr bwMode="auto">
          <a:xfrm flipH="1">
            <a:off x="4447853" y="5013175"/>
            <a:ext cx="2887788" cy="257325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33" grpId="0" animBg="1"/>
      <p:bldP spid="72734" grpId="0" animBg="1"/>
      <p:bldP spid="72735" grpId="0" animBg="1"/>
      <p:bldP spid="72737" grpId="0" animBg="1"/>
      <p:bldP spid="72738" grpId="0" animBg="1"/>
      <p:bldP spid="72739" grpId="0" animBg="1"/>
      <p:bldP spid="72740" grpId="0" animBg="1"/>
      <p:bldP spid="72741" grpId="0" animBg="1"/>
      <p:bldP spid="72742" grpId="0" animBg="1"/>
      <p:bldP spid="72743" grpId="0" animBg="1"/>
      <p:bldP spid="7274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Тенденции в развитии ОС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smtClean="0"/>
              <a:t>Аппаратная переносимость</a:t>
            </a:r>
          </a:p>
          <a:p>
            <a:r>
              <a:rPr lang="ru-RU" smtClean="0"/>
              <a:t>Совместимость</a:t>
            </a:r>
          </a:p>
          <a:p>
            <a:r>
              <a:rPr lang="ru-RU" smtClean="0"/>
              <a:t>Множественные прикладные среды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2">
  <a:themeElements>
    <a:clrScheme name="Изящная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Тема2" id="{94B61EE1-22AD-494B-BBAF-D96965A708D7}" vid="{8AD344B1-BD16-4383-90C3-2C57DE9C6B8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22136</TotalTime>
  <Words>3036</Words>
  <Application>Microsoft Office PowerPoint</Application>
  <PresentationFormat>Экран (4:3)</PresentationFormat>
  <Paragraphs>597</Paragraphs>
  <Slides>101</Slides>
  <Notes>54</Notes>
  <HiddenSlides>16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101</vt:i4>
      </vt:variant>
    </vt:vector>
  </HeadingPairs>
  <TitlesOfParts>
    <vt:vector size="102" baseType="lpstr">
      <vt:lpstr>Тема2</vt:lpstr>
      <vt:lpstr>Тема 1. Введение</vt:lpstr>
      <vt:lpstr>Список литературы</vt:lpstr>
      <vt:lpstr>Список литературы</vt:lpstr>
      <vt:lpstr>Слайд 4</vt:lpstr>
      <vt:lpstr>Цели</vt:lpstr>
      <vt:lpstr>Слайд 6</vt:lpstr>
      <vt:lpstr>Предмет изучения</vt:lpstr>
      <vt:lpstr>Предмет изучения</vt:lpstr>
      <vt:lpstr>Предмет изучения</vt:lpstr>
      <vt:lpstr>Слайд 10</vt:lpstr>
      <vt:lpstr>Слайд 11</vt:lpstr>
      <vt:lpstr>История операционных систем</vt:lpstr>
      <vt:lpstr>История операционных систем</vt:lpstr>
      <vt:lpstr>История операционных систем</vt:lpstr>
      <vt:lpstr>1-й период (1945-1955)</vt:lpstr>
      <vt:lpstr>1-й период (1945-1955)</vt:lpstr>
      <vt:lpstr>1-й период (1945-1955)</vt:lpstr>
      <vt:lpstr>История операционных систем</vt:lpstr>
      <vt:lpstr>2-й период (1955-1965)</vt:lpstr>
      <vt:lpstr>2-й период (1955-1965)</vt:lpstr>
      <vt:lpstr>2-й период (1955-1965)</vt:lpstr>
      <vt:lpstr>Слайд 22</vt:lpstr>
      <vt:lpstr>История операционных систем</vt:lpstr>
      <vt:lpstr>3-й период (1965-1980)</vt:lpstr>
      <vt:lpstr>3-й период (1965-1980)</vt:lpstr>
      <vt:lpstr>3-й период (1965-1980)</vt:lpstr>
      <vt:lpstr>3-й период (1965-1980)</vt:lpstr>
      <vt:lpstr>3-й период (1965-1980)</vt:lpstr>
      <vt:lpstr>3-й период (1965-1980)</vt:lpstr>
      <vt:lpstr>3-й период (1965-1980)</vt:lpstr>
      <vt:lpstr>3-й период (1965-1980)</vt:lpstr>
      <vt:lpstr>3-й период (1965-1980)</vt:lpstr>
      <vt:lpstr>3-й период (1965-1980)</vt:lpstr>
      <vt:lpstr>3-й период (1965-1980)</vt:lpstr>
      <vt:lpstr>3-й период (1965-1980)</vt:lpstr>
      <vt:lpstr>История операционных систем</vt:lpstr>
      <vt:lpstr>4-й период (1980 по настоящее время)</vt:lpstr>
      <vt:lpstr>4-й период (1980 по настоящее время)</vt:lpstr>
      <vt:lpstr>4-й период (1980 по настоящее время)</vt:lpstr>
      <vt:lpstr>4-й период (1980 по настоящее время)</vt:lpstr>
      <vt:lpstr>4-й период (1980 по настоящее время)</vt:lpstr>
      <vt:lpstr>История развития ОС – выводы</vt:lpstr>
      <vt:lpstr>Основные понятия и концепции ОС</vt:lpstr>
      <vt:lpstr>Основные понятия и концепции ОС</vt:lpstr>
      <vt:lpstr>Основные понятия и концепции ОС</vt:lpstr>
      <vt:lpstr>Системные вызовы</vt:lpstr>
      <vt:lpstr>Системные вызовы  - POSIX </vt:lpstr>
      <vt:lpstr>Системные вызовы - POSIX </vt:lpstr>
      <vt:lpstr>Системные вызовы </vt:lpstr>
      <vt:lpstr>Системные вызовы - Win API</vt:lpstr>
      <vt:lpstr>Системные вызовы - Win API</vt:lpstr>
      <vt:lpstr>Основные понятия и концепции ОС</vt:lpstr>
      <vt:lpstr>Прерывания</vt:lpstr>
      <vt:lpstr>Прерывания</vt:lpstr>
      <vt:lpstr>Основные понятия и концепции ОС</vt:lpstr>
      <vt:lpstr>Исключительные ситуации</vt:lpstr>
      <vt:lpstr>Исключительные ситуации</vt:lpstr>
      <vt:lpstr>Основные понятия и концепции ОС</vt:lpstr>
      <vt:lpstr>Файлы</vt:lpstr>
      <vt:lpstr>Файлы</vt:lpstr>
      <vt:lpstr>Основные понятия и концепции ОС</vt:lpstr>
      <vt:lpstr>Процессы и нити</vt:lpstr>
      <vt:lpstr>Процессы и нити</vt:lpstr>
      <vt:lpstr>Архитектура операционных систем</vt:lpstr>
      <vt:lpstr>Архитектура ОС</vt:lpstr>
      <vt:lpstr>Типы архитектур</vt:lpstr>
      <vt:lpstr>Монолитная архитектура</vt:lpstr>
      <vt:lpstr>Монолитная архитектура</vt:lpstr>
      <vt:lpstr>Монолитная архитектура</vt:lpstr>
      <vt:lpstr>Монолитная архитектура</vt:lpstr>
      <vt:lpstr>Монолитная архитектура</vt:lpstr>
      <vt:lpstr>ОС с ядром</vt:lpstr>
      <vt:lpstr>Функции ядра</vt:lpstr>
      <vt:lpstr>Особенности реализации ядра</vt:lpstr>
      <vt:lpstr>Виды вспомогательных модулей</vt:lpstr>
      <vt:lpstr>Особенности реализации вспомогательных модулей</vt:lpstr>
      <vt:lpstr>Достоинства ОС с ядром</vt:lpstr>
      <vt:lpstr>Ядро в привилегированном режиме</vt:lpstr>
      <vt:lpstr>Привилегированный режим</vt:lpstr>
      <vt:lpstr>Пользовательский режим</vt:lpstr>
      <vt:lpstr>Особенности выполнения приложений в пользовательском режиме</vt:lpstr>
      <vt:lpstr>Многослойная структура ОС</vt:lpstr>
      <vt:lpstr>Многослойная структура ОС</vt:lpstr>
      <vt:lpstr>Схема функционирования ОС с многослойной архитектурой</vt:lpstr>
      <vt:lpstr>Многослойная структура ОС</vt:lpstr>
      <vt:lpstr>Типовой состав слоев ОС</vt:lpstr>
      <vt:lpstr>1. Средства аппаратной поддержки ОС</vt:lpstr>
      <vt:lpstr>2. Машинно-зависимые компоненты</vt:lpstr>
      <vt:lpstr>3. Базовые механизмы ядра</vt:lpstr>
      <vt:lpstr>4. Менеджеры ресурсов</vt:lpstr>
      <vt:lpstr>5. Интерфейс системных вызовов</vt:lpstr>
      <vt:lpstr>Многослойная структура ОС</vt:lpstr>
      <vt:lpstr>Микроядерная (клиент-серверная) архитектура</vt:lpstr>
      <vt:lpstr>Особенности выполнения приложений в ОС с микроядерной архитектурой</vt:lpstr>
      <vt:lpstr>Микроядерная (клиент-серверная) архитектура</vt:lpstr>
      <vt:lpstr>Структура операционных систем </vt:lpstr>
      <vt:lpstr>Структура операционных систем </vt:lpstr>
      <vt:lpstr>Структура операционных систем </vt:lpstr>
      <vt:lpstr>Структура операционных систем </vt:lpstr>
      <vt:lpstr>Структура операционных систем </vt:lpstr>
      <vt:lpstr>Тенденции в развитии ОС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ноут</cp:lastModifiedBy>
  <cp:revision>854</cp:revision>
  <dcterms:created xsi:type="dcterms:W3CDTF">2010-05-23T14:28:12Z</dcterms:created>
  <dcterms:modified xsi:type="dcterms:W3CDTF">2022-02-12T08:30:05Z</dcterms:modified>
</cp:coreProperties>
</file>