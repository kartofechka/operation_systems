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9" r:id="rId24"/>
    <p:sldId id="276" r:id="rId25"/>
    <p:sldId id="282" r:id="rId26"/>
    <p:sldId id="280" r:id="rId27"/>
    <p:sldId id="281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10" r:id="rId55"/>
    <p:sldId id="309" r:id="rId56"/>
    <p:sldId id="311" r:id="rId57"/>
    <p:sldId id="312" r:id="rId58"/>
    <p:sldId id="313" r:id="rId59"/>
    <p:sldId id="314" r:id="rId60"/>
    <p:sldId id="315" r:id="rId61"/>
    <p:sldId id="317" r:id="rId62"/>
    <p:sldId id="316" r:id="rId63"/>
    <p:sldId id="318" r:id="rId64"/>
    <p:sldId id="319" r:id="rId65"/>
    <p:sldId id="320" r:id="rId66"/>
    <p:sldId id="321" r:id="rId67"/>
    <p:sldId id="322" r:id="rId68"/>
    <p:sldId id="323" r:id="rId6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61" autoAdjust="0"/>
    <p:restoredTop sz="95392" autoAdjust="0"/>
  </p:normalViewPr>
  <p:slideViewPr>
    <p:cSldViewPr>
      <p:cViewPr>
        <p:scale>
          <a:sx n="55" d="100"/>
          <a:sy n="55" d="100"/>
        </p:scale>
        <p:origin x="-840" y="-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828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479E82-1A3B-4BB2-92B1-416F099583B1}" type="datetimeFigureOut">
              <a:rPr lang="ru-RU" smtClean="0"/>
              <a:t>12.03.2017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B48C4-A761-4056-8877-9E334B0D8C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1832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При таких условиях содержание в памяти сразу двух работающих программ не пред-</a:t>
            </a:r>
          </a:p>
          <a:p>
            <a:r>
              <a:rPr lang="ru-RU" dirty="0" err="1" smtClean="0"/>
              <a:t>ставлялось</a:t>
            </a:r>
            <a:r>
              <a:rPr lang="ru-RU" dirty="0" smtClean="0"/>
              <a:t> возможным. Если первая программа, к примеру, записывала новое значение </a:t>
            </a:r>
          </a:p>
          <a:p>
            <a:r>
              <a:rPr lang="ru-RU" dirty="0" smtClean="0"/>
              <a:t>в ячейку 2000, то она тем самым стирала то значение, которое сохраняла там вторая </a:t>
            </a:r>
          </a:p>
          <a:p>
            <a:r>
              <a:rPr lang="ru-RU" dirty="0" smtClean="0"/>
              <a:t>программа. Работа становилась невозможной, и обе программы практически сразу же </a:t>
            </a:r>
          </a:p>
          <a:p>
            <a:r>
              <a:rPr lang="ru-RU" dirty="0" smtClean="0"/>
              <a:t>давали сбой.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AB48C4-A761-4056-8877-9E334B0D8C41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4805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Недостаток моделей, изображенных на рис. а и в, заключается в том, что ошибка в программе </a:t>
            </a:r>
          </a:p>
          <a:p>
            <a:r>
              <a:rPr lang="ru-RU" dirty="0" smtClean="0"/>
              <a:t>пользователя может затереть операционную систему, и, возможно, с весьма пагубными последствиями.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AB48C4-A761-4056-8877-9E334B0D8C41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2104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 конечном счете предоставление физической памяти процессам имеет ряд серьез-</a:t>
            </a:r>
          </a:p>
          <a:p>
            <a:r>
              <a:rPr lang="ru-RU" dirty="0" err="1" smtClean="0"/>
              <a:t>ных</a:t>
            </a:r>
            <a:r>
              <a:rPr lang="ru-RU" dirty="0" smtClean="0"/>
              <a:t> недостатков. Во-первых, если пользовательские программы будут обращаться </a:t>
            </a:r>
          </a:p>
          <a:p>
            <a:r>
              <a:rPr lang="ru-RU" dirty="0" smtClean="0"/>
              <a:t>к каждому байту памяти, они легко могут преднамеренно или случайно испортить </a:t>
            </a:r>
          </a:p>
          <a:p>
            <a:r>
              <a:rPr lang="ru-RU" dirty="0" smtClean="0"/>
              <a:t>операционную систему, раздробить ее код и довести до остановки работы (в отсутствие </a:t>
            </a:r>
          </a:p>
          <a:p>
            <a:r>
              <a:rPr lang="ru-RU" dirty="0" smtClean="0"/>
              <a:t>специального аппаратного обеспечения наподобие ключевых схем и блокировок на </a:t>
            </a:r>
          </a:p>
          <a:p>
            <a:r>
              <a:rPr lang="ru-RU" dirty="0" smtClean="0"/>
              <a:t>IBM 360). Эта проблема присутствует даже при запуске всего лишь одной </a:t>
            </a:r>
            <a:r>
              <a:rPr lang="ru-RU" dirty="0" err="1" smtClean="0"/>
              <a:t>пользова</a:t>
            </a:r>
            <a:r>
              <a:rPr lang="ru-RU" dirty="0" smtClean="0"/>
              <a:t>-</a:t>
            </a:r>
          </a:p>
          <a:p>
            <a:r>
              <a:rPr lang="ru-RU" dirty="0" err="1" smtClean="0"/>
              <a:t>тельской</a:t>
            </a:r>
            <a:r>
              <a:rPr lang="ru-RU" dirty="0" smtClean="0"/>
              <a:t> программы (приложения). Во-вторых, при использовании этой модели до-</a:t>
            </a:r>
          </a:p>
          <a:p>
            <a:r>
              <a:rPr lang="ru-RU" dirty="0" smtClean="0"/>
              <a:t>вольно сложно организовать одновременную (поочередную, если имеется лишь один </a:t>
            </a:r>
          </a:p>
          <a:p>
            <a:r>
              <a:rPr lang="ru-RU" dirty="0" smtClean="0"/>
              <a:t>центральный процессор) работу нескольких программ. На персональных компьютерах </a:t>
            </a:r>
          </a:p>
          <a:p>
            <a:r>
              <a:rPr lang="ru-RU" dirty="0" smtClean="0"/>
              <a:t>вполне естественно наличие нескольких одновременно открытых программ (текстовый </a:t>
            </a:r>
          </a:p>
          <a:p>
            <a:r>
              <a:rPr lang="ru-RU" dirty="0" smtClean="0"/>
              <a:t>процессор, программа электронной почты, веб-браузер), с одной из которых в данный </a:t>
            </a:r>
          </a:p>
          <a:p>
            <a:r>
              <a:rPr lang="ru-RU" dirty="0" smtClean="0"/>
              <a:t>момент взаимодействует пользователь, а работа других возобновляется щелчком мыши.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AB48C4-A761-4056-8877-9E334B0D8C41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4527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 некотором смысле виртуальная память является обобщением идеи базового и </a:t>
            </a:r>
            <a:r>
              <a:rPr lang="ru-RU" dirty="0" err="1" smtClean="0"/>
              <a:t>огра</a:t>
            </a:r>
            <a:r>
              <a:rPr lang="ru-RU" dirty="0" smtClean="0"/>
              <a:t>-</a:t>
            </a:r>
          </a:p>
          <a:p>
            <a:r>
              <a:rPr lang="ru-RU" dirty="0" err="1" smtClean="0"/>
              <a:t>ничительного</a:t>
            </a:r>
            <a:r>
              <a:rPr lang="ru-RU" dirty="0" smtClean="0"/>
              <a:t> регистров. У процессора 8088 было несколько отдельных базовых </a:t>
            </a:r>
            <a:r>
              <a:rPr lang="ru-RU" dirty="0" err="1" smtClean="0"/>
              <a:t>реги</a:t>
            </a:r>
            <a:r>
              <a:rPr lang="ru-RU" dirty="0" smtClean="0"/>
              <a:t>-</a:t>
            </a:r>
          </a:p>
          <a:p>
            <a:r>
              <a:rPr lang="ru-RU" dirty="0" err="1" smtClean="0"/>
              <a:t>стров</a:t>
            </a:r>
            <a:r>
              <a:rPr lang="ru-RU" dirty="0" smtClean="0"/>
              <a:t> (но не было ограничительных регистров) для текста и данных программы. При </a:t>
            </a:r>
          </a:p>
          <a:p>
            <a:r>
              <a:rPr lang="ru-RU" dirty="0" smtClean="0"/>
              <a:t>использовании виртуальной памяти вместо отдельного перемещения только сегмента </a:t>
            </a:r>
          </a:p>
          <a:p>
            <a:r>
              <a:rPr lang="ru-RU" dirty="0" smtClean="0"/>
              <a:t>текста или только сегмента данных программы на физическую память в сравнительно </a:t>
            </a:r>
          </a:p>
          <a:p>
            <a:r>
              <a:rPr lang="ru-RU" dirty="0" smtClean="0"/>
              <a:t>небольших блоках может быть отображено все адресное пространство.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AB48C4-A761-4056-8877-9E334B0D8C41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08575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Каждая страница начинается с адресов, кратных 4096, и завершается на 4095 адресов выше, поэтому 4K–8K на самом деле означает 4096–8191, а 8K–12K означает 8192–12 287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AB48C4-A761-4056-8877-9E334B0D8C41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06256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Сегментированная память помимо упрощения обращения с разрастающимися или </a:t>
            </a:r>
          </a:p>
          <a:p>
            <a:r>
              <a:rPr lang="ru-RU" dirty="0" smtClean="0"/>
              <a:t>сужающимися структурами данных имеет и другие преимущества. Если каждая про-</a:t>
            </a:r>
          </a:p>
          <a:p>
            <a:r>
              <a:rPr lang="ru-RU" dirty="0" err="1" smtClean="0"/>
              <a:t>цедура</a:t>
            </a:r>
            <a:r>
              <a:rPr lang="ru-RU" dirty="0" smtClean="0"/>
              <a:t> занимает отдельный сегмент, имея 0 в качестве начального адреса, то </a:t>
            </a:r>
            <a:r>
              <a:rPr lang="ru-RU" dirty="0" err="1" smtClean="0"/>
              <a:t>компо</a:t>
            </a:r>
            <a:r>
              <a:rPr lang="ru-RU" dirty="0" smtClean="0"/>
              <a:t>-</a:t>
            </a:r>
          </a:p>
          <a:p>
            <a:r>
              <a:rPr lang="ru-RU" dirty="0" err="1" smtClean="0"/>
              <a:t>новка</a:t>
            </a:r>
            <a:r>
              <a:rPr lang="ru-RU" dirty="0" smtClean="0"/>
              <a:t> отдельно скомпилированных процедур существенно упрощается. </a:t>
            </a:r>
          </a:p>
          <a:p>
            <a:r>
              <a:rPr lang="ru-RU" dirty="0" smtClean="0"/>
              <a:t>Сегментация также облегчает совместное использование процедур или данных не-</a:t>
            </a:r>
          </a:p>
          <a:p>
            <a:r>
              <a:rPr lang="ru-RU" dirty="0" smtClean="0"/>
              <a:t>сколькими процессами. Типичным примером может послужить совместно </a:t>
            </a:r>
            <a:r>
              <a:rPr lang="ru-RU" dirty="0" err="1" smtClean="0"/>
              <a:t>используе</a:t>
            </a:r>
            <a:r>
              <a:rPr lang="ru-RU" dirty="0" smtClean="0"/>
              <a:t>-</a:t>
            </a:r>
          </a:p>
          <a:p>
            <a:r>
              <a:rPr lang="ru-RU" dirty="0" smtClean="0"/>
              <a:t>мая библиотека. Современные рабочие станции, работающие с передовыми оконными </a:t>
            </a:r>
          </a:p>
          <a:p>
            <a:r>
              <a:rPr lang="ru-RU" dirty="0" smtClean="0"/>
              <a:t>системами, зачастую используют весьма объемные графические библиотеки, </a:t>
            </a:r>
            <a:r>
              <a:rPr lang="ru-RU" dirty="0" err="1" smtClean="0"/>
              <a:t>откомпи</a:t>
            </a:r>
            <a:r>
              <a:rPr lang="ru-RU" dirty="0" smtClean="0"/>
              <a:t>-</a:t>
            </a:r>
          </a:p>
          <a:p>
            <a:r>
              <a:rPr lang="ru-RU" dirty="0" err="1" smtClean="0"/>
              <a:t>лированные</a:t>
            </a:r>
            <a:r>
              <a:rPr lang="ru-RU" dirty="0" smtClean="0"/>
              <a:t> чуть ли не в каждой программе. В сегментированной системе графические </a:t>
            </a:r>
          </a:p>
          <a:p>
            <a:r>
              <a:rPr lang="ru-RU" dirty="0" smtClean="0"/>
              <a:t>библиотеки могут быть помещены в сегмент и совместно использоваться несколькими </a:t>
            </a:r>
          </a:p>
          <a:p>
            <a:r>
              <a:rPr lang="ru-RU" dirty="0" smtClean="0"/>
              <a:t>процессами, исключая потребность в своем присутствии в адресном пространстве </a:t>
            </a:r>
            <a:r>
              <a:rPr lang="ru-RU" dirty="0" err="1" smtClean="0"/>
              <a:t>каж</a:t>
            </a:r>
            <a:r>
              <a:rPr lang="ru-RU" dirty="0" smtClean="0"/>
              <a:t>-</a:t>
            </a:r>
          </a:p>
          <a:p>
            <a:r>
              <a:rPr lang="ru-RU" dirty="0" err="1" smtClean="0"/>
              <a:t>дого</a:t>
            </a:r>
            <a:r>
              <a:rPr lang="ru-RU" dirty="0" smtClean="0"/>
              <a:t> процесса. Хотя совместно используемые библиотеки можно иметь и в системах, </a:t>
            </a:r>
          </a:p>
          <a:p>
            <a:r>
              <a:rPr lang="ru-RU" dirty="0" smtClean="0"/>
              <a:t>построенных только на страничной организации памяти, но в них это достигается </a:t>
            </a:r>
            <a:r>
              <a:rPr lang="ru-RU" dirty="0" err="1" smtClean="0"/>
              <a:t>зна</a:t>
            </a:r>
            <a:r>
              <a:rPr lang="ru-RU" dirty="0" smtClean="0"/>
              <a:t>-</a:t>
            </a:r>
          </a:p>
          <a:p>
            <a:r>
              <a:rPr lang="ru-RU" dirty="0" err="1" smtClean="0"/>
              <a:t>чительно</a:t>
            </a:r>
            <a:r>
              <a:rPr lang="ru-RU" dirty="0" smtClean="0"/>
              <a:t> сложнее. В сущности, в этих системах подобное использование реализуется </a:t>
            </a:r>
          </a:p>
          <a:p>
            <a:r>
              <a:rPr lang="ru-RU" dirty="0" smtClean="0"/>
              <a:t>путем моделирования сегментации.</a:t>
            </a:r>
          </a:p>
          <a:p>
            <a:r>
              <a:rPr lang="ru-RU" dirty="0" smtClean="0"/>
              <a:t>Поскольку каждый сегмент формирует известный программисту логический объект, </a:t>
            </a:r>
          </a:p>
          <a:p>
            <a:r>
              <a:rPr lang="ru-RU" dirty="0" smtClean="0"/>
              <a:t>например процедуру, или массив, или стек, у разных сегментов могут быть разные виды </a:t>
            </a:r>
          </a:p>
          <a:p>
            <a:r>
              <a:rPr lang="ru-RU" dirty="0" smtClean="0"/>
              <a:t>защиты. Сегмент процедуры может быть определен только как исполняемый, с </a:t>
            </a:r>
            <a:r>
              <a:rPr lang="ru-RU" dirty="0" err="1" smtClean="0"/>
              <a:t>запре</a:t>
            </a:r>
            <a:r>
              <a:rPr lang="ru-RU" dirty="0" smtClean="0"/>
              <a:t>-</a:t>
            </a:r>
          </a:p>
          <a:p>
            <a:r>
              <a:rPr lang="ru-RU" dirty="0" err="1" smtClean="0"/>
              <a:t>щением</a:t>
            </a:r>
            <a:r>
              <a:rPr lang="ru-RU" dirty="0" smtClean="0"/>
              <a:t> попыток что-либо в нем прочитать или сохранить. Массив чисел с плавающей </a:t>
            </a:r>
          </a:p>
          <a:p>
            <a:r>
              <a:rPr lang="ru-RU" dirty="0" smtClean="0"/>
              <a:t>точкой может быть определен для чтения и записи, но не для выполнения, и попытки </a:t>
            </a:r>
          </a:p>
          <a:p>
            <a:r>
              <a:rPr lang="ru-RU" dirty="0" smtClean="0"/>
              <a:t>передать ему управление будут отловлены. Подобная защита весьма полезна при вы-</a:t>
            </a:r>
          </a:p>
          <a:p>
            <a:r>
              <a:rPr lang="ru-RU" dirty="0" smtClean="0"/>
              <a:t>явлении ошибок программирования.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AB48C4-A761-4056-8877-9E334B0D8C41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3878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Здесь показан линейный адрес, разделенный на три поля: Каталог, Страница и Смещение. Поле Каталог используется как индекс в страничном каталоге, определяющий расположение указателя на правильную таблицу страниц. Поле Страница используется в качестве индекса в таблице страниц, чтобы найти физический адрес страничного блока. И наконец, чтобы получить физический адрес требуемого байта или слова, к адресу страничного блока прибавляется поле Смещение.</a:t>
            </a:r>
          </a:p>
          <a:p>
            <a:r>
              <a:rPr lang="ru-RU" dirty="0" smtClean="0"/>
              <a:t>Каждая запись в таблице страниц имеет размер 32 бита, 20 из которых содержат номер </a:t>
            </a:r>
          </a:p>
          <a:p>
            <a:r>
              <a:rPr lang="ru-RU" dirty="0" smtClean="0"/>
              <a:t>страничного блока. Остальные биты включают в себя биты доступа и бит изменения </a:t>
            </a:r>
          </a:p>
          <a:p>
            <a:r>
              <a:rPr lang="ru-RU" dirty="0" smtClean="0"/>
              <a:t>страницы, устанавливаемые аппаратурой для операционной системы, биты защиты </a:t>
            </a:r>
          </a:p>
          <a:p>
            <a:r>
              <a:rPr lang="ru-RU" dirty="0" smtClean="0"/>
              <a:t>и другие полезные биты.</a:t>
            </a:r>
          </a:p>
          <a:p>
            <a:r>
              <a:rPr lang="ru-RU" dirty="0" smtClean="0"/>
              <a:t>Каждая таблица страниц включает в себя записи для 1024 страничных блоков размером </a:t>
            </a:r>
          </a:p>
          <a:p>
            <a:r>
              <a:rPr lang="ru-RU" dirty="0" smtClean="0"/>
              <a:t>по 4 Кбайт, таким образом, одна таблица страниц справляется с 4 Мбайт памяти. </a:t>
            </a:r>
            <a:r>
              <a:rPr lang="ru-RU" dirty="0" err="1" smtClean="0"/>
              <a:t>Сег</a:t>
            </a:r>
            <a:r>
              <a:rPr lang="ru-RU" dirty="0" smtClean="0"/>
              <a:t>-</a:t>
            </a:r>
          </a:p>
          <a:p>
            <a:r>
              <a:rPr lang="ru-RU" dirty="0" smtClean="0"/>
              <a:t>мент, длина которого меньше 4 Мбайт, будет иметь страничный каталог с единственной </a:t>
            </a:r>
          </a:p>
          <a:p>
            <a:r>
              <a:rPr lang="ru-RU" dirty="0" smtClean="0"/>
              <a:t>записью — указателем на его единственную таблицу страниц. Следовательно, в случае </a:t>
            </a:r>
          </a:p>
          <a:p>
            <a:r>
              <a:rPr lang="ru-RU" dirty="0" smtClean="0"/>
              <a:t>короткого сегмента на поддержку таблиц страниц расходуется только две страницы </a:t>
            </a:r>
          </a:p>
          <a:p>
            <a:r>
              <a:rPr lang="ru-RU" dirty="0" smtClean="0"/>
              <a:t>вместо 1 млн, которые были бы нужны в одноуровневой таблице страниц.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AB48C4-A761-4056-8877-9E334B0D8C41}" type="slidenum">
              <a:rPr lang="ru-RU" smtClean="0"/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7643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9DB65-6A21-4223-AAD5-4C69C47A0169}" type="datetimeFigureOut">
              <a:rPr lang="ru-RU" smtClean="0"/>
              <a:t>12.03.2017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26D24D-EA27-4A30-8390-E233F965095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9DB65-6A21-4223-AAD5-4C69C47A0169}" type="datetimeFigureOut">
              <a:rPr lang="ru-RU" smtClean="0"/>
              <a:t>12.03.2017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6D24D-EA27-4A30-8390-E233F965095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9DB65-6A21-4223-AAD5-4C69C47A0169}" type="datetimeFigureOut">
              <a:rPr lang="ru-RU" smtClean="0"/>
              <a:t>12.03.2017</a:t>
            </a:fld>
            <a:endParaRPr lang="ru-R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426D24D-EA27-4A30-8390-E233F965095A}" type="slidenum">
              <a:rPr lang="ru-RU" smtClean="0"/>
              <a:t>‹#›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9DB65-6A21-4223-AAD5-4C69C47A0169}" type="datetimeFigureOut">
              <a:rPr lang="ru-RU" smtClean="0"/>
              <a:t>12.03.2017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6D24D-EA27-4A30-8390-E233F965095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9DB65-6A21-4223-AAD5-4C69C47A0169}" type="datetimeFigureOut">
              <a:rPr lang="ru-RU" smtClean="0"/>
              <a:t>12.03.2017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6D24D-EA27-4A30-8390-E233F965095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9DB65-6A21-4223-AAD5-4C69C47A0169}" type="datetimeFigureOut">
              <a:rPr lang="ru-RU" smtClean="0"/>
              <a:t>12.03.2017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6D24D-EA27-4A30-8390-E233F965095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9DB65-6A21-4223-AAD5-4C69C47A0169}" type="datetimeFigureOut">
              <a:rPr lang="ru-RU" smtClean="0"/>
              <a:t>12.03.2017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6D24D-EA27-4A30-8390-E233F965095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9DB65-6A21-4223-AAD5-4C69C47A0169}" type="datetimeFigureOut">
              <a:rPr lang="ru-RU" smtClean="0"/>
              <a:t>12.03.2017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6D24D-EA27-4A30-8390-E233F965095A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9DB65-6A21-4223-AAD5-4C69C47A0169}" type="datetimeFigureOut">
              <a:rPr lang="ru-RU" smtClean="0"/>
              <a:t>12.03.2017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26D24D-EA27-4A30-8390-E233F965095A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9DB65-6A21-4223-AAD5-4C69C47A0169}" type="datetimeFigureOut">
              <a:rPr lang="ru-RU" smtClean="0"/>
              <a:t>12.03.2017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6D24D-EA27-4A30-8390-E233F965095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9DB65-6A21-4223-AAD5-4C69C47A0169}" type="datetimeFigureOut">
              <a:rPr lang="ru-RU" smtClean="0"/>
              <a:t>12.03.2017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6D24D-EA27-4A30-8390-E233F965095A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1EF9DB65-6A21-4223-AAD5-4C69C47A0169}" type="datetimeFigureOut">
              <a:rPr lang="ru-RU" smtClean="0"/>
              <a:t>12.03.2017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4426D24D-EA27-4A30-8390-E233F965095A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6400" dirty="0" smtClean="0"/>
              <a:t>Управление памятью</a:t>
            </a:r>
            <a:endParaRPr lang="ru-RU" sz="6400" dirty="0"/>
          </a:p>
        </p:txBody>
      </p:sp>
    </p:spTree>
    <p:extLst>
      <p:ext uri="{BB962C8B-B14F-4D97-AF65-F5344CB8AC3E}">
        <p14:creationId xmlns:p14="http://schemas.microsoft.com/office/powerpoint/2010/main" val="1993540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Диспетчер памяти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Та часть </a:t>
            </a:r>
            <a:r>
              <a:rPr lang="ru-RU" dirty="0" smtClean="0"/>
              <a:t>ОС, </a:t>
            </a:r>
            <a:r>
              <a:rPr lang="ru-RU" dirty="0"/>
              <a:t>которая управляет иерархией памяти (или ее частью), </a:t>
            </a:r>
            <a:r>
              <a:rPr lang="ru-RU" dirty="0" smtClean="0"/>
              <a:t>называется </a:t>
            </a:r>
            <a:r>
              <a:rPr lang="ru-RU" u="sng" dirty="0"/>
              <a:t>менеджером</a:t>
            </a:r>
            <a:r>
              <a:rPr lang="ru-RU" dirty="0"/>
              <a:t>, или </a:t>
            </a:r>
            <a:r>
              <a:rPr lang="ru-RU" u="sng" dirty="0"/>
              <a:t>диспетчером</a:t>
            </a:r>
            <a:r>
              <a:rPr lang="ru-RU" dirty="0"/>
              <a:t>, </a:t>
            </a:r>
            <a:r>
              <a:rPr lang="ru-RU" u="sng" dirty="0"/>
              <a:t>памяти</a:t>
            </a:r>
            <a:r>
              <a:rPr lang="ru-RU" dirty="0"/>
              <a:t>. </a:t>
            </a:r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Он </a:t>
            </a:r>
            <a:r>
              <a:rPr lang="ru-RU" dirty="0"/>
              <a:t>предназначен для </a:t>
            </a:r>
            <a:r>
              <a:rPr lang="ru-RU" dirty="0" smtClean="0"/>
              <a:t>действенного </a:t>
            </a:r>
            <a:r>
              <a:rPr lang="ru-RU" dirty="0"/>
              <a:t>управления памятью и должен следить за тем, какие части памяти </a:t>
            </a:r>
            <a:r>
              <a:rPr lang="ru-RU" dirty="0" smtClean="0"/>
              <a:t>используются</a:t>
            </a:r>
            <a:r>
              <a:rPr lang="ru-RU" dirty="0"/>
              <a:t>, </a:t>
            </a:r>
            <a:r>
              <a:rPr lang="ru-RU" dirty="0" smtClean="0"/>
              <a:t>выделять </a:t>
            </a:r>
            <a:r>
              <a:rPr lang="ru-RU" dirty="0"/>
              <a:t>память процессам, которые в ней нуждаются, и освобождать память, когда </a:t>
            </a:r>
            <a:r>
              <a:rPr lang="ru-RU" dirty="0" smtClean="0"/>
              <a:t>процессы </a:t>
            </a:r>
            <a:r>
              <a:rPr lang="ru-RU" dirty="0"/>
              <a:t>завершат свою работу.</a:t>
            </a:r>
          </a:p>
        </p:txBody>
      </p:sp>
    </p:spTree>
    <p:extLst>
      <p:ext uri="{BB962C8B-B14F-4D97-AF65-F5344CB8AC3E}">
        <p14:creationId xmlns:p14="http://schemas.microsoft.com/office/powerpoint/2010/main" val="2001369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Модели памяти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itchFamily="34" charset="0"/>
              <a:buChar char="•"/>
            </a:pPr>
            <a:r>
              <a:rPr lang="ru-RU" dirty="0"/>
              <a:t>Память без </a:t>
            </a:r>
            <a:r>
              <a:rPr lang="ru-RU" dirty="0" smtClean="0"/>
              <a:t>использования абстракций.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/>
              <a:t>Абстракция памяти: адресные </a:t>
            </a:r>
            <a:r>
              <a:rPr lang="ru-RU" dirty="0" smtClean="0"/>
              <a:t>пространства.</a:t>
            </a:r>
          </a:p>
          <a:p>
            <a:pPr marL="342900" indent="-342900">
              <a:buFont typeface="Arial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4141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842992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Память без использования абстракций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484784"/>
            <a:ext cx="7787208" cy="4700736"/>
          </a:xfrm>
        </p:spPr>
        <p:txBody>
          <a:bodyPr>
            <a:noAutofit/>
          </a:bodyPr>
          <a:lstStyle/>
          <a:p>
            <a:pPr>
              <a:spcAft>
                <a:spcPts val="400"/>
              </a:spcAft>
            </a:pPr>
            <a:r>
              <a:rPr lang="ru-RU" dirty="0"/>
              <a:t>Простейшей абстракцией памяти можно считать полное отсутствие какой-либо </a:t>
            </a:r>
            <a:r>
              <a:rPr lang="ru-RU" dirty="0" smtClean="0"/>
              <a:t>абстракции</a:t>
            </a:r>
            <a:r>
              <a:rPr lang="ru-RU" dirty="0"/>
              <a:t>. </a:t>
            </a:r>
            <a:endParaRPr lang="ru-RU" dirty="0" smtClean="0"/>
          </a:p>
          <a:p>
            <a:pPr>
              <a:spcAft>
                <a:spcPts val="400"/>
              </a:spcAft>
            </a:pPr>
            <a:r>
              <a:rPr lang="ru-RU" dirty="0" smtClean="0"/>
              <a:t>Ранние </a:t>
            </a:r>
            <a:r>
              <a:rPr lang="ru-RU" dirty="0"/>
              <a:t>универсальные машины (до 1960 года), ранние мини-компьютеры </a:t>
            </a:r>
            <a:r>
              <a:rPr lang="ru-RU" dirty="0" smtClean="0"/>
              <a:t>(</a:t>
            </a:r>
            <a:r>
              <a:rPr lang="ru-RU" dirty="0"/>
              <a:t>до 1970 года) и ранние </a:t>
            </a:r>
            <a:r>
              <a:rPr lang="ru-RU" dirty="0" smtClean="0"/>
              <a:t>ПК </a:t>
            </a:r>
            <a:r>
              <a:rPr lang="ru-RU" dirty="0"/>
              <a:t>(до 1980 года) не использовали </a:t>
            </a:r>
            <a:r>
              <a:rPr lang="ru-RU" dirty="0" smtClean="0"/>
              <a:t>абстракции </a:t>
            </a:r>
            <a:r>
              <a:rPr lang="ru-RU" dirty="0"/>
              <a:t>памяти. Каждая программа просто видела физическую память. </a:t>
            </a:r>
            <a:r>
              <a:rPr lang="ru-RU" dirty="0" smtClean="0"/>
              <a:t>Когда программа </a:t>
            </a:r>
            <a:r>
              <a:rPr lang="ru-RU" dirty="0"/>
              <a:t>выполняла команду</a:t>
            </a:r>
          </a:p>
          <a:p>
            <a:pPr>
              <a:spcAft>
                <a:spcPts val="400"/>
              </a:spcAft>
            </a:pPr>
            <a:r>
              <a:rPr lang="ru-RU" dirty="0"/>
              <a:t>MOV REGISTER1,1000</a:t>
            </a:r>
          </a:p>
          <a:p>
            <a:pPr>
              <a:spcAft>
                <a:spcPts val="400"/>
              </a:spcAft>
            </a:pPr>
            <a:r>
              <a:rPr lang="ru-RU" dirty="0"/>
              <a:t>компьютер просто перемещал содержимое физической ячейки памяти 1000 </a:t>
            </a:r>
            <a:r>
              <a:rPr lang="ru-RU" dirty="0" smtClean="0"/>
              <a:t>в </a:t>
            </a:r>
            <a:r>
              <a:rPr lang="ru-RU" dirty="0"/>
              <a:t>REGISTER1. </a:t>
            </a:r>
            <a:endParaRPr lang="ru-RU" dirty="0" smtClean="0"/>
          </a:p>
          <a:p>
            <a:pPr>
              <a:spcAft>
                <a:spcPts val="400"/>
              </a:spcAft>
            </a:pPr>
            <a:r>
              <a:rPr lang="ru-RU" dirty="0" smtClean="0"/>
              <a:t>Таким </a:t>
            </a:r>
            <a:r>
              <a:rPr lang="ru-RU" dirty="0"/>
              <a:t>образом, модель </a:t>
            </a:r>
            <a:r>
              <a:rPr lang="ru-RU" dirty="0" smtClean="0"/>
              <a:t>памяти была простой </a:t>
            </a:r>
            <a:r>
              <a:rPr lang="ru-RU" dirty="0"/>
              <a:t>физической памятью, набором адресов от 0 до некоторого максимального </a:t>
            </a:r>
            <a:r>
              <a:rPr lang="ru-RU" dirty="0" smtClean="0"/>
              <a:t>значения</a:t>
            </a:r>
            <a:r>
              <a:rPr lang="ru-RU" dirty="0"/>
              <a:t>, где каждый адрес соответствовал ячейке, содержащей какое-то количество </a:t>
            </a:r>
            <a:r>
              <a:rPr lang="ru-RU" dirty="0" smtClean="0"/>
              <a:t>бит </a:t>
            </a:r>
            <a:r>
              <a:rPr lang="ru-RU" dirty="0"/>
              <a:t>(обычно 8).</a:t>
            </a:r>
          </a:p>
        </p:txBody>
      </p:sp>
    </p:spTree>
    <p:extLst>
      <p:ext uri="{BB962C8B-B14F-4D97-AF65-F5344CB8AC3E}">
        <p14:creationId xmlns:p14="http://schemas.microsoft.com/office/powerpoint/2010/main" val="830576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Память без использования абстракций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67544" y="1574801"/>
            <a:ext cx="7776864" cy="918095"/>
          </a:xfrm>
        </p:spPr>
        <p:txBody>
          <a:bodyPr>
            <a:noAutofit/>
          </a:bodyPr>
          <a:lstStyle/>
          <a:p>
            <a:r>
              <a:rPr lang="ru-RU" sz="1800" dirty="0"/>
              <a:t>Даже в условиях, когда в качестве модели памяти выступает сама физическая </a:t>
            </a:r>
            <a:r>
              <a:rPr lang="ru-RU" sz="1800" dirty="0" smtClean="0"/>
              <a:t>память</a:t>
            </a:r>
            <a:r>
              <a:rPr lang="ru-RU" sz="1800" dirty="0"/>
              <a:t>, возможны несколько вариантов использования памяти. </a:t>
            </a:r>
            <a:endParaRPr lang="ru-RU" sz="18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30"/>
          <a:stretch/>
        </p:blipFill>
        <p:spPr bwMode="auto">
          <a:xfrm>
            <a:off x="755576" y="2504150"/>
            <a:ext cx="7268563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870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Память без использования абстракций</a:t>
            </a:r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Даже </a:t>
            </a:r>
            <a:r>
              <a:rPr lang="ru-RU" dirty="0"/>
              <a:t>в отсутствие абстракций памяти одновременный запуск </a:t>
            </a:r>
            <a:r>
              <a:rPr lang="ru-RU" dirty="0" smtClean="0"/>
              <a:t>нескольких </a:t>
            </a:r>
            <a:r>
              <a:rPr lang="ru-RU" dirty="0"/>
              <a:t>программ вполне возможен. </a:t>
            </a:r>
            <a:endParaRPr lang="ru-RU" dirty="0" smtClean="0"/>
          </a:p>
          <a:p>
            <a:r>
              <a:rPr lang="ru-RU" dirty="0" smtClean="0"/>
              <a:t>Для </a:t>
            </a:r>
            <a:r>
              <a:rPr lang="ru-RU" dirty="0"/>
              <a:t>этого операционная система должна сохранить </a:t>
            </a:r>
            <a:r>
              <a:rPr lang="ru-RU" dirty="0" smtClean="0"/>
              <a:t>все </a:t>
            </a:r>
            <a:r>
              <a:rPr lang="ru-RU" dirty="0"/>
              <a:t>содержимое памяти в файле на диске, а затем загрузить и запустить следующую программу. </a:t>
            </a:r>
            <a:endParaRPr lang="ru-RU" dirty="0" smtClean="0"/>
          </a:p>
          <a:p>
            <a:r>
              <a:rPr lang="ru-RU" dirty="0" smtClean="0"/>
              <a:t>Поскольку </a:t>
            </a:r>
            <a:r>
              <a:rPr lang="ru-RU" dirty="0"/>
              <a:t>одновременно в памяти присутствует только одна программа, </a:t>
            </a:r>
            <a:r>
              <a:rPr lang="ru-RU" dirty="0" smtClean="0"/>
              <a:t>конфликтов </a:t>
            </a:r>
            <a:r>
              <a:rPr lang="ru-RU" dirty="0"/>
              <a:t>не возникает. Эта концепция называется заменой данных (или </a:t>
            </a:r>
            <a:r>
              <a:rPr lang="ru-RU" u="sng" dirty="0"/>
              <a:t>свопингом</a:t>
            </a:r>
            <a:r>
              <a:rPr lang="ru-RU" dirty="0" smtClean="0"/>
              <a:t>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78885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Память без использования абстракций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В </a:t>
            </a:r>
            <a:r>
              <a:rPr lang="ru-RU" dirty="0"/>
              <a:t>наши дни </a:t>
            </a:r>
            <a:r>
              <a:rPr lang="ru-RU" dirty="0" smtClean="0"/>
              <a:t>устройства </a:t>
            </a:r>
            <a:r>
              <a:rPr lang="ru-RU" dirty="0"/>
              <a:t>вроде </a:t>
            </a:r>
            <a:r>
              <a:rPr lang="ru-RU" dirty="0" smtClean="0"/>
              <a:t>стиральных </a:t>
            </a:r>
            <a:r>
              <a:rPr lang="ru-RU" dirty="0"/>
              <a:t>машин и микроволновых печей </a:t>
            </a:r>
            <a:r>
              <a:rPr lang="ru-RU" dirty="0" smtClean="0"/>
              <a:t>заполнены </a:t>
            </a:r>
            <a:r>
              <a:rPr lang="ru-RU" dirty="0"/>
              <a:t>программным обеспечением (в ПЗУ), и в большинстве случаев их программы </a:t>
            </a:r>
            <a:r>
              <a:rPr lang="ru-RU" dirty="0" smtClean="0"/>
              <a:t>используют </a:t>
            </a:r>
            <a:r>
              <a:rPr lang="ru-RU" dirty="0"/>
              <a:t>адресацию к абсолютной памяти</a:t>
            </a:r>
            <a:r>
              <a:rPr lang="ru-RU" dirty="0" smtClean="0"/>
              <a:t>.</a:t>
            </a:r>
          </a:p>
          <a:p>
            <a:r>
              <a:rPr lang="ru-RU" dirty="0" smtClean="0"/>
              <a:t>Все </a:t>
            </a:r>
            <a:r>
              <a:rPr lang="ru-RU" dirty="0"/>
              <a:t>это неплохо работает, поскольку все </a:t>
            </a:r>
            <a:r>
              <a:rPr lang="ru-RU" dirty="0" smtClean="0"/>
              <a:t>программы </a:t>
            </a:r>
            <a:r>
              <a:rPr lang="ru-RU" dirty="0"/>
              <a:t>известны заранее, и пользователи не могут запускать на бытовых </a:t>
            </a:r>
            <a:r>
              <a:rPr lang="ru-RU" dirty="0" smtClean="0"/>
              <a:t>устройствах </a:t>
            </a:r>
            <a:r>
              <a:rPr lang="ru-RU" dirty="0"/>
              <a:t>какие-нибудь собственные программы.</a:t>
            </a:r>
          </a:p>
        </p:txBody>
      </p:sp>
    </p:spTree>
    <p:extLst>
      <p:ext uri="{BB962C8B-B14F-4D97-AF65-F5344CB8AC3E}">
        <p14:creationId xmlns:p14="http://schemas.microsoft.com/office/powerpoint/2010/main" val="3943932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779096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Абстракция памяти: адресные пространства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Адресное </a:t>
            </a:r>
            <a:r>
              <a:rPr lang="ru-RU" dirty="0" smtClean="0"/>
              <a:t>пространство </a:t>
            </a:r>
            <a:r>
              <a:rPr lang="ru-RU" dirty="0"/>
              <a:t>— это набор адресов, который может быть использован процессом для </a:t>
            </a:r>
            <a:r>
              <a:rPr lang="ru-RU" dirty="0" smtClean="0"/>
              <a:t>обращения </a:t>
            </a:r>
            <a:r>
              <a:rPr lang="ru-RU" dirty="0"/>
              <a:t>к памяти. </a:t>
            </a:r>
            <a:endParaRPr lang="ru-RU" dirty="0" smtClean="0"/>
          </a:p>
          <a:p>
            <a:r>
              <a:rPr lang="ru-RU" dirty="0" smtClean="0"/>
              <a:t>У </a:t>
            </a:r>
            <a:r>
              <a:rPr lang="ru-RU" dirty="0"/>
              <a:t>каждого процесса имеется собственное адресное пространство, </a:t>
            </a:r>
            <a:r>
              <a:rPr lang="ru-RU" dirty="0" smtClean="0"/>
              <a:t>независимое </a:t>
            </a:r>
            <a:r>
              <a:rPr lang="ru-RU" dirty="0"/>
              <a:t>от того адресного пространства, которое принадлежит другим процессам </a:t>
            </a:r>
            <a:r>
              <a:rPr lang="ru-RU" dirty="0" smtClean="0"/>
              <a:t>(</a:t>
            </a:r>
            <a:r>
              <a:rPr lang="ru-RU" dirty="0"/>
              <a:t>за исключением тех особых обстоятельств, при которых процессам требуется </a:t>
            </a:r>
            <a:r>
              <a:rPr lang="ru-RU" dirty="0" smtClean="0"/>
              <a:t>совместное </a:t>
            </a:r>
            <a:r>
              <a:rPr lang="ru-RU" dirty="0"/>
              <a:t>использование их адресных пространств).</a:t>
            </a:r>
          </a:p>
        </p:txBody>
      </p:sp>
    </p:spTree>
    <p:extLst>
      <p:ext uri="{BB962C8B-B14F-4D97-AF65-F5344CB8AC3E}">
        <p14:creationId xmlns:p14="http://schemas.microsoft.com/office/powerpoint/2010/main" val="102281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адресные пространства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Понятие адресного пространства имеет весьма универсальный характер и </a:t>
            </a:r>
            <a:r>
              <a:rPr lang="ru-RU" dirty="0" smtClean="0"/>
              <a:t>появляется </a:t>
            </a:r>
            <a:r>
              <a:rPr lang="ru-RU" dirty="0"/>
              <a:t>во множестве контекстов</a:t>
            </a:r>
            <a:r>
              <a:rPr lang="ru-RU" dirty="0" smtClean="0"/>
              <a:t>.</a:t>
            </a:r>
          </a:p>
          <a:p>
            <a:r>
              <a:rPr lang="ru-RU" dirty="0" smtClean="0"/>
              <a:t>Возьмем </a:t>
            </a:r>
            <a:r>
              <a:rPr lang="ru-RU" dirty="0"/>
              <a:t>телефонные номера. В США и многих других </a:t>
            </a:r>
            <a:r>
              <a:rPr lang="ru-RU" dirty="0" smtClean="0"/>
              <a:t>странах </a:t>
            </a:r>
            <a:r>
              <a:rPr lang="ru-RU" dirty="0"/>
              <a:t>местный телефонный номер состоит обычно из семизначного числа. Поэтому </a:t>
            </a:r>
            <a:r>
              <a:rPr lang="ru-RU" dirty="0" smtClean="0"/>
              <a:t>адресное </a:t>
            </a:r>
            <a:r>
              <a:rPr lang="ru-RU" dirty="0"/>
              <a:t>пространство телефонных номеров простирается от 0000000 до 9999999, хотя </a:t>
            </a:r>
            <a:r>
              <a:rPr lang="ru-RU" dirty="0" smtClean="0"/>
              <a:t>некоторые </a:t>
            </a:r>
            <a:r>
              <a:rPr lang="ru-RU" dirty="0"/>
              <a:t>номера, к примеру те, что начинаются с 000, не используются. </a:t>
            </a:r>
            <a:endParaRPr lang="ru-RU" dirty="0" smtClean="0"/>
          </a:p>
          <a:p>
            <a:r>
              <a:rPr lang="ru-RU" dirty="0"/>
              <a:t>Адресное пространство не обязательно должно быть числовым. Набор </a:t>
            </a:r>
            <a:r>
              <a:rPr lang="ru-RU" dirty="0" smtClean="0"/>
              <a:t>интернет-доменов </a:t>
            </a:r>
            <a:r>
              <a:rPr lang="ru-RU" dirty="0"/>
              <a:t>.</a:t>
            </a:r>
            <a:r>
              <a:rPr lang="ru-RU" dirty="0" err="1"/>
              <a:t>com</a:t>
            </a:r>
            <a:r>
              <a:rPr lang="ru-RU" dirty="0"/>
              <a:t> также является адресным пространством. </a:t>
            </a:r>
          </a:p>
        </p:txBody>
      </p:sp>
    </p:spTree>
    <p:extLst>
      <p:ext uri="{BB962C8B-B14F-4D97-AF65-F5344CB8AC3E}">
        <p14:creationId xmlns:p14="http://schemas.microsoft.com/office/powerpoint/2010/main" val="2225462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адресные пространства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u="sng" dirty="0" smtClean="0"/>
              <a:t>?:</a:t>
            </a:r>
            <a:r>
              <a:rPr lang="ru-RU" dirty="0" smtClean="0"/>
              <a:t> адрес </a:t>
            </a:r>
            <a:r>
              <a:rPr lang="ru-RU" dirty="0"/>
              <a:t>28 в одной программе означает иное физическое место, </a:t>
            </a:r>
            <a:r>
              <a:rPr lang="ru-RU" dirty="0" smtClean="0"/>
              <a:t>чем </a:t>
            </a:r>
            <a:r>
              <a:rPr lang="ru-RU" dirty="0"/>
              <a:t>адрес 28 в другой программе</a:t>
            </a:r>
            <a:r>
              <a:rPr lang="ru-RU" dirty="0" smtClean="0"/>
              <a:t>.</a:t>
            </a:r>
          </a:p>
          <a:p>
            <a:r>
              <a:rPr lang="ru-RU" u="sng" dirty="0" smtClean="0"/>
              <a:t>Решение</a:t>
            </a:r>
            <a:r>
              <a:rPr lang="ru-RU" u="sng" dirty="0"/>
              <a:t>:</a:t>
            </a:r>
            <a:r>
              <a:rPr lang="ru-RU" dirty="0"/>
              <a:t>  </a:t>
            </a:r>
            <a:r>
              <a:rPr lang="ru-RU" dirty="0" smtClean="0"/>
              <a:t>базовый </a:t>
            </a:r>
            <a:r>
              <a:rPr lang="ru-RU" dirty="0"/>
              <a:t>и ограничительный </a:t>
            </a:r>
            <a:r>
              <a:rPr lang="ru-RU" dirty="0" smtClean="0"/>
              <a:t>регистры.</a:t>
            </a:r>
          </a:p>
        </p:txBody>
      </p:sp>
    </p:spTree>
    <p:extLst>
      <p:ext uri="{BB962C8B-B14F-4D97-AF65-F5344CB8AC3E}">
        <p14:creationId xmlns:p14="http://schemas.microsoft.com/office/powerpoint/2010/main" val="2166007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275040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базовый и ограничительный регистры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 smtClean="0"/>
              <a:t>Решение </a:t>
            </a:r>
            <a:r>
              <a:rPr lang="ru-RU" dirty="0"/>
              <a:t>заключается в оснащении каждого центрального процессора двумя специальными аппаратными </a:t>
            </a:r>
            <a:r>
              <a:rPr lang="ru-RU" dirty="0" smtClean="0"/>
              <a:t>регистрами.</a:t>
            </a:r>
          </a:p>
          <a:p>
            <a:r>
              <a:rPr lang="ru-RU" dirty="0" smtClean="0"/>
              <a:t>При </a:t>
            </a:r>
            <a:r>
              <a:rPr lang="ru-RU" dirty="0"/>
              <a:t>использовании этих регистров программы загружаются в последовательно расположенные свободные области памяти без модификации адресов в процессе загрузки. </a:t>
            </a:r>
            <a:endParaRPr lang="ru-RU" dirty="0" smtClean="0"/>
          </a:p>
          <a:p>
            <a:r>
              <a:rPr lang="ru-RU" dirty="0" smtClean="0"/>
              <a:t>При </a:t>
            </a:r>
            <a:r>
              <a:rPr lang="ru-RU" dirty="0"/>
              <a:t>запуске процесса в базовый регистр загружается физический адрес, с которого начинается размещение </a:t>
            </a:r>
            <a:r>
              <a:rPr lang="ru-RU" dirty="0" smtClean="0"/>
              <a:t>программы </a:t>
            </a:r>
            <a:r>
              <a:rPr lang="ru-RU" dirty="0"/>
              <a:t>в памяти, а в ограничительный регистр загружается длина программы</a:t>
            </a:r>
            <a:r>
              <a:rPr lang="ru-RU" dirty="0" smtClean="0"/>
              <a:t>.</a:t>
            </a:r>
          </a:p>
          <a:p>
            <a:r>
              <a:rPr lang="ru-RU" dirty="0"/>
              <a:t>При каждой ссылке процесса на память с целью извлечения команды или записи </a:t>
            </a:r>
            <a:r>
              <a:rPr lang="ru-RU" dirty="0" smtClean="0"/>
              <a:t>слова </a:t>
            </a:r>
            <a:r>
              <a:rPr lang="ru-RU" dirty="0"/>
              <a:t>данных аппаратура центрального процессора перед выставлением адреса на </a:t>
            </a:r>
            <a:r>
              <a:rPr lang="ru-RU" dirty="0" smtClean="0"/>
              <a:t>шине памяти </a:t>
            </a:r>
            <a:r>
              <a:rPr lang="ru-RU" dirty="0"/>
              <a:t>добавляет к адресу, сгенерированному процессом, значение базового регистра. </a:t>
            </a:r>
          </a:p>
          <a:p>
            <a:r>
              <a:rPr lang="ru-RU" dirty="0"/>
              <a:t>Одновременно аппаратура проверяет, не равен ли предлагаемый адрес значению </a:t>
            </a:r>
            <a:r>
              <a:rPr lang="ru-RU" dirty="0" smtClean="0"/>
              <a:t>ограничительного </a:t>
            </a:r>
            <a:r>
              <a:rPr lang="ru-RU" dirty="0"/>
              <a:t>регистра или не превышает ли он это значение (в этом случае </a:t>
            </a:r>
            <a:r>
              <a:rPr lang="ru-RU" dirty="0" smtClean="0"/>
              <a:t>генерируется </a:t>
            </a:r>
            <a:r>
              <a:rPr lang="ru-RU" dirty="0"/>
              <a:t>отказ и доступ прерывается).</a:t>
            </a:r>
          </a:p>
        </p:txBody>
      </p:sp>
    </p:spTree>
    <p:extLst>
      <p:ext uri="{BB962C8B-B14F-4D97-AF65-F5344CB8AC3E}">
        <p14:creationId xmlns:p14="http://schemas.microsoft.com/office/powerpoint/2010/main" val="1333630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базовый и ограничительный регистры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Недостатком перемещений с использованием базовых и ограничительных регистров </a:t>
            </a:r>
            <a:r>
              <a:rPr lang="ru-RU" dirty="0" smtClean="0"/>
              <a:t>является </a:t>
            </a:r>
            <a:r>
              <a:rPr lang="ru-RU" dirty="0"/>
              <a:t>необходимость применения операций сложения и сравнения к каждой ссылке </a:t>
            </a:r>
            <a:r>
              <a:rPr lang="ru-RU" dirty="0" smtClean="0"/>
              <a:t>на </a:t>
            </a:r>
            <a:r>
              <a:rPr lang="ru-RU" dirty="0"/>
              <a:t>ячейку памяти. </a:t>
            </a:r>
            <a:endParaRPr lang="ru-RU" dirty="0" smtClean="0"/>
          </a:p>
          <a:p>
            <a:r>
              <a:rPr lang="ru-RU" dirty="0" smtClean="0"/>
              <a:t>Сравнение </a:t>
            </a:r>
            <a:r>
              <a:rPr lang="ru-RU" dirty="0"/>
              <a:t>может осуществляться довольно быстро, но сложение </a:t>
            </a:r>
            <a:r>
              <a:rPr lang="ru-RU" dirty="0" smtClean="0"/>
              <a:t>является </a:t>
            </a:r>
            <a:r>
              <a:rPr lang="ru-RU" dirty="0"/>
              <a:t>слишком медленной операцией из-за затрат времени на вспомогательный </a:t>
            </a:r>
            <a:r>
              <a:rPr lang="ru-RU" dirty="0" smtClean="0"/>
              <a:t>сигнал </a:t>
            </a:r>
            <a:r>
              <a:rPr lang="ru-RU" dirty="0"/>
              <a:t>переноса, если, конечно, не используются специальные сумматоры.</a:t>
            </a:r>
          </a:p>
        </p:txBody>
      </p:sp>
    </p:spTree>
    <p:extLst>
      <p:ext uri="{BB962C8B-B14F-4D97-AF65-F5344CB8AC3E}">
        <p14:creationId xmlns:p14="http://schemas.microsoft.com/office/powerpoint/2010/main" val="2411504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адресные пространства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На практике </a:t>
            </a:r>
            <a:r>
              <a:rPr lang="ru-RU" dirty="0"/>
              <a:t>суммарный объем оперативной памяти, необходимый для размещения всех </a:t>
            </a:r>
            <a:r>
              <a:rPr lang="ru-RU" dirty="0" smtClean="0"/>
              <a:t>процессов</a:t>
            </a:r>
            <a:r>
              <a:rPr lang="ru-RU" dirty="0"/>
              <a:t>, зачастую значительно превышает имеющийся объем ОЗУ. </a:t>
            </a:r>
            <a:endParaRPr lang="ru-RU" dirty="0" smtClean="0"/>
          </a:p>
          <a:p>
            <a:r>
              <a:rPr lang="ru-RU" dirty="0"/>
              <a:t>С годами для преодоления перегрузки памяти были выработаны два основных </a:t>
            </a:r>
            <a:r>
              <a:rPr lang="ru-RU" dirty="0" smtClean="0"/>
              <a:t>подхода: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/>
              <a:t>с</a:t>
            </a:r>
            <a:r>
              <a:rPr lang="ru-RU" dirty="0" smtClean="0"/>
              <a:t>вопинг;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виртуальная память.</a:t>
            </a:r>
            <a:endParaRPr lang="ru-RU" dirty="0"/>
          </a:p>
          <a:p>
            <a:r>
              <a:rPr lang="ru-RU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9098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свопинг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Заключается </a:t>
            </a:r>
            <a:r>
              <a:rPr lang="ru-RU" dirty="0"/>
              <a:t>в размещении </a:t>
            </a:r>
            <a:r>
              <a:rPr lang="ru-RU" dirty="0" smtClean="0"/>
              <a:t>в </a:t>
            </a:r>
            <a:r>
              <a:rPr lang="ru-RU" dirty="0"/>
              <a:t>памяти всего процесса целиком, его запуске на некоторое время, а затем сбросе на </a:t>
            </a:r>
            <a:r>
              <a:rPr lang="ru-RU" dirty="0" smtClean="0"/>
              <a:t>диск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Бездействующие </a:t>
            </a:r>
            <a:r>
              <a:rPr lang="ru-RU" dirty="0"/>
              <a:t>процессы большую часть времени хранятся на диске и в </a:t>
            </a:r>
            <a:r>
              <a:rPr lang="ru-RU" dirty="0" smtClean="0"/>
              <a:t>нерабочем </a:t>
            </a:r>
            <a:r>
              <a:rPr lang="ru-RU" dirty="0"/>
              <a:t>состоянии не занимают пространство оперативной памяти (хотя </a:t>
            </a:r>
            <a:r>
              <a:rPr lang="ru-RU" dirty="0" smtClean="0"/>
              <a:t>некоторые из </a:t>
            </a:r>
            <a:r>
              <a:rPr lang="ru-RU" dirty="0"/>
              <a:t>них периодически активизируются, чтобы проделать свою работу, после чего опять </a:t>
            </a:r>
            <a:r>
              <a:rPr lang="ru-RU" dirty="0" smtClean="0"/>
              <a:t>приостанавливаются</a:t>
            </a:r>
            <a:r>
              <a:rPr lang="ru-RU" dirty="0"/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3216278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Свопинг</a:t>
            </a:r>
            <a:br>
              <a:rPr lang="ru-RU" dirty="0" smtClean="0"/>
            </a:b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5760" y="908720"/>
            <a:ext cx="4680520" cy="5526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50620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свопинг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Стоит побеспокоиться о том, какой объем памяти нужно выделить процессу при его </a:t>
            </a:r>
            <a:r>
              <a:rPr lang="ru-RU" dirty="0" smtClean="0"/>
              <a:t>создании </a:t>
            </a:r>
            <a:r>
              <a:rPr lang="ru-RU" dirty="0"/>
              <a:t>или загрузке в процессе свопинга. </a:t>
            </a:r>
            <a:endParaRPr lang="ru-RU" dirty="0" smtClean="0"/>
          </a:p>
          <a:p>
            <a:r>
              <a:rPr lang="ru-RU" dirty="0" smtClean="0"/>
              <a:t>Если </a:t>
            </a:r>
            <a:r>
              <a:rPr lang="ru-RU" dirty="0"/>
              <a:t>создаваемый процесс имеет вполне определенный неизменный объем, то выделение упрощается: </a:t>
            </a:r>
            <a:r>
              <a:rPr lang="ru-RU" dirty="0" smtClean="0"/>
              <a:t>ОС предоставляет </a:t>
            </a:r>
            <a:r>
              <a:rPr lang="ru-RU" dirty="0"/>
              <a:t>процессу строго необходимый объем </a:t>
            </a:r>
            <a:r>
              <a:rPr lang="ru-RU" dirty="0" smtClean="0"/>
              <a:t>памяти.</a:t>
            </a:r>
          </a:p>
          <a:p>
            <a:r>
              <a:rPr lang="ru-RU" dirty="0"/>
              <a:t>Но если сегмент данных процесса может разрастаться, к примеру, за счет </a:t>
            </a:r>
            <a:r>
              <a:rPr lang="ru-RU" dirty="0" smtClean="0"/>
              <a:t>динамического </a:t>
            </a:r>
            <a:r>
              <a:rPr lang="ru-RU" dirty="0"/>
              <a:t>распределения </a:t>
            </a:r>
            <a:r>
              <a:rPr lang="ru-RU" dirty="0" smtClean="0"/>
              <a:t>памяти попытка </a:t>
            </a:r>
            <a:r>
              <a:rPr lang="ru-RU" dirty="0"/>
              <a:t>разрастания процесса вызывает проблему. </a:t>
            </a:r>
          </a:p>
        </p:txBody>
      </p:sp>
    </p:spTree>
    <p:extLst>
      <p:ext uri="{BB962C8B-B14F-4D97-AF65-F5344CB8AC3E}">
        <p14:creationId xmlns:p14="http://schemas.microsoft.com/office/powerpoint/2010/main" val="4205940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свопинг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Если к выделенному пространству </a:t>
            </a:r>
            <a:r>
              <a:rPr lang="ru-RU" dirty="0" smtClean="0"/>
              <a:t>памяти </a:t>
            </a:r>
            <a:r>
              <a:rPr lang="ru-RU" dirty="0"/>
              <a:t>примыкает свободное место, то оно может быть распределено процессу и он </a:t>
            </a:r>
            <a:r>
              <a:rPr lang="ru-RU" dirty="0" smtClean="0"/>
              <a:t>сможет </a:t>
            </a:r>
            <a:r>
              <a:rPr lang="ru-RU" dirty="0"/>
              <a:t>расширяться в пределах этого свободного пространства.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то же время, если </a:t>
            </a:r>
            <a:r>
              <a:rPr lang="ru-RU" dirty="0" smtClean="0"/>
              <a:t>память</a:t>
            </a:r>
            <a:r>
              <a:rPr lang="ru-RU" dirty="0"/>
              <a:t>, выделенная процессу, примыкает к памяти другого процесса, то либо </a:t>
            </a:r>
            <a:r>
              <a:rPr lang="ru-RU" dirty="0" smtClean="0"/>
              <a:t>разрастающийся </a:t>
            </a:r>
            <a:r>
              <a:rPr lang="ru-RU" dirty="0"/>
              <a:t>процесс должен быть перемещен на свободное пространство памяти, </a:t>
            </a:r>
            <a:r>
              <a:rPr lang="ru-RU" dirty="0" smtClean="0"/>
              <a:t>достаточное </a:t>
            </a:r>
            <a:r>
              <a:rPr lang="ru-RU" dirty="0"/>
              <a:t>для его размещения, либо один или более процессов сброшены на диск </a:t>
            </a:r>
            <a:r>
              <a:rPr lang="ru-RU" dirty="0" smtClean="0"/>
              <a:t>путем </a:t>
            </a:r>
            <a:r>
              <a:rPr lang="ru-RU" dirty="0"/>
              <a:t>свопинга, чтобы образовалось достаточно свободного пространства. </a:t>
            </a:r>
            <a:endParaRPr lang="ru-RU" dirty="0" smtClean="0"/>
          </a:p>
          <a:p>
            <a:r>
              <a:rPr lang="ru-RU" dirty="0" smtClean="0"/>
              <a:t>Если процесс </a:t>
            </a:r>
            <a:r>
              <a:rPr lang="ru-RU" dirty="0"/>
              <a:t>не может разрастаться в памяти и область свопинга на диске уже заполнена, то </a:t>
            </a:r>
            <a:r>
              <a:rPr lang="ru-RU" dirty="0" smtClean="0"/>
              <a:t>процессу </a:t>
            </a:r>
            <a:r>
              <a:rPr lang="ru-RU" dirty="0"/>
              <a:t>придется приостановить свою работу до тех пор, пока не освободится </a:t>
            </a:r>
            <a:r>
              <a:rPr lang="ru-RU" dirty="0" smtClean="0"/>
              <a:t>некоторое </a:t>
            </a:r>
            <a:r>
              <a:rPr lang="ru-RU" dirty="0"/>
              <a:t>пространство памяти (или же этот процесс может быть уничтожен).</a:t>
            </a:r>
          </a:p>
        </p:txBody>
      </p:sp>
    </p:spTree>
    <p:extLst>
      <p:ext uri="{BB962C8B-B14F-4D97-AF65-F5344CB8AC3E}">
        <p14:creationId xmlns:p14="http://schemas.microsoft.com/office/powerpoint/2010/main" val="1750378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свопинг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0"/>
            <a:ext cx="5698976" cy="4373563"/>
          </a:xfrm>
        </p:spPr>
        <p:txBody>
          <a:bodyPr/>
          <a:lstStyle/>
          <a:p>
            <a:r>
              <a:rPr lang="ru-RU" dirty="0"/>
              <a:t>Если предполагается, что большинство процессов по мере выполнения будут </a:t>
            </a:r>
            <a:r>
              <a:rPr lang="ru-RU" dirty="0" smtClean="0"/>
              <a:t>разрастаться</a:t>
            </a:r>
            <a:r>
              <a:rPr lang="ru-RU" dirty="0"/>
              <a:t>, то, наверное, будет лучше распределять небольшой объем дополнительной </a:t>
            </a:r>
            <a:r>
              <a:rPr lang="ru-RU" dirty="0" smtClean="0"/>
              <a:t>памяти </a:t>
            </a:r>
            <a:r>
              <a:rPr lang="ru-RU" dirty="0"/>
              <a:t>при каждой загрузке из области свопинга на диске в память или перемещении </a:t>
            </a:r>
            <a:r>
              <a:rPr lang="ru-RU" dirty="0" smtClean="0"/>
              <a:t>процесса.</a:t>
            </a:r>
          </a:p>
          <a:p>
            <a:r>
              <a:rPr lang="ru-RU" dirty="0"/>
              <a:t>Но свопингу на диск </a:t>
            </a:r>
            <a:r>
              <a:rPr lang="ru-RU" dirty="0" smtClean="0"/>
              <a:t>должна </a:t>
            </a:r>
            <a:r>
              <a:rPr lang="ru-RU" dirty="0"/>
              <a:t>подвергаться только реально задействованная память, копировать при этом </a:t>
            </a:r>
            <a:r>
              <a:rPr lang="ru-RU" dirty="0" smtClean="0"/>
              <a:t>еще </a:t>
            </a:r>
            <a:r>
              <a:rPr lang="ru-RU" dirty="0"/>
              <a:t>и дополнительно выделенную память будет слишком расточительно.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1916832"/>
            <a:ext cx="2602692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1217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Управление свободной памятью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общих чертах, существуют два способа отслеживания </a:t>
            </a:r>
            <a:r>
              <a:rPr lang="ru-RU" dirty="0" smtClean="0"/>
              <a:t>использования </a:t>
            </a:r>
            <a:r>
              <a:rPr lang="ru-RU" dirty="0"/>
              <a:t>памяти: </a:t>
            </a:r>
            <a:endParaRPr lang="ru-RU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битовые матрицы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списки </a:t>
            </a:r>
            <a:r>
              <a:rPr lang="ru-RU" dirty="0"/>
              <a:t>свободного пространства. </a:t>
            </a:r>
          </a:p>
        </p:txBody>
      </p:sp>
    </p:spTree>
    <p:extLst>
      <p:ext uri="{BB962C8B-B14F-4D97-AF65-F5344CB8AC3E}">
        <p14:creationId xmlns:p14="http://schemas.microsoft.com/office/powerpoint/2010/main" val="2624281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битовые матрицы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 использовании битовых матриц память делится на единичные блоки размером от </a:t>
            </a:r>
            <a:r>
              <a:rPr lang="ru-RU" dirty="0" smtClean="0"/>
              <a:t>нескольких </a:t>
            </a:r>
            <a:r>
              <a:rPr lang="ru-RU" dirty="0"/>
              <a:t>слов до нескольких килобайт. </a:t>
            </a:r>
            <a:endParaRPr lang="ru-RU" dirty="0" smtClean="0"/>
          </a:p>
          <a:p>
            <a:r>
              <a:rPr lang="ru-RU" dirty="0" smtClean="0"/>
              <a:t>С </a:t>
            </a:r>
            <a:r>
              <a:rPr lang="ru-RU" dirty="0"/>
              <a:t>каждым единичным блоком соотносится </a:t>
            </a:r>
            <a:r>
              <a:rPr lang="ru-RU" dirty="0" smtClean="0"/>
              <a:t>один </a:t>
            </a:r>
            <a:r>
              <a:rPr lang="ru-RU" dirty="0"/>
              <a:t>бит в битовой матрице, который содержит 0, если единичный блок свободен, и 1, </a:t>
            </a:r>
            <a:r>
              <a:rPr lang="ru-RU" dirty="0" smtClean="0"/>
              <a:t>если </a:t>
            </a:r>
            <a:r>
              <a:rPr lang="ru-RU" dirty="0"/>
              <a:t>он занят (или наоборот). </a:t>
            </a:r>
          </a:p>
        </p:txBody>
      </p:sp>
    </p:spTree>
    <p:extLst>
      <p:ext uri="{BB962C8B-B14F-4D97-AF65-F5344CB8AC3E}">
        <p14:creationId xmlns:p14="http://schemas.microsoft.com/office/powerpoint/2010/main" val="2197251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Битовые матрицы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Битовая матрица предоставляет довольно простой способ отслеживания слов памяти </a:t>
            </a:r>
            <a:r>
              <a:rPr lang="ru-RU" dirty="0" smtClean="0"/>
              <a:t>в </a:t>
            </a:r>
            <a:r>
              <a:rPr lang="ru-RU" dirty="0"/>
              <a:t>фиксированном объеме памяти, поскольку ее размер зависит только от размера </a:t>
            </a:r>
            <a:r>
              <a:rPr lang="ru-RU" dirty="0" smtClean="0"/>
              <a:t>памяти </a:t>
            </a:r>
            <a:r>
              <a:rPr lang="ru-RU" dirty="0"/>
              <a:t>и размера единичного блока памяти</a:t>
            </a:r>
            <a:r>
              <a:rPr lang="ru-RU" dirty="0" smtClean="0"/>
              <a:t>.</a:t>
            </a:r>
          </a:p>
          <a:p>
            <a:r>
              <a:rPr lang="ru-RU" dirty="0" smtClean="0"/>
              <a:t>Основная </a:t>
            </a:r>
            <a:r>
              <a:rPr lang="ru-RU" dirty="0"/>
              <a:t>проблема заключается в том, что </a:t>
            </a:r>
            <a:r>
              <a:rPr lang="ru-RU" dirty="0" smtClean="0"/>
              <a:t>при </a:t>
            </a:r>
            <a:r>
              <a:rPr lang="ru-RU" dirty="0"/>
              <a:t>решении поместить в память процесс, занимающий k единичных блоков, диспетчер </a:t>
            </a:r>
            <a:r>
              <a:rPr lang="ru-RU" dirty="0" smtClean="0"/>
              <a:t>памяти </a:t>
            </a:r>
            <a:r>
              <a:rPr lang="ru-RU" dirty="0"/>
              <a:t>должен искать в битовой матрице непрерывную последовательность нулевых </a:t>
            </a:r>
            <a:r>
              <a:rPr lang="ru-RU" dirty="0" smtClean="0"/>
              <a:t>битов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Поиск </a:t>
            </a:r>
            <a:r>
              <a:rPr lang="ru-RU" dirty="0"/>
              <a:t>в битовой матрице последовательности заданной длины — довольно </a:t>
            </a:r>
            <a:r>
              <a:rPr lang="ru-RU" dirty="0" smtClean="0"/>
              <a:t>медленная </a:t>
            </a:r>
            <a:r>
              <a:rPr lang="ru-RU" dirty="0"/>
              <a:t>операция (поскольку последовательность может пересекать границы слов в </a:t>
            </a:r>
            <a:r>
              <a:rPr lang="ru-RU" dirty="0" smtClean="0"/>
              <a:t>матрице</a:t>
            </a:r>
            <a:r>
              <a:rPr lang="ru-RU" dirty="0"/>
              <a:t>), и это обстоятельство служит аргументом против применения битовых матриц.</a:t>
            </a:r>
          </a:p>
        </p:txBody>
      </p:sp>
    </p:spTree>
    <p:extLst>
      <p:ext uri="{BB962C8B-B14F-4D97-AF65-F5344CB8AC3E}">
        <p14:creationId xmlns:p14="http://schemas.microsoft.com/office/powerpoint/2010/main" val="744968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Связанные списки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Каждая запись в списке хранит обозначение, содержит сегмент «дыру» — </a:t>
            </a:r>
            <a:r>
              <a:rPr lang="ru-RU" dirty="0" err="1"/>
              <a:t>hole</a:t>
            </a:r>
            <a:r>
              <a:rPr lang="ru-RU" dirty="0"/>
              <a:t> (H) или </a:t>
            </a:r>
            <a:r>
              <a:rPr lang="ru-RU" dirty="0" smtClean="0"/>
              <a:t>процесс </a:t>
            </a:r>
            <a:r>
              <a:rPr lang="ru-RU" dirty="0"/>
              <a:t>— </a:t>
            </a:r>
            <a:r>
              <a:rPr lang="ru-RU" dirty="0" err="1"/>
              <a:t>process</a:t>
            </a:r>
            <a:r>
              <a:rPr lang="ru-RU" dirty="0"/>
              <a:t> (P), адрес, с которого сегмент начинается, его длину и указатель на </a:t>
            </a:r>
            <a:r>
              <a:rPr lang="ru-RU" dirty="0" smtClean="0"/>
              <a:t>следующую </a:t>
            </a:r>
            <a:r>
              <a:rPr lang="ru-RU" dirty="0"/>
              <a:t>запись</a:t>
            </a:r>
            <a:r>
              <a:rPr lang="ru-RU" dirty="0" smtClean="0"/>
              <a:t>.</a:t>
            </a:r>
          </a:p>
          <a:p>
            <a:r>
              <a:rPr lang="ru-RU" dirty="0" smtClean="0"/>
              <a:t>Список </a:t>
            </a:r>
            <a:r>
              <a:rPr lang="ru-RU" dirty="0"/>
              <a:t>сегментов </a:t>
            </a:r>
            <a:r>
              <a:rPr lang="ru-RU" dirty="0" smtClean="0"/>
              <a:t>может быть отсортирован </a:t>
            </a:r>
            <a:r>
              <a:rPr lang="ru-RU" dirty="0"/>
              <a:t>по адресам. </a:t>
            </a:r>
            <a:r>
              <a:rPr lang="ru-RU" dirty="0" smtClean="0"/>
              <a:t>Преимущество </a:t>
            </a:r>
            <a:r>
              <a:rPr lang="ru-RU" dirty="0"/>
              <a:t>такой сортировки заключается в том, что при завершении процесса или его </a:t>
            </a:r>
            <a:r>
              <a:rPr lang="ru-RU" dirty="0" smtClean="0"/>
              <a:t>свопинге </a:t>
            </a:r>
            <a:r>
              <a:rPr lang="ru-RU" dirty="0"/>
              <a:t>на диск упрощается обновление списка. 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867839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Связанные списки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9552" y="1556792"/>
            <a:ext cx="7620000" cy="2160239"/>
          </a:xfrm>
        </p:spPr>
        <p:txBody>
          <a:bodyPr>
            <a:normAutofit/>
          </a:bodyPr>
          <a:lstStyle/>
          <a:p>
            <a:r>
              <a:rPr lang="ru-RU" dirty="0"/>
              <a:t>У завершившегося процесса есть, как правило, два соседа (за исключением тех случаев, когда он находился в верхних или нижних адресах памяти). Этими соседями могут быть либо процессы, либо пустые пространства, из чего можно составить четыре </a:t>
            </a:r>
            <a:r>
              <a:rPr lang="ru-RU" dirty="0" smtClean="0"/>
              <a:t>комбинации:</a:t>
            </a:r>
            <a:endParaRPr lang="ru-RU" dirty="0"/>
          </a:p>
          <a:p>
            <a:endParaRPr lang="ru-R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356992"/>
            <a:ext cx="5490065" cy="244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7392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битовые </a:t>
            </a:r>
            <a:r>
              <a:rPr lang="ru-RU" dirty="0" smtClean="0"/>
              <a:t>матрицы и связанные списки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4653136"/>
            <a:ext cx="7620000" cy="1658937"/>
          </a:xfrm>
        </p:spPr>
        <p:txBody>
          <a:bodyPr>
            <a:normAutofit/>
          </a:bodyPr>
          <a:lstStyle/>
          <a:p>
            <a:r>
              <a:rPr lang="ru-RU" dirty="0"/>
              <a:t>Часть памяти с пятью процессами и тремя свободными пространствами, единичные </a:t>
            </a:r>
            <a:r>
              <a:rPr lang="ru-RU" dirty="0" smtClean="0"/>
              <a:t>блоки </a:t>
            </a:r>
            <a:r>
              <a:rPr lang="ru-RU" dirty="0"/>
              <a:t>памяти разделены вертикальными штрихами: а — заштрихованные области </a:t>
            </a:r>
            <a:r>
              <a:rPr lang="ru-RU" dirty="0" smtClean="0"/>
              <a:t>являются </a:t>
            </a:r>
            <a:r>
              <a:rPr lang="ru-RU" dirty="0"/>
              <a:t>свободными; б — соответствующая </a:t>
            </a:r>
            <a:r>
              <a:rPr lang="ru-RU" dirty="0" smtClean="0"/>
              <a:t>битовая </a:t>
            </a:r>
            <a:r>
              <a:rPr lang="ru-RU" dirty="0"/>
              <a:t>матрица; в — та же </a:t>
            </a:r>
            <a:r>
              <a:rPr lang="ru-RU" dirty="0" smtClean="0"/>
              <a:t>информация </a:t>
            </a:r>
            <a:r>
              <a:rPr lang="ru-RU" dirty="0"/>
              <a:t>в виде </a:t>
            </a:r>
            <a:r>
              <a:rPr lang="ru-RU" dirty="0" smtClean="0"/>
              <a:t>списка.</a:t>
            </a:r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11" y="1484784"/>
            <a:ext cx="7354065" cy="316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42718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Виртуальная память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Свопинг </a:t>
            </a:r>
            <a:r>
              <a:rPr lang="ru-RU" dirty="0"/>
              <a:t>программы объемом 1 Гбайт </a:t>
            </a:r>
            <a:r>
              <a:rPr lang="ru-RU" dirty="0" smtClean="0"/>
              <a:t>займет </a:t>
            </a:r>
            <a:r>
              <a:rPr lang="ru-RU" dirty="0"/>
              <a:t>секунды, и еще столько же времени будет потрачено на загрузку другой </a:t>
            </a:r>
            <a:r>
              <a:rPr lang="ru-RU" dirty="0" smtClean="0"/>
              <a:t>программы </a:t>
            </a:r>
            <a:r>
              <a:rPr lang="ru-RU" dirty="0"/>
              <a:t>в 1 Гбайт</a:t>
            </a:r>
            <a:r>
              <a:rPr lang="ru-RU" dirty="0" smtClean="0"/>
              <a:t>. </a:t>
            </a:r>
          </a:p>
          <a:p>
            <a:r>
              <a:rPr lang="ru-RU" dirty="0" smtClean="0"/>
              <a:t>Поэтому свопинг не самый привлекательный метод </a:t>
            </a:r>
            <a:r>
              <a:rPr lang="ru-RU" dirty="0"/>
              <a:t>преодоления перегрузки </a:t>
            </a:r>
            <a:r>
              <a:rPr lang="ru-RU" dirty="0" smtClean="0"/>
              <a:t>памяти.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7942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Виртуальная память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В 1960-е годы было принято решение разбивать программы на </a:t>
            </a:r>
            <a:r>
              <a:rPr lang="ru-RU" dirty="0" smtClean="0"/>
              <a:t>небольшие части</a:t>
            </a:r>
            <a:r>
              <a:rPr lang="ru-RU" dirty="0"/>
              <a:t>, называемые оверлеями. </a:t>
            </a:r>
            <a:endParaRPr lang="ru-RU" dirty="0" smtClean="0"/>
          </a:p>
          <a:p>
            <a:r>
              <a:rPr lang="ru-RU" dirty="0" smtClean="0"/>
              <a:t>При </a:t>
            </a:r>
            <a:r>
              <a:rPr lang="ru-RU" dirty="0"/>
              <a:t>запуске программы в память загружался только </a:t>
            </a:r>
            <a:r>
              <a:rPr lang="ru-RU" dirty="0" smtClean="0"/>
              <a:t>администратор </a:t>
            </a:r>
            <a:r>
              <a:rPr lang="ru-RU" dirty="0"/>
              <a:t>оверлейной загрузки, который тут же загружал и запускал оверлей </a:t>
            </a:r>
            <a:r>
              <a:rPr lang="ru-RU" dirty="0" smtClean="0"/>
              <a:t>с </a:t>
            </a:r>
            <a:r>
              <a:rPr lang="ru-RU" dirty="0"/>
              <a:t>порядковым номером 0. </a:t>
            </a:r>
            <a:endParaRPr lang="ru-RU" dirty="0" smtClean="0"/>
          </a:p>
          <a:p>
            <a:r>
              <a:rPr lang="ru-RU" dirty="0" smtClean="0"/>
              <a:t>Когда </a:t>
            </a:r>
            <a:r>
              <a:rPr lang="ru-RU" dirty="0"/>
              <a:t>этот оверлей завершал свою работу, он мог сообщить </a:t>
            </a:r>
            <a:r>
              <a:rPr lang="ru-RU" dirty="0" smtClean="0"/>
              <a:t>администратору </a:t>
            </a:r>
            <a:r>
              <a:rPr lang="ru-RU" dirty="0"/>
              <a:t>загрузки оверлеев о необходимости загрузки оверлея 1 либо </a:t>
            </a:r>
            <a:r>
              <a:rPr lang="ru-RU" dirty="0" smtClean="0"/>
              <a:t>выше оверлея </a:t>
            </a:r>
            <a:r>
              <a:rPr lang="ru-RU" dirty="0"/>
              <a:t>0, находящегося в памяти (если для него было достаточно пространства), либо </a:t>
            </a:r>
            <a:r>
              <a:rPr lang="ru-RU" dirty="0" smtClean="0"/>
              <a:t>поверх </a:t>
            </a:r>
            <a:r>
              <a:rPr lang="ru-RU" dirty="0"/>
              <a:t>оверлея 0 (если памяти не хватало). </a:t>
            </a:r>
            <a:endParaRPr lang="ru-RU" dirty="0" smtClean="0"/>
          </a:p>
          <a:p>
            <a:r>
              <a:rPr lang="ru-RU" dirty="0"/>
              <a:t>Оверлеи хранились на диске, и их свопинг с диска в память и обратно </a:t>
            </a:r>
            <a:r>
              <a:rPr lang="ru-RU" dirty="0" smtClean="0"/>
              <a:t>осуществлялся </a:t>
            </a:r>
            <a:r>
              <a:rPr lang="ru-RU" dirty="0"/>
              <a:t>администратором загрузки </a:t>
            </a:r>
            <a:r>
              <a:rPr lang="ru-RU" dirty="0" smtClean="0"/>
              <a:t>оверлеев. Хотя </a:t>
            </a:r>
            <a:r>
              <a:rPr lang="ru-RU" dirty="0"/>
              <a:t>сама работа по свопингу оверлеев с диска в память и обратно </a:t>
            </a:r>
            <a:r>
              <a:rPr lang="ru-RU" dirty="0" smtClean="0"/>
              <a:t>выполнялась ОС, </a:t>
            </a:r>
            <a:r>
              <a:rPr lang="ru-RU" dirty="0"/>
              <a:t>разбиение программ на части выполнялось программистом </a:t>
            </a:r>
            <a:r>
              <a:rPr lang="ru-RU" dirty="0" smtClean="0"/>
              <a:t>в </a:t>
            </a:r>
            <a:r>
              <a:rPr lang="ru-RU" dirty="0"/>
              <a:t>ручном режиме. </a:t>
            </a:r>
            <a:endParaRPr lang="ru-RU" dirty="0" smtClean="0"/>
          </a:p>
          <a:p>
            <a:r>
              <a:rPr lang="ru-RU" dirty="0" smtClean="0"/>
              <a:t>Разбиение </a:t>
            </a:r>
            <a:r>
              <a:rPr lang="ru-RU" dirty="0"/>
              <a:t>больших программ на небольшие модульные части было </a:t>
            </a:r>
            <a:r>
              <a:rPr lang="ru-RU" dirty="0" smtClean="0"/>
              <a:t>очень </a:t>
            </a:r>
            <a:r>
              <a:rPr lang="ru-RU" dirty="0"/>
              <a:t>трудоемкой, скучной и не застрахованной от ошибок работой.</a:t>
            </a:r>
          </a:p>
        </p:txBody>
      </p:sp>
    </p:spTree>
    <p:extLst>
      <p:ext uri="{BB962C8B-B14F-4D97-AF65-F5344CB8AC3E}">
        <p14:creationId xmlns:p14="http://schemas.microsoft.com/office/powerpoint/2010/main" val="3574668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Виртуальная память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0"/>
            <a:ext cx="7620000" cy="4556720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Прошло не так много времени, и </a:t>
            </a:r>
            <a:r>
              <a:rPr lang="ru-RU" dirty="0" smtClean="0"/>
              <a:t>был придуман </a:t>
            </a:r>
            <a:r>
              <a:rPr lang="ru-RU" dirty="0"/>
              <a:t>способ, позволяющий возложить эту работу на компьютер</a:t>
            </a:r>
            <a:r>
              <a:rPr lang="ru-RU" dirty="0" smtClean="0"/>
              <a:t>.  Изобретенный </a:t>
            </a:r>
            <a:r>
              <a:rPr lang="ru-RU" dirty="0"/>
              <a:t>метод </a:t>
            </a:r>
            <a:r>
              <a:rPr lang="ru-RU" dirty="0" smtClean="0"/>
              <a:t>(1961</a:t>
            </a:r>
            <a:r>
              <a:rPr lang="ru-RU" dirty="0"/>
              <a:t>) стал известен как </a:t>
            </a:r>
            <a:r>
              <a:rPr lang="ru-RU" u="sng" dirty="0"/>
              <a:t>виртуальная память. </a:t>
            </a:r>
          </a:p>
          <a:p>
            <a:r>
              <a:rPr lang="ru-RU" dirty="0"/>
              <a:t>В основе виртуальной памяти лежит идея, что у каждой программы имеется </a:t>
            </a:r>
            <a:r>
              <a:rPr lang="ru-RU" dirty="0" smtClean="0"/>
              <a:t>собственное </a:t>
            </a:r>
            <a:r>
              <a:rPr lang="ru-RU" dirty="0"/>
              <a:t>адресное пространство, которое разбивается на участки, называемые страницами. </a:t>
            </a:r>
          </a:p>
          <a:p>
            <a:r>
              <a:rPr lang="ru-RU" dirty="0"/>
              <a:t>Каждая страница представляет собой непрерывный диапазон адресов. Эти страницы </a:t>
            </a:r>
            <a:r>
              <a:rPr lang="ru-RU" dirty="0" smtClean="0"/>
              <a:t>отображаются </a:t>
            </a:r>
            <a:r>
              <a:rPr lang="ru-RU" dirty="0"/>
              <a:t>на физическую память, но для запуска программы одновременное </a:t>
            </a:r>
            <a:r>
              <a:rPr lang="ru-RU" dirty="0" smtClean="0"/>
              <a:t>присутствие </a:t>
            </a:r>
            <a:r>
              <a:rPr lang="ru-RU" dirty="0"/>
              <a:t>в памяти всех страниц необязательно. </a:t>
            </a:r>
            <a:endParaRPr lang="ru-RU" dirty="0" smtClean="0"/>
          </a:p>
          <a:p>
            <a:r>
              <a:rPr lang="ru-RU" dirty="0" smtClean="0"/>
              <a:t>Когда </a:t>
            </a:r>
            <a:r>
              <a:rPr lang="ru-RU" dirty="0"/>
              <a:t>программа ссылается на часть </a:t>
            </a:r>
            <a:r>
              <a:rPr lang="ru-RU" dirty="0" smtClean="0"/>
              <a:t>своего </a:t>
            </a:r>
            <a:r>
              <a:rPr lang="ru-RU" dirty="0"/>
              <a:t>адресного пространства, находящегося в физической памяти, аппаратное </a:t>
            </a:r>
            <a:r>
              <a:rPr lang="ru-RU" dirty="0" smtClean="0"/>
              <a:t>обеспечение </a:t>
            </a:r>
            <a:r>
              <a:rPr lang="ru-RU" dirty="0"/>
              <a:t>осуществляет необходимое отображение на лету. </a:t>
            </a:r>
            <a:endParaRPr lang="ru-RU" dirty="0" smtClean="0"/>
          </a:p>
          <a:p>
            <a:r>
              <a:rPr lang="ru-RU" dirty="0" smtClean="0"/>
              <a:t>Когда </a:t>
            </a:r>
            <a:r>
              <a:rPr lang="ru-RU" dirty="0"/>
              <a:t>программа ссылается </a:t>
            </a:r>
            <a:r>
              <a:rPr lang="ru-RU" dirty="0" smtClean="0"/>
              <a:t>на </a:t>
            </a:r>
            <a:r>
              <a:rPr lang="ru-RU" dirty="0"/>
              <a:t>часть своего адресного пространства, которое не находится в физической памяти, </a:t>
            </a:r>
            <a:r>
              <a:rPr lang="ru-RU" dirty="0" smtClean="0"/>
              <a:t>операционная </a:t>
            </a:r>
            <a:r>
              <a:rPr lang="ru-RU" dirty="0"/>
              <a:t>система предупреждается о том, что необходимо получить недостающую </a:t>
            </a:r>
            <a:r>
              <a:rPr lang="ru-RU" dirty="0" smtClean="0"/>
              <a:t>часть </a:t>
            </a:r>
            <a:r>
              <a:rPr lang="ru-RU" dirty="0"/>
              <a:t>и повторно выполнить потерпевшую неудачу команду.</a:t>
            </a:r>
          </a:p>
        </p:txBody>
      </p:sp>
    </p:spTree>
    <p:extLst>
      <p:ext uri="{BB962C8B-B14F-4D97-AF65-F5344CB8AC3E}">
        <p14:creationId xmlns:p14="http://schemas.microsoft.com/office/powerpoint/2010/main" val="846842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Виртуальная память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Виртуальная память неплохо работает и в многозадачных системах, когда в памяти </a:t>
            </a:r>
            <a:r>
              <a:rPr lang="ru-RU" dirty="0" smtClean="0"/>
              <a:t>одновременно </a:t>
            </a:r>
            <a:r>
              <a:rPr lang="ru-RU" dirty="0"/>
              <a:t>содержатся составные части многих программ. </a:t>
            </a:r>
            <a:endParaRPr lang="ru-RU" dirty="0" smtClean="0"/>
          </a:p>
          <a:p>
            <a:r>
              <a:rPr lang="ru-RU" dirty="0" smtClean="0"/>
              <a:t>Пока </a:t>
            </a:r>
            <a:r>
              <a:rPr lang="ru-RU" dirty="0"/>
              <a:t>программа ждет </a:t>
            </a:r>
            <a:r>
              <a:rPr lang="ru-RU" dirty="0" smtClean="0"/>
              <a:t>считывания </a:t>
            </a:r>
            <a:r>
              <a:rPr lang="ru-RU" dirty="0"/>
              <a:t>какой-либо собственной части, центральный процессор может быть отдан </a:t>
            </a:r>
            <a:r>
              <a:rPr lang="ru-RU" dirty="0" smtClean="0"/>
              <a:t>другому </a:t>
            </a:r>
            <a:r>
              <a:rPr lang="ru-RU" dirty="0"/>
              <a:t>процессу.</a:t>
            </a:r>
          </a:p>
        </p:txBody>
      </p:sp>
    </p:spTree>
    <p:extLst>
      <p:ext uri="{BB962C8B-B14F-4D97-AF65-F5344CB8AC3E}">
        <p14:creationId xmlns:p14="http://schemas.microsoft.com/office/powerpoint/2010/main" val="116488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Виртуальная память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itchFamily="34" charset="0"/>
              <a:buChar char="•"/>
            </a:pPr>
            <a:r>
              <a:rPr lang="ru-RU" dirty="0"/>
              <a:t>Страничная организация </a:t>
            </a:r>
            <a:r>
              <a:rPr lang="ru-RU" dirty="0" smtClean="0"/>
              <a:t>памяти.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Сегментная организация памяти.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Сегментно-страничная организация памяти.</a:t>
            </a:r>
          </a:p>
          <a:p>
            <a:pPr marL="342900" indent="-342900">
              <a:buFont typeface="Arial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9038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Страничная организация памяти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Сгенерированные </a:t>
            </a:r>
            <a:r>
              <a:rPr lang="ru-RU" dirty="0"/>
              <a:t>программным способом адреса называются </a:t>
            </a:r>
            <a:r>
              <a:rPr lang="ru-RU" u="sng" dirty="0"/>
              <a:t>виртуальными </a:t>
            </a:r>
            <a:r>
              <a:rPr lang="ru-RU" u="sng" dirty="0" smtClean="0"/>
              <a:t>адресами</a:t>
            </a:r>
            <a:r>
              <a:rPr lang="ru-RU" dirty="0"/>
              <a:t>, именно они и формируют виртуальное адресное пространство. </a:t>
            </a:r>
            <a:endParaRPr lang="ru-RU" dirty="0" smtClean="0"/>
          </a:p>
          <a:p>
            <a:r>
              <a:rPr lang="ru-RU" dirty="0" smtClean="0"/>
              <a:t>На компьютерах</a:t>
            </a:r>
            <a:r>
              <a:rPr lang="ru-RU" dirty="0"/>
              <a:t>, не использующих виртуальную память, виртуальные адреса выставляются </a:t>
            </a:r>
            <a:r>
              <a:rPr lang="ru-RU" dirty="0" smtClean="0"/>
              <a:t>непосредственно </a:t>
            </a:r>
            <a:r>
              <a:rPr lang="ru-RU" dirty="0"/>
              <a:t>на шине памяти, что приводит к чтению или записи слова физической </a:t>
            </a:r>
            <a:r>
              <a:rPr lang="ru-RU" dirty="0" smtClean="0"/>
              <a:t>памяти </a:t>
            </a:r>
            <a:r>
              <a:rPr lang="ru-RU" dirty="0"/>
              <a:t>с таким же адресом. </a:t>
            </a:r>
            <a:endParaRPr lang="ru-RU" dirty="0" smtClean="0"/>
          </a:p>
          <a:p>
            <a:r>
              <a:rPr lang="ru-RU" dirty="0" smtClean="0"/>
              <a:t>При </a:t>
            </a:r>
            <a:r>
              <a:rPr lang="ru-RU" dirty="0"/>
              <a:t>использовании виртуальной памяти виртуальные </a:t>
            </a:r>
            <a:r>
              <a:rPr lang="ru-RU" dirty="0" smtClean="0"/>
              <a:t>адреса </a:t>
            </a:r>
            <a:r>
              <a:rPr lang="ru-RU" dirty="0"/>
              <a:t>не выставляются напрямую на шине памяти. Вместо этого они поступают в </a:t>
            </a:r>
            <a:r>
              <a:rPr lang="ru-RU" u="sng" dirty="0" smtClean="0"/>
              <a:t>диспетчер </a:t>
            </a:r>
            <a:r>
              <a:rPr lang="ru-RU" u="sng" dirty="0"/>
              <a:t>памяти</a:t>
            </a:r>
            <a:r>
              <a:rPr lang="ru-RU" dirty="0"/>
              <a:t> (</a:t>
            </a:r>
            <a:r>
              <a:rPr lang="ru-RU" dirty="0" err="1"/>
              <a:t>Memory</a:t>
            </a:r>
            <a:r>
              <a:rPr lang="ru-RU" dirty="0"/>
              <a:t> </a:t>
            </a:r>
            <a:r>
              <a:rPr lang="ru-RU" dirty="0" err="1"/>
              <a:t>Management</a:t>
            </a:r>
            <a:r>
              <a:rPr lang="ru-RU" dirty="0"/>
              <a:t> </a:t>
            </a:r>
            <a:r>
              <a:rPr lang="ru-RU" dirty="0" err="1"/>
              <a:t>Unit</a:t>
            </a:r>
            <a:r>
              <a:rPr lang="ru-RU" dirty="0"/>
              <a:t> (MMU)), который </a:t>
            </a:r>
            <a:r>
              <a:rPr lang="ru-RU" dirty="0" smtClean="0"/>
              <a:t>отображает виртуальные адреса </a:t>
            </a:r>
            <a:r>
              <a:rPr lang="ru-RU" dirty="0"/>
              <a:t>на адреса физической </a:t>
            </a:r>
            <a:r>
              <a:rPr lang="ru-RU" dirty="0" smtClean="0"/>
              <a:t>памяти.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6124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Страничная организация памяти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Виртуальное адресное пространство состоит из блоков фиксированного размера, </a:t>
            </a:r>
            <a:r>
              <a:rPr lang="ru-RU" dirty="0" smtClean="0"/>
              <a:t>называемых </a:t>
            </a:r>
            <a:r>
              <a:rPr lang="ru-RU" u="sng" dirty="0"/>
              <a:t>страницами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Соответствующие </a:t>
            </a:r>
            <a:r>
              <a:rPr lang="ru-RU" dirty="0"/>
              <a:t>блоки в физической памяти называются </a:t>
            </a:r>
            <a:r>
              <a:rPr lang="ru-RU" u="sng" dirty="0" smtClean="0"/>
              <a:t>страничными </a:t>
            </a:r>
            <a:r>
              <a:rPr lang="ru-RU" u="sng" dirty="0"/>
              <a:t>блоками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Страницы </a:t>
            </a:r>
            <a:r>
              <a:rPr lang="ru-RU" dirty="0"/>
              <a:t>и страничные блоки имеют, как правило, </a:t>
            </a:r>
            <a:r>
              <a:rPr lang="ru-RU" dirty="0" smtClean="0"/>
              <a:t>одинаковые </a:t>
            </a:r>
            <a:r>
              <a:rPr lang="ru-RU" dirty="0"/>
              <a:t>размеры.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реальных </a:t>
            </a:r>
            <a:r>
              <a:rPr lang="ru-RU" dirty="0" smtClean="0"/>
              <a:t>системах </a:t>
            </a:r>
            <a:r>
              <a:rPr lang="ru-RU" dirty="0"/>
              <a:t>используются размеры страниц от 512 байт до 1 </a:t>
            </a:r>
            <a:r>
              <a:rPr lang="ru-RU" dirty="0" smtClean="0"/>
              <a:t>Гбайт.</a:t>
            </a:r>
          </a:p>
          <a:p>
            <a:r>
              <a:rPr lang="ru-RU" dirty="0"/>
              <a:t>Перенос информации между </a:t>
            </a:r>
            <a:r>
              <a:rPr lang="ru-RU" dirty="0" smtClean="0"/>
              <a:t>оперативной </a:t>
            </a:r>
            <a:r>
              <a:rPr lang="ru-RU" dirty="0"/>
              <a:t>памятью и диском всегда осуществляется целыми страницами.</a:t>
            </a:r>
          </a:p>
        </p:txBody>
      </p:sp>
    </p:spTree>
    <p:extLst>
      <p:ext uri="{BB962C8B-B14F-4D97-AF65-F5344CB8AC3E}">
        <p14:creationId xmlns:p14="http://schemas.microsoft.com/office/powerpoint/2010/main" val="3824187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Страничная организация памяти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Многие процессоры </a:t>
            </a:r>
            <a:r>
              <a:rPr lang="ru-RU" dirty="0"/>
              <a:t>поддерживают несколько размеров страниц, которые могут быть смешаны </a:t>
            </a:r>
            <a:r>
              <a:rPr lang="ru-RU" dirty="0" smtClean="0"/>
              <a:t>и </a:t>
            </a:r>
            <a:r>
              <a:rPr lang="ru-RU" dirty="0"/>
              <a:t>подобраны по усмотрению операционной системы. </a:t>
            </a:r>
            <a:endParaRPr lang="ru-RU" dirty="0" smtClean="0"/>
          </a:p>
          <a:p>
            <a:r>
              <a:rPr lang="ru-RU" dirty="0" smtClean="0"/>
              <a:t>Например</a:t>
            </a:r>
            <a:r>
              <a:rPr lang="ru-RU" dirty="0"/>
              <a:t>, архитектура x86-64 </a:t>
            </a:r>
            <a:r>
              <a:rPr lang="ru-RU" dirty="0" smtClean="0"/>
              <a:t>поддерживает </a:t>
            </a:r>
            <a:r>
              <a:rPr lang="ru-RU" dirty="0"/>
              <a:t>страницы размером 4 Кбайт, 2 Мбайт и 1 Гбайт, поэтому для </a:t>
            </a:r>
            <a:r>
              <a:rPr lang="ru-RU" dirty="0" smtClean="0"/>
              <a:t>пользовательских </a:t>
            </a:r>
            <a:r>
              <a:rPr lang="ru-RU" dirty="0"/>
              <a:t>приложений можно использовать страницы размером 4 Кбайт, а для ядра — </a:t>
            </a:r>
            <a:r>
              <a:rPr lang="ru-RU" dirty="0" smtClean="0"/>
              <a:t>одну </a:t>
            </a:r>
            <a:r>
              <a:rPr lang="ru-RU" dirty="0"/>
              <a:t>страницу размером 1 Гбайт.</a:t>
            </a:r>
          </a:p>
        </p:txBody>
      </p:sp>
    </p:spTree>
    <p:extLst>
      <p:ext uri="{BB962C8B-B14F-4D97-AF65-F5344CB8AC3E}">
        <p14:creationId xmlns:p14="http://schemas.microsoft.com/office/powerpoint/2010/main" val="90415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Страничная организация памяти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7943" y="1484784"/>
            <a:ext cx="4214537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752599"/>
            <a:ext cx="4536504" cy="4671547"/>
          </a:xfrm>
        </p:spPr>
        <p:txBody>
          <a:bodyPr>
            <a:normAutofit fontScale="70000" lnSpcReduction="20000"/>
          </a:bodyPr>
          <a:lstStyle/>
          <a:p>
            <a:r>
              <a:rPr lang="ru-RU" sz="2400" dirty="0" smtClean="0"/>
              <a:t>К </a:t>
            </a:r>
            <a:r>
              <a:rPr lang="ru-RU" sz="2400" dirty="0"/>
              <a:t>примеру, когда программа пытается получить доступ к адресу 0, используя  </a:t>
            </a:r>
            <a:r>
              <a:rPr lang="ru-RU" sz="2400" dirty="0" smtClean="0"/>
              <a:t>команду </a:t>
            </a:r>
            <a:r>
              <a:rPr lang="ru-RU" sz="2400" i="1" dirty="0" smtClean="0"/>
              <a:t>MOV REG,0 </a:t>
            </a:r>
            <a:r>
              <a:rPr lang="ru-RU" sz="2400" dirty="0" smtClean="0"/>
              <a:t>диспетчеру </a:t>
            </a:r>
            <a:r>
              <a:rPr lang="ru-RU" sz="2400" dirty="0"/>
              <a:t>памяти посылается виртуальный адрес 0. </a:t>
            </a:r>
            <a:endParaRPr lang="ru-RU" sz="2400" dirty="0" smtClean="0"/>
          </a:p>
          <a:p>
            <a:r>
              <a:rPr lang="ru-RU" sz="2400" dirty="0" smtClean="0"/>
              <a:t>Диспетчер </a:t>
            </a:r>
            <a:r>
              <a:rPr lang="ru-RU" sz="2400" dirty="0"/>
              <a:t>видит, что этот </a:t>
            </a:r>
            <a:r>
              <a:rPr lang="ru-RU" sz="2400" dirty="0" smtClean="0"/>
              <a:t>виртуальный </a:t>
            </a:r>
            <a:r>
              <a:rPr lang="ru-RU" sz="2400" dirty="0"/>
              <a:t>адрес попадает в страницу 0 (от 0 до 4095), которая в соответствии со своим </a:t>
            </a:r>
            <a:r>
              <a:rPr lang="ru-RU" sz="2400" dirty="0" smtClean="0"/>
              <a:t>отображением </a:t>
            </a:r>
            <a:r>
              <a:rPr lang="ru-RU" sz="2400" dirty="0"/>
              <a:t>представлена страничным блоком 2 (от 8192 до 12 287). </a:t>
            </a:r>
            <a:endParaRPr lang="ru-RU" sz="2400" dirty="0" smtClean="0"/>
          </a:p>
          <a:p>
            <a:r>
              <a:rPr lang="ru-RU" sz="2400" dirty="0" smtClean="0"/>
              <a:t>Соответственно</a:t>
            </a:r>
            <a:r>
              <a:rPr lang="ru-RU" sz="2400" dirty="0"/>
              <a:t>, </a:t>
            </a:r>
            <a:r>
              <a:rPr lang="ru-RU" sz="2400" dirty="0" smtClean="0"/>
              <a:t>он </a:t>
            </a:r>
            <a:r>
              <a:rPr lang="ru-RU" sz="2400" dirty="0"/>
              <a:t>трансформируется в адрес 8192, который и выставляется на шину. Память вообще </a:t>
            </a:r>
            <a:r>
              <a:rPr lang="ru-RU" sz="2400" dirty="0" smtClean="0"/>
              <a:t>не </a:t>
            </a:r>
            <a:r>
              <a:rPr lang="ru-RU" sz="2400" dirty="0"/>
              <a:t>знает о существовании диспетчера и видит только запрос на чтение или запись по </a:t>
            </a:r>
            <a:r>
              <a:rPr lang="ru-RU" sz="2400" dirty="0" smtClean="0"/>
              <a:t>адресу </a:t>
            </a:r>
            <a:r>
              <a:rPr lang="ru-RU" sz="2400" dirty="0"/>
              <a:t>8192, который и выполняет</a:t>
            </a:r>
            <a:r>
              <a:rPr lang="ru-RU" sz="2400" dirty="0" smtClean="0"/>
              <a:t>.</a:t>
            </a:r>
            <a:endParaRPr lang="ru-RU" sz="2400" dirty="0"/>
          </a:p>
          <a:p>
            <a:r>
              <a:rPr lang="ru-RU" dirty="0"/>
              <a:t>Каждая страница содержит строго 4096 адресов, которые начинаются с чисел, кратных 4096, и заканчиваются числами на единицу меньше чисел, кратных 4096.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8310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Страничная организация памяти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Сама по себе возможность отображения 16 виртуальных страниц на 8 страничных </a:t>
            </a:r>
            <a:r>
              <a:rPr lang="ru-RU" dirty="0" smtClean="0"/>
              <a:t>блоков </a:t>
            </a:r>
            <a:r>
              <a:rPr lang="ru-RU" dirty="0"/>
              <a:t>за счет соответствующей настройки таблиц диспетчера памяти не решает </a:t>
            </a:r>
            <a:r>
              <a:rPr lang="ru-RU" dirty="0" smtClean="0"/>
              <a:t>проблемы </a:t>
            </a:r>
            <a:r>
              <a:rPr lang="ru-RU" dirty="0"/>
              <a:t>превышения объема виртуальной памяти над объемом физической памяти. </a:t>
            </a:r>
          </a:p>
          <a:p>
            <a:r>
              <a:rPr lang="ru-RU" dirty="0"/>
              <a:t>Поскольку в нашем распоряжении только 8 физических страничных блоков, то на </a:t>
            </a:r>
            <a:r>
              <a:rPr lang="ru-RU" dirty="0" smtClean="0"/>
              <a:t>физическую </a:t>
            </a:r>
            <a:r>
              <a:rPr lang="ru-RU" dirty="0"/>
              <a:t>память могут отображаться только 8 виртуальных </a:t>
            </a:r>
            <a:r>
              <a:rPr lang="ru-RU" dirty="0" smtClean="0"/>
              <a:t>страниц.</a:t>
            </a:r>
          </a:p>
        </p:txBody>
      </p:sp>
    </p:spTree>
    <p:extLst>
      <p:ext uri="{BB962C8B-B14F-4D97-AF65-F5344CB8AC3E}">
        <p14:creationId xmlns:p14="http://schemas.microsoft.com/office/powerpoint/2010/main" val="416349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Таблицы страниц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 простой реализации отображение виртуальных адресов на физические может быть </a:t>
            </a:r>
            <a:r>
              <a:rPr lang="ru-RU" dirty="0" smtClean="0"/>
              <a:t>сведено </a:t>
            </a:r>
            <a:r>
              <a:rPr lang="ru-RU" dirty="0"/>
              <a:t>к следующему: </a:t>
            </a:r>
            <a:endParaRPr lang="ru-RU" dirty="0" smtClean="0"/>
          </a:p>
          <a:p>
            <a:r>
              <a:rPr lang="ru-RU" dirty="0" smtClean="0"/>
              <a:t>виртуальный </a:t>
            </a:r>
            <a:r>
              <a:rPr lang="ru-RU" dirty="0"/>
              <a:t>адрес делится на номер виртуальной страницы </a:t>
            </a:r>
            <a:r>
              <a:rPr lang="ru-RU" dirty="0" smtClean="0"/>
              <a:t>(</a:t>
            </a:r>
            <a:r>
              <a:rPr lang="ru-RU" dirty="0"/>
              <a:t>старшие биты) и смещение (младшие биты). </a:t>
            </a:r>
            <a:endParaRPr lang="ru-RU" dirty="0" smtClean="0"/>
          </a:p>
          <a:p>
            <a:r>
              <a:rPr lang="ru-RU" dirty="0" smtClean="0"/>
              <a:t>К </a:t>
            </a:r>
            <a:r>
              <a:rPr lang="ru-RU" dirty="0"/>
              <a:t>примеру, при 16-разрядной адресации </a:t>
            </a:r>
            <a:r>
              <a:rPr lang="ru-RU" dirty="0" smtClean="0"/>
              <a:t>и </a:t>
            </a:r>
            <a:r>
              <a:rPr lang="ru-RU" dirty="0"/>
              <a:t>размере страниц 4 Кбайт старшие 4 бита могут определять одну из 16 виртуальных </a:t>
            </a:r>
            <a:r>
              <a:rPr lang="ru-RU" dirty="0" smtClean="0"/>
              <a:t>страниц</a:t>
            </a:r>
            <a:r>
              <a:rPr lang="ru-RU" dirty="0"/>
              <a:t>, а младшие 12 бит — смещение в байтах (от 0 до 4095) внутри выбранной </a:t>
            </a:r>
            <a:r>
              <a:rPr lang="ru-RU" dirty="0" smtClean="0"/>
              <a:t>страницы</a:t>
            </a:r>
            <a:r>
              <a:rPr lang="ru-RU" dirty="0"/>
              <a:t>. Но для страницы также можно выделить 3, или 5, или какое-нибудь другое </a:t>
            </a:r>
            <a:r>
              <a:rPr lang="ru-RU" dirty="0" smtClean="0"/>
              <a:t>количество </a:t>
            </a:r>
            <a:r>
              <a:rPr lang="ru-RU" dirty="0"/>
              <a:t>битов. Различные варианты выделения подразумевают различные размеры </a:t>
            </a:r>
            <a:r>
              <a:rPr lang="ru-RU" dirty="0" smtClean="0"/>
              <a:t>страниц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0164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Таблицы страниц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Номер виртуальной страницы используется в качестве индекса внутри таблицы </a:t>
            </a:r>
            <a:r>
              <a:rPr lang="ru-RU" dirty="0" smtClean="0"/>
              <a:t>страниц</a:t>
            </a:r>
            <a:r>
              <a:rPr lang="ru-RU" dirty="0"/>
              <a:t>, который нужен для поиска записи для этой виртуальной страницы. Из </a:t>
            </a:r>
            <a:r>
              <a:rPr lang="ru-RU" dirty="0" smtClean="0"/>
              <a:t>записи в </a:t>
            </a:r>
            <a:r>
              <a:rPr lang="ru-RU" dirty="0"/>
              <a:t>таблице страниц берется номер страничного блока (если таковой имеется). </a:t>
            </a:r>
            <a:endParaRPr lang="ru-RU" dirty="0" smtClean="0"/>
          </a:p>
          <a:p>
            <a:r>
              <a:rPr lang="ru-RU" dirty="0" smtClean="0"/>
              <a:t>Номер страничного </a:t>
            </a:r>
            <a:r>
              <a:rPr lang="ru-RU" dirty="0"/>
              <a:t>блока присоединяется к старшим битам смещения, заменяя собой номер </a:t>
            </a:r>
            <a:r>
              <a:rPr lang="ru-RU" dirty="0" smtClean="0"/>
              <a:t>виртуальной </a:t>
            </a:r>
            <a:r>
              <a:rPr lang="ru-RU" dirty="0"/>
              <a:t>страницы, чтобы сформировать физический адрес, который может быть </a:t>
            </a:r>
            <a:r>
              <a:rPr lang="ru-RU" dirty="0" smtClean="0"/>
              <a:t>послан </a:t>
            </a:r>
            <a:r>
              <a:rPr lang="ru-RU" dirty="0"/>
              <a:t>к памяти.</a:t>
            </a:r>
          </a:p>
          <a:p>
            <a:r>
              <a:rPr lang="ru-RU" dirty="0"/>
              <a:t>Таким образом, предназначение таблицы страниц заключается в отображении </a:t>
            </a:r>
            <a:r>
              <a:rPr lang="ru-RU" dirty="0" smtClean="0"/>
              <a:t>виртуальных </a:t>
            </a:r>
            <a:r>
              <a:rPr lang="ru-RU" dirty="0"/>
              <a:t>страниц на страничные блоки. </a:t>
            </a:r>
            <a:endParaRPr lang="ru-RU" dirty="0" smtClean="0"/>
          </a:p>
          <a:p>
            <a:r>
              <a:rPr lang="ru-RU" dirty="0" smtClean="0"/>
              <a:t>С </a:t>
            </a:r>
            <a:r>
              <a:rPr lang="ru-RU" dirty="0"/>
              <a:t>математической точки зрения таблица страниц — </a:t>
            </a:r>
            <a:r>
              <a:rPr lang="ru-RU" dirty="0" smtClean="0"/>
              <a:t>это </a:t>
            </a:r>
            <a:r>
              <a:rPr lang="ru-RU" dirty="0"/>
              <a:t>функция, в которой в качестве аргумента выступает номер виртуальной страницы, </a:t>
            </a:r>
            <a:r>
              <a:rPr lang="ru-RU" dirty="0" smtClean="0"/>
              <a:t>а </a:t>
            </a:r>
            <a:r>
              <a:rPr lang="ru-RU" dirty="0"/>
              <a:t>результатом является номер физического блока.</a:t>
            </a:r>
          </a:p>
        </p:txBody>
      </p:sp>
    </p:spTree>
    <p:extLst>
      <p:ext uri="{BB962C8B-B14F-4D97-AF65-F5344CB8AC3E}">
        <p14:creationId xmlns:p14="http://schemas.microsoft.com/office/powerpoint/2010/main" val="2397945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Таблицы страниц</a:t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2492896"/>
            <a:ext cx="7931224" cy="4176464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Точный формат записи сильно зависит от </a:t>
            </a:r>
            <a:r>
              <a:rPr lang="ru-RU" dirty="0" smtClean="0"/>
              <a:t>конструкции </a:t>
            </a:r>
            <a:r>
              <a:rPr lang="ru-RU" dirty="0"/>
              <a:t>машины, но вид присутствующей в ней информации примерно одинаков для всех </a:t>
            </a:r>
            <a:r>
              <a:rPr lang="ru-RU" dirty="0" smtClean="0"/>
              <a:t>машин.</a:t>
            </a:r>
          </a:p>
          <a:p>
            <a:r>
              <a:rPr lang="ru-RU" dirty="0"/>
              <a:t>Наиболее важным является </a:t>
            </a:r>
            <a:r>
              <a:rPr lang="ru-RU" dirty="0" smtClean="0"/>
              <a:t>поле </a:t>
            </a:r>
            <a:r>
              <a:rPr lang="ru-RU" u="sng" dirty="0"/>
              <a:t>номера страничного </a:t>
            </a:r>
            <a:r>
              <a:rPr lang="ru-RU" u="sng" dirty="0" smtClean="0"/>
              <a:t>блока</a:t>
            </a:r>
            <a:r>
              <a:rPr lang="ru-RU" dirty="0" smtClean="0"/>
              <a:t>. </a:t>
            </a:r>
            <a:r>
              <a:rPr lang="ru-RU" dirty="0"/>
              <a:t>В конечном счете цель страничного </a:t>
            </a:r>
            <a:r>
              <a:rPr lang="ru-RU" dirty="0" smtClean="0"/>
              <a:t>отображения </a:t>
            </a:r>
            <a:r>
              <a:rPr lang="ru-RU" dirty="0"/>
              <a:t>и состоит в выдаче этого значения. </a:t>
            </a:r>
            <a:endParaRPr lang="ru-RU" dirty="0" smtClean="0"/>
          </a:p>
          <a:p>
            <a:r>
              <a:rPr lang="ru-RU" dirty="0" smtClean="0"/>
              <a:t>Следующим </a:t>
            </a:r>
            <a:r>
              <a:rPr lang="ru-RU" dirty="0"/>
              <a:t>по значимости является </a:t>
            </a:r>
            <a:r>
              <a:rPr lang="ru-RU" u="sng" dirty="0" smtClean="0"/>
              <a:t>бит </a:t>
            </a:r>
            <a:r>
              <a:rPr lang="ru-RU" u="sng" dirty="0"/>
              <a:t>присутствия-отсутствия</a:t>
            </a:r>
            <a:r>
              <a:rPr lang="ru-RU" dirty="0"/>
              <a:t>. Если он установлен в 1, запись имеет смысл и может быть </a:t>
            </a:r>
            <a:r>
              <a:rPr lang="ru-RU" dirty="0" smtClean="0"/>
              <a:t>использована</a:t>
            </a:r>
            <a:r>
              <a:rPr lang="ru-RU" dirty="0"/>
              <a:t>. А если он установлен в 0, то виртуальная страница, которой </a:t>
            </a:r>
            <a:r>
              <a:rPr lang="ru-RU" dirty="0" smtClean="0"/>
              <a:t>принадлежит эта </a:t>
            </a:r>
            <a:r>
              <a:rPr lang="ru-RU" dirty="0"/>
              <a:t>запись, в данный момент в памяти отсутствует. Обращение к записи таблицы страниц, </a:t>
            </a:r>
            <a:r>
              <a:rPr lang="ru-RU" dirty="0" smtClean="0"/>
              <a:t>у </a:t>
            </a:r>
            <a:r>
              <a:rPr lang="ru-RU" dirty="0"/>
              <a:t>которой этот бит установлен в 0, вызывает ошибку отсутствия страницы.</a:t>
            </a:r>
          </a:p>
          <a:p>
            <a:r>
              <a:rPr lang="ru-RU" u="sng" dirty="0"/>
              <a:t>Биты защиты</a:t>
            </a:r>
            <a:r>
              <a:rPr lang="ru-RU" dirty="0"/>
              <a:t> сообщают о том, какого рода доступ разрешен. В простейшей форме это </a:t>
            </a:r>
            <a:r>
              <a:rPr lang="ru-RU" dirty="0" smtClean="0"/>
              <a:t>поле </a:t>
            </a:r>
            <a:r>
              <a:rPr lang="ru-RU" dirty="0"/>
              <a:t>состоит из 1 бита со значением 0 для чтения-записи и значением 1 только для </a:t>
            </a:r>
            <a:r>
              <a:rPr lang="ru-RU" dirty="0" smtClean="0"/>
              <a:t>чтения.</a:t>
            </a:r>
          </a:p>
          <a:p>
            <a:r>
              <a:rPr lang="ru-RU" u="sng" dirty="0"/>
              <a:t>Биты </a:t>
            </a:r>
            <a:r>
              <a:rPr lang="ru-RU" u="sng" dirty="0" smtClean="0"/>
              <a:t>модификации</a:t>
            </a:r>
            <a:r>
              <a:rPr lang="ru-RU" dirty="0" smtClean="0"/>
              <a:t> и </a:t>
            </a:r>
            <a:r>
              <a:rPr lang="ru-RU" u="sng" dirty="0"/>
              <a:t>ссылки</a:t>
            </a:r>
            <a:r>
              <a:rPr lang="ru-RU" dirty="0"/>
              <a:t> отслеживают режим использования страницы. </a:t>
            </a:r>
            <a:endParaRPr lang="ru-RU" dirty="0" smtClean="0"/>
          </a:p>
          <a:p>
            <a:r>
              <a:rPr lang="ru-RU" dirty="0"/>
              <a:t>И наконец, оставшийся бит позволяет блокировать кэширование страницы. 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008" y="908720"/>
            <a:ext cx="6116296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0440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Страничная организация памяти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любой системе со страничной организацией памяти необходимо рассмотреть два </a:t>
            </a:r>
            <a:r>
              <a:rPr lang="ru-RU" dirty="0" smtClean="0"/>
              <a:t>основных вопроса:</a:t>
            </a:r>
            <a:endParaRPr lang="ru-RU" dirty="0"/>
          </a:p>
          <a:p>
            <a:r>
              <a:rPr lang="ru-RU" dirty="0"/>
              <a:t>1. Отображение виртуального адреса на физический должно быть быстрым.</a:t>
            </a:r>
          </a:p>
          <a:p>
            <a:r>
              <a:rPr lang="ru-RU" dirty="0"/>
              <a:t>2. Если пространство виртуальных адресов слишком обширное, таблица страниц </a:t>
            </a:r>
            <a:r>
              <a:rPr lang="ru-RU" dirty="0" smtClean="0"/>
              <a:t>будет </a:t>
            </a:r>
            <a:r>
              <a:rPr lang="ru-RU" dirty="0"/>
              <a:t>иметь весьма солидный размер.</a:t>
            </a:r>
          </a:p>
        </p:txBody>
      </p:sp>
    </p:spTree>
    <p:extLst>
      <p:ext uri="{BB962C8B-B14F-4D97-AF65-F5344CB8AC3E}">
        <p14:creationId xmlns:p14="http://schemas.microsoft.com/office/powerpoint/2010/main" val="2799576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Страничная организация памяти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Потребность в обширном и быстром отображении страниц является весьма </a:t>
            </a:r>
            <a:r>
              <a:rPr lang="ru-RU" dirty="0" smtClean="0"/>
              <a:t>существенным </a:t>
            </a:r>
            <a:r>
              <a:rPr lang="ru-RU" dirty="0"/>
              <a:t>ограничением на пути создания компьютеров. </a:t>
            </a:r>
            <a:endParaRPr lang="ru-RU" dirty="0" smtClean="0"/>
          </a:p>
          <a:p>
            <a:r>
              <a:rPr lang="ru-RU" dirty="0" smtClean="0"/>
              <a:t>Простейшая </a:t>
            </a:r>
            <a:r>
              <a:rPr lang="ru-RU" dirty="0"/>
              <a:t>конструкция </a:t>
            </a:r>
            <a:r>
              <a:rPr lang="ru-RU" dirty="0" smtClean="0"/>
              <a:t>(</a:t>
            </a:r>
            <a:r>
              <a:rPr lang="ru-RU" dirty="0"/>
              <a:t>по крайней мере, концептуально) состоит в использовании одной таблицы страниц, </a:t>
            </a:r>
            <a:r>
              <a:rPr lang="ru-RU" dirty="0" smtClean="0"/>
              <a:t>состоящей </a:t>
            </a:r>
            <a:r>
              <a:rPr lang="ru-RU" dirty="0"/>
              <a:t>из массива быстродействующих аппаратных регистров, имеющей по одной </a:t>
            </a:r>
            <a:r>
              <a:rPr lang="ru-RU" dirty="0" smtClean="0"/>
              <a:t>записи </a:t>
            </a:r>
            <a:r>
              <a:rPr lang="ru-RU" dirty="0"/>
              <a:t>для каждой виртуальной страницы, проиндексированной по номеру виртуальной страницы. При запуске процесса операционная система загружает </a:t>
            </a:r>
            <a:r>
              <a:rPr lang="ru-RU" dirty="0" smtClean="0"/>
              <a:t>регистры </a:t>
            </a:r>
            <a:r>
              <a:rPr lang="ru-RU" dirty="0"/>
              <a:t>таблицей страниц этого процесса, которая берется из копии, хранящейся </a:t>
            </a:r>
            <a:r>
              <a:rPr lang="ru-RU" dirty="0" smtClean="0"/>
              <a:t>в </a:t>
            </a:r>
            <a:r>
              <a:rPr lang="ru-RU" dirty="0"/>
              <a:t>оперативной памяти. Во время выполнения процесса таблице страниц не нужны </a:t>
            </a:r>
            <a:r>
              <a:rPr lang="ru-RU" dirty="0" smtClean="0"/>
              <a:t>никакие </a:t>
            </a:r>
            <a:r>
              <a:rPr lang="ru-RU" dirty="0"/>
              <a:t>дополнительные ссылки на память. </a:t>
            </a:r>
            <a:endParaRPr lang="ru-RU" dirty="0" smtClean="0"/>
          </a:p>
          <a:p>
            <a:r>
              <a:rPr lang="ru-RU" dirty="0" smtClean="0"/>
              <a:t>Преимуществами </a:t>
            </a:r>
            <a:r>
              <a:rPr lang="ru-RU" dirty="0"/>
              <a:t>этого метода являются </a:t>
            </a:r>
            <a:r>
              <a:rPr lang="ru-RU" dirty="0" smtClean="0"/>
              <a:t>простота </a:t>
            </a:r>
            <a:r>
              <a:rPr lang="ru-RU" dirty="0"/>
              <a:t>и отсутствие каких-либо обращений к памяти во время отображения. Его </a:t>
            </a:r>
            <a:r>
              <a:rPr lang="ru-RU" dirty="0" smtClean="0"/>
              <a:t>недостаток </a:t>
            </a:r>
            <a:r>
              <a:rPr lang="ru-RU" dirty="0"/>
              <a:t>— в чрезмерных затратах при большом размере таблицы страниц, что </a:t>
            </a:r>
            <a:r>
              <a:rPr lang="ru-RU" dirty="0" smtClean="0"/>
              <a:t>зачастую </a:t>
            </a:r>
            <a:r>
              <a:rPr lang="ru-RU" dirty="0"/>
              <a:t>просто непрактично. Еще один недостаток заключается в необходимости </a:t>
            </a:r>
            <a:r>
              <a:rPr lang="ru-RU" dirty="0" smtClean="0"/>
              <a:t>загрузки </a:t>
            </a:r>
            <a:r>
              <a:rPr lang="ru-RU" dirty="0"/>
              <a:t>всей таблицы страниц при каждом переключении контекста, что полностью </a:t>
            </a:r>
            <a:r>
              <a:rPr lang="ru-RU" dirty="0" smtClean="0"/>
              <a:t>убьет </a:t>
            </a:r>
            <a:r>
              <a:rPr lang="ru-RU" dirty="0"/>
              <a:t>производительность.</a:t>
            </a:r>
          </a:p>
        </p:txBody>
      </p:sp>
    </p:spTree>
    <p:extLst>
      <p:ext uri="{BB962C8B-B14F-4D97-AF65-F5344CB8AC3E}">
        <p14:creationId xmlns:p14="http://schemas.microsoft.com/office/powerpoint/2010/main" val="767539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Страничная организация памяти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Другой крайностью является конструкция, при которой вся таблица страниц может </a:t>
            </a:r>
            <a:r>
              <a:rPr lang="ru-RU" dirty="0" smtClean="0"/>
              <a:t>целиком </a:t>
            </a:r>
            <a:r>
              <a:rPr lang="ru-RU" dirty="0"/>
              <a:t>находиться в оперативной памяти. При этом аппаратуре нужно иметь лишь </a:t>
            </a:r>
            <a:r>
              <a:rPr lang="ru-RU" dirty="0" smtClean="0"/>
              <a:t>один </a:t>
            </a:r>
            <a:r>
              <a:rPr lang="ru-RU" dirty="0"/>
              <a:t>регистр, указывающий на начало таблицы страниц. Такая конструкция позволяет </a:t>
            </a:r>
            <a:r>
              <a:rPr lang="ru-RU" dirty="0" smtClean="0"/>
              <a:t>отображению </a:t>
            </a:r>
            <a:r>
              <a:rPr lang="ru-RU" dirty="0"/>
              <a:t>виртуальной памяти на физическую меняться при переключении </a:t>
            </a:r>
            <a:r>
              <a:rPr lang="ru-RU" dirty="0" smtClean="0"/>
              <a:t>контекста </a:t>
            </a:r>
            <a:r>
              <a:rPr lang="ru-RU" dirty="0"/>
              <a:t>путем перезагрузки всего лишь одного регистра</a:t>
            </a:r>
            <a:r>
              <a:rPr lang="ru-RU" dirty="0" smtClean="0"/>
              <a:t>.</a:t>
            </a:r>
          </a:p>
          <a:p>
            <a:r>
              <a:rPr lang="ru-RU" dirty="0" smtClean="0"/>
              <a:t>Здесь</a:t>
            </a:r>
            <a:r>
              <a:rPr lang="ru-RU" dirty="0"/>
              <a:t>, разумеется, есть и </a:t>
            </a:r>
            <a:r>
              <a:rPr lang="ru-RU" dirty="0" smtClean="0"/>
              <a:t>недостаток</a:t>
            </a:r>
            <a:r>
              <a:rPr lang="ru-RU" dirty="0"/>
              <a:t>, поскольку для считывания записей таблицы страниц во время выполнения </a:t>
            </a:r>
            <a:r>
              <a:rPr lang="ru-RU" dirty="0" smtClean="0"/>
              <a:t>каждой </a:t>
            </a:r>
            <a:r>
              <a:rPr lang="ru-RU" dirty="0"/>
              <a:t>команды требуется одно или несколько обращений к памяти, что существенно </a:t>
            </a:r>
            <a:r>
              <a:rPr lang="ru-RU" dirty="0" smtClean="0"/>
              <a:t>замедляет </a:t>
            </a:r>
            <a:r>
              <a:rPr lang="ru-RU" dirty="0"/>
              <a:t>работу.</a:t>
            </a:r>
          </a:p>
        </p:txBody>
      </p:sp>
    </p:spTree>
    <p:extLst>
      <p:ext uri="{BB962C8B-B14F-4D97-AF65-F5344CB8AC3E}">
        <p14:creationId xmlns:p14="http://schemas.microsoft.com/office/powerpoint/2010/main" val="740000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Страничная организация памяти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Теперь рассмотрим широко используемую систему, призванную ускорить страничную </a:t>
            </a:r>
            <a:r>
              <a:rPr lang="ru-RU" dirty="0" smtClean="0"/>
              <a:t>организацию </a:t>
            </a:r>
            <a:r>
              <a:rPr lang="ru-RU" dirty="0"/>
              <a:t>памяти и обрабатывать большие виртуальные адресные пространства, </a:t>
            </a:r>
            <a:r>
              <a:rPr lang="ru-RU" dirty="0" smtClean="0"/>
              <a:t>отталкиваясь </a:t>
            </a:r>
            <a:r>
              <a:rPr lang="ru-RU" dirty="0"/>
              <a:t>от прежней </a:t>
            </a:r>
            <a:r>
              <a:rPr lang="ru-RU" dirty="0" smtClean="0"/>
              <a:t>схемы</a:t>
            </a:r>
            <a:r>
              <a:rPr lang="ru-RU" dirty="0"/>
              <a:t>:</a:t>
            </a:r>
            <a:endParaRPr lang="ru-RU" dirty="0" smtClean="0"/>
          </a:p>
          <a:p>
            <a:pPr algn="ctr"/>
            <a:r>
              <a:rPr lang="ru-RU" u="sng" dirty="0" smtClean="0"/>
              <a:t>буфер </a:t>
            </a:r>
            <a:r>
              <a:rPr lang="ru-RU" u="sng" dirty="0"/>
              <a:t>быстрого преобразования адреса</a:t>
            </a:r>
          </a:p>
        </p:txBody>
      </p:sp>
    </p:spTree>
    <p:extLst>
      <p:ext uri="{BB962C8B-B14F-4D97-AF65-F5344CB8AC3E}">
        <p14:creationId xmlns:p14="http://schemas.microsoft.com/office/powerpoint/2010/main" val="3833748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Буфер быстрого </a:t>
            </a:r>
            <a:r>
              <a:rPr lang="ru-RU" dirty="0"/>
              <a:t>преобразования </a:t>
            </a:r>
            <a:r>
              <a:rPr lang="ru-RU" dirty="0" smtClean="0"/>
              <a:t>адреса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Большинство программ </a:t>
            </a:r>
            <a:r>
              <a:rPr lang="ru-RU" dirty="0"/>
              <a:t>склонны большинство своих обращений направлять к небольшому </a:t>
            </a:r>
            <a:r>
              <a:rPr lang="ru-RU" dirty="0" smtClean="0"/>
              <a:t>количеству </a:t>
            </a:r>
            <a:r>
              <a:rPr lang="ru-RU" dirty="0"/>
              <a:t>страниц, а не наоборот. </a:t>
            </a:r>
            <a:endParaRPr lang="ru-RU" dirty="0" smtClean="0"/>
          </a:p>
          <a:p>
            <a:r>
              <a:rPr lang="ru-RU" dirty="0" smtClean="0"/>
              <a:t>Поэтому </a:t>
            </a:r>
            <a:r>
              <a:rPr lang="ru-RU" dirty="0"/>
              <a:t>интенсивному чтению подвергается лишь </a:t>
            </a:r>
            <a:r>
              <a:rPr lang="ru-RU" dirty="0" smtClean="0"/>
              <a:t>небольшая </a:t>
            </a:r>
            <a:r>
              <a:rPr lang="ru-RU" dirty="0"/>
              <a:t>часть записей таблицы страниц, а остальная часть практически не используется</a:t>
            </a:r>
            <a:r>
              <a:rPr lang="ru-RU" dirty="0" smtClean="0"/>
              <a:t>.</a:t>
            </a:r>
          </a:p>
          <a:p>
            <a:r>
              <a:rPr lang="ru-RU" dirty="0"/>
              <a:t>Найденное решение состояло в оснащении компьютеров небольшим устройством для </a:t>
            </a:r>
            <a:r>
              <a:rPr lang="ru-RU" dirty="0" smtClean="0"/>
              <a:t>отображения </a:t>
            </a:r>
            <a:r>
              <a:rPr lang="ru-RU" dirty="0"/>
              <a:t>виртуальных адресов на физические без просмотра таблицы </a:t>
            </a:r>
            <a:r>
              <a:rPr lang="ru-RU" dirty="0" smtClean="0"/>
              <a:t>страниц - буфером </a:t>
            </a:r>
            <a:r>
              <a:rPr lang="ru-RU" dirty="0"/>
              <a:t>быстрого преобразования адреса </a:t>
            </a:r>
            <a:r>
              <a:rPr lang="ru-RU" dirty="0" smtClean="0"/>
              <a:t>(</a:t>
            </a:r>
            <a:r>
              <a:rPr lang="ru-RU" dirty="0" err="1"/>
              <a:t>Translation</a:t>
            </a:r>
            <a:r>
              <a:rPr lang="ru-RU" dirty="0"/>
              <a:t> </a:t>
            </a:r>
            <a:r>
              <a:rPr lang="ru-RU" dirty="0" err="1"/>
              <a:t>Lookaside</a:t>
            </a:r>
            <a:r>
              <a:rPr lang="ru-RU" dirty="0"/>
              <a:t> </a:t>
            </a:r>
            <a:r>
              <a:rPr lang="ru-RU" dirty="0" err="1"/>
              <a:t>Buffer</a:t>
            </a:r>
            <a:r>
              <a:rPr lang="ru-RU" dirty="0"/>
              <a:t> (TLB</a:t>
            </a:r>
            <a:r>
              <a:rPr lang="ru-RU" dirty="0" smtClean="0"/>
              <a:t>)) или ассоциативной памятью.</a:t>
            </a:r>
          </a:p>
          <a:p>
            <a:r>
              <a:rPr lang="ru-RU" dirty="0"/>
              <a:t>Зачастую это устройство находится внутри диспетчера </a:t>
            </a:r>
            <a:r>
              <a:rPr lang="ru-RU" dirty="0" smtClean="0"/>
              <a:t>памяти </a:t>
            </a:r>
            <a:r>
              <a:rPr lang="ru-RU" dirty="0"/>
              <a:t>и состоит из небольшого количества записей.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6832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Буфер быстрого преобразования адреса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Каждая запись содержит информацию об одной </a:t>
            </a:r>
            <a:r>
              <a:rPr lang="ru-RU" dirty="0" smtClean="0"/>
              <a:t>странице</a:t>
            </a:r>
            <a:r>
              <a:rPr lang="ru-RU" dirty="0"/>
              <a:t>, включающую номер виртуальной страницы, бит, устанавливающийся при </a:t>
            </a:r>
            <a:r>
              <a:rPr lang="ru-RU" dirty="0" smtClean="0"/>
              <a:t>модификации </a:t>
            </a:r>
            <a:r>
              <a:rPr lang="ru-RU" dirty="0"/>
              <a:t>страницы, код защиты (разрешение на чтение, запись и выполнение) </a:t>
            </a:r>
            <a:r>
              <a:rPr lang="ru-RU" dirty="0" smtClean="0"/>
              <a:t>и </a:t>
            </a:r>
            <a:r>
              <a:rPr lang="ru-RU" dirty="0"/>
              <a:t>физический страничный блок, в котором расположена страница. </a:t>
            </a:r>
            <a:endParaRPr lang="ru-RU" dirty="0" smtClean="0"/>
          </a:p>
          <a:p>
            <a:r>
              <a:rPr lang="ru-RU" dirty="0" smtClean="0"/>
              <a:t>Эти </a:t>
            </a:r>
            <a:r>
              <a:rPr lang="ru-RU" dirty="0"/>
              <a:t>поля имеют </a:t>
            </a:r>
            <a:r>
              <a:rPr lang="ru-RU" dirty="0" smtClean="0"/>
              <a:t>точное </a:t>
            </a:r>
            <a:r>
              <a:rPr lang="ru-RU" dirty="0"/>
              <a:t>соответствие полям в таблице страниц, за исключением номера виртуальной </a:t>
            </a:r>
            <a:r>
              <a:rPr lang="ru-RU" dirty="0" smtClean="0"/>
              <a:t>страницы</a:t>
            </a:r>
            <a:r>
              <a:rPr lang="ru-RU" dirty="0"/>
              <a:t>, который в таблице страниц не нужен. Еще один бит показывает </a:t>
            </a:r>
            <a:r>
              <a:rPr lang="ru-RU" dirty="0" err="1" smtClean="0"/>
              <a:t>задействованность</a:t>
            </a:r>
            <a:r>
              <a:rPr lang="ru-RU" dirty="0" smtClean="0"/>
              <a:t> </a:t>
            </a:r>
            <a:r>
              <a:rPr lang="ru-RU" dirty="0"/>
              <a:t>страницы (то есть используется она или нет).</a:t>
            </a:r>
          </a:p>
        </p:txBody>
      </p:sp>
    </p:spTree>
    <p:extLst>
      <p:ext uri="{BB962C8B-B14F-4D97-AF65-F5344CB8AC3E}">
        <p14:creationId xmlns:p14="http://schemas.microsoft.com/office/powerpoint/2010/main" val="1594814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Буфер быстрого преобразования адреса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4005064"/>
            <a:ext cx="7609656" cy="2376264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Когда диспетчеру памяти предоставляется для </a:t>
            </a:r>
            <a:r>
              <a:rPr lang="ru-RU" dirty="0" smtClean="0"/>
              <a:t>преобразования </a:t>
            </a:r>
            <a:r>
              <a:rPr lang="ru-RU" dirty="0"/>
              <a:t>виртуальный адрес, аппаратура сначала проверяет, не содержится ли номер </a:t>
            </a:r>
            <a:r>
              <a:rPr lang="ru-RU" dirty="0" smtClean="0"/>
              <a:t>его </a:t>
            </a:r>
            <a:r>
              <a:rPr lang="ru-RU" dirty="0"/>
              <a:t>виртуальной страницы в TLB, одновременно (то есть параллельно) сравнивая его </a:t>
            </a:r>
            <a:r>
              <a:rPr lang="ru-RU" dirty="0" smtClean="0"/>
              <a:t>значение </a:t>
            </a:r>
            <a:r>
              <a:rPr lang="ru-RU" dirty="0"/>
              <a:t>со всеми записями. </a:t>
            </a:r>
            <a:endParaRPr lang="ru-RU" dirty="0" smtClean="0"/>
          </a:p>
          <a:p>
            <a:r>
              <a:rPr lang="ru-RU" dirty="0" smtClean="0"/>
              <a:t>Для </a:t>
            </a:r>
            <a:r>
              <a:rPr lang="ru-RU" dirty="0"/>
              <a:t>этого потребуется специальное оборудование, </a:t>
            </a:r>
            <a:r>
              <a:rPr lang="ru-RU" dirty="0" smtClean="0"/>
              <a:t>имеющееся </a:t>
            </a:r>
            <a:r>
              <a:rPr lang="ru-RU" dirty="0"/>
              <a:t>у всех диспетчеров памяти с TLB-буферами. Если будет найдено </a:t>
            </a:r>
            <a:r>
              <a:rPr lang="ru-RU" dirty="0" smtClean="0"/>
              <a:t>соответствие и </a:t>
            </a:r>
            <a:r>
              <a:rPr lang="ru-RU" dirty="0"/>
              <a:t>биты защиты не будут препятствовать доступу, номер страничного блока будет взят </a:t>
            </a:r>
            <a:r>
              <a:rPr lang="ru-RU" dirty="0" smtClean="0"/>
              <a:t>непосредственно </a:t>
            </a:r>
            <a:r>
              <a:rPr lang="ru-RU" dirty="0"/>
              <a:t>из TLB, без обращения к таблице страниц.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484784"/>
            <a:ext cx="7366783" cy="244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4717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923112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Программное управление буфером </a:t>
            </a:r>
            <a:r>
              <a:rPr lang="en-US" dirty="0"/>
              <a:t>TLB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Современные машины  осуществляют практически все управление страницами </a:t>
            </a:r>
            <a:r>
              <a:rPr lang="ru-RU" dirty="0" smtClean="0"/>
              <a:t>программным </a:t>
            </a:r>
            <a:r>
              <a:rPr lang="ru-RU" dirty="0"/>
              <a:t>образом. </a:t>
            </a:r>
            <a:endParaRPr lang="ru-RU" dirty="0" smtClean="0"/>
          </a:p>
          <a:p>
            <a:r>
              <a:rPr lang="ru-RU" dirty="0" smtClean="0"/>
              <a:t>На </a:t>
            </a:r>
            <a:r>
              <a:rPr lang="ru-RU" dirty="0"/>
              <a:t>этих машинах записи TLB загружаются </a:t>
            </a:r>
            <a:r>
              <a:rPr lang="ru-RU" dirty="0" smtClean="0"/>
              <a:t>ОС явным </a:t>
            </a:r>
            <a:r>
              <a:rPr lang="ru-RU" dirty="0"/>
              <a:t>образом. </a:t>
            </a:r>
            <a:endParaRPr lang="ru-RU" dirty="0" smtClean="0"/>
          </a:p>
          <a:p>
            <a:r>
              <a:rPr lang="ru-RU" dirty="0" smtClean="0"/>
              <a:t>Когда </a:t>
            </a:r>
            <a:r>
              <a:rPr lang="ru-RU" dirty="0"/>
              <a:t>нужная запись в TLB отсутствует, диспетчер памяти, вместо </a:t>
            </a:r>
            <a:r>
              <a:rPr lang="ru-RU" dirty="0" smtClean="0"/>
              <a:t>того </a:t>
            </a:r>
            <a:r>
              <a:rPr lang="ru-RU" dirty="0"/>
              <a:t>чтобы обращаться к таблицам страниц для поиска и извлечения сведений о </a:t>
            </a:r>
            <a:r>
              <a:rPr lang="ru-RU" dirty="0" smtClean="0"/>
              <a:t>нужной </a:t>
            </a:r>
            <a:r>
              <a:rPr lang="ru-RU" dirty="0"/>
              <a:t>странице, просто генерирует TLB-ошибку и подбрасывает проблему </a:t>
            </a:r>
            <a:r>
              <a:rPr lang="ru-RU" dirty="0" smtClean="0"/>
              <a:t>ОС. </a:t>
            </a:r>
          </a:p>
          <a:p>
            <a:r>
              <a:rPr lang="ru-RU" dirty="0" smtClean="0"/>
              <a:t>Система </a:t>
            </a:r>
            <a:r>
              <a:rPr lang="ru-RU" dirty="0"/>
              <a:t>должна отыскать страницу, удалить запись из TLB, внести новую </a:t>
            </a:r>
            <a:r>
              <a:rPr lang="ru-RU" dirty="0" smtClean="0"/>
              <a:t>запись </a:t>
            </a:r>
            <a:r>
              <a:rPr lang="ru-RU" dirty="0"/>
              <a:t>и перезапустить команду, вызвавшую ошибку</a:t>
            </a:r>
            <a:r>
              <a:rPr lang="ru-RU" dirty="0" smtClean="0"/>
              <a:t>.</a:t>
            </a:r>
          </a:p>
          <a:p>
            <a:r>
              <a:rPr lang="ru-RU" dirty="0"/>
              <a:t>И разумеется, все это </a:t>
            </a:r>
            <a:r>
              <a:rPr lang="ru-RU" dirty="0" smtClean="0"/>
              <a:t>должно </a:t>
            </a:r>
            <a:r>
              <a:rPr lang="ru-RU" dirty="0"/>
              <a:t>быть сделано с использованием минимума </a:t>
            </a:r>
            <a:r>
              <a:rPr lang="ru-RU" dirty="0" smtClean="0"/>
              <a:t>команд.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2901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сегментация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 сих пор рассматриваемая виртуальная память была одномерной, поскольку в ней </a:t>
            </a:r>
            <a:r>
              <a:rPr lang="ru-RU" dirty="0" smtClean="0"/>
              <a:t>адреса </a:t>
            </a:r>
            <a:r>
              <a:rPr lang="ru-RU" dirty="0"/>
              <a:t>следовали друг за другом от 0 до некоторого максимального значения. </a:t>
            </a:r>
            <a:endParaRPr lang="ru-RU" dirty="0" smtClean="0"/>
          </a:p>
          <a:p>
            <a:r>
              <a:rPr lang="ru-RU" dirty="0" smtClean="0"/>
              <a:t>Но </a:t>
            </a:r>
            <a:r>
              <a:rPr lang="ru-RU" dirty="0"/>
              <a:t>для </a:t>
            </a:r>
            <a:r>
              <a:rPr lang="ru-RU" dirty="0" smtClean="0"/>
              <a:t>решения </a:t>
            </a:r>
            <a:r>
              <a:rPr lang="ru-RU" dirty="0"/>
              <a:t>многих проблем наличие двух и более отдельных виртуальных адресных </a:t>
            </a:r>
            <a:r>
              <a:rPr lang="ru-RU" dirty="0" smtClean="0"/>
              <a:t>пространств </a:t>
            </a:r>
            <a:r>
              <a:rPr lang="ru-RU" dirty="0"/>
              <a:t>может быть более рациональным вариантом, чем наличие только одного </a:t>
            </a:r>
            <a:r>
              <a:rPr lang="ru-RU" dirty="0" smtClean="0"/>
              <a:t>адресного </a:t>
            </a:r>
            <a:r>
              <a:rPr lang="ru-RU" dirty="0"/>
              <a:t>пространства. </a:t>
            </a:r>
          </a:p>
        </p:txBody>
      </p:sp>
    </p:spTree>
    <p:extLst>
      <p:ext uri="{BB962C8B-B14F-4D97-AF65-F5344CB8AC3E}">
        <p14:creationId xmlns:p14="http://schemas.microsoft.com/office/powerpoint/2010/main" val="1062586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сегментация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Например, у компилятора имеется множество таблиц, </a:t>
            </a:r>
            <a:r>
              <a:rPr lang="ru-RU" dirty="0" smtClean="0"/>
              <a:t>выстраиваемых </a:t>
            </a:r>
            <a:r>
              <a:rPr lang="ru-RU" dirty="0"/>
              <a:t>в процессе компиляции, к которым могут относиться</a:t>
            </a:r>
            <a:r>
              <a:rPr lang="ru-RU" dirty="0" smtClean="0"/>
              <a:t>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/>
              <a:t>исходный текст, сохраненный для печати листинга (в пакетных системах);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таблица </a:t>
            </a:r>
            <a:r>
              <a:rPr lang="ru-RU" dirty="0"/>
              <a:t>имен, содержащая имена и атрибуты переменных</a:t>
            </a:r>
            <a:r>
              <a:rPr lang="ru-RU" dirty="0" smtClean="0"/>
              <a:t>;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таблица</a:t>
            </a:r>
            <a:r>
              <a:rPr lang="ru-RU" dirty="0"/>
              <a:t>, содержащая все используемые константы, как целочисленные, так и с </a:t>
            </a:r>
            <a:r>
              <a:rPr lang="ru-RU" dirty="0" smtClean="0"/>
              <a:t>плавающей </a:t>
            </a:r>
            <a:r>
              <a:rPr lang="ru-RU" dirty="0"/>
              <a:t>точкой;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дерево </a:t>
            </a:r>
            <a:r>
              <a:rPr lang="ru-RU" dirty="0"/>
              <a:t>разбора, в котором содержится синтаксический анализ программы;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стек</a:t>
            </a:r>
            <a:r>
              <a:rPr lang="ru-RU" dirty="0"/>
              <a:t>, используемый для вызовов процедур внутри компилятора.</a:t>
            </a:r>
          </a:p>
        </p:txBody>
      </p:sp>
    </p:spTree>
    <p:extLst>
      <p:ext uri="{BB962C8B-B14F-4D97-AF65-F5344CB8AC3E}">
        <p14:creationId xmlns:p14="http://schemas.microsoft.com/office/powerpoint/2010/main" val="3710889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сегментация</a:t>
            </a:r>
            <a:endParaRPr lang="ru-RU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2276872"/>
            <a:ext cx="6315332" cy="4151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0"/>
            <a:ext cx="4114800" cy="4373563"/>
          </a:xfrm>
        </p:spPr>
        <p:txBody>
          <a:bodyPr>
            <a:normAutofit/>
          </a:bodyPr>
          <a:lstStyle/>
          <a:p>
            <a:r>
              <a:rPr lang="ru-RU" sz="1800" dirty="0"/>
              <a:t>В процессе компиляции каждая из первых четырех таблиц постоянно растет. А </a:t>
            </a:r>
            <a:r>
              <a:rPr lang="ru-RU" sz="1800" dirty="0" smtClean="0"/>
              <a:t>последняя </a:t>
            </a:r>
            <a:r>
              <a:rPr lang="ru-RU" sz="1800" dirty="0"/>
              <a:t>увеличивается и уменьшается в размерах совершенно </a:t>
            </a:r>
            <a:r>
              <a:rPr lang="ru-RU" sz="1800" dirty="0" smtClean="0"/>
              <a:t>непредсказуемым образом</a:t>
            </a:r>
            <a:r>
              <a:rPr lang="ru-RU" sz="1800" dirty="0"/>
              <a:t>. </a:t>
            </a:r>
          </a:p>
          <a:p>
            <a:endParaRPr lang="ru-RU" dirty="0" smtClean="0"/>
          </a:p>
          <a:p>
            <a:endParaRPr lang="ru-RU" dirty="0"/>
          </a:p>
          <a:p>
            <a:r>
              <a:rPr lang="ru-RU" sz="1800" dirty="0" smtClean="0"/>
              <a:t>В </a:t>
            </a:r>
            <a:r>
              <a:rPr lang="ru-RU" sz="1800" dirty="0"/>
              <a:t>одномерной памяти этим пяти таблицам должны быть выделены последовательные </a:t>
            </a:r>
            <a:r>
              <a:rPr lang="ru-RU" sz="1800" dirty="0" smtClean="0"/>
              <a:t>участки </a:t>
            </a:r>
            <a:r>
              <a:rPr lang="ru-RU" sz="1800" dirty="0"/>
              <a:t>виртуального адресного </a:t>
            </a:r>
            <a:r>
              <a:rPr lang="ru-RU" sz="1800" dirty="0" smtClean="0"/>
              <a:t>пространства.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444762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сегментация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Простым и универсальным решением является предоставление машины с большим </a:t>
            </a:r>
            <a:r>
              <a:rPr lang="ru-RU" dirty="0" smtClean="0"/>
              <a:t>количеством </a:t>
            </a:r>
            <a:r>
              <a:rPr lang="ru-RU" dirty="0"/>
              <a:t>совершенно независимых адресных пространств, называемых </a:t>
            </a:r>
            <a:r>
              <a:rPr lang="ru-RU" u="sng" dirty="0"/>
              <a:t>сегментами</a:t>
            </a:r>
            <a:r>
              <a:rPr lang="ru-RU" dirty="0"/>
              <a:t>. </a:t>
            </a:r>
          </a:p>
          <a:p>
            <a:r>
              <a:rPr lang="ru-RU" dirty="0"/>
              <a:t>Каждый сегмент состоит из линейной </a:t>
            </a:r>
            <a:r>
              <a:rPr lang="ru-RU" dirty="0" smtClean="0"/>
              <a:t>последовательности </a:t>
            </a:r>
            <a:r>
              <a:rPr lang="ru-RU" dirty="0"/>
              <a:t>адресов от 0 до некоторого </a:t>
            </a:r>
            <a:r>
              <a:rPr lang="ru-RU" dirty="0" smtClean="0"/>
              <a:t>максимума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Длина </a:t>
            </a:r>
            <a:r>
              <a:rPr lang="ru-RU" dirty="0"/>
              <a:t>каждого сегмента может иметь любое значение от 0 до максимально </a:t>
            </a:r>
            <a:r>
              <a:rPr lang="ru-RU" dirty="0" smtClean="0"/>
              <a:t>разрешенного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Различные </a:t>
            </a:r>
            <a:r>
              <a:rPr lang="ru-RU" dirty="0"/>
              <a:t>сегменты могут быть разной длины, как это обычно и случается. </a:t>
            </a:r>
            <a:r>
              <a:rPr lang="ru-RU" dirty="0" smtClean="0"/>
              <a:t>Кроме </a:t>
            </a:r>
            <a:r>
              <a:rPr lang="ru-RU" dirty="0"/>
              <a:t>того, длина сегмента может изменяться в процессе выполнения </a:t>
            </a:r>
            <a:r>
              <a:rPr lang="ru-RU" dirty="0" smtClean="0"/>
              <a:t>программы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3587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сегментация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Разумеется, сегмент может заполниться до </a:t>
            </a:r>
            <a:r>
              <a:rPr lang="ru-RU" dirty="0" smtClean="0"/>
              <a:t>отказа</a:t>
            </a:r>
            <a:r>
              <a:rPr lang="ru-RU" dirty="0"/>
              <a:t>, но обычно сегменты имеют очень большие размеры, поэтому такое случается </a:t>
            </a:r>
            <a:r>
              <a:rPr lang="ru-RU" dirty="0" smtClean="0"/>
              <a:t>крайне </a:t>
            </a:r>
            <a:r>
              <a:rPr lang="ru-RU" dirty="0"/>
              <a:t>редко. </a:t>
            </a:r>
            <a:endParaRPr lang="ru-RU" dirty="0" smtClean="0"/>
          </a:p>
          <a:p>
            <a:r>
              <a:rPr lang="ru-RU" dirty="0" smtClean="0"/>
              <a:t>Для </a:t>
            </a:r>
            <a:r>
              <a:rPr lang="ru-RU" dirty="0"/>
              <a:t>указания адреса в такой сегментированной, или двумерной, памяти, </a:t>
            </a:r>
            <a:r>
              <a:rPr lang="ru-RU" dirty="0" smtClean="0"/>
              <a:t>программа </a:t>
            </a:r>
            <a:r>
              <a:rPr lang="ru-RU" dirty="0"/>
              <a:t>должна предоставить адрес, состоящий из двух частей: </a:t>
            </a:r>
            <a:endParaRPr lang="ru-RU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номера </a:t>
            </a:r>
            <a:r>
              <a:rPr lang="ru-RU" dirty="0"/>
              <a:t>сегмента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адреса </a:t>
            </a:r>
            <a:r>
              <a:rPr lang="ru-RU" dirty="0"/>
              <a:t>внутри этого сегмента. </a:t>
            </a:r>
          </a:p>
        </p:txBody>
      </p:sp>
    </p:spTree>
    <p:extLst>
      <p:ext uri="{BB962C8B-B14F-4D97-AF65-F5344CB8AC3E}">
        <p14:creationId xmlns:p14="http://schemas.microsoft.com/office/powerpoint/2010/main" val="3113843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сегментация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Сегментированная </a:t>
            </a:r>
            <a:r>
              <a:rPr lang="ru-RU" dirty="0"/>
              <a:t>память, </a:t>
            </a:r>
            <a:r>
              <a:rPr lang="ru-RU" dirty="0" smtClean="0"/>
              <a:t>используемая </a:t>
            </a:r>
            <a:r>
              <a:rPr lang="ru-RU" dirty="0"/>
              <a:t>для рассмотренных ранее таблиц компилятора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492896"/>
            <a:ext cx="7637596" cy="4104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82184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сегментация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Стоит подчеркнуть, что сегмент — это логический объект. </a:t>
            </a:r>
            <a:r>
              <a:rPr lang="ru-RU" dirty="0" smtClean="0"/>
              <a:t>Программист </a:t>
            </a:r>
            <a:r>
              <a:rPr lang="ru-RU" dirty="0"/>
              <a:t>знает это </a:t>
            </a:r>
            <a:r>
              <a:rPr lang="ru-RU" dirty="0" smtClean="0"/>
              <a:t>и </a:t>
            </a:r>
            <a:r>
              <a:rPr lang="ru-RU" dirty="0"/>
              <a:t>использует его именно в этом качестве. </a:t>
            </a:r>
            <a:endParaRPr lang="ru-RU" dirty="0" smtClean="0"/>
          </a:p>
          <a:p>
            <a:r>
              <a:rPr lang="ru-RU" dirty="0" smtClean="0"/>
              <a:t>Сегмент </a:t>
            </a:r>
            <a:r>
              <a:rPr lang="ru-RU" dirty="0"/>
              <a:t>может содержать процедуру, или </a:t>
            </a:r>
            <a:r>
              <a:rPr lang="ru-RU" dirty="0" smtClean="0"/>
              <a:t>массив</a:t>
            </a:r>
            <a:r>
              <a:rPr lang="ru-RU" dirty="0"/>
              <a:t>, или стек, или набор скалярных переменных, но обычно он не содержит смесь </a:t>
            </a:r>
            <a:r>
              <a:rPr lang="ru-RU" dirty="0" smtClean="0"/>
              <a:t>из </a:t>
            </a:r>
            <a:r>
              <a:rPr lang="ru-RU" dirty="0"/>
              <a:t>разнотипных данных.</a:t>
            </a:r>
          </a:p>
        </p:txBody>
      </p:sp>
    </p:spTree>
    <p:extLst>
      <p:ext uri="{BB962C8B-B14F-4D97-AF65-F5344CB8AC3E}">
        <p14:creationId xmlns:p14="http://schemas.microsoft.com/office/powerpoint/2010/main" val="1958008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427168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Сравнение страничной организации памяти и сегментации</a:t>
            </a: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05983" y="5085184"/>
            <a:ext cx="7827805" cy="1360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86"/>
          <a:stretch/>
        </p:blipFill>
        <p:spPr bwMode="auto">
          <a:xfrm>
            <a:off x="467544" y="1484784"/>
            <a:ext cx="7766244" cy="3607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1056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сегментация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9972" y="1484784"/>
            <a:ext cx="7620000" cy="1964432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Пример </a:t>
            </a:r>
            <a:r>
              <a:rPr lang="ru-RU" dirty="0"/>
              <a:t>физической памяти, изначально имеющей пять сегментов. </a:t>
            </a:r>
            <a:r>
              <a:rPr lang="ru-RU" dirty="0" smtClean="0"/>
              <a:t>Что </a:t>
            </a:r>
            <a:r>
              <a:rPr lang="ru-RU" dirty="0"/>
              <a:t>получится, если сегмент 1 удаляется, а на его место помещается </a:t>
            </a:r>
            <a:r>
              <a:rPr lang="ru-RU" dirty="0" smtClean="0"/>
              <a:t>меньший </a:t>
            </a:r>
            <a:r>
              <a:rPr lang="ru-RU" dirty="0"/>
              <a:t>по размеру сегмент </a:t>
            </a:r>
            <a:r>
              <a:rPr lang="ru-RU" dirty="0" smtClean="0"/>
              <a:t>7? Получится </a:t>
            </a:r>
            <a:r>
              <a:rPr lang="ru-RU" dirty="0"/>
              <a:t>конфигурация памяти, показанная на </a:t>
            </a:r>
            <a:r>
              <a:rPr lang="ru-RU" dirty="0" smtClean="0"/>
              <a:t>рис</a:t>
            </a:r>
            <a:r>
              <a:rPr lang="ru-RU" dirty="0"/>
              <a:t>. </a:t>
            </a:r>
            <a:r>
              <a:rPr lang="ru-RU" dirty="0" smtClean="0"/>
              <a:t>б</a:t>
            </a:r>
            <a:r>
              <a:rPr lang="ru-RU" dirty="0"/>
              <a:t>. Между сегментами 7 и 2 будет неиспользуемая область, то есть дыра. Затем </a:t>
            </a:r>
            <a:r>
              <a:rPr lang="ru-RU" dirty="0" smtClean="0"/>
              <a:t>сегмент </a:t>
            </a:r>
            <a:r>
              <a:rPr lang="ru-RU" dirty="0"/>
              <a:t>4 заменяется сегментом 5 (рис. </a:t>
            </a:r>
            <a:r>
              <a:rPr lang="ru-RU" dirty="0" smtClean="0"/>
              <a:t>в</a:t>
            </a:r>
            <a:r>
              <a:rPr lang="ru-RU" dirty="0"/>
              <a:t>), а сегмент 3 — сегментом 6 (рис. </a:t>
            </a:r>
            <a:r>
              <a:rPr lang="ru-RU" dirty="0" smtClean="0"/>
              <a:t>г</a:t>
            </a:r>
            <a:r>
              <a:rPr lang="ru-RU" dirty="0"/>
              <a:t>).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3356992"/>
            <a:ext cx="6016473" cy="3149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779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сегментация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После </a:t>
            </a:r>
            <a:r>
              <a:rPr lang="ru-RU" dirty="0"/>
              <a:t>того как система какое-то время поработает, память разделится на несколько </a:t>
            </a:r>
            <a:r>
              <a:rPr lang="ru-RU" dirty="0" smtClean="0"/>
              <a:t>участков</a:t>
            </a:r>
            <a:r>
              <a:rPr lang="ru-RU" dirty="0"/>
              <a:t>, часть из которых будут содержать сегменты, а часть — дыры. </a:t>
            </a:r>
            <a:endParaRPr lang="ru-RU" dirty="0" smtClean="0"/>
          </a:p>
          <a:p>
            <a:r>
              <a:rPr lang="ru-RU" dirty="0" smtClean="0"/>
              <a:t>Это </a:t>
            </a:r>
            <a:r>
              <a:rPr lang="ru-RU" dirty="0"/>
              <a:t>явление, </a:t>
            </a:r>
            <a:r>
              <a:rPr lang="ru-RU" dirty="0" smtClean="0"/>
              <a:t>названное </a:t>
            </a:r>
            <a:r>
              <a:rPr lang="ru-RU" dirty="0"/>
              <a:t>явлением шахматной доски, или </a:t>
            </a:r>
            <a:r>
              <a:rPr lang="ru-RU" u="sng" dirty="0"/>
              <a:t>внешней фрагментацией</a:t>
            </a:r>
            <a:r>
              <a:rPr lang="ru-RU" dirty="0"/>
              <a:t>, приводит к </a:t>
            </a:r>
            <a:r>
              <a:rPr lang="ru-RU" dirty="0" smtClean="0"/>
              <a:t>пустой </a:t>
            </a:r>
            <a:r>
              <a:rPr lang="ru-RU" dirty="0"/>
              <a:t>трате памяти на дыры. С ним можно справиться за счет </a:t>
            </a:r>
            <a:r>
              <a:rPr lang="ru-RU" dirty="0" smtClean="0"/>
              <a:t>уплотнения.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173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851104" cy="13716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Сегментно-страничная организация памяти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При большом размере сегментов может стать неудобно или даже невозможно хранить </a:t>
            </a:r>
            <a:r>
              <a:rPr lang="ru-RU" dirty="0" smtClean="0"/>
              <a:t>их </a:t>
            </a:r>
            <a:r>
              <a:rPr lang="ru-RU" dirty="0"/>
              <a:t>целиком в оперативной памяти. </a:t>
            </a:r>
            <a:endParaRPr lang="ru-RU" dirty="0" smtClean="0"/>
          </a:p>
          <a:p>
            <a:r>
              <a:rPr lang="ru-RU" dirty="0" smtClean="0"/>
              <a:t>Это </a:t>
            </a:r>
            <a:r>
              <a:rPr lang="ru-RU" dirty="0"/>
              <a:t>наталкивает на идею применения к ним страничной организации, чтобы иметь дело только с теми страницами сегмента, которые </a:t>
            </a:r>
            <a:r>
              <a:rPr lang="ru-RU" dirty="0" smtClean="0"/>
              <a:t>нужны </a:t>
            </a:r>
            <a:r>
              <a:rPr lang="ru-RU" dirty="0"/>
              <a:t>в данный момент. </a:t>
            </a:r>
            <a:endParaRPr lang="ru-RU" dirty="0" smtClean="0"/>
          </a:p>
          <a:p>
            <a:r>
              <a:rPr lang="ru-RU" dirty="0"/>
              <a:t>Поддержка страничных сегментов реализована в системе </a:t>
            </a:r>
            <a:r>
              <a:rPr lang="ru-RU" dirty="0" err="1"/>
              <a:t>Intel</a:t>
            </a:r>
            <a:r>
              <a:rPr lang="ru-RU" dirty="0"/>
              <a:t> </a:t>
            </a:r>
            <a:r>
              <a:rPr lang="ru-RU" dirty="0" smtClean="0"/>
              <a:t>x86.</a:t>
            </a:r>
          </a:p>
          <a:p>
            <a:r>
              <a:rPr lang="ru-RU" dirty="0"/>
              <a:t>Хотя некоторые остатки старых механизмов сегментации в исходном режиме работы </a:t>
            </a:r>
            <a:r>
              <a:rPr lang="ru-RU" dirty="0" smtClean="0"/>
              <a:t>систем </a:t>
            </a:r>
            <a:r>
              <a:rPr lang="ru-RU" dirty="0"/>
              <a:t>x86-64 все еще доступны, главным образом для обеспечения совместимости, они больше не играют ту же роль и не предлагают реальную сегментацию. Но системы x86-32 </a:t>
            </a:r>
            <a:r>
              <a:rPr lang="ru-RU" dirty="0" smtClean="0"/>
              <a:t>до </a:t>
            </a:r>
            <a:r>
              <a:rPr lang="ru-RU" dirty="0"/>
              <a:t>сих пор поставляются оборудованными по полной </a:t>
            </a:r>
            <a:r>
              <a:rPr lang="ru-RU" dirty="0" smtClean="0"/>
              <a:t>схеме.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617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995120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Сегментно-страничная организация памяти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Основа виртуальной памяти системы x86 состоит их двух таблиц: </a:t>
            </a:r>
            <a:r>
              <a:rPr lang="ru-RU" u="sng" dirty="0"/>
              <a:t>локальной таблицы </a:t>
            </a:r>
            <a:r>
              <a:rPr lang="ru-RU" u="sng" dirty="0" smtClean="0"/>
              <a:t>дескрипторов </a:t>
            </a:r>
            <a:r>
              <a:rPr lang="ru-RU" dirty="0"/>
              <a:t>(</a:t>
            </a:r>
            <a:r>
              <a:rPr lang="ru-RU" dirty="0" err="1"/>
              <a:t>Local</a:t>
            </a:r>
            <a:r>
              <a:rPr lang="ru-RU" dirty="0"/>
              <a:t> </a:t>
            </a:r>
            <a:r>
              <a:rPr lang="ru-RU" dirty="0" err="1"/>
              <a:t>Descriptor</a:t>
            </a:r>
            <a:r>
              <a:rPr lang="ru-RU" dirty="0"/>
              <a:t> </a:t>
            </a:r>
            <a:r>
              <a:rPr lang="ru-RU" dirty="0" err="1"/>
              <a:t>Table</a:t>
            </a:r>
            <a:r>
              <a:rPr lang="ru-RU" dirty="0"/>
              <a:t> (LDT)) и </a:t>
            </a:r>
            <a:r>
              <a:rPr lang="ru-RU" u="sng" dirty="0"/>
              <a:t>глобальной таблицы дескрипторов</a:t>
            </a:r>
            <a:r>
              <a:rPr lang="ru-RU" dirty="0"/>
              <a:t> </a:t>
            </a:r>
            <a:r>
              <a:rPr lang="ru-RU" dirty="0" smtClean="0"/>
              <a:t>(</a:t>
            </a:r>
            <a:r>
              <a:rPr lang="ru-RU" dirty="0" err="1"/>
              <a:t>Global</a:t>
            </a:r>
            <a:r>
              <a:rPr lang="ru-RU" dirty="0"/>
              <a:t> </a:t>
            </a:r>
            <a:r>
              <a:rPr lang="ru-RU" dirty="0" err="1"/>
              <a:t>Descriptor</a:t>
            </a:r>
            <a:r>
              <a:rPr lang="ru-RU" dirty="0"/>
              <a:t> </a:t>
            </a:r>
            <a:r>
              <a:rPr lang="ru-RU" dirty="0" err="1"/>
              <a:t>Table</a:t>
            </a:r>
            <a:r>
              <a:rPr lang="ru-RU" dirty="0"/>
              <a:t> (GDT)). </a:t>
            </a:r>
            <a:endParaRPr lang="ru-RU" dirty="0" smtClean="0"/>
          </a:p>
          <a:p>
            <a:r>
              <a:rPr lang="ru-RU" dirty="0" smtClean="0"/>
              <a:t>У </a:t>
            </a:r>
            <a:r>
              <a:rPr lang="ru-RU" dirty="0"/>
              <a:t>каждой программы есть собственная таблица LDT, </a:t>
            </a:r>
            <a:r>
              <a:rPr lang="ru-RU" dirty="0" smtClean="0"/>
              <a:t>но </a:t>
            </a:r>
            <a:r>
              <a:rPr lang="ru-RU" dirty="0"/>
              <a:t>глобальная таблица дескрипторов, которую совместно используют все программы </a:t>
            </a:r>
            <a:r>
              <a:rPr lang="ru-RU" dirty="0" smtClean="0"/>
              <a:t>в </a:t>
            </a:r>
            <a:r>
              <a:rPr lang="ru-RU" dirty="0"/>
              <a:t>компьютере, всего одна.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таблице LDT описываются сегменты, локальные для </a:t>
            </a:r>
            <a:r>
              <a:rPr lang="ru-RU" dirty="0" smtClean="0"/>
              <a:t>каждой </a:t>
            </a:r>
            <a:r>
              <a:rPr lang="ru-RU" dirty="0"/>
              <a:t>программы, включая код этих программ, их данные, стек и т. д., а в таблице GDT </a:t>
            </a:r>
            <a:r>
              <a:rPr lang="ru-RU" dirty="0" smtClean="0"/>
              <a:t>описываются </a:t>
            </a:r>
            <a:r>
              <a:rPr lang="ru-RU" dirty="0"/>
              <a:t>системные сегменты, включая саму операционную систему.</a:t>
            </a:r>
          </a:p>
        </p:txBody>
      </p:sp>
    </p:spTree>
    <p:extLst>
      <p:ext uri="{BB962C8B-B14F-4D97-AF65-F5344CB8AC3E}">
        <p14:creationId xmlns:p14="http://schemas.microsoft.com/office/powerpoint/2010/main" val="1838654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779096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Сегментно-страничная организация памяти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Чтобы получить доступ к сегменту, программа, работающая в системе x86, сначала </a:t>
            </a:r>
            <a:r>
              <a:rPr lang="ru-RU" dirty="0" smtClean="0"/>
              <a:t>загружает </a:t>
            </a:r>
            <a:r>
              <a:rPr lang="ru-RU" dirty="0"/>
              <a:t>селектор для этого сегмента в один из шести сегментных регистров машины. </a:t>
            </a:r>
          </a:p>
          <a:p>
            <a:r>
              <a:rPr lang="ru-RU" dirty="0"/>
              <a:t>Во время выполнения программы регистр CS содержит селектор для сегмента кода, </a:t>
            </a:r>
            <a:r>
              <a:rPr lang="ru-RU" dirty="0" smtClean="0"/>
              <a:t>а </a:t>
            </a:r>
            <a:r>
              <a:rPr lang="ru-RU" dirty="0"/>
              <a:t>регистр DS хранит селектор для сегмента данных. Каждый селектор </a:t>
            </a:r>
            <a:r>
              <a:rPr lang="ru-RU" dirty="0" smtClean="0"/>
              <a:t>представляет </a:t>
            </a:r>
            <a:r>
              <a:rPr lang="ru-RU" dirty="0"/>
              <a:t>собой </a:t>
            </a:r>
            <a:r>
              <a:rPr lang="ru-RU" dirty="0" smtClean="0"/>
              <a:t>16-разрядное </a:t>
            </a:r>
            <a:r>
              <a:rPr lang="ru-RU" dirty="0"/>
              <a:t>целое число</a:t>
            </a:r>
            <a:r>
              <a:rPr lang="ru-RU" dirty="0" smtClean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3418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139136" cy="1371600"/>
          </a:xfrm>
        </p:spPr>
        <p:txBody>
          <a:bodyPr>
            <a:normAutofit/>
          </a:bodyPr>
          <a:lstStyle/>
          <a:p>
            <a:r>
              <a:rPr lang="ru-RU" dirty="0"/>
              <a:t>Сегментно-страничная организация памяти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0"/>
            <a:ext cx="7620000" cy="3072083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Один из битов селектора несет информацию о том, является ли данный сегмент </a:t>
            </a:r>
            <a:r>
              <a:rPr lang="ru-RU" dirty="0" smtClean="0"/>
              <a:t>локальным </a:t>
            </a:r>
            <a:r>
              <a:rPr lang="ru-RU" dirty="0"/>
              <a:t>или глобальным (то есть к какой таблице дескрипторов он относится, локальной </a:t>
            </a:r>
            <a:r>
              <a:rPr lang="ru-RU" dirty="0" smtClean="0"/>
              <a:t>или </a:t>
            </a:r>
            <a:r>
              <a:rPr lang="ru-RU" dirty="0"/>
              <a:t>глобальной). </a:t>
            </a:r>
            <a:endParaRPr lang="ru-RU" dirty="0" smtClean="0"/>
          </a:p>
          <a:p>
            <a:r>
              <a:rPr lang="ru-RU" dirty="0" smtClean="0"/>
              <a:t>Следующие </a:t>
            </a:r>
            <a:r>
              <a:rPr lang="ru-RU" dirty="0"/>
              <a:t>13 битов определяют номер записи в таблице </a:t>
            </a:r>
            <a:r>
              <a:rPr lang="ru-RU" dirty="0" smtClean="0"/>
              <a:t>дескрипторов</a:t>
            </a:r>
            <a:r>
              <a:rPr lang="ru-RU" dirty="0"/>
              <a:t>, поэтому в каждой из этих таблиц не может содержаться более чем 8 К сегментных </a:t>
            </a:r>
            <a:r>
              <a:rPr lang="ru-RU" dirty="0" smtClean="0"/>
              <a:t>дескрипторов.</a:t>
            </a:r>
          </a:p>
          <a:p>
            <a:r>
              <a:rPr lang="ru-RU" dirty="0"/>
              <a:t>Остальные 2 бита имеют отношение к </a:t>
            </a:r>
            <a:r>
              <a:rPr lang="ru-RU" dirty="0" smtClean="0"/>
              <a:t>защите.</a:t>
            </a:r>
            <a:endParaRPr lang="ru-RU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4824684"/>
            <a:ext cx="5040560" cy="1556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4052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355160" cy="1371600"/>
          </a:xfrm>
        </p:spPr>
        <p:txBody>
          <a:bodyPr>
            <a:normAutofit/>
          </a:bodyPr>
          <a:lstStyle/>
          <a:p>
            <a:r>
              <a:rPr lang="ru-RU" dirty="0"/>
              <a:t>Сегментно-страничная организация памяти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Во время загрузки селектора в сегментный регистр из локальной или глобальной </a:t>
            </a:r>
            <a:r>
              <a:rPr lang="ru-RU" dirty="0" smtClean="0"/>
              <a:t>таблицы </a:t>
            </a:r>
            <a:r>
              <a:rPr lang="ru-RU" dirty="0"/>
              <a:t>дескрипторов извлекается соответствующий дескриптор, который, чтобы </a:t>
            </a:r>
            <a:r>
              <a:rPr lang="ru-RU" dirty="0" smtClean="0"/>
              <a:t>ускорить </a:t>
            </a:r>
            <a:r>
              <a:rPr lang="ru-RU" dirty="0"/>
              <a:t>к нему обращение, сохраняется в микропрограммных регистрах</a:t>
            </a:r>
            <a:r>
              <a:rPr lang="ru-RU" dirty="0" smtClean="0"/>
              <a:t>.</a:t>
            </a:r>
          </a:p>
          <a:p>
            <a:r>
              <a:rPr lang="ru-RU" dirty="0"/>
              <a:t>Чтобы облегчить определение местоположения дескриптора, был искусно подобран </a:t>
            </a:r>
            <a:r>
              <a:rPr lang="ru-RU" dirty="0" smtClean="0"/>
              <a:t>формат </a:t>
            </a:r>
            <a:r>
              <a:rPr lang="ru-RU" dirty="0"/>
              <a:t>селектора. Сначала на основе бита 2 селектора выбирается локальная или </a:t>
            </a:r>
            <a:r>
              <a:rPr lang="ru-RU" dirty="0" smtClean="0"/>
              <a:t>глобальная </a:t>
            </a:r>
            <a:r>
              <a:rPr lang="ru-RU" dirty="0"/>
              <a:t>таблица дескрипторов. Затем селектор копируется во внутренний рабочий </a:t>
            </a:r>
            <a:r>
              <a:rPr lang="ru-RU" dirty="0" smtClean="0"/>
              <a:t>регистр</a:t>
            </a:r>
            <a:r>
              <a:rPr lang="ru-RU" dirty="0"/>
              <a:t>, и значения трех младших битов устанавливаются в 0. </a:t>
            </a:r>
            <a:endParaRPr lang="ru-RU" dirty="0" smtClean="0"/>
          </a:p>
          <a:p>
            <a:r>
              <a:rPr lang="ru-RU" dirty="0" smtClean="0"/>
              <a:t>Наконец</a:t>
            </a:r>
            <a:r>
              <a:rPr lang="ru-RU" dirty="0"/>
              <a:t>, к этой копии </a:t>
            </a:r>
            <a:r>
              <a:rPr lang="ru-RU" dirty="0" smtClean="0"/>
              <a:t>прибавляется </a:t>
            </a:r>
            <a:r>
              <a:rPr lang="ru-RU" dirty="0"/>
              <a:t>адрес одной из таблиц, LDT или GDT, чтобы получить прямой указатель </a:t>
            </a:r>
            <a:r>
              <a:rPr lang="ru-RU" dirty="0" smtClean="0"/>
              <a:t>на </a:t>
            </a:r>
            <a:r>
              <a:rPr lang="ru-RU" dirty="0"/>
              <a:t>дескриптор. Например, селектор 72 ссылается на запись 9 в глобальной таблице </a:t>
            </a:r>
            <a:r>
              <a:rPr lang="ru-RU" dirty="0" smtClean="0"/>
              <a:t>дескрипторов</a:t>
            </a:r>
            <a:r>
              <a:rPr lang="ru-RU" dirty="0"/>
              <a:t>, которая расположена по адресу в таблице GDT + 72.</a:t>
            </a:r>
          </a:p>
        </p:txBody>
      </p:sp>
    </p:spTree>
    <p:extLst>
      <p:ext uri="{BB962C8B-B14F-4D97-AF65-F5344CB8AC3E}">
        <p14:creationId xmlns:p14="http://schemas.microsoft.com/office/powerpoint/2010/main" val="3307317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139136" cy="1371600"/>
          </a:xfrm>
        </p:spPr>
        <p:txBody>
          <a:bodyPr>
            <a:normAutofit/>
          </a:bodyPr>
          <a:lstStyle/>
          <a:p>
            <a:r>
              <a:rPr lang="ru-RU" dirty="0"/>
              <a:t>Сегментно-страничная организация памяти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4941168"/>
            <a:ext cx="7620000" cy="1184995"/>
          </a:xfrm>
        </p:spPr>
        <p:txBody>
          <a:bodyPr/>
          <a:lstStyle/>
          <a:p>
            <a:r>
              <a:rPr lang="ru-RU" dirty="0"/>
              <a:t>Дескриптор сегмента кода в системе </a:t>
            </a:r>
            <a:r>
              <a:rPr lang="ru-RU" dirty="0" err="1"/>
              <a:t>Pentium</a:t>
            </a:r>
            <a:r>
              <a:rPr lang="ru-RU" dirty="0"/>
              <a:t>. </a:t>
            </a:r>
            <a:r>
              <a:rPr lang="ru-RU" dirty="0" smtClean="0"/>
              <a:t>Сегменты </a:t>
            </a:r>
            <a:r>
              <a:rPr lang="ru-RU" dirty="0"/>
              <a:t>данных имеют незначительные отличия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1" y="1628800"/>
            <a:ext cx="7868005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5221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283152" cy="1371600"/>
          </a:xfrm>
        </p:spPr>
        <p:txBody>
          <a:bodyPr>
            <a:normAutofit/>
          </a:bodyPr>
          <a:lstStyle/>
          <a:p>
            <a:r>
              <a:rPr lang="ru-RU" dirty="0"/>
              <a:t>Сегментно-страничная организация памяти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Теперь проследим шаги, с помощью которых пара (селектор, смещение) преобразуется </a:t>
            </a:r>
            <a:r>
              <a:rPr lang="ru-RU" dirty="0" smtClean="0"/>
              <a:t>в </a:t>
            </a:r>
            <a:r>
              <a:rPr lang="ru-RU" dirty="0"/>
              <a:t>физический адрес. Как только микропрограмма узнает, какой сегментный регистр используется, она может найти в своих внутренних регистрах полный дескриптор, </a:t>
            </a:r>
            <a:r>
              <a:rPr lang="ru-RU" dirty="0" smtClean="0"/>
              <a:t>соответствующий </a:t>
            </a:r>
            <a:r>
              <a:rPr lang="ru-RU" dirty="0"/>
              <a:t>этому селектору. Если сегмент не существует (селектор равен 0) или </a:t>
            </a:r>
            <a:r>
              <a:rPr lang="ru-RU" dirty="0" smtClean="0"/>
              <a:t>в </a:t>
            </a:r>
            <a:r>
              <a:rPr lang="ru-RU" dirty="0"/>
              <a:t>данный момент выгружен, возникает системное прерывание.</a:t>
            </a:r>
          </a:p>
          <a:p>
            <a:r>
              <a:rPr lang="ru-RU" dirty="0"/>
              <a:t>Затем аппаратура использует поле предела </a:t>
            </a:r>
            <a:r>
              <a:rPr lang="ru-RU" dirty="0" err="1"/>
              <a:t>Limit</a:t>
            </a:r>
            <a:r>
              <a:rPr lang="ru-RU" dirty="0"/>
              <a:t>, чтобы проверить, не выходит ли </a:t>
            </a:r>
            <a:r>
              <a:rPr lang="ru-RU" dirty="0" smtClean="0"/>
              <a:t>смещение </a:t>
            </a:r>
            <a:r>
              <a:rPr lang="ru-RU" dirty="0"/>
              <a:t>за предел сегмента, и в этом случае также возникает системное прерывание</a:t>
            </a:r>
            <a:r>
              <a:rPr lang="ru-RU" dirty="0" smtClean="0"/>
              <a:t>.</a:t>
            </a:r>
          </a:p>
          <a:p>
            <a:r>
              <a:rPr lang="ru-RU" dirty="0"/>
              <a:t>Предположим, что сегмент находится в памяти и смещение попало в нужный интервал, </a:t>
            </a:r>
            <a:r>
              <a:rPr lang="ru-RU" dirty="0" smtClean="0"/>
              <a:t>тогда </a:t>
            </a:r>
            <a:r>
              <a:rPr lang="ru-RU" dirty="0"/>
              <a:t>система x86 прибавляет 32-разрядное поле </a:t>
            </a:r>
            <a:r>
              <a:rPr lang="ru-RU" dirty="0" err="1"/>
              <a:t>Base</a:t>
            </a:r>
            <a:r>
              <a:rPr lang="ru-RU" dirty="0"/>
              <a:t> (база) в дескрипторе к </a:t>
            </a:r>
            <a:r>
              <a:rPr lang="ru-RU" dirty="0" smtClean="0"/>
              <a:t>смещению</a:t>
            </a:r>
            <a:r>
              <a:rPr lang="ru-RU" dirty="0"/>
              <a:t>, формируя то, что называется линейным адресом</a:t>
            </a:r>
          </a:p>
        </p:txBody>
      </p:sp>
    </p:spTree>
    <p:extLst>
      <p:ext uri="{BB962C8B-B14F-4D97-AF65-F5344CB8AC3E}">
        <p14:creationId xmlns:p14="http://schemas.microsoft.com/office/powerpoint/2010/main" val="2282066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427168" cy="1371600"/>
          </a:xfrm>
        </p:spPr>
        <p:txBody>
          <a:bodyPr>
            <a:normAutofit/>
          </a:bodyPr>
          <a:lstStyle/>
          <a:p>
            <a:r>
              <a:rPr lang="ru-RU" dirty="0"/>
              <a:t>Сегментно-страничная организация памяти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5373216"/>
            <a:ext cx="7620000" cy="752947"/>
          </a:xfrm>
        </p:spPr>
        <p:txBody>
          <a:bodyPr/>
          <a:lstStyle/>
          <a:p>
            <a:r>
              <a:rPr lang="ru-RU" dirty="0"/>
              <a:t>Преобразование пары «селектор — смещение» в линейный адрес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628100"/>
            <a:ext cx="5926572" cy="3529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90470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995120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Сегментно-страничная организация памяти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Если страничная организация отключена (установкой бита в глобальном </a:t>
            </a:r>
            <a:r>
              <a:rPr lang="ru-RU" dirty="0" smtClean="0"/>
              <a:t>управляющем </a:t>
            </a:r>
            <a:r>
              <a:rPr lang="ru-RU" dirty="0"/>
              <a:t>регистре), линейный адрес интерпретируется как физический адрес и посылается </a:t>
            </a:r>
            <a:r>
              <a:rPr lang="ru-RU" dirty="0" smtClean="0"/>
              <a:t>в </a:t>
            </a:r>
            <a:r>
              <a:rPr lang="ru-RU" dirty="0"/>
              <a:t>память для чтения или записи. </a:t>
            </a:r>
            <a:endParaRPr lang="ru-RU" dirty="0" smtClean="0"/>
          </a:p>
          <a:p>
            <a:r>
              <a:rPr lang="ru-RU" dirty="0" smtClean="0"/>
              <a:t>Таким </a:t>
            </a:r>
            <a:r>
              <a:rPr lang="ru-RU" dirty="0"/>
              <a:t>образом, при отключенной страничной схеме </a:t>
            </a:r>
            <a:r>
              <a:rPr lang="ru-RU" dirty="0" smtClean="0"/>
              <a:t>памяти </a:t>
            </a:r>
            <a:r>
              <a:rPr lang="ru-RU" dirty="0"/>
              <a:t>мы получаем чистую схему сегментации с базовым адресом каждого сегмента, </a:t>
            </a:r>
            <a:r>
              <a:rPr lang="ru-RU" dirty="0" smtClean="0"/>
              <a:t>выдаваемым </a:t>
            </a:r>
            <a:r>
              <a:rPr lang="ru-RU" dirty="0"/>
              <a:t>его дескриптором.</a:t>
            </a:r>
          </a:p>
        </p:txBody>
      </p:sp>
    </p:spTree>
    <p:extLst>
      <p:ext uri="{BB962C8B-B14F-4D97-AF65-F5344CB8AC3E}">
        <p14:creationId xmlns:p14="http://schemas.microsoft.com/office/powerpoint/2010/main" val="2139446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851104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Сегментно-страничная организация памяти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1"/>
            <a:ext cx="7620000" cy="210844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У каждой работающей программы есть страничный каталог, состоящий из 1024 </a:t>
            </a:r>
            <a:r>
              <a:rPr lang="ru-RU" dirty="0" smtClean="0"/>
              <a:t>32-разрядных </a:t>
            </a:r>
            <a:r>
              <a:rPr lang="ru-RU" dirty="0"/>
              <a:t>записей. Он расположен по адресу, который указан в глобальном регистре. </a:t>
            </a:r>
            <a:r>
              <a:rPr lang="ru-RU" dirty="0" smtClean="0"/>
              <a:t>Каждая </a:t>
            </a:r>
            <a:r>
              <a:rPr lang="ru-RU" dirty="0"/>
              <a:t>запись в каталоге указывает на таблицу страниц, также содержащую 1024 </a:t>
            </a:r>
            <a:r>
              <a:rPr lang="ru-RU" dirty="0" smtClean="0"/>
              <a:t>32-разрядных </a:t>
            </a:r>
            <a:r>
              <a:rPr lang="ru-RU" dirty="0"/>
              <a:t>записи. Записи в таблицах страниц, в свою очередь, указывают на </a:t>
            </a:r>
            <a:r>
              <a:rPr lang="ru-RU" dirty="0" smtClean="0"/>
              <a:t>страничные </a:t>
            </a:r>
            <a:r>
              <a:rPr lang="ru-RU" dirty="0"/>
              <a:t>блоки.</a:t>
            </a:r>
          </a:p>
        </p:txBody>
      </p:sp>
    </p:spTree>
    <p:extLst>
      <p:ext uri="{BB962C8B-B14F-4D97-AF65-F5344CB8AC3E}">
        <p14:creationId xmlns:p14="http://schemas.microsoft.com/office/powerpoint/2010/main" val="468762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211144" cy="1371600"/>
          </a:xfrm>
        </p:spPr>
        <p:txBody>
          <a:bodyPr>
            <a:normAutofit/>
          </a:bodyPr>
          <a:lstStyle/>
          <a:p>
            <a:r>
              <a:rPr lang="ru-RU" dirty="0"/>
              <a:t>Сегментно-страничная организация памяти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628800"/>
            <a:ext cx="7704856" cy="4690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6487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499176" cy="1371600"/>
          </a:xfrm>
        </p:spPr>
        <p:txBody>
          <a:bodyPr>
            <a:normAutofit/>
          </a:bodyPr>
          <a:lstStyle/>
          <a:p>
            <a:r>
              <a:rPr lang="ru-RU" dirty="0"/>
              <a:t>Сегментно-страничная организация памяти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Чтобы избежать повторных обращений к памяти, система </a:t>
            </a:r>
            <a:r>
              <a:rPr lang="ru-RU" dirty="0" smtClean="0"/>
              <a:t>x86 имеет </a:t>
            </a:r>
            <a:r>
              <a:rPr lang="ru-RU" dirty="0"/>
              <a:t>небольшой буфер быстрого преобразования адреса (TLB), который напрямую </a:t>
            </a:r>
            <a:r>
              <a:rPr lang="ru-RU" dirty="0" smtClean="0"/>
              <a:t>отображает </a:t>
            </a:r>
            <a:r>
              <a:rPr lang="ru-RU" dirty="0"/>
              <a:t>наиболее часто использующиеся комбинации Каталог — Страница на </a:t>
            </a:r>
            <a:r>
              <a:rPr lang="ru-RU" dirty="0" smtClean="0"/>
              <a:t>физический </a:t>
            </a:r>
            <a:r>
              <a:rPr lang="ru-RU" dirty="0"/>
              <a:t>адрес страничного блока. </a:t>
            </a:r>
            <a:endParaRPr lang="ru-RU" dirty="0" smtClean="0"/>
          </a:p>
          <a:p>
            <a:r>
              <a:rPr lang="ru-RU" dirty="0"/>
              <a:t>Если отсутствие нужной информации в буфере TLB встречается довольно </a:t>
            </a:r>
            <a:r>
              <a:rPr lang="ru-RU" dirty="0" smtClean="0"/>
              <a:t>редко</a:t>
            </a:r>
            <a:r>
              <a:rPr lang="ru-RU" dirty="0"/>
              <a:t>, система достигает неплохой производительности.</a:t>
            </a:r>
          </a:p>
        </p:txBody>
      </p:sp>
    </p:spTree>
    <p:extLst>
      <p:ext uri="{BB962C8B-B14F-4D97-AF65-F5344CB8AC3E}">
        <p14:creationId xmlns:p14="http://schemas.microsoft.com/office/powerpoint/2010/main" val="3405229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628800"/>
            <a:ext cx="7859216" cy="4844752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Современные компьютеры зачастую поддерживают одну из форм виртуальной памяти. </a:t>
            </a:r>
            <a:r>
              <a:rPr lang="ru-RU" dirty="0" smtClean="0"/>
              <a:t>В </a:t>
            </a:r>
            <a:r>
              <a:rPr lang="ru-RU" dirty="0"/>
              <a:t>простейшем виде адресное пространство каждого процесса делится на одинаковые по </a:t>
            </a:r>
            <a:r>
              <a:rPr lang="ru-RU" dirty="0" smtClean="0"/>
              <a:t>размеру </a:t>
            </a:r>
            <a:r>
              <a:rPr lang="ru-RU" dirty="0"/>
              <a:t>блоки, называемые страницами, которые могут размещаться в любом </a:t>
            </a:r>
            <a:r>
              <a:rPr lang="ru-RU" dirty="0" smtClean="0"/>
              <a:t>доступ-ном </a:t>
            </a:r>
            <a:r>
              <a:rPr lang="ru-RU" dirty="0"/>
              <a:t>страничном блоке в памяти. Существует множество алгоритмов замещения </a:t>
            </a:r>
            <a:r>
              <a:rPr lang="ru-RU" dirty="0" smtClean="0"/>
              <a:t>страниц</a:t>
            </a:r>
            <a:r>
              <a:rPr lang="ru-RU" dirty="0"/>
              <a:t>, наиболее подходящими из которых являются алгоритмы «старения» и </a:t>
            </a:r>
            <a:r>
              <a:rPr lang="ru-RU" dirty="0" err="1" smtClean="0"/>
              <a:t>WSClock</a:t>
            </a:r>
            <a:r>
              <a:rPr lang="ru-RU" dirty="0" smtClean="0"/>
              <a:t>.</a:t>
            </a:r>
          </a:p>
          <a:p>
            <a:r>
              <a:rPr lang="ru-RU" dirty="0" smtClean="0"/>
              <a:t>Одного </a:t>
            </a:r>
            <a:r>
              <a:rPr lang="ru-RU" dirty="0"/>
              <a:t>выбора алгоритма еще недостаточно, чтобы добиться от систем со страничной </a:t>
            </a:r>
            <a:r>
              <a:rPr lang="ru-RU" dirty="0" smtClean="0"/>
              <a:t>организацией </a:t>
            </a:r>
            <a:r>
              <a:rPr lang="ru-RU" dirty="0"/>
              <a:t>памяти приемлемой работы, необходимо обратить внимание на такие </a:t>
            </a:r>
            <a:r>
              <a:rPr lang="ru-RU" dirty="0" smtClean="0"/>
              <a:t>вопросы</a:t>
            </a:r>
            <a:r>
              <a:rPr lang="ru-RU" dirty="0"/>
              <a:t>, как определение рабочего набора, политика выделения памяти и размер </a:t>
            </a:r>
            <a:r>
              <a:rPr lang="ru-RU" dirty="0" smtClean="0"/>
              <a:t>страниц</a:t>
            </a:r>
            <a:r>
              <a:rPr lang="ru-RU" dirty="0"/>
              <a:t>.</a:t>
            </a:r>
          </a:p>
          <a:p>
            <a:r>
              <a:rPr lang="ru-RU" dirty="0"/>
              <a:t>Сегментация помогает в управлении структурами данных, изменяющими свой размер </a:t>
            </a:r>
            <a:r>
              <a:rPr lang="ru-RU" dirty="0" smtClean="0"/>
              <a:t>во </a:t>
            </a:r>
            <a:r>
              <a:rPr lang="ru-RU" dirty="0"/>
              <a:t>время выполнения программы, и упрощает процессы компоновки и совместного </a:t>
            </a:r>
            <a:r>
              <a:rPr lang="ru-RU" dirty="0" smtClean="0"/>
              <a:t>доступа</a:t>
            </a:r>
            <a:r>
              <a:rPr lang="ru-RU" dirty="0"/>
              <a:t>. Она также облегчает предоставление различных видов защиты разным </a:t>
            </a:r>
            <a:r>
              <a:rPr lang="ru-RU" dirty="0" smtClean="0"/>
              <a:t>сегментам</a:t>
            </a:r>
            <a:r>
              <a:rPr lang="ru-RU" dirty="0"/>
              <a:t>. Иногда сегментация и разбивка на страницы комбинируются, предоставляя </a:t>
            </a:r>
            <a:r>
              <a:rPr lang="ru-RU" dirty="0" smtClean="0"/>
              <a:t>двумерную </a:t>
            </a:r>
            <a:r>
              <a:rPr lang="ru-RU" dirty="0"/>
              <a:t>виртуальную память. Сегментация и страничная организация памяти </a:t>
            </a:r>
            <a:r>
              <a:rPr lang="ru-RU" dirty="0" smtClean="0"/>
              <a:t>поддерживаются </a:t>
            </a:r>
            <a:r>
              <a:rPr lang="ru-RU" dirty="0"/>
              <a:t>такими </a:t>
            </a:r>
            <a:r>
              <a:rPr lang="ru-RU" dirty="0" smtClean="0"/>
              <a:t>ОС, </a:t>
            </a:r>
            <a:r>
              <a:rPr lang="ru-RU" dirty="0"/>
              <a:t>как MULTICS и 32-разрядная </a:t>
            </a:r>
            <a:r>
              <a:rPr lang="ru-RU" dirty="0" err="1"/>
              <a:t>Intel</a:t>
            </a:r>
            <a:r>
              <a:rPr lang="ru-RU" dirty="0"/>
              <a:t> x86. Вполне </a:t>
            </a:r>
            <a:r>
              <a:rPr lang="ru-RU" dirty="0" smtClean="0"/>
              <a:t>очевидно</a:t>
            </a:r>
            <a:r>
              <a:rPr lang="ru-RU" dirty="0"/>
              <a:t>, что разработчики операционных систем теперь вряд ли сильно озабочены </a:t>
            </a:r>
            <a:r>
              <a:rPr lang="ru-RU" dirty="0" smtClean="0"/>
              <a:t>сегментацией </a:t>
            </a:r>
            <a:r>
              <a:rPr lang="ru-RU" dirty="0"/>
              <a:t>(поскольку сделали ставку на другую модель памяти). </a:t>
            </a:r>
            <a:r>
              <a:rPr lang="ru-RU" dirty="0" smtClean="0"/>
              <a:t>Следовательно, похоже</a:t>
            </a:r>
            <a:r>
              <a:rPr lang="ru-RU" dirty="0"/>
              <a:t>, что она очень быстро выйдет из моды. Сейчас поддержка реальной </a:t>
            </a:r>
            <a:r>
              <a:rPr lang="ru-RU" dirty="0" smtClean="0"/>
              <a:t>сегментации </a:t>
            </a:r>
            <a:r>
              <a:rPr lang="ru-RU" dirty="0"/>
              <a:t>отсутствует даже на 64-разрядных версиях x86.</a:t>
            </a:r>
          </a:p>
        </p:txBody>
      </p:sp>
    </p:spTree>
    <p:extLst>
      <p:ext uri="{BB962C8B-B14F-4D97-AF65-F5344CB8AC3E}">
        <p14:creationId xmlns:p14="http://schemas.microsoft.com/office/powerpoint/2010/main" val="3072744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Главная">
  <a:themeElements>
    <a:clrScheme name="Главная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Главная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лавная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297</TotalTime>
  <Words>5272</Words>
  <Application>Microsoft Office PowerPoint</Application>
  <PresentationFormat>Экран (4:3)</PresentationFormat>
  <Paragraphs>314</Paragraphs>
  <Slides>68</Slides>
  <Notes>7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68</vt:i4>
      </vt:variant>
    </vt:vector>
  </HeadingPairs>
  <TitlesOfParts>
    <vt:vector size="69" baseType="lpstr">
      <vt:lpstr>Главная</vt:lpstr>
      <vt:lpstr>Управление памятью</vt:lpstr>
      <vt:lpstr>Диспетчер памяти</vt:lpstr>
      <vt:lpstr>Модели памяти</vt:lpstr>
      <vt:lpstr>Память без использования абстракций</vt:lpstr>
      <vt:lpstr>Память без использования абстракций</vt:lpstr>
      <vt:lpstr>Память без использования абстракций</vt:lpstr>
      <vt:lpstr>Память без использования абстракций</vt:lpstr>
      <vt:lpstr>Абстракция памяти: адресные пространства</vt:lpstr>
      <vt:lpstr>адресные пространства</vt:lpstr>
      <vt:lpstr>адресные пространства</vt:lpstr>
      <vt:lpstr>базовый и ограничительный регистры</vt:lpstr>
      <vt:lpstr>базовый и ограничительный регистры</vt:lpstr>
      <vt:lpstr>адресные пространства</vt:lpstr>
      <vt:lpstr>свопинг</vt:lpstr>
      <vt:lpstr>Свопинг </vt:lpstr>
      <vt:lpstr>свопинг</vt:lpstr>
      <vt:lpstr>свопинг</vt:lpstr>
      <vt:lpstr>свопинг</vt:lpstr>
      <vt:lpstr>Управление свободной памятью</vt:lpstr>
      <vt:lpstr>битовые матрицы</vt:lpstr>
      <vt:lpstr>Битовые матрицы</vt:lpstr>
      <vt:lpstr>Связанные списки</vt:lpstr>
      <vt:lpstr>Связанные списки</vt:lpstr>
      <vt:lpstr>битовые матрицы и связанные списки</vt:lpstr>
      <vt:lpstr>Виртуальная память</vt:lpstr>
      <vt:lpstr>Виртуальная память</vt:lpstr>
      <vt:lpstr>Виртуальная память</vt:lpstr>
      <vt:lpstr>Виртуальная память</vt:lpstr>
      <vt:lpstr>Виртуальная память</vt:lpstr>
      <vt:lpstr>Страничная организация памяти</vt:lpstr>
      <vt:lpstr>Страничная организация памяти</vt:lpstr>
      <vt:lpstr>Страничная организация памяти</vt:lpstr>
      <vt:lpstr>Страничная организация памяти</vt:lpstr>
      <vt:lpstr>Страничная организация памяти</vt:lpstr>
      <vt:lpstr>Таблицы страниц</vt:lpstr>
      <vt:lpstr>Таблицы страниц</vt:lpstr>
      <vt:lpstr>Таблицы страниц </vt:lpstr>
      <vt:lpstr>Страничная организация памяти</vt:lpstr>
      <vt:lpstr>Страничная организация памяти</vt:lpstr>
      <vt:lpstr>Страничная организация памяти</vt:lpstr>
      <vt:lpstr>Страничная организация памяти</vt:lpstr>
      <vt:lpstr>Буфер быстрого преобразования адреса</vt:lpstr>
      <vt:lpstr>Буфер быстрого преобразования адреса</vt:lpstr>
      <vt:lpstr>Буфер быстрого преобразования адреса</vt:lpstr>
      <vt:lpstr>Программное управление буфером TLB</vt:lpstr>
      <vt:lpstr>сегментация</vt:lpstr>
      <vt:lpstr>сегментация</vt:lpstr>
      <vt:lpstr>сегментация</vt:lpstr>
      <vt:lpstr>сегментация</vt:lpstr>
      <vt:lpstr>сегментация</vt:lpstr>
      <vt:lpstr>сегментация</vt:lpstr>
      <vt:lpstr>сегментация</vt:lpstr>
      <vt:lpstr>Сравнение страничной организации памяти и сегментации</vt:lpstr>
      <vt:lpstr>сегментация</vt:lpstr>
      <vt:lpstr>сегментация</vt:lpstr>
      <vt:lpstr>Сегментно-страничная организация памяти</vt:lpstr>
      <vt:lpstr>Сегментно-страничная организация памяти</vt:lpstr>
      <vt:lpstr>Сегментно-страничная организация памяти</vt:lpstr>
      <vt:lpstr>Сегментно-страничная организация памяти</vt:lpstr>
      <vt:lpstr>Сегментно-страничная организация памяти</vt:lpstr>
      <vt:lpstr>Сегментно-страничная организация памяти</vt:lpstr>
      <vt:lpstr>Сегментно-страничная организация памяти</vt:lpstr>
      <vt:lpstr>Сегментно-страничная организация памяти</vt:lpstr>
      <vt:lpstr>Сегментно-страничная организация памяти</vt:lpstr>
      <vt:lpstr>Сегментно-страничная организация памяти</vt:lpstr>
      <vt:lpstr>Сегментно-страничная организация памяти</vt:lpstr>
      <vt:lpstr>Сегментно-страничная организация памяти</vt:lpstr>
      <vt:lpstr>выводы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Управление памятью</dc:title>
  <dc:creator>kate</dc:creator>
  <cp:lastModifiedBy>kate</cp:lastModifiedBy>
  <cp:revision>45</cp:revision>
  <dcterms:created xsi:type="dcterms:W3CDTF">2017-03-12T14:07:10Z</dcterms:created>
  <dcterms:modified xsi:type="dcterms:W3CDTF">2017-03-12T19:04:19Z</dcterms:modified>
</cp:coreProperties>
</file>