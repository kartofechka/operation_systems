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84" r:id="rId3"/>
    <p:sldId id="285" r:id="rId4"/>
    <p:sldId id="286" r:id="rId5"/>
    <p:sldId id="287" r:id="rId6"/>
    <p:sldId id="288" r:id="rId7"/>
    <p:sldId id="289" r:id="rId8"/>
    <p:sldId id="290" r:id="rId9"/>
    <p:sldId id="311" r:id="rId10"/>
    <p:sldId id="312" r:id="rId11"/>
    <p:sldId id="291" r:id="rId12"/>
    <p:sldId id="292" r:id="rId13"/>
    <p:sldId id="293" r:id="rId14"/>
    <p:sldId id="294" r:id="rId15"/>
    <p:sldId id="295" r:id="rId16"/>
    <p:sldId id="296" r:id="rId17"/>
    <p:sldId id="297" r:id="rId18"/>
    <p:sldId id="298" r:id="rId19"/>
    <p:sldId id="299" r:id="rId20"/>
    <p:sldId id="300" r:id="rId21"/>
    <p:sldId id="301" r:id="rId22"/>
    <p:sldId id="302" r:id="rId23"/>
    <p:sldId id="303" r:id="rId24"/>
    <p:sldId id="304" r:id="rId25"/>
    <p:sldId id="305" r:id="rId26"/>
    <p:sldId id="306" r:id="rId27"/>
    <p:sldId id="307" r:id="rId28"/>
    <p:sldId id="308" r:id="rId29"/>
    <p:sldId id="309" r:id="rId30"/>
    <p:sldId id="310" r:id="rId31"/>
    <p:sldId id="257" r:id="rId32"/>
    <p:sldId id="258" r:id="rId33"/>
    <p:sldId id="259" r:id="rId34"/>
    <p:sldId id="260" r:id="rId35"/>
    <p:sldId id="261" r:id="rId36"/>
    <p:sldId id="313" r:id="rId37"/>
    <p:sldId id="262" r:id="rId38"/>
    <p:sldId id="263" r:id="rId39"/>
    <p:sldId id="264" r:id="rId40"/>
    <p:sldId id="265" r:id="rId41"/>
    <p:sldId id="266" r:id="rId42"/>
    <p:sldId id="314" r:id="rId43"/>
    <p:sldId id="315" r:id="rId44"/>
    <p:sldId id="267" r:id="rId45"/>
    <p:sldId id="268" r:id="rId46"/>
    <p:sldId id="269" r:id="rId47"/>
    <p:sldId id="270" r:id="rId48"/>
    <p:sldId id="271" r:id="rId49"/>
    <p:sldId id="272" r:id="rId50"/>
    <p:sldId id="273" r:id="rId51"/>
    <p:sldId id="274" r:id="rId52"/>
    <p:sldId id="275" r:id="rId53"/>
    <p:sldId id="276" r:id="rId54"/>
    <p:sldId id="277" r:id="rId55"/>
    <p:sldId id="278" r:id="rId56"/>
    <p:sldId id="279" r:id="rId57"/>
    <p:sldId id="280" r:id="rId58"/>
    <p:sldId id="281" r:id="rId59"/>
    <p:sldId id="282" r:id="rId60"/>
    <p:sldId id="283" r:id="rId6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762" autoAdjust="0"/>
    <p:restoredTop sz="98618" autoAdjust="0"/>
  </p:normalViewPr>
  <p:slideViewPr>
    <p:cSldViewPr>
      <p:cViewPr varScale="1">
        <p:scale>
          <a:sx n="51" d="100"/>
          <a:sy n="51" d="100"/>
        </p:scale>
        <p:origin x="-90" y="-54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spc="-80" baseline="0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7CD2A-A449-4D7B-B2F2-5936961FC409}" type="datetimeFigureOut">
              <a:rPr lang="ru-RU" smtClean="0"/>
              <a:t>18.02.2018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93FFE3-925D-4036-923E-4115138BEC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7CD2A-A449-4D7B-B2F2-5936961FC409}" type="datetimeFigureOut">
              <a:rPr lang="ru-RU" smtClean="0"/>
              <a:t>18.02.2018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3FFE3-925D-4036-923E-4115138BEC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800"/>
            <a:ext cx="7772400" cy="43211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28601"/>
            <a:ext cx="7772400" cy="1066800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7CD2A-A449-4D7B-B2F2-5936961FC409}" type="datetimeFigureOut">
              <a:rPr lang="ru-RU" smtClean="0"/>
              <a:t>18.02.2018</a:t>
            </a:fld>
            <a:endParaRPr lang="ru-RU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193FFE3-925D-4036-923E-4115138BECF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068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016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7CD2A-A449-4D7B-B2F2-5936961FC409}" type="datetimeFigureOut">
              <a:rPr lang="ru-RU" smtClean="0"/>
              <a:t>18.02.2018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3FFE3-925D-4036-923E-4115138BEC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7632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3208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3208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7CD2A-A449-4D7B-B2F2-5936961FC409}" type="datetimeFigureOut">
              <a:rPr lang="ru-RU" smtClean="0"/>
              <a:t>18.02.2018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3FFE3-925D-4036-923E-4115138BEC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7CD2A-A449-4D7B-B2F2-5936961FC409}" type="datetimeFigureOut">
              <a:rPr lang="ru-RU" smtClean="0"/>
              <a:t>18.02.2018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3FFE3-925D-4036-923E-4115138BEC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7CD2A-A449-4D7B-B2F2-5936961FC409}" type="datetimeFigureOut">
              <a:rPr lang="ru-RU" smtClean="0"/>
              <a:t>18.02.2018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3FFE3-925D-4036-923E-4115138BEC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7CD2A-A449-4D7B-B2F2-5936961FC409}" type="datetimeFigureOut">
              <a:rPr lang="ru-RU" smtClean="0"/>
              <a:t>18.02.2018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3FFE3-925D-4036-923E-4115138BECF0}" type="slidenum">
              <a:rPr lang="ru-RU" smtClean="0"/>
              <a:t>‹#›</a:t>
            </a:fld>
            <a:endParaRPr lang="ru-RU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9000877" cy="484632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715000"/>
            <a:ext cx="81534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7CD2A-A449-4D7B-B2F2-5936961FC409}" type="datetimeFigureOut">
              <a:rPr lang="ru-RU" smtClean="0"/>
              <a:t>18.02.2018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93FFE3-925D-4036-923E-4115138BECF0}" type="slidenum">
              <a:rPr lang="ru-RU" smtClean="0"/>
              <a:t>‹#›</a:t>
            </a:fld>
            <a:endParaRPr lang="ru-RU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7CD2A-A449-4D7B-B2F2-5936961FC409}" type="datetimeFigureOut">
              <a:rPr lang="ru-RU" smtClean="0"/>
              <a:t>18.02.2018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3FFE3-925D-4036-923E-4115138BEC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7CD2A-A449-4D7B-B2F2-5936961FC409}" type="datetimeFigureOut">
              <a:rPr lang="ru-RU" smtClean="0"/>
              <a:t>18.02.2018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3FFE3-925D-4036-923E-4115138BEC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8BA7CD2A-A449-4D7B-B2F2-5936961FC409}" type="datetimeFigureOut">
              <a:rPr lang="ru-RU" smtClean="0"/>
              <a:t>18.02.2018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8227377" y="5885497"/>
            <a:ext cx="13157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fld id="{9193FFE3-925D-4036-923E-4115138BEC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9001124" y="0"/>
            <a:ext cx="142876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001124" y="1371600"/>
            <a:ext cx="142876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6000" dirty="0" smtClean="0"/>
              <a:t>архитектура операционных систем</a:t>
            </a:r>
            <a:endParaRPr lang="ru-RU" sz="60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3808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6923112" cy="13716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Аппаратное обеспечение компьютера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752601"/>
            <a:ext cx="7620000" cy="956320"/>
          </a:xfrm>
        </p:spPr>
        <p:txBody>
          <a:bodyPr/>
          <a:lstStyle/>
          <a:p>
            <a:r>
              <a:rPr lang="ru-RU" dirty="0"/>
              <a:t>Концептуально простой персональный компьютер можно представить в виде </a:t>
            </a:r>
            <a:r>
              <a:rPr lang="ru-RU" dirty="0" smtClean="0"/>
              <a:t>следующей модели</a:t>
            </a:r>
            <a:endParaRPr lang="ru-RU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10" y="2708920"/>
            <a:ext cx="8208912" cy="348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81615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Процессоры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Центральный процессор — это «мозг» компьютера</a:t>
            </a:r>
            <a:r>
              <a:rPr lang="ru-RU" dirty="0"/>
              <a:t>. Он выбирает команды из </a:t>
            </a:r>
            <a:r>
              <a:rPr lang="ru-RU" dirty="0" smtClean="0"/>
              <a:t>памяти и </a:t>
            </a:r>
            <a:r>
              <a:rPr lang="ru-RU" dirty="0"/>
              <a:t>выполняет их.  </a:t>
            </a:r>
            <a:endParaRPr lang="ru-RU" dirty="0" smtClean="0"/>
          </a:p>
          <a:p>
            <a:r>
              <a:rPr lang="ru-RU" dirty="0" smtClean="0"/>
              <a:t>Обычный </a:t>
            </a:r>
            <a:r>
              <a:rPr lang="ru-RU" dirty="0"/>
              <a:t>цикл работы центрального процессора выглядит так: </a:t>
            </a:r>
            <a:endParaRPr lang="ru-RU" dirty="0" smtClean="0"/>
          </a:p>
          <a:p>
            <a:r>
              <a:rPr lang="ru-RU" dirty="0" smtClean="0"/>
              <a:t>выборка </a:t>
            </a:r>
            <a:r>
              <a:rPr lang="ru-RU" dirty="0"/>
              <a:t>из памяти первой команды, ее декодирование для определения ее типа и операндов, </a:t>
            </a:r>
            <a:r>
              <a:rPr lang="ru-RU" dirty="0" smtClean="0"/>
              <a:t>выполнение </a:t>
            </a:r>
            <a:r>
              <a:rPr lang="ru-RU" dirty="0"/>
              <a:t>этой команды, а затем выборка, </a:t>
            </a:r>
            <a:r>
              <a:rPr lang="ru-RU" dirty="0" smtClean="0"/>
              <a:t>декодирование </a:t>
            </a:r>
            <a:r>
              <a:rPr lang="ru-RU" dirty="0"/>
              <a:t>и выполнение </a:t>
            </a:r>
            <a:r>
              <a:rPr lang="ru-RU" dirty="0" smtClean="0"/>
              <a:t>последующих </a:t>
            </a:r>
            <a:r>
              <a:rPr lang="ru-RU" dirty="0"/>
              <a:t>команд. </a:t>
            </a:r>
            <a:endParaRPr lang="ru-RU" dirty="0" smtClean="0"/>
          </a:p>
          <a:p>
            <a:r>
              <a:rPr lang="ru-RU" dirty="0"/>
              <a:t>Для каждого типа центрального процессора существует определенный набор команд, </a:t>
            </a:r>
            <a:r>
              <a:rPr lang="ru-RU" dirty="0" smtClean="0"/>
              <a:t>которые </a:t>
            </a:r>
            <a:r>
              <a:rPr lang="ru-RU" dirty="0"/>
              <a:t>он может выполнять.</a:t>
            </a:r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4009202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процессоры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752600"/>
            <a:ext cx="7931224" cy="4700736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Поскольку доступ к памяти для получения команды или данных </a:t>
            </a:r>
            <a:r>
              <a:rPr lang="ru-RU" dirty="0" smtClean="0"/>
              <a:t>занимает </a:t>
            </a:r>
            <a:r>
              <a:rPr lang="ru-RU" dirty="0"/>
              <a:t>намного больше времени, чем выполнение команды, у всех центральных </a:t>
            </a:r>
            <a:r>
              <a:rPr lang="ru-RU" dirty="0" smtClean="0"/>
              <a:t>процессоров </a:t>
            </a:r>
            <a:r>
              <a:rPr lang="ru-RU" dirty="0"/>
              <a:t>есть несколько собственных регистров для хранения основных переменных </a:t>
            </a:r>
            <a:r>
              <a:rPr lang="ru-RU" dirty="0" smtClean="0"/>
              <a:t>и </a:t>
            </a:r>
            <a:r>
              <a:rPr lang="ru-RU" dirty="0"/>
              <a:t>промежуточных результатов. </a:t>
            </a:r>
            <a:endParaRPr lang="ru-RU" dirty="0" smtClean="0"/>
          </a:p>
          <a:p>
            <a:r>
              <a:rPr lang="ru-RU" dirty="0" smtClean="0"/>
              <a:t>У </a:t>
            </a:r>
            <a:r>
              <a:rPr lang="ru-RU" dirty="0"/>
              <a:t>многих процессоров есть ряд </a:t>
            </a:r>
            <a:r>
              <a:rPr lang="ru-RU" dirty="0" smtClean="0"/>
              <a:t>специальных </a:t>
            </a:r>
            <a:r>
              <a:rPr lang="ru-RU" dirty="0"/>
              <a:t>регистров, доступных программисту. Один из этих регистров, </a:t>
            </a:r>
            <a:r>
              <a:rPr lang="ru-RU" dirty="0" smtClean="0"/>
              <a:t>называемый </a:t>
            </a:r>
            <a:r>
              <a:rPr lang="ru-RU" i="1" dirty="0"/>
              <a:t>счетчиком команд, </a:t>
            </a:r>
            <a:r>
              <a:rPr lang="ru-RU" dirty="0"/>
              <a:t>содержит адрес ячейки памяти со следующей выбираемой </a:t>
            </a:r>
            <a:r>
              <a:rPr lang="ru-RU" dirty="0" smtClean="0"/>
              <a:t>командой.</a:t>
            </a:r>
          </a:p>
          <a:p>
            <a:r>
              <a:rPr lang="ru-RU" dirty="0"/>
              <a:t>Другой специальный регистр, называемый </a:t>
            </a:r>
            <a:r>
              <a:rPr lang="ru-RU" i="1" dirty="0"/>
              <a:t>указателем стека</a:t>
            </a:r>
            <a:r>
              <a:rPr lang="ru-RU" dirty="0"/>
              <a:t>, ссылается на </a:t>
            </a:r>
            <a:r>
              <a:rPr lang="ru-RU" dirty="0" smtClean="0"/>
              <a:t>вершину текущего </a:t>
            </a:r>
            <a:r>
              <a:rPr lang="ru-RU" dirty="0"/>
              <a:t>стека в памяти</a:t>
            </a:r>
            <a:r>
              <a:rPr lang="ru-RU" dirty="0" smtClean="0"/>
              <a:t>.</a:t>
            </a:r>
          </a:p>
          <a:p>
            <a:r>
              <a:rPr lang="ru-RU" dirty="0"/>
              <a:t>Еще один регистр содержит </a:t>
            </a:r>
            <a:r>
              <a:rPr lang="ru-RU" i="1" dirty="0"/>
              <a:t>слово состояния программы </a:t>
            </a:r>
            <a:r>
              <a:rPr lang="ru-RU" dirty="0"/>
              <a:t>— PSW (</a:t>
            </a:r>
            <a:r>
              <a:rPr lang="ru-RU" dirty="0" err="1"/>
              <a:t>Program</a:t>
            </a:r>
            <a:r>
              <a:rPr lang="ru-RU" dirty="0"/>
              <a:t> </a:t>
            </a:r>
            <a:r>
              <a:rPr lang="ru-RU" dirty="0" err="1"/>
              <a:t>Status</a:t>
            </a:r>
            <a:r>
              <a:rPr lang="ru-RU" dirty="0"/>
              <a:t> </a:t>
            </a:r>
            <a:r>
              <a:rPr lang="ru-RU" dirty="0" smtClean="0"/>
              <a:t> </a:t>
            </a:r>
            <a:r>
              <a:rPr lang="ru-RU" dirty="0" err="1" smtClean="0"/>
              <a:t>Word</a:t>
            </a:r>
            <a:r>
              <a:rPr lang="ru-RU" dirty="0"/>
              <a:t>). В этом регистре содержатся биты кода условия, устанавливаемые инструкциями </a:t>
            </a:r>
            <a:r>
              <a:rPr lang="ru-RU" dirty="0" smtClean="0"/>
              <a:t>сравнения</a:t>
            </a:r>
            <a:r>
              <a:rPr lang="ru-RU" dirty="0"/>
              <a:t>, а также биты управления приоритетом центрального процессора, режимом </a:t>
            </a:r>
            <a:r>
              <a:rPr lang="ru-RU" dirty="0" smtClean="0"/>
              <a:t>и </a:t>
            </a:r>
            <a:r>
              <a:rPr lang="ru-RU" dirty="0"/>
              <a:t>другие служебные биты.</a:t>
            </a:r>
          </a:p>
        </p:txBody>
      </p:sp>
    </p:spTree>
    <p:extLst>
      <p:ext uri="{BB962C8B-B14F-4D97-AF65-F5344CB8AC3E}">
        <p14:creationId xmlns:p14="http://schemas.microsoft.com/office/powerpoint/2010/main" val="1551088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процессоры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Для повышения производительности процессоров их разработчики давно отказались </a:t>
            </a:r>
            <a:r>
              <a:rPr lang="ru-RU" dirty="0" smtClean="0"/>
              <a:t>от </a:t>
            </a:r>
            <a:r>
              <a:rPr lang="ru-RU" dirty="0"/>
              <a:t>простой модели извлечения, декодирования и выполнения одной команды за один </a:t>
            </a:r>
            <a:r>
              <a:rPr lang="ru-RU" dirty="0" smtClean="0"/>
              <a:t>цикл.</a:t>
            </a:r>
          </a:p>
          <a:p>
            <a:r>
              <a:rPr lang="ru-RU" dirty="0"/>
              <a:t>Многие современные процессоры способны одновременно выполнять более </a:t>
            </a:r>
            <a:r>
              <a:rPr lang="ru-RU" dirty="0" smtClean="0"/>
              <a:t>одной </a:t>
            </a:r>
            <a:r>
              <a:rPr lang="ru-RU" dirty="0"/>
              <a:t>команды. Например, у процессора могут быть отдельные блоки для выборки, </a:t>
            </a:r>
            <a:r>
              <a:rPr lang="ru-RU" dirty="0" smtClean="0"/>
              <a:t>декодирования </a:t>
            </a:r>
            <a:r>
              <a:rPr lang="ru-RU" dirty="0"/>
              <a:t>и выполнения команд, тогда во время выполнения команды n он </a:t>
            </a:r>
            <a:r>
              <a:rPr lang="ru-RU" dirty="0" smtClean="0"/>
              <a:t>сможет </a:t>
            </a:r>
            <a:r>
              <a:rPr lang="ru-RU" dirty="0"/>
              <a:t>декодировать команду n + 1 и осуществлять выборку команды n + 2. Подобная </a:t>
            </a:r>
            <a:r>
              <a:rPr lang="ru-RU" dirty="0" smtClean="0"/>
              <a:t>организация </a:t>
            </a:r>
            <a:r>
              <a:rPr lang="ru-RU" dirty="0"/>
              <a:t>работы называется </a:t>
            </a:r>
            <a:r>
              <a:rPr lang="ru-RU" i="1" dirty="0"/>
              <a:t>конвейером</a:t>
            </a:r>
            <a:r>
              <a:rPr lang="ru-RU" dirty="0"/>
              <a:t>.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5303691"/>
            <a:ext cx="3960440" cy="1365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18525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процессоры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Более совершенной конструкцией по сравнению с конвейерной обладает </a:t>
            </a:r>
            <a:r>
              <a:rPr lang="ru-RU" i="1" dirty="0" err="1" smtClean="0"/>
              <a:t>суперскалярный</a:t>
            </a:r>
            <a:r>
              <a:rPr lang="ru-RU" dirty="0" smtClean="0"/>
              <a:t> процессор.</a:t>
            </a:r>
          </a:p>
          <a:p>
            <a:endParaRPr lang="ru-RU" dirty="0"/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2708920"/>
            <a:ext cx="4997280" cy="2664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0346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процессоры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smtClean="0"/>
              <a:t>2 режима работы: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dirty="0" smtClean="0"/>
              <a:t>Режим ядра.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dirty="0" smtClean="0"/>
              <a:t>Пользовательский режим.</a:t>
            </a:r>
          </a:p>
          <a:p>
            <a:r>
              <a:rPr lang="ru-RU" dirty="0" smtClean="0"/>
              <a:t>Обычно </a:t>
            </a:r>
            <a:r>
              <a:rPr lang="ru-RU" dirty="0"/>
              <a:t>режимом управляет </a:t>
            </a:r>
            <a:r>
              <a:rPr lang="ru-RU" dirty="0" smtClean="0"/>
              <a:t>специальный </a:t>
            </a:r>
            <a:r>
              <a:rPr lang="ru-RU" dirty="0"/>
              <a:t>бит в слове состояния программы — PSW. </a:t>
            </a:r>
            <a:endParaRPr lang="ru-RU" dirty="0" smtClean="0"/>
          </a:p>
          <a:p>
            <a:r>
              <a:rPr lang="ru-RU" dirty="0" smtClean="0"/>
              <a:t>При </a:t>
            </a:r>
            <a:r>
              <a:rPr lang="ru-RU" dirty="0"/>
              <a:t>работе в режиме ядра </a:t>
            </a:r>
            <a:r>
              <a:rPr lang="ru-RU" dirty="0" smtClean="0"/>
              <a:t>процессор </a:t>
            </a:r>
            <a:r>
              <a:rPr lang="ru-RU" dirty="0"/>
              <a:t>может выполнять любые команды из своего набора и использовать </a:t>
            </a:r>
            <a:r>
              <a:rPr lang="ru-RU" dirty="0" smtClean="0"/>
              <a:t>любые </a:t>
            </a:r>
            <a:r>
              <a:rPr lang="ru-RU" dirty="0"/>
              <a:t>возможности аппаратуры. </a:t>
            </a:r>
            <a:endParaRPr lang="ru-RU" dirty="0" smtClean="0"/>
          </a:p>
          <a:p>
            <a:r>
              <a:rPr lang="ru-RU" dirty="0"/>
              <a:t>Пользовательские программы всегда работают в режиме пользователя, который </a:t>
            </a:r>
            <a:r>
              <a:rPr lang="ru-RU" dirty="0" smtClean="0"/>
              <a:t>допускает </a:t>
            </a:r>
            <a:r>
              <a:rPr lang="ru-RU" dirty="0"/>
              <a:t>выполнение только подмножества команд и дает доступ к определенному </a:t>
            </a:r>
            <a:r>
              <a:rPr lang="ru-RU" dirty="0" smtClean="0"/>
              <a:t>подмножеству </a:t>
            </a:r>
            <a:r>
              <a:rPr lang="ru-RU" dirty="0"/>
              <a:t>возможностей аппаратуры. </a:t>
            </a:r>
          </a:p>
        </p:txBody>
      </p:sp>
    </p:spTree>
    <p:extLst>
      <p:ext uri="{BB962C8B-B14F-4D97-AF65-F5344CB8AC3E}">
        <p14:creationId xmlns:p14="http://schemas.microsoft.com/office/powerpoint/2010/main" val="671206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процессоры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Для получения услуг от </a:t>
            </a:r>
            <a:r>
              <a:rPr lang="ru-RU" dirty="0" smtClean="0"/>
              <a:t>ОС пользовательская </a:t>
            </a:r>
            <a:r>
              <a:rPr lang="ru-RU" dirty="0"/>
              <a:t>программа должна </a:t>
            </a:r>
            <a:r>
              <a:rPr lang="ru-RU" dirty="0" smtClean="0"/>
              <a:t>осуществить </a:t>
            </a:r>
            <a:r>
              <a:rPr lang="ru-RU" dirty="0"/>
              <a:t>системный вызов, который перехватывается внутри ядра и вызывает </a:t>
            </a:r>
            <a:r>
              <a:rPr lang="ru-RU" dirty="0" smtClean="0"/>
              <a:t>операционную </a:t>
            </a:r>
            <a:r>
              <a:rPr lang="ru-RU" dirty="0"/>
              <a:t>систему. </a:t>
            </a:r>
            <a:endParaRPr lang="ru-RU" dirty="0" smtClean="0"/>
          </a:p>
          <a:p>
            <a:r>
              <a:rPr lang="ru-RU" dirty="0"/>
              <a:t>Инструкция перехвата </a:t>
            </a:r>
            <a:r>
              <a:rPr lang="ru-RU" dirty="0" smtClean="0"/>
              <a:t>осуществляет </a:t>
            </a:r>
            <a:r>
              <a:rPr lang="ru-RU" dirty="0"/>
              <a:t>переключение </a:t>
            </a:r>
            <a:r>
              <a:rPr lang="ru-RU" dirty="0" smtClean="0"/>
              <a:t>из пользовательского </a:t>
            </a:r>
            <a:r>
              <a:rPr lang="ru-RU" dirty="0"/>
              <a:t>режима в режим ядра и запускает операционную систему. </a:t>
            </a:r>
            <a:endParaRPr lang="ru-RU" dirty="0" smtClean="0"/>
          </a:p>
          <a:p>
            <a:r>
              <a:rPr lang="ru-RU" dirty="0" smtClean="0"/>
              <a:t>Когда обработка </a:t>
            </a:r>
            <a:r>
              <a:rPr lang="ru-RU" dirty="0"/>
              <a:t>вызова будет завершена, управление возвращается пользовательской </a:t>
            </a:r>
            <a:r>
              <a:rPr lang="ru-RU" dirty="0" smtClean="0"/>
              <a:t>программе </a:t>
            </a:r>
            <a:r>
              <a:rPr lang="ru-RU" dirty="0"/>
              <a:t>и выполняется команда, которая следует за системным вызовом. </a:t>
            </a:r>
          </a:p>
        </p:txBody>
      </p:sp>
    </p:spTree>
    <p:extLst>
      <p:ext uri="{BB962C8B-B14F-4D97-AF65-F5344CB8AC3E}">
        <p14:creationId xmlns:p14="http://schemas.microsoft.com/office/powerpoint/2010/main" val="23344273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процессоры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752600"/>
            <a:ext cx="7931224" cy="4772744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Закон Мура </a:t>
            </a:r>
            <a:endParaRPr lang="ru-RU" dirty="0" smtClean="0"/>
          </a:p>
          <a:p>
            <a:r>
              <a:rPr lang="ru-RU" dirty="0" smtClean="0"/>
              <a:t>гласит</a:t>
            </a:r>
            <a:r>
              <a:rPr lang="ru-RU" dirty="0"/>
              <a:t>, что количество транзисторов на одном кристалле удваивается </a:t>
            </a:r>
            <a:r>
              <a:rPr lang="ru-RU" dirty="0" smtClean="0"/>
              <a:t> каждые 18 (24) </a:t>
            </a:r>
            <a:r>
              <a:rPr lang="ru-RU" dirty="0"/>
              <a:t>месяцев. Этот «закон», в отличие от закона сохранения импульса, не </a:t>
            </a:r>
            <a:r>
              <a:rPr lang="ru-RU" dirty="0" smtClean="0"/>
              <a:t>имеет никакого </a:t>
            </a:r>
            <a:r>
              <a:rPr lang="ru-RU" dirty="0"/>
              <a:t>отношения к физике, он появился в результате наблюдений одного из </a:t>
            </a:r>
            <a:r>
              <a:rPr lang="ru-RU" dirty="0" smtClean="0"/>
              <a:t>соучредителей </a:t>
            </a:r>
            <a:r>
              <a:rPr lang="ru-RU" dirty="0"/>
              <a:t>корпорации </a:t>
            </a:r>
            <a:r>
              <a:rPr lang="ru-RU" dirty="0" err="1"/>
              <a:t>Intel</a:t>
            </a:r>
            <a:r>
              <a:rPr lang="ru-RU" dirty="0"/>
              <a:t> Гордона Мура (</a:t>
            </a:r>
            <a:r>
              <a:rPr lang="ru-RU" dirty="0" err="1"/>
              <a:t>Gordon</a:t>
            </a:r>
            <a:r>
              <a:rPr lang="ru-RU" dirty="0"/>
              <a:t> </a:t>
            </a:r>
            <a:r>
              <a:rPr lang="ru-RU" dirty="0" err="1"/>
              <a:t>Moore</a:t>
            </a:r>
            <a:r>
              <a:rPr lang="ru-RU" dirty="0"/>
              <a:t>) за темпами, с которыми </a:t>
            </a:r>
            <a:r>
              <a:rPr lang="ru-RU" dirty="0" smtClean="0"/>
              <a:t>шло </a:t>
            </a:r>
            <a:r>
              <a:rPr lang="ru-RU" dirty="0"/>
              <a:t>уменьшение размеров транзисторов. Закон Мура соблюдался в течение трех </a:t>
            </a:r>
            <a:r>
              <a:rPr lang="ru-RU" dirty="0" smtClean="0"/>
              <a:t>десятилетий. </a:t>
            </a:r>
            <a:endParaRPr lang="ru-RU" dirty="0"/>
          </a:p>
          <a:p>
            <a:r>
              <a:rPr lang="ru-RU" dirty="0"/>
              <a:t>После этого число атомов в транзисторе станет настолько мало, что дальнейшему </a:t>
            </a:r>
            <a:r>
              <a:rPr lang="ru-RU" dirty="0" smtClean="0"/>
              <a:t>уменьшению </a:t>
            </a:r>
            <a:r>
              <a:rPr lang="ru-RU" dirty="0"/>
              <a:t>размеров транзистора воспрепятствует усиливающаяся роль законов </a:t>
            </a:r>
            <a:r>
              <a:rPr lang="ru-RU" dirty="0" smtClean="0"/>
              <a:t>квантовой </a:t>
            </a:r>
            <a:r>
              <a:rPr lang="ru-RU" dirty="0"/>
              <a:t>механики.</a:t>
            </a:r>
          </a:p>
          <a:p>
            <a:r>
              <a:rPr lang="ru-RU" dirty="0"/>
              <a:t>Высокая плотность размещения транзисторов ведет к проблеме: как распорядиться </a:t>
            </a:r>
            <a:r>
              <a:rPr lang="ru-RU" dirty="0" smtClean="0"/>
              <a:t>их </a:t>
            </a:r>
            <a:r>
              <a:rPr lang="ru-RU" dirty="0"/>
              <a:t>возросшим количеством? </a:t>
            </a:r>
            <a:r>
              <a:rPr lang="ru-RU" dirty="0" smtClean="0"/>
              <a:t>Одно </a:t>
            </a:r>
            <a:r>
              <a:rPr lang="ru-RU" dirty="0"/>
              <a:t>из очевидных решений — размещение на кристалле центрального </a:t>
            </a:r>
            <a:r>
              <a:rPr lang="ru-RU" dirty="0" smtClean="0"/>
              <a:t>процессора </a:t>
            </a:r>
            <a:r>
              <a:rPr lang="ru-RU" dirty="0"/>
              <a:t>более объемной кэш-памяти — уже воплощено в жизнь. Однако уже </a:t>
            </a:r>
            <a:r>
              <a:rPr lang="ru-RU" dirty="0" smtClean="0"/>
              <a:t>достигнут </a:t>
            </a:r>
            <a:r>
              <a:rPr lang="ru-RU" dirty="0"/>
              <a:t>порог, за которым дальнейшее увеличение объема кэш-памяти только уменьшает </a:t>
            </a:r>
            <a:r>
              <a:rPr lang="ru-RU" dirty="0" smtClean="0"/>
              <a:t>отдачу </a:t>
            </a:r>
            <a:r>
              <a:rPr lang="ru-RU" dirty="0"/>
              <a:t>от этого решения.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33654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процессоры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Закон Мура</a:t>
            </a:r>
          </a:p>
          <a:p>
            <a:r>
              <a:rPr lang="ru-RU" dirty="0"/>
              <a:t>«Если бы авиапромышленность в последние 25 лет развивалась столь же стремительно, как промышленность средств вычислительной техники, то сейчас самолёт </a:t>
            </a:r>
            <a:r>
              <a:rPr lang="ru-RU" dirty="0" err="1"/>
              <a:t>Boeing</a:t>
            </a:r>
            <a:r>
              <a:rPr lang="ru-RU" dirty="0"/>
              <a:t> 767 стоил бы 500 долл. и совершал облёт земного шара за 20 минут, затрачивая при этом пять галлонов (~18,9 л) топлива. Приведенные цифры весьма точно отражают снижение стоимости, рост быстродействия и повышение экономичности ЭВМ».</a:t>
            </a:r>
          </a:p>
          <a:p>
            <a:r>
              <a:rPr lang="ru-RU" dirty="0"/>
              <a:t>— Журнал «В мире науки» (1983, № 08</a:t>
            </a:r>
            <a:r>
              <a:rPr lang="ru-RU" dirty="0" smtClean="0"/>
              <a:t>) (</a:t>
            </a:r>
            <a:r>
              <a:rPr lang="ru-RU" dirty="0"/>
              <a:t>русское издание «</a:t>
            </a:r>
            <a:r>
              <a:rPr lang="ru-RU" dirty="0" err="1"/>
              <a:t>Scientific</a:t>
            </a:r>
            <a:r>
              <a:rPr lang="ru-RU" dirty="0"/>
              <a:t> </a:t>
            </a:r>
            <a:r>
              <a:rPr lang="ru-RU" dirty="0" err="1"/>
              <a:t>American</a:t>
            </a:r>
            <a:r>
              <a:rPr lang="ru-RU" dirty="0"/>
              <a:t>»)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85220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процессоры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752600"/>
            <a:ext cx="7859216" cy="4700736"/>
          </a:xfrm>
        </p:spPr>
        <p:txBody>
          <a:bodyPr>
            <a:normAutofit fontScale="85000" lnSpcReduction="20000"/>
          </a:bodyPr>
          <a:lstStyle/>
          <a:p>
            <a:r>
              <a:rPr lang="ru-RU" b="0" dirty="0"/>
              <a:t>В 2007 году </a:t>
            </a:r>
            <a:r>
              <a:rPr lang="ru-RU" b="0" dirty="0" err="1"/>
              <a:t>Мур</a:t>
            </a:r>
            <a:r>
              <a:rPr lang="ru-RU" b="0" dirty="0"/>
              <a:t> заявил, что закон, очевидно, скоро перестанет действовать из-за атомарной природы вещества и ограничения скорости </a:t>
            </a:r>
            <a:r>
              <a:rPr lang="ru-RU" b="0" dirty="0" smtClean="0"/>
              <a:t>света. </a:t>
            </a:r>
            <a:r>
              <a:rPr lang="ru-RU" b="0" dirty="0"/>
              <a:t> </a:t>
            </a:r>
            <a:endParaRPr lang="ru-RU" b="0" dirty="0" smtClean="0"/>
          </a:p>
          <a:p>
            <a:r>
              <a:rPr lang="ru-RU" b="0" dirty="0" smtClean="0"/>
              <a:t>Чтобы </a:t>
            </a:r>
            <a:r>
              <a:rPr lang="ru-RU" b="0" dirty="0"/>
              <a:t>получить возможность задействовать на практике ту дополнительную вычислительную мощность, которую предсказывает закон Мура, стало необходимо задействовать параллельные </a:t>
            </a:r>
            <a:r>
              <a:rPr lang="ru-RU" b="0" dirty="0" smtClean="0"/>
              <a:t>вычисления</a:t>
            </a:r>
            <a:endParaRPr lang="ru-RU" dirty="0" smtClean="0"/>
          </a:p>
          <a:p>
            <a:r>
              <a:rPr lang="ru-RU" dirty="0" smtClean="0"/>
              <a:t>Для </a:t>
            </a:r>
            <a:r>
              <a:rPr lang="ru-RU" dirty="0" smtClean="0"/>
              <a:t>увеличения производительности дублируют </a:t>
            </a:r>
            <a:r>
              <a:rPr lang="ru-RU" dirty="0"/>
              <a:t>не только </a:t>
            </a:r>
            <a:r>
              <a:rPr lang="ru-RU" dirty="0" smtClean="0"/>
              <a:t>функциональные блоки, </a:t>
            </a:r>
            <a:r>
              <a:rPr lang="ru-RU" dirty="0"/>
              <a:t>но и части управляющей логики. </a:t>
            </a:r>
            <a:endParaRPr lang="ru-RU" dirty="0" smtClean="0"/>
          </a:p>
          <a:p>
            <a:r>
              <a:rPr lang="ru-RU" dirty="0" smtClean="0"/>
              <a:t>Это </a:t>
            </a:r>
            <a:r>
              <a:rPr lang="ru-RU" dirty="0"/>
              <a:t>свойство, впервые использованное </a:t>
            </a:r>
            <a:r>
              <a:rPr lang="ru-RU" dirty="0" smtClean="0"/>
              <a:t>в </a:t>
            </a:r>
            <a:r>
              <a:rPr lang="ru-RU" dirty="0" err="1"/>
              <a:t>Pentium</a:t>
            </a:r>
            <a:r>
              <a:rPr lang="ru-RU" dirty="0"/>
              <a:t> 4 и названное </a:t>
            </a:r>
            <a:r>
              <a:rPr lang="ru-RU" dirty="0" err="1"/>
              <a:t>многопоточностью</a:t>
            </a:r>
            <a:r>
              <a:rPr lang="ru-RU" dirty="0"/>
              <a:t>, или </a:t>
            </a:r>
            <a:r>
              <a:rPr lang="ru-RU" dirty="0" err="1"/>
              <a:t>гиперпоточностью</a:t>
            </a:r>
            <a:r>
              <a:rPr lang="ru-RU" dirty="0"/>
              <a:t> (</a:t>
            </a:r>
            <a:r>
              <a:rPr lang="ru-RU" dirty="0" err="1"/>
              <a:t>hyperthreading</a:t>
            </a:r>
            <a:r>
              <a:rPr lang="ru-RU" dirty="0"/>
              <a:t> </a:t>
            </a:r>
            <a:r>
              <a:rPr lang="ru-RU" dirty="0" smtClean="0"/>
              <a:t>по </a:t>
            </a:r>
            <a:r>
              <a:rPr lang="ru-RU" dirty="0"/>
              <a:t>версии </a:t>
            </a:r>
            <a:r>
              <a:rPr lang="ru-RU" dirty="0" err="1"/>
              <a:t>Intel</a:t>
            </a:r>
            <a:r>
              <a:rPr lang="ru-RU" dirty="0"/>
              <a:t>), стало неотъемлемой принадлежностью процессора x86 и ряда </a:t>
            </a:r>
            <a:r>
              <a:rPr lang="ru-RU" dirty="0" smtClean="0"/>
              <a:t>других процессоров</a:t>
            </a:r>
            <a:r>
              <a:rPr lang="ru-RU" dirty="0"/>
              <a:t>, включая SPARC, Power5, </a:t>
            </a:r>
            <a:r>
              <a:rPr lang="ru-RU" dirty="0" err="1"/>
              <a:t>Intel</a:t>
            </a:r>
            <a:r>
              <a:rPr lang="ru-RU" dirty="0"/>
              <a:t> </a:t>
            </a:r>
            <a:r>
              <a:rPr lang="ru-RU" dirty="0" err="1"/>
              <a:t>Xeon</a:t>
            </a:r>
            <a:r>
              <a:rPr lang="ru-RU" dirty="0"/>
              <a:t>, а также процессоры семейства </a:t>
            </a:r>
            <a:r>
              <a:rPr lang="ru-RU" dirty="0" err="1"/>
              <a:t>Intel</a:t>
            </a:r>
            <a:r>
              <a:rPr lang="ru-RU" dirty="0"/>
              <a:t> </a:t>
            </a:r>
            <a:r>
              <a:rPr lang="ru-RU" dirty="0" err="1" smtClean="0"/>
              <a:t>Core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/>
              <a:t>Например, </a:t>
            </a:r>
            <a:r>
              <a:rPr lang="ru-RU" dirty="0" smtClean="0"/>
              <a:t>если </a:t>
            </a:r>
            <a:r>
              <a:rPr lang="ru-RU" dirty="0"/>
              <a:t>одному из процессов нужно прочитать слово из памяти (что занимает несколько </a:t>
            </a:r>
            <a:r>
              <a:rPr lang="ru-RU" dirty="0" smtClean="0"/>
              <a:t>тактов</a:t>
            </a:r>
            <a:r>
              <a:rPr lang="ru-RU" dirty="0"/>
              <a:t>), многопоточный процессор может переключиться на другой поток. </a:t>
            </a:r>
            <a:r>
              <a:rPr lang="ru-RU" dirty="0" err="1" smtClean="0"/>
              <a:t>Многопоточность</a:t>
            </a:r>
            <a:r>
              <a:rPr lang="ru-RU" dirty="0" smtClean="0"/>
              <a:t> </a:t>
            </a:r>
            <a:r>
              <a:rPr lang="ru-RU" dirty="0"/>
              <a:t>не предлагает </a:t>
            </a:r>
            <a:r>
              <a:rPr lang="ru-RU" u="sng" dirty="0"/>
              <a:t>настоящей</a:t>
            </a:r>
            <a:r>
              <a:rPr lang="ru-RU" dirty="0"/>
              <a:t> параллельной обработки данных. Одновременно </a:t>
            </a:r>
            <a:r>
              <a:rPr lang="ru-RU" dirty="0" smtClean="0"/>
              <a:t>работает </a:t>
            </a:r>
            <a:r>
              <a:rPr lang="ru-RU" dirty="0"/>
              <a:t>только один процесс, но время переключения между процессами сведено до </a:t>
            </a:r>
            <a:r>
              <a:rPr lang="ru-RU" dirty="0" smtClean="0"/>
              <a:t>наносекунд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30222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процессоры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 err="1"/>
              <a:t>Многопоточность</a:t>
            </a:r>
            <a:r>
              <a:rPr lang="ru-RU" dirty="0"/>
              <a:t> оказывает влияние на операционную систему, поскольку </a:t>
            </a:r>
            <a:r>
              <a:rPr lang="ru-RU" dirty="0" smtClean="0"/>
              <a:t>каждый поток </a:t>
            </a:r>
            <a:r>
              <a:rPr lang="ru-RU" dirty="0"/>
              <a:t>выступает перед ней как отдельный центральный процессор. </a:t>
            </a:r>
            <a:endParaRPr lang="ru-RU" dirty="0" smtClean="0"/>
          </a:p>
          <a:p>
            <a:r>
              <a:rPr lang="ru-RU" dirty="0" smtClean="0"/>
              <a:t>Представим </a:t>
            </a:r>
            <a:r>
              <a:rPr lang="ru-RU" dirty="0"/>
              <a:t>себе </a:t>
            </a:r>
            <a:r>
              <a:rPr lang="ru-RU" dirty="0" smtClean="0"/>
              <a:t>систему </a:t>
            </a:r>
            <a:r>
              <a:rPr lang="ru-RU" dirty="0"/>
              <a:t>с двумя реальными процессорами, у каждого из которых организовано по </a:t>
            </a:r>
            <a:r>
              <a:rPr lang="ru-RU" dirty="0" smtClean="0"/>
              <a:t>два </a:t>
            </a:r>
            <a:r>
              <a:rPr lang="ru-RU" dirty="0"/>
              <a:t>потока. Операционной системе будут видны четыре процессора. Если в какой-то </a:t>
            </a:r>
            <a:r>
              <a:rPr lang="ru-RU" dirty="0" smtClean="0"/>
              <a:t>момент </a:t>
            </a:r>
            <a:r>
              <a:rPr lang="ru-RU" dirty="0"/>
              <a:t>времени у операционной системы найдутся задачи для загрузки только двух </a:t>
            </a:r>
            <a:r>
              <a:rPr lang="ru-RU" dirty="0" smtClean="0"/>
              <a:t>процессоров</a:t>
            </a:r>
            <a:r>
              <a:rPr lang="ru-RU" dirty="0"/>
              <a:t>, она может непреднамеренно направить оба потока на один и тот же </a:t>
            </a:r>
            <a:r>
              <a:rPr lang="ru-RU" dirty="0" smtClean="0"/>
              <a:t>реальный </a:t>
            </a:r>
            <a:r>
              <a:rPr lang="ru-RU" dirty="0"/>
              <a:t>процессор, а другой будет в это время простаивать. </a:t>
            </a:r>
            <a:endParaRPr lang="ru-RU" dirty="0" smtClean="0"/>
          </a:p>
          <a:p>
            <a:r>
              <a:rPr lang="ru-RU" dirty="0" smtClean="0"/>
              <a:t>Эффективность </a:t>
            </a:r>
            <a:r>
              <a:rPr lang="ru-RU" dirty="0"/>
              <a:t>такого </a:t>
            </a:r>
            <a:r>
              <a:rPr lang="ru-RU" dirty="0" smtClean="0"/>
              <a:t>режима </a:t>
            </a:r>
            <a:r>
              <a:rPr lang="ru-RU" dirty="0"/>
              <a:t>работы намного ниже, чем при использовании по одному потоку на каждом </a:t>
            </a:r>
            <a:r>
              <a:rPr lang="ru-RU" dirty="0" smtClean="0"/>
              <a:t>реальном </a:t>
            </a:r>
            <a:r>
              <a:rPr lang="ru-RU" dirty="0"/>
              <a:t>центральном процессоре.</a:t>
            </a:r>
          </a:p>
        </p:txBody>
      </p:sp>
    </p:spTree>
    <p:extLst>
      <p:ext uri="{BB962C8B-B14F-4D97-AF65-F5344CB8AC3E}">
        <p14:creationId xmlns:p14="http://schemas.microsoft.com/office/powerpoint/2010/main" val="22653491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процессоры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Кроме процессоров с </a:t>
            </a:r>
            <a:r>
              <a:rPr lang="ru-RU" dirty="0" err="1"/>
              <a:t>многопоточностью</a:t>
            </a:r>
            <a:r>
              <a:rPr lang="ru-RU" dirty="0"/>
              <a:t> в настоящее время применяются процессоры, </a:t>
            </a:r>
            <a:r>
              <a:rPr lang="ru-RU" dirty="0" smtClean="0"/>
              <a:t>имеющие </a:t>
            </a:r>
            <a:r>
              <a:rPr lang="ru-RU" dirty="0"/>
              <a:t>на одном кристалле четыре, восемь и более полноценных процессоров, или </a:t>
            </a:r>
            <a:r>
              <a:rPr lang="ru-RU" dirty="0" smtClean="0"/>
              <a:t>ядер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Например</a:t>
            </a:r>
            <a:r>
              <a:rPr lang="ru-RU" dirty="0"/>
              <a:t>, </a:t>
            </a:r>
            <a:r>
              <a:rPr lang="ru-RU" dirty="0" err="1"/>
              <a:t>четырехъядерные</a:t>
            </a:r>
            <a:r>
              <a:rPr lang="ru-RU" dirty="0"/>
              <a:t> процессоры </a:t>
            </a:r>
            <a:r>
              <a:rPr lang="ru-RU" dirty="0" smtClean="0"/>
              <a:t>фактически </a:t>
            </a:r>
            <a:r>
              <a:rPr lang="ru-RU" dirty="0"/>
              <a:t>имеют в своем </a:t>
            </a:r>
            <a:r>
              <a:rPr lang="ru-RU" dirty="0" smtClean="0"/>
              <a:t>составе </a:t>
            </a:r>
            <a:r>
              <a:rPr lang="ru-RU" dirty="0"/>
              <a:t>четыре мини-чипа, каждый из которых представляет собой независимый </a:t>
            </a:r>
            <a:r>
              <a:rPr lang="ru-RU" dirty="0" smtClean="0"/>
              <a:t>процессор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Некоторые </a:t>
            </a:r>
            <a:r>
              <a:rPr lang="ru-RU" dirty="0"/>
              <a:t>процессоры, например </a:t>
            </a:r>
            <a:r>
              <a:rPr lang="ru-RU" dirty="0" err="1"/>
              <a:t>Intel</a:t>
            </a:r>
            <a:r>
              <a:rPr lang="ru-RU" dirty="0"/>
              <a:t> </a:t>
            </a:r>
            <a:r>
              <a:rPr lang="ru-RU" dirty="0" err="1" smtClean="0"/>
              <a:t>Xeon</a:t>
            </a:r>
            <a:r>
              <a:rPr lang="ru-RU" dirty="0" smtClean="0"/>
              <a:t> </a:t>
            </a:r>
            <a:r>
              <a:rPr lang="ru-RU" dirty="0" err="1"/>
              <a:t>Phi</a:t>
            </a:r>
            <a:r>
              <a:rPr lang="ru-RU" dirty="0"/>
              <a:t> и </a:t>
            </a:r>
            <a:r>
              <a:rPr lang="ru-RU" dirty="0" err="1"/>
              <a:t>Tilera</a:t>
            </a:r>
            <a:r>
              <a:rPr lang="ru-RU" dirty="0"/>
              <a:t> </a:t>
            </a:r>
            <a:r>
              <a:rPr lang="ru-RU" dirty="0" err="1"/>
              <a:t>TilePro</a:t>
            </a:r>
            <a:r>
              <a:rPr lang="ru-RU" dirty="0"/>
              <a:t>, могут похвастаться более чем 60 ядрами на одном кристалле. </a:t>
            </a:r>
          </a:p>
          <a:p>
            <a:r>
              <a:rPr lang="ru-RU" dirty="0"/>
              <a:t>Несомненно, для использования такого многоядерного процессора потребуется </a:t>
            </a:r>
            <a:r>
              <a:rPr lang="ru-RU" dirty="0" smtClean="0"/>
              <a:t>многопроцессорная </a:t>
            </a:r>
            <a:r>
              <a:rPr lang="ru-RU" dirty="0"/>
              <a:t>операционная система.</a:t>
            </a:r>
          </a:p>
        </p:txBody>
      </p:sp>
    </p:spTree>
    <p:extLst>
      <p:ext uri="{BB962C8B-B14F-4D97-AF65-F5344CB8AC3E}">
        <p14:creationId xmlns:p14="http://schemas.microsoft.com/office/powerpoint/2010/main" val="5833111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память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идеале память </a:t>
            </a:r>
            <a:r>
              <a:rPr lang="ru-RU" dirty="0" smtClean="0"/>
              <a:t>должна </a:t>
            </a:r>
            <a:r>
              <a:rPr lang="ru-RU" dirty="0"/>
              <a:t>быть максимально быстрой (работать быстрее, чем производится выполнение </a:t>
            </a:r>
            <a:r>
              <a:rPr lang="ru-RU" dirty="0" smtClean="0"/>
              <a:t>одной </a:t>
            </a:r>
            <a:r>
              <a:rPr lang="ru-RU" dirty="0"/>
              <a:t>инструкции, чтобы работа центрального процессора не замедлялась </a:t>
            </a:r>
            <a:r>
              <a:rPr lang="ru-RU" dirty="0" smtClean="0"/>
              <a:t>обращениями </a:t>
            </a:r>
            <a:r>
              <a:rPr lang="ru-RU" dirty="0"/>
              <a:t>к памяти), довольно большой и чрезвычайно дешевой. </a:t>
            </a:r>
            <a:endParaRPr lang="ru-RU" dirty="0" smtClean="0"/>
          </a:p>
          <a:p>
            <a:r>
              <a:rPr lang="ru-RU" dirty="0" smtClean="0"/>
              <a:t>Никакая </a:t>
            </a:r>
            <a:r>
              <a:rPr lang="ru-RU" dirty="0"/>
              <a:t>современная </a:t>
            </a:r>
            <a:r>
              <a:rPr lang="ru-RU" dirty="0" smtClean="0"/>
              <a:t>технология </a:t>
            </a:r>
            <a:r>
              <a:rPr lang="ru-RU" dirty="0"/>
              <a:t>не в состоянии удовлетворить все эти требования, поэтому используется </a:t>
            </a:r>
            <a:r>
              <a:rPr lang="ru-RU" dirty="0" smtClean="0"/>
              <a:t>другой </a:t>
            </a:r>
            <a:r>
              <a:rPr lang="ru-RU" dirty="0"/>
              <a:t>подход. </a:t>
            </a:r>
            <a:endParaRPr lang="ru-RU" dirty="0" smtClean="0"/>
          </a:p>
          <a:p>
            <a:r>
              <a:rPr lang="ru-RU" dirty="0" smtClean="0"/>
              <a:t>Система </a:t>
            </a:r>
            <a:r>
              <a:rPr lang="ru-RU" dirty="0"/>
              <a:t>памяти создается в виде иерархии уровней 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853936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Память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752601"/>
            <a:ext cx="7931224" cy="1388367"/>
          </a:xfrm>
        </p:spPr>
        <p:txBody>
          <a:bodyPr>
            <a:normAutofit/>
          </a:bodyPr>
          <a:lstStyle/>
          <a:p>
            <a:r>
              <a:rPr lang="ru-RU" dirty="0"/>
              <a:t>Верхние </a:t>
            </a:r>
            <a:r>
              <a:rPr lang="ru-RU" dirty="0" smtClean="0"/>
              <a:t>уровни </a:t>
            </a:r>
            <a:r>
              <a:rPr lang="ru-RU" dirty="0"/>
              <a:t>обладают более высоким </a:t>
            </a:r>
            <a:r>
              <a:rPr lang="ru-RU" dirty="0" smtClean="0"/>
              <a:t>быстродействием</a:t>
            </a:r>
            <a:r>
              <a:rPr lang="ru-RU" dirty="0"/>
              <a:t>, меньшим объемом и более высокой </a:t>
            </a:r>
            <a:r>
              <a:rPr lang="ru-RU" dirty="0" smtClean="0"/>
              <a:t>удельной </a:t>
            </a:r>
            <a:r>
              <a:rPr lang="ru-RU" dirty="0"/>
              <a:t>стоимостью хранения одного бита </a:t>
            </a:r>
            <a:r>
              <a:rPr lang="ru-RU" dirty="0" smtClean="0"/>
              <a:t>информации</a:t>
            </a:r>
            <a:r>
              <a:rPr lang="ru-RU" dirty="0"/>
              <a:t>, чем нижние уровни, иногда </a:t>
            </a:r>
            <a:r>
              <a:rPr lang="ru-RU" dirty="0" smtClean="0"/>
              <a:t>в </a:t>
            </a:r>
            <a:r>
              <a:rPr lang="ru-RU" dirty="0"/>
              <a:t>миллиарды и более раз.</a:t>
            </a:r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426279"/>
            <a:ext cx="8039100" cy="2152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319943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память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i="1" dirty="0" smtClean="0"/>
              <a:t>Кэш-память </a:t>
            </a:r>
            <a:r>
              <a:rPr lang="ru-RU" dirty="0"/>
              <a:t>управляется главным образом аппаратурой. </a:t>
            </a:r>
            <a:r>
              <a:rPr lang="ru-RU" i="1" dirty="0" smtClean="0"/>
              <a:t>Оперативная </a:t>
            </a:r>
            <a:r>
              <a:rPr lang="ru-RU" i="1" dirty="0"/>
              <a:t>память </a:t>
            </a:r>
            <a:r>
              <a:rPr lang="ru-RU" dirty="0"/>
              <a:t>разделяется на кэш-строки, обычно по 64 байт, с адресами от 0 до </a:t>
            </a:r>
            <a:r>
              <a:rPr lang="ru-RU" dirty="0" smtClean="0"/>
              <a:t>63 </a:t>
            </a:r>
            <a:r>
              <a:rPr lang="ru-RU" dirty="0"/>
              <a:t>в кэш-строке 0, адресами от 64 до 127 в кэш-строке 1 и т. д. </a:t>
            </a:r>
            <a:endParaRPr lang="ru-RU" dirty="0" smtClean="0"/>
          </a:p>
          <a:p>
            <a:r>
              <a:rPr lang="ru-RU" dirty="0"/>
              <a:t>Когда программе </a:t>
            </a:r>
            <a:r>
              <a:rPr lang="ru-RU" dirty="0" smtClean="0"/>
              <a:t>нужно </a:t>
            </a:r>
            <a:r>
              <a:rPr lang="ru-RU" dirty="0"/>
              <a:t>считать слово из памяти, аппаратура кэша проверяет, нет ли нужной строки </a:t>
            </a:r>
            <a:r>
              <a:rPr lang="ru-RU" dirty="0" smtClean="0"/>
              <a:t>в </a:t>
            </a:r>
            <a:r>
              <a:rPr lang="ru-RU" dirty="0"/>
              <a:t>кэш-памяти. </a:t>
            </a:r>
            <a:endParaRPr lang="ru-RU" dirty="0" smtClean="0"/>
          </a:p>
          <a:p>
            <a:r>
              <a:rPr lang="ru-RU" dirty="0" smtClean="0"/>
              <a:t>Если </a:t>
            </a:r>
            <a:r>
              <a:rPr lang="ru-RU" dirty="0"/>
              <a:t>строка в ней имеется, то происходит результативное обращение </a:t>
            </a:r>
            <a:r>
              <a:rPr lang="ru-RU" dirty="0" smtClean="0"/>
              <a:t>к </a:t>
            </a:r>
            <a:r>
              <a:rPr lang="ru-RU" dirty="0"/>
              <a:t>кэш-памяти (</a:t>
            </a:r>
            <a:r>
              <a:rPr lang="ru-RU" dirty="0" err="1"/>
              <a:t>cache</a:t>
            </a:r>
            <a:r>
              <a:rPr lang="ru-RU" dirty="0"/>
              <a:t> </a:t>
            </a:r>
            <a:r>
              <a:rPr lang="ru-RU" dirty="0" err="1"/>
              <a:t>hit</a:t>
            </a:r>
            <a:r>
              <a:rPr lang="ru-RU" dirty="0"/>
              <a:t> — кэш-попадание), запрос удовлетворяется за счет кэш-памяти </a:t>
            </a:r>
            <a:r>
              <a:rPr lang="ru-RU" dirty="0" smtClean="0"/>
              <a:t>без </a:t>
            </a:r>
            <a:r>
              <a:rPr lang="ru-RU" dirty="0"/>
              <a:t>отправки запроса по шине к оперативной памяти. </a:t>
            </a:r>
            <a:endParaRPr lang="ru-RU" dirty="0" smtClean="0"/>
          </a:p>
          <a:p>
            <a:r>
              <a:rPr lang="ru-RU" dirty="0" smtClean="0"/>
              <a:t>Обычно </a:t>
            </a:r>
            <a:r>
              <a:rPr lang="ru-RU" dirty="0"/>
              <a:t>результативное </a:t>
            </a:r>
            <a:r>
              <a:rPr lang="ru-RU" dirty="0" smtClean="0"/>
              <a:t>обращение </a:t>
            </a:r>
            <a:r>
              <a:rPr lang="ru-RU" dirty="0"/>
              <a:t>к кэшу занимает по времени два такта. Отсутствие слова в кэш-памяти </a:t>
            </a:r>
            <a:r>
              <a:rPr lang="ru-RU" dirty="0" smtClean="0"/>
              <a:t>вынуждает обращаться </a:t>
            </a:r>
            <a:r>
              <a:rPr lang="ru-RU" dirty="0"/>
              <a:t>к оперативной памяти, что приводит к существенной потере времени. </a:t>
            </a:r>
          </a:p>
        </p:txBody>
      </p:sp>
    </p:spTree>
    <p:extLst>
      <p:ext uri="{BB962C8B-B14F-4D97-AF65-F5344CB8AC3E}">
        <p14:creationId xmlns:p14="http://schemas.microsoft.com/office/powerpoint/2010/main" val="28977507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память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Кэширование играет существенную роль во многих областях </a:t>
            </a:r>
            <a:r>
              <a:rPr lang="ru-RU" dirty="0" smtClean="0"/>
              <a:t>информатики.</a:t>
            </a:r>
          </a:p>
          <a:p>
            <a:r>
              <a:rPr lang="ru-RU" dirty="0" smtClean="0"/>
              <a:t>Операционные </a:t>
            </a:r>
            <a:r>
              <a:rPr lang="ru-RU" dirty="0"/>
              <a:t>системы используют </a:t>
            </a:r>
            <a:r>
              <a:rPr lang="ru-RU" dirty="0" smtClean="0"/>
              <a:t>кэширование </a:t>
            </a:r>
            <a:r>
              <a:rPr lang="ru-RU" dirty="0"/>
              <a:t>повсеместно. </a:t>
            </a:r>
            <a:endParaRPr lang="ru-RU" dirty="0" smtClean="0"/>
          </a:p>
          <a:p>
            <a:r>
              <a:rPr lang="ru-RU" dirty="0" smtClean="0"/>
              <a:t>Например</a:t>
            </a:r>
            <a:r>
              <a:rPr lang="ru-RU" dirty="0"/>
              <a:t>, большинство операционных систем держат </a:t>
            </a:r>
            <a:r>
              <a:rPr lang="ru-RU" dirty="0" smtClean="0"/>
              <a:t>интенсивно </a:t>
            </a:r>
            <a:r>
              <a:rPr lang="ru-RU" dirty="0"/>
              <a:t>используемые файлы (или фрагменты файлов) в оперативной памяти, избегая их </a:t>
            </a:r>
            <a:r>
              <a:rPr lang="ru-RU" dirty="0" smtClean="0"/>
              <a:t>многократного </a:t>
            </a:r>
            <a:r>
              <a:rPr lang="ru-RU" dirty="0"/>
              <a:t>считывания с диска. Точно так же результаты преобразования длинных </a:t>
            </a:r>
            <a:r>
              <a:rPr lang="ru-RU" dirty="0" smtClean="0"/>
              <a:t>имен </a:t>
            </a:r>
            <a:r>
              <a:rPr lang="ru-RU" dirty="0"/>
              <a:t>файлов вроде /</a:t>
            </a:r>
            <a:r>
              <a:rPr lang="ru-RU" dirty="0" err="1"/>
              <a:t>home</a:t>
            </a:r>
            <a:r>
              <a:rPr lang="ru-RU" dirty="0"/>
              <a:t>/</a:t>
            </a:r>
            <a:r>
              <a:rPr lang="ru-RU" dirty="0" err="1"/>
              <a:t>ast</a:t>
            </a:r>
            <a:r>
              <a:rPr lang="ru-RU" dirty="0"/>
              <a:t>/</a:t>
            </a:r>
            <a:r>
              <a:rPr lang="ru-RU" dirty="0" err="1"/>
              <a:t>projects</a:t>
            </a:r>
            <a:r>
              <a:rPr lang="ru-RU" dirty="0"/>
              <a:t>/minix3/</a:t>
            </a:r>
            <a:r>
              <a:rPr lang="ru-RU" dirty="0" err="1"/>
              <a:t>src</a:t>
            </a:r>
            <a:r>
              <a:rPr lang="ru-RU" dirty="0"/>
              <a:t>/</a:t>
            </a:r>
            <a:r>
              <a:rPr lang="ru-RU" dirty="0" err="1"/>
              <a:t>kernel</a:t>
            </a:r>
            <a:r>
              <a:rPr lang="ru-RU" dirty="0"/>
              <a:t>/</a:t>
            </a:r>
            <a:r>
              <a:rPr lang="ru-RU" dirty="0" err="1"/>
              <a:t>clock.c</a:t>
            </a:r>
            <a:r>
              <a:rPr lang="ru-RU" dirty="0"/>
              <a:t> в дисковый адрес, по </a:t>
            </a:r>
            <a:r>
              <a:rPr lang="ru-RU" dirty="0" smtClean="0"/>
              <a:t>которому </a:t>
            </a:r>
            <a:r>
              <a:rPr lang="ru-RU" dirty="0"/>
              <a:t>расположен файл, могут кэшироваться, чтобы исключить необходимость </a:t>
            </a:r>
            <a:r>
              <a:rPr lang="ru-RU" dirty="0" smtClean="0"/>
              <a:t>в </a:t>
            </a:r>
            <a:r>
              <a:rPr lang="ru-RU" dirty="0"/>
              <a:t>повторных поисках. </a:t>
            </a:r>
          </a:p>
        </p:txBody>
      </p:sp>
    </p:spTree>
    <p:extLst>
      <p:ext uri="{BB962C8B-B14F-4D97-AF65-F5344CB8AC3E}">
        <p14:creationId xmlns:p14="http://schemas.microsoft.com/office/powerpoint/2010/main" val="3060587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память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12777"/>
            <a:ext cx="7931224" cy="2736304"/>
          </a:xfrm>
        </p:spPr>
        <p:txBody>
          <a:bodyPr numCol="1">
            <a:normAutofit/>
          </a:bodyPr>
          <a:lstStyle/>
          <a:p>
            <a:r>
              <a:rPr lang="ru-RU" dirty="0"/>
              <a:t>При разработке многоядерных процессоров </a:t>
            </a:r>
            <a:r>
              <a:rPr lang="ru-RU" dirty="0" smtClean="0"/>
              <a:t> </a:t>
            </a:r>
            <a:r>
              <a:rPr lang="ru-RU" dirty="0"/>
              <a:t>приходится решать, куда </a:t>
            </a:r>
            <a:r>
              <a:rPr lang="ru-RU" dirty="0" smtClean="0"/>
              <a:t>поместить </a:t>
            </a:r>
            <a:r>
              <a:rPr lang="ru-RU" dirty="0"/>
              <a:t>кэш-память. На </a:t>
            </a:r>
            <a:r>
              <a:rPr lang="ru-RU" dirty="0" smtClean="0"/>
              <a:t>рисунке а показан </a:t>
            </a:r>
            <a:r>
              <a:rPr lang="ru-RU" dirty="0"/>
              <a:t>один кэш L2, совместно использующийся </a:t>
            </a:r>
            <a:r>
              <a:rPr lang="ru-RU" dirty="0" smtClean="0"/>
              <a:t>всеми </a:t>
            </a:r>
            <a:r>
              <a:rPr lang="ru-RU" dirty="0"/>
              <a:t>ядрами. Такой подход применяется в многоядерных процессорах корпорации </a:t>
            </a:r>
            <a:r>
              <a:rPr lang="ru-RU" dirty="0" err="1" smtClean="0"/>
              <a:t>Intel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Для </a:t>
            </a:r>
            <a:r>
              <a:rPr lang="ru-RU" dirty="0"/>
              <a:t>сравнения на </a:t>
            </a:r>
            <a:r>
              <a:rPr lang="ru-RU" dirty="0" smtClean="0"/>
              <a:t>рисунке б каждое </a:t>
            </a:r>
            <a:r>
              <a:rPr lang="ru-RU" dirty="0"/>
              <a:t>ядро имеет собственную кэш-память L2. </a:t>
            </a:r>
            <a:r>
              <a:rPr lang="ru-RU" dirty="0" smtClean="0"/>
              <a:t>Именно </a:t>
            </a:r>
            <a:r>
              <a:rPr lang="ru-RU" dirty="0"/>
              <a:t>такой подход применяет компания AMD. </a:t>
            </a:r>
            <a:endParaRPr lang="ru-RU" dirty="0" smtClean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4077072"/>
            <a:ext cx="4608512" cy="25648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502243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память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752600"/>
            <a:ext cx="8003232" cy="4556720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Следующей в </a:t>
            </a:r>
            <a:r>
              <a:rPr lang="ru-RU" dirty="0" smtClean="0"/>
              <a:t>иерархии идет </a:t>
            </a:r>
            <a:r>
              <a:rPr lang="ru-RU" i="1" dirty="0"/>
              <a:t>оперативная память</a:t>
            </a:r>
            <a:r>
              <a:rPr lang="ru-RU" dirty="0"/>
              <a:t>. Это </a:t>
            </a:r>
            <a:r>
              <a:rPr lang="ru-RU" dirty="0" smtClean="0"/>
              <a:t>главная </a:t>
            </a:r>
            <a:r>
              <a:rPr lang="ru-RU" dirty="0"/>
              <a:t>рабочая область системы памяти машины. </a:t>
            </a:r>
            <a:endParaRPr lang="ru-RU" dirty="0" smtClean="0"/>
          </a:p>
          <a:p>
            <a:r>
              <a:rPr lang="ru-RU" dirty="0" smtClean="0"/>
              <a:t>Оперативную </a:t>
            </a:r>
            <a:r>
              <a:rPr lang="ru-RU" dirty="0"/>
              <a:t>память часто называют </a:t>
            </a:r>
            <a:r>
              <a:rPr lang="ru-RU" dirty="0" smtClean="0"/>
              <a:t>оперативным </a:t>
            </a:r>
            <a:r>
              <a:rPr lang="ru-RU" dirty="0"/>
              <a:t>запоминающим устройством (ОЗУ), или памятью с произвольным </a:t>
            </a:r>
            <a:r>
              <a:rPr lang="ru-RU" dirty="0" smtClean="0"/>
              <a:t>доступом </a:t>
            </a:r>
            <a:r>
              <a:rPr lang="ru-RU" dirty="0"/>
              <a:t>(</a:t>
            </a:r>
            <a:r>
              <a:rPr lang="ru-RU" dirty="0" err="1" smtClean="0"/>
              <a:t>Random</a:t>
            </a:r>
            <a:r>
              <a:rPr lang="ru-RU" dirty="0" smtClean="0"/>
              <a:t> </a:t>
            </a:r>
            <a:r>
              <a:rPr lang="ru-RU" dirty="0" err="1"/>
              <a:t>Access</a:t>
            </a:r>
            <a:r>
              <a:rPr lang="ru-RU" dirty="0"/>
              <a:t> </a:t>
            </a:r>
            <a:r>
              <a:rPr lang="ru-RU" dirty="0" err="1"/>
              <a:t>Memory</a:t>
            </a:r>
            <a:r>
              <a:rPr lang="ru-RU" dirty="0"/>
              <a:t> (RAM</a:t>
            </a:r>
            <a:r>
              <a:rPr lang="ru-RU" dirty="0" smtClean="0"/>
              <a:t>)).</a:t>
            </a:r>
          </a:p>
          <a:p>
            <a:r>
              <a:rPr lang="ru-RU" dirty="0"/>
              <a:t>Все </a:t>
            </a:r>
            <a:r>
              <a:rPr lang="ru-RU" dirty="0" smtClean="0"/>
              <a:t>запросы </a:t>
            </a:r>
            <a:r>
              <a:rPr lang="ru-RU" dirty="0"/>
              <a:t>процессора, которые не могут быть удовлетворены кэш-памятью, направляются </a:t>
            </a:r>
            <a:r>
              <a:rPr lang="ru-RU" dirty="0" smtClean="0"/>
              <a:t>к </a:t>
            </a:r>
            <a:r>
              <a:rPr lang="ru-RU" dirty="0"/>
              <a:t>оперативной памяти.</a:t>
            </a:r>
          </a:p>
          <a:p>
            <a:r>
              <a:rPr lang="ru-RU" dirty="0"/>
              <a:t>Дополнительно к оперативной памяти многие компьютеры оснащены небольшой по </a:t>
            </a:r>
            <a:r>
              <a:rPr lang="ru-RU" dirty="0" smtClean="0"/>
              <a:t>объему </a:t>
            </a:r>
            <a:r>
              <a:rPr lang="ru-RU" dirty="0"/>
              <a:t>неизменяемой памятью с произвольным доступом — постоянным </a:t>
            </a:r>
            <a:r>
              <a:rPr lang="ru-RU" dirty="0" smtClean="0"/>
              <a:t>запоминающим </a:t>
            </a:r>
            <a:r>
              <a:rPr lang="ru-RU" dirty="0"/>
              <a:t>устройством (ПЗУ), оно же память, предназначенная только для чтения (</a:t>
            </a:r>
            <a:r>
              <a:rPr lang="ru-RU" dirty="0" err="1"/>
              <a:t>Read</a:t>
            </a:r>
            <a:r>
              <a:rPr lang="ru-RU" dirty="0"/>
              <a:t> </a:t>
            </a:r>
            <a:r>
              <a:rPr lang="ru-RU" dirty="0" err="1" smtClean="0"/>
              <a:t>Only</a:t>
            </a:r>
            <a:r>
              <a:rPr lang="ru-RU" dirty="0" smtClean="0"/>
              <a:t> </a:t>
            </a:r>
            <a:r>
              <a:rPr lang="ru-RU" dirty="0" err="1"/>
              <a:t>Memory</a:t>
            </a:r>
            <a:r>
              <a:rPr lang="ru-RU" dirty="0"/>
              <a:t> (ROM)). В отличие от ОЗУ она не утрачивает своего содержимого при </a:t>
            </a:r>
            <a:r>
              <a:rPr lang="ru-RU" dirty="0" smtClean="0"/>
              <a:t>отключении </a:t>
            </a:r>
            <a:r>
              <a:rPr lang="ru-RU" dirty="0"/>
              <a:t>питания, то есть является энергонезависимой. ПЗУ программируется на </a:t>
            </a:r>
            <a:r>
              <a:rPr lang="ru-RU" dirty="0" smtClean="0"/>
              <a:t>предприятии-изготовителе </a:t>
            </a:r>
            <a:r>
              <a:rPr lang="ru-RU" dirty="0"/>
              <a:t>и впоследствии не подлежит изменению. </a:t>
            </a:r>
          </a:p>
        </p:txBody>
      </p:sp>
    </p:spTree>
    <p:extLst>
      <p:ext uri="{BB962C8B-B14F-4D97-AF65-F5344CB8AC3E}">
        <p14:creationId xmlns:p14="http://schemas.microsoft.com/office/powerpoint/2010/main" val="33522671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память</a:t>
            </a:r>
            <a:endParaRPr lang="ru-RU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079" y="3573016"/>
            <a:ext cx="6147550" cy="3168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84784"/>
            <a:ext cx="7787208" cy="2736305"/>
          </a:xfrm>
        </p:spPr>
        <p:txBody>
          <a:bodyPr/>
          <a:lstStyle/>
          <a:p>
            <a:r>
              <a:rPr lang="ru-RU" i="1" dirty="0"/>
              <a:t>Дисковый накопитель </a:t>
            </a:r>
            <a:r>
              <a:rPr lang="ru-RU" dirty="0"/>
              <a:t>в пересчете на бит информации на два </a:t>
            </a:r>
            <a:r>
              <a:rPr lang="ru-RU" dirty="0" smtClean="0"/>
              <a:t>порядка </a:t>
            </a:r>
            <a:r>
              <a:rPr lang="ru-RU" dirty="0"/>
              <a:t>дешевле, чем ОЗУ, а его емкость зачастую на два порядка выше. </a:t>
            </a:r>
            <a:endParaRPr lang="ru-RU" dirty="0" smtClean="0"/>
          </a:p>
          <a:p>
            <a:r>
              <a:rPr lang="ru-RU" dirty="0" smtClean="0"/>
              <a:t>Единственная проблема </a:t>
            </a:r>
            <a:r>
              <a:rPr lang="ru-RU" dirty="0"/>
              <a:t>состоит в том, что время произвольного доступа к данным примерно на три </a:t>
            </a:r>
            <a:r>
              <a:rPr lang="ru-RU" dirty="0" smtClean="0"/>
              <a:t>порядка </a:t>
            </a:r>
            <a:r>
              <a:rPr lang="ru-RU" dirty="0"/>
              <a:t>медленнее. Причина в том, что диск является механическим </a:t>
            </a:r>
            <a:r>
              <a:rPr lang="ru-RU" dirty="0" smtClean="0"/>
              <a:t>устройством.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49485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память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Порой речь заходит о таких дисках, которые на самом деле дисками не являются, </a:t>
            </a:r>
            <a:r>
              <a:rPr lang="ru-RU" dirty="0" smtClean="0"/>
              <a:t>например </a:t>
            </a:r>
            <a:r>
              <a:rPr lang="ru-RU" dirty="0"/>
              <a:t>о твердотельных накопителях — SSD (</a:t>
            </a:r>
            <a:r>
              <a:rPr lang="ru-RU" dirty="0" err="1"/>
              <a:t>Solid</a:t>
            </a:r>
            <a:r>
              <a:rPr lang="ru-RU" dirty="0"/>
              <a:t> </a:t>
            </a:r>
            <a:r>
              <a:rPr lang="ru-RU" dirty="0" err="1"/>
              <a:t>State</a:t>
            </a:r>
            <a:r>
              <a:rPr lang="ru-RU" dirty="0"/>
              <a:t> </a:t>
            </a:r>
            <a:r>
              <a:rPr lang="ru-RU" dirty="0" err="1"/>
              <a:t>Disks</a:t>
            </a:r>
            <a:r>
              <a:rPr lang="ru-RU" dirty="0"/>
              <a:t>). </a:t>
            </a:r>
            <a:endParaRPr lang="ru-RU" dirty="0" smtClean="0"/>
          </a:p>
          <a:p>
            <a:r>
              <a:rPr lang="ru-RU" dirty="0" smtClean="0"/>
              <a:t>У </a:t>
            </a:r>
            <a:r>
              <a:rPr lang="ru-RU" dirty="0"/>
              <a:t>них нет движущихся </a:t>
            </a:r>
            <a:r>
              <a:rPr lang="ru-RU" dirty="0" smtClean="0"/>
              <a:t>частей</a:t>
            </a:r>
            <a:r>
              <a:rPr lang="ru-RU" dirty="0"/>
              <a:t>, дисковых пластин, а данные хранятся во </a:t>
            </a:r>
            <a:r>
              <a:rPr lang="ru-RU" dirty="0" err="1"/>
              <a:t>флеш</a:t>
            </a:r>
            <a:r>
              <a:rPr lang="ru-RU" dirty="0"/>
              <a:t>-памяти. </a:t>
            </a:r>
            <a:endParaRPr lang="ru-RU" dirty="0" smtClean="0"/>
          </a:p>
          <a:p>
            <a:r>
              <a:rPr lang="ru-RU" dirty="0" smtClean="0"/>
              <a:t>Они </a:t>
            </a:r>
            <a:r>
              <a:rPr lang="ru-RU" dirty="0"/>
              <a:t>напоминают </a:t>
            </a:r>
            <a:r>
              <a:rPr lang="ru-RU" dirty="0" smtClean="0"/>
              <a:t>диски только </a:t>
            </a:r>
            <a:r>
              <a:rPr lang="ru-RU" dirty="0"/>
              <a:t>тем, что содержат большой объем данных, который при отключении питания </a:t>
            </a:r>
            <a:r>
              <a:rPr lang="ru-RU" dirty="0" smtClean="0"/>
              <a:t>не </a:t>
            </a:r>
            <a:r>
              <a:rPr lang="ru-RU" dirty="0"/>
              <a:t>теряется.</a:t>
            </a:r>
          </a:p>
        </p:txBody>
      </p:sp>
    </p:spTree>
    <p:extLst>
      <p:ext uri="{BB962C8B-B14F-4D97-AF65-F5344CB8AC3E}">
        <p14:creationId xmlns:p14="http://schemas.microsoft.com/office/powerpoint/2010/main" val="16409775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память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Многие компьютеры поддерживают схему, которая называется виртуальной памятью. </a:t>
            </a:r>
          </a:p>
          <a:p>
            <a:r>
              <a:rPr lang="ru-RU" dirty="0" smtClean="0"/>
              <a:t>Она </a:t>
            </a:r>
            <a:r>
              <a:rPr lang="ru-RU" dirty="0"/>
              <a:t>дает возможность запускать </a:t>
            </a:r>
            <a:r>
              <a:rPr lang="ru-RU" dirty="0" smtClean="0"/>
              <a:t>программы</a:t>
            </a:r>
            <a:r>
              <a:rPr lang="ru-RU" dirty="0"/>
              <a:t>, превышающие по объему физическую память компьютера, за счет помещения </a:t>
            </a:r>
            <a:r>
              <a:rPr lang="ru-RU" dirty="0" smtClean="0"/>
              <a:t>их </a:t>
            </a:r>
            <a:r>
              <a:rPr lang="ru-RU" dirty="0"/>
              <a:t>на диск и использования оперативной памяти как некой разновидности кэша для </a:t>
            </a:r>
            <a:r>
              <a:rPr lang="ru-RU" dirty="0" smtClean="0"/>
              <a:t>наиболее </a:t>
            </a:r>
            <a:r>
              <a:rPr lang="ru-RU" dirty="0"/>
              <a:t>интенсивно исполняемых частей. </a:t>
            </a:r>
            <a:endParaRPr lang="ru-RU" dirty="0" smtClean="0"/>
          </a:p>
          <a:p>
            <a:r>
              <a:rPr lang="ru-RU" dirty="0" smtClean="0"/>
              <a:t>Такое </a:t>
            </a:r>
            <a:r>
              <a:rPr lang="ru-RU" dirty="0"/>
              <a:t>отображение </a:t>
            </a:r>
            <a:r>
              <a:rPr lang="ru-RU" dirty="0" smtClean="0"/>
              <a:t>адресов </a:t>
            </a:r>
            <a:r>
              <a:rPr lang="ru-RU" dirty="0"/>
              <a:t>осуществляется частью центрального процессора, называется блоком управления </a:t>
            </a:r>
            <a:r>
              <a:rPr lang="ru-RU" dirty="0" smtClean="0"/>
              <a:t>памятью </a:t>
            </a:r>
            <a:r>
              <a:rPr lang="ru-RU" dirty="0"/>
              <a:t>(</a:t>
            </a:r>
            <a:r>
              <a:rPr lang="ru-RU" dirty="0" err="1"/>
              <a:t>Memory</a:t>
            </a:r>
            <a:r>
              <a:rPr lang="ru-RU" dirty="0"/>
              <a:t> </a:t>
            </a:r>
            <a:r>
              <a:rPr lang="ru-RU" dirty="0" err="1"/>
              <a:t>Management</a:t>
            </a:r>
            <a:r>
              <a:rPr lang="ru-RU" dirty="0"/>
              <a:t> </a:t>
            </a:r>
            <a:r>
              <a:rPr lang="ru-RU" dirty="0" err="1"/>
              <a:t>Unit</a:t>
            </a:r>
            <a:r>
              <a:rPr lang="ru-RU" dirty="0"/>
              <a:t> (MMU)), или диспетчером </a:t>
            </a:r>
            <a:r>
              <a:rPr lang="ru-RU" dirty="0" smtClean="0"/>
              <a:t>памяти.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99084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Устройства ввода-вывода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 smtClean="0"/>
              <a:t>Обычно </a:t>
            </a:r>
            <a:r>
              <a:rPr lang="ru-RU" dirty="0"/>
              <a:t>состоят </a:t>
            </a:r>
            <a:r>
              <a:rPr lang="ru-RU" dirty="0" smtClean="0"/>
              <a:t>из </a:t>
            </a:r>
            <a:r>
              <a:rPr lang="ru-RU" dirty="0"/>
              <a:t>двух компонентов: </a:t>
            </a:r>
            <a:endParaRPr lang="ru-RU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ru-RU" dirty="0" smtClean="0"/>
              <a:t>самого устройства;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dirty="0" smtClean="0"/>
              <a:t>контроллера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Контроллер </a:t>
            </a:r>
            <a:r>
              <a:rPr lang="ru-RU" dirty="0"/>
              <a:t>представляет </a:t>
            </a:r>
            <a:r>
              <a:rPr lang="ru-RU" dirty="0" smtClean="0"/>
              <a:t>собой </a:t>
            </a:r>
            <a:r>
              <a:rPr lang="ru-RU" dirty="0"/>
              <a:t>микросхему или набор микросхем, которые управляют устройством на </a:t>
            </a:r>
            <a:r>
              <a:rPr lang="ru-RU" dirty="0" smtClean="0"/>
              <a:t>физическом </a:t>
            </a:r>
            <a:r>
              <a:rPr lang="ru-RU" dirty="0"/>
              <a:t>уровне. Он принимает от операционной системы команды, например считать </a:t>
            </a:r>
            <a:r>
              <a:rPr lang="ru-RU" dirty="0" smtClean="0"/>
              <a:t>данные </a:t>
            </a:r>
            <a:r>
              <a:rPr lang="ru-RU" dirty="0"/>
              <a:t>с помощью устройства, а затем их выполняет</a:t>
            </a:r>
            <a:r>
              <a:rPr lang="ru-RU" dirty="0" smtClean="0"/>
              <a:t>.</a:t>
            </a:r>
          </a:p>
          <a:p>
            <a:r>
              <a:rPr lang="ru-RU" dirty="0"/>
              <a:t>Довольно часто непосредственное управление устройством очень сложно и требует </a:t>
            </a:r>
            <a:r>
              <a:rPr lang="ru-RU" dirty="0" smtClean="0"/>
              <a:t>высокого </a:t>
            </a:r>
            <a:r>
              <a:rPr lang="ru-RU" dirty="0"/>
              <a:t>уровня детализации, поэтому задачей контроллера является предоставление </a:t>
            </a:r>
            <a:r>
              <a:rPr lang="ru-RU" dirty="0" smtClean="0"/>
              <a:t>операционной </a:t>
            </a:r>
            <a:r>
              <a:rPr lang="ru-RU" dirty="0"/>
              <a:t>системе простого (но не упрощенного) интерфейса. </a:t>
            </a:r>
          </a:p>
        </p:txBody>
      </p:sp>
    </p:spTree>
    <p:extLst>
      <p:ext uri="{BB962C8B-B14F-4D97-AF65-F5344CB8AC3E}">
        <p14:creationId xmlns:p14="http://schemas.microsoft.com/office/powerpoint/2010/main" val="33991261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Устройства ввода-вывода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Так как все типы контроллеров отличаются друг от друга, для управления ими </a:t>
            </a:r>
            <a:r>
              <a:rPr lang="ru-RU" dirty="0" smtClean="0"/>
              <a:t>требуется </a:t>
            </a:r>
            <a:r>
              <a:rPr lang="ru-RU" dirty="0"/>
              <a:t>различное программное обеспечение. </a:t>
            </a:r>
            <a:endParaRPr lang="ru-RU" dirty="0" smtClean="0"/>
          </a:p>
          <a:p>
            <a:r>
              <a:rPr lang="ru-RU" dirty="0" smtClean="0"/>
              <a:t>Программа</a:t>
            </a:r>
            <a:r>
              <a:rPr lang="ru-RU" dirty="0"/>
              <a:t>, предназначенная для общения </a:t>
            </a:r>
            <a:r>
              <a:rPr lang="ru-RU" dirty="0" smtClean="0"/>
              <a:t>с </a:t>
            </a:r>
            <a:r>
              <a:rPr lang="ru-RU" dirty="0"/>
              <a:t>контроллером, выдачи ему команды и получения поступающих от него ответов, </a:t>
            </a:r>
            <a:r>
              <a:rPr lang="ru-RU" dirty="0" smtClean="0"/>
              <a:t>называется </a:t>
            </a:r>
            <a:r>
              <a:rPr lang="ru-RU" i="1" dirty="0"/>
              <a:t>драйвером</a:t>
            </a:r>
            <a:r>
              <a:rPr lang="ru-RU" dirty="0"/>
              <a:t> устройства. </a:t>
            </a:r>
            <a:endParaRPr lang="ru-RU" dirty="0" smtClean="0"/>
          </a:p>
          <a:p>
            <a:r>
              <a:rPr lang="ru-RU" dirty="0"/>
              <a:t>Для использования драйвер нужно поместить в </a:t>
            </a:r>
            <a:r>
              <a:rPr lang="ru-RU" dirty="0" smtClean="0"/>
              <a:t>ОС, </a:t>
            </a:r>
            <a:r>
              <a:rPr lang="ru-RU" dirty="0"/>
              <a:t>предоставив ему </a:t>
            </a:r>
            <a:r>
              <a:rPr lang="ru-RU" dirty="0" smtClean="0"/>
              <a:t>тем </a:t>
            </a:r>
            <a:r>
              <a:rPr lang="ru-RU" dirty="0"/>
              <a:t>самым возможность работать в режиме ядра. Вообще-то драйверы могут работать </a:t>
            </a:r>
            <a:r>
              <a:rPr lang="ru-RU" dirty="0" smtClean="0"/>
              <a:t>и </a:t>
            </a:r>
            <a:r>
              <a:rPr lang="ru-RU" dirty="0"/>
              <a:t>не в режиме ядра, и поддержка </a:t>
            </a:r>
            <a:r>
              <a:rPr lang="ru-RU" dirty="0" smtClean="0"/>
              <a:t>такого </a:t>
            </a:r>
            <a:r>
              <a:rPr lang="ru-RU" dirty="0"/>
              <a:t>режима предлагается в настоящее время в </a:t>
            </a:r>
            <a:r>
              <a:rPr lang="ru-RU" dirty="0" smtClean="0"/>
              <a:t>ОС </a:t>
            </a:r>
            <a:r>
              <a:rPr lang="ru-RU" dirty="0" err="1"/>
              <a:t>Linux</a:t>
            </a:r>
            <a:r>
              <a:rPr lang="ru-RU" dirty="0"/>
              <a:t> и </a:t>
            </a:r>
            <a:r>
              <a:rPr lang="ru-RU" dirty="0" err="1"/>
              <a:t>Windows</a:t>
            </a:r>
            <a:r>
              <a:rPr lang="ru-RU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045084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Устройства ввода-вывода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Существует три способа установки драйвера в ядро. </a:t>
            </a:r>
            <a:endParaRPr lang="ru-RU" dirty="0" smtClean="0"/>
          </a:p>
          <a:p>
            <a:r>
              <a:rPr lang="ru-RU" dirty="0" smtClean="0"/>
              <a:t>Первый </a:t>
            </a:r>
            <a:r>
              <a:rPr lang="ru-RU" dirty="0"/>
              <a:t>состоит в том, чтобы </a:t>
            </a:r>
            <a:r>
              <a:rPr lang="ru-RU" dirty="0" smtClean="0"/>
              <a:t>заново </a:t>
            </a:r>
            <a:r>
              <a:rPr lang="ru-RU" dirty="0"/>
              <a:t>скомпоновать ядро вместе с новым драйвером и затем перезагрузить систему. </a:t>
            </a:r>
            <a:r>
              <a:rPr lang="ru-RU" dirty="0" smtClean="0"/>
              <a:t>Многие </a:t>
            </a:r>
            <a:r>
              <a:rPr lang="ru-RU" dirty="0"/>
              <a:t>устаревшие UNIX-системы именно так и работают. </a:t>
            </a:r>
            <a:endParaRPr lang="ru-RU" dirty="0" smtClean="0"/>
          </a:p>
          <a:p>
            <a:r>
              <a:rPr lang="ru-RU" dirty="0" smtClean="0"/>
              <a:t>Второй </a:t>
            </a:r>
            <a:r>
              <a:rPr lang="ru-RU" dirty="0"/>
              <a:t>способ: создать </a:t>
            </a:r>
            <a:r>
              <a:rPr lang="ru-RU" dirty="0" smtClean="0"/>
              <a:t>в </a:t>
            </a:r>
            <a:r>
              <a:rPr lang="ru-RU" dirty="0"/>
              <a:t>специальном файле </a:t>
            </a:r>
            <a:r>
              <a:rPr lang="ru-RU" dirty="0" smtClean="0"/>
              <a:t>ОС </a:t>
            </a:r>
            <a:r>
              <a:rPr lang="ru-RU" dirty="0"/>
              <a:t>запись, сообщающую ей о том, что </a:t>
            </a:r>
            <a:r>
              <a:rPr lang="ru-RU" dirty="0" smtClean="0"/>
              <a:t>требуется</a:t>
            </a:r>
            <a:r>
              <a:rPr lang="ru-RU" dirty="0"/>
              <a:t>, и затем перезагрузить систему. Во время загрузки </a:t>
            </a:r>
            <a:r>
              <a:rPr lang="ru-RU" dirty="0" smtClean="0"/>
              <a:t>ОС сама находит </a:t>
            </a:r>
            <a:r>
              <a:rPr lang="ru-RU" dirty="0"/>
              <a:t>нужные ей драйверы и загружает их. Именно так и работает система </a:t>
            </a:r>
            <a:r>
              <a:rPr lang="ru-RU" dirty="0" err="1"/>
              <a:t>Windows</a:t>
            </a:r>
            <a:r>
              <a:rPr lang="ru-RU" dirty="0"/>
              <a:t>. </a:t>
            </a:r>
          </a:p>
          <a:p>
            <a:r>
              <a:rPr lang="ru-RU" dirty="0"/>
              <a:t>При третьем способе — динамической загрузке драйверов — </a:t>
            </a:r>
            <a:r>
              <a:rPr lang="ru-RU" dirty="0" smtClean="0"/>
              <a:t>ОС может </a:t>
            </a:r>
            <a:r>
              <a:rPr lang="ru-RU" dirty="0"/>
              <a:t>принимать новые драйверы в процессе работы и оперативно устанавливать их, </a:t>
            </a:r>
            <a:r>
              <a:rPr lang="ru-RU" dirty="0" smtClean="0"/>
              <a:t>не </a:t>
            </a:r>
            <a:r>
              <a:rPr lang="ru-RU" dirty="0"/>
              <a:t>требуя для этого перезагрузки. Этот способ ранее использовался довольно редко, но </a:t>
            </a:r>
            <a:r>
              <a:rPr lang="ru-RU" dirty="0" smtClean="0"/>
              <a:t>сейчас </a:t>
            </a:r>
            <a:r>
              <a:rPr lang="ru-RU" dirty="0"/>
              <a:t>он получает все большее распространение. </a:t>
            </a:r>
          </a:p>
        </p:txBody>
      </p:sp>
    </p:spTree>
    <p:extLst>
      <p:ext uri="{BB962C8B-B14F-4D97-AF65-F5344CB8AC3E}">
        <p14:creationId xmlns:p14="http://schemas.microsoft.com/office/powerpoint/2010/main" val="27406584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Устройства ввода-вывода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752600"/>
            <a:ext cx="8003232" cy="4556720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Ввод и вывод данных можно делать тремя различными </a:t>
            </a:r>
            <a:r>
              <a:rPr lang="ru-RU" dirty="0" smtClean="0"/>
              <a:t>способами</a:t>
            </a:r>
            <a:r>
              <a:rPr lang="ru-RU" dirty="0"/>
              <a:t>:</a:t>
            </a:r>
            <a:endParaRPr lang="ru-RU" dirty="0" smtClean="0"/>
          </a:p>
          <a:p>
            <a:r>
              <a:rPr lang="ru-RU" dirty="0" smtClean="0"/>
              <a:t>1) В </a:t>
            </a:r>
            <a:r>
              <a:rPr lang="ru-RU" dirty="0"/>
              <a:t>простейшем из </a:t>
            </a:r>
            <a:r>
              <a:rPr lang="ru-RU" dirty="0" smtClean="0"/>
              <a:t>них </a:t>
            </a:r>
            <a:r>
              <a:rPr lang="ru-RU" dirty="0"/>
              <a:t>пользовательская программа производит системный вызов, который транслируется </a:t>
            </a:r>
            <a:r>
              <a:rPr lang="ru-RU" dirty="0" smtClean="0"/>
              <a:t>ядром </a:t>
            </a:r>
            <a:r>
              <a:rPr lang="ru-RU" dirty="0"/>
              <a:t>в процедуру вызова соответствующего драйвера. </a:t>
            </a:r>
            <a:endParaRPr lang="ru-RU" dirty="0" smtClean="0"/>
          </a:p>
          <a:p>
            <a:r>
              <a:rPr lang="ru-RU" dirty="0" smtClean="0"/>
              <a:t>После </a:t>
            </a:r>
            <a:r>
              <a:rPr lang="ru-RU" dirty="0"/>
              <a:t>этого драйвер </a:t>
            </a:r>
            <a:r>
              <a:rPr lang="ru-RU" dirty="0" smtClean="0"/>
              <a:t>приступает </a:t>
            </a:r>
            <a:r>
              <a:rPr lang="ru-RU" dirty="0"/>
              <a:t>к процессу ввода-вывода. В это время он выполняет очень короткий цикл, </a:t>
            </a:r>
            <a:r>
              <a:rPr lang="ru-RU" dirty="0" smtClean="0"/>
              <a:t>постоянно </a:t>
            </a:r>
            <a:r>
              <a:rPr lang="ru-RU" dirty="0"/>
              <a:t>опрашивая устройство и отслеживая завершение </a:t>
            </a:r>
            <a:r>
              <a:rPr lang="ru-RU" dirty="0" smtClean="0"/>
              <a:t>операции.</a:t>
            </a:r>
          </a:p>
          <a:p>
            <a:r>
              <a:rPr lang="ru-RU" dirty="0" smtClean="0"/>
              <a:t>По </a:t>
            </a:r>
            <a:r>
              <a:rPr lang="ru-RU" dirty="0"/>
              <a:t>завершении операции </a:t>
            </a:r>
            <a:r>
              <a:rPr lang="ru-RU" dirty="0" smtClean="0"/>
              <a:t>ввода-вывода </a:t>
            </a:r>
            <a:r>
              <a:rPr lang="ru-RU" dirty="0"/>
              <a:t>драйвер помещает данные (если таковые имеются) туда, куда требуется, </a:t>
            </a:r>
            <a:r>
              <a:rPr lang="ru-RU" dirty="0" smtClean="0"/>
              <a:t>и </a:t>
            </a:r>
            <a:r>
              <a:rPr lang="ru-RU" dirty="0"/>
              <a:t>возвращает управление. Затем </a:t>
            </a:r>
            <a:r>
              <a:rPr lang="ru-RU" dirty="0" smtClean="0"/>
              <a:t>ОС </a:t>
            </a:r>
            <a:r>
              <a:rPr lang="ru-RU" dirty="0"/>
              <a:t>возвращает управление </a:t>
            </a:r>
            <a:r>
              <a:rPr lang="ru-RU" dirty="0" smtClean="0"/>
              <a:t>вызывающей </a:t>
            </a:r>
            <a:r>
              <a:rPr lang="ru-RU" dirty="0"/>
              <a:t>программе. </a:t>
            </a:r>
            <a:endParaRPr lang="ru-RU" dirty="0" smtClean="0"/>
          </a:p>
          <a:p>
            <a:r>
              <a:rPr lang="ru-RU" dirty="0" smtClean="0"/>
              <a:t>Этот </a:t>
            </a:r>
            <a:r>
              <a:rPr lang="ru-RU" dirty="0"/>
              <a:t>способ называется </a:t>
            </a:r>
            <a:r>
              <a:rPr lang="ru-RU" i="1" dirty="0"/>
              <a:t>активным ожиданием</a:t>
            </a:r>
            <a:r>
              <a:rPr lang="ru-RU" dirty="0"/>
              <a:t> или </a:t>
            </a:r>
            <a:r>
              <a:rPr lang="ru-RU" i="1" dirty="0"/>
              <a:t>ожиданием </a:t>
            </a:r>
            <a:r>
              <a:rPr lang="ru-RU" i="1" dirty="0" smtClean="0"/>
              <a:t>готовности</a:t>
            </a:r>
            <a:r>
              <a:rPr lang="ru-RU" dirty="0"/>
              <a:t>, а его недостаток заключается в том, что он загружает процессор опросом </a:t>
            </a:r>
            <a:r>
              <a:rPr lang="ru-RU" dirty="0" smtClean="0"/>
              <a:t>устройства </a:t>
            </a:r>
            <a:r>
              <a:rPr lang="ru-RU" dirty="0"/>
              <a:t>об окончании работы.</a:t>
            </a:r>
          </a:p>
        </p:txBody>
      </p:sp>
    </p:spTree>
    <p:extLst>
      <p:ext uri="{BB962C8B-B14F-4D97-AF65-F5344CB8AC3E}">
        <p14:creationId xmlns:p14="http://schemas.microsoft.com/office/powerpoint/2010/main" val="12689046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Устройства ввода-вывода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2) </a:t>
            </a:r>
            <a:r>
              <a:rPr lang="ru-RU" dirty="0" smtClean="0"/>
              <a:t>Драйвер </a:t>
            </a:r>
            <a:r>
              <a:rPr lang="ru-RU" dirty="0"/>
              <a:t>запускает устройство и просит его </a:t>
            </a:r>
            <a:r>
              <a:rPr lang="ru-RU" dirty="0" smtClean="0"/>
              <a:t>выдать </a:t>
            </a:r>
            <a:r>
              <a:rPr lang="ru-RU" dirty="0"/>
              <a:t>прерывание по окончании выполнения </a:t>
            </a:r>
            <a:r>
              <a:rPr lang="ru-RU" dirty="0" smtClean="0"/>
              <a:t>команды.</a:t>
            </a:r>
          </a:p>
          <a:p>
            <a:r>
              <a:rPr lang="ru-RU" dirty="0" smtClean="0"/>
              <a:t>Сразу </a:t>
            </a:r>
            <a:r>
              <a:rPr lang="ru-RU" dirty="0"/>
              <a:t>после этого драйвер возвращает управление. Затем </a:t>
            </a:r>
            <a:r>
              <a:rPr lang="ru-RU" dirty="0" smtClean="0"/>
              <a:t>ОС блокирует </a:t>
            </a:r>
            <a:r>
              <a:rPr lang="ru-RU" dirty="0"/>
              <a:t>вызывающую программу, если это необходимо, и переходит к </a:t>
            </a:r>
            <a:r>
              <a:rPr lang="ru-RU" dirty="0" smtClean="0"/>
              <a:t>выполнению </a:t>
            </a:r>
            <a:r>
              <a:rPr lang="ru-RU" dirty="0"/>
              <a:t>других задач. </a:t>
            </a:r>
            <a:endParaRPr lang="ru-RU" dirty="0" smtClean="0"/>
          </a:p>
          <a:p>
            <a:r>
              <a:rPr lang="ru-RU" dirty="0" smtClean="0"/>
              <a:t>Когда </a:t>
            </a:r>
            <a:r>
              <a:rPr lang="ru-RU" dirty="0"/>
              <a:t>контроллер обнаруживает окончание передачи данных, </a:t>
            </a:r>
            <a:r>
              <a:rPr lang="ru-RU" dirty="0" smtClean="0"/>
              <a:t>он </a:t>
            </a:r>
            <a:r>
              <a:rPr lang="ru-RU" dirty="0"/>
              <a:t>генерирует прерывание, чтобы просигнализировать о завершении операции.</a:t>
            </a:r>
          </a:p>
        </p:txBody>
      </p:sp>
    </p:spTree>
    <p:extLst>
      <p:ext uri="{BB962C8B-B14F-4D97-AF65-F5344CB8AC3E}">
        <p14:creationId xmlns:p14="http://schemas.microsoft.com/office/powerpoint/2010/main" val="37422851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Устройства ввода-вывода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3) При третьем способе </a:t>
            </a:r>
            <a:r>
              <a:rPr lang="ru-RU" dirty="0" smtClean="0"/>
              <a:t>используется </a:t>
            </a:r>
            <a:r>
              <a:rPr lang="ru-RU" dirty="0"/>
              <a:t>специальный контроллер прямого </a:t>
            </a:r>
            <a:r>
              <a:rPr lang="ru-RU" dirty="0" smtClean="0"/>
              <a:t>доступа </a:t>
            </a:r>
            <a:r>
              <a:rPr lang="ru-RU" dirty="0"/>
              <a:t>к памяти (</a:t>
            </a:r>
            <a:r>
              <a:rPr lang="ru-RU" dirty="0" err="1"/>
              <a:t>Direct</a:t>
            </a:r>
            <a:r>
              <a:rPr lang="ru-RU" dirty="0"/>
              <a:t> </a:t>
            </a:r>
            <a:r>
              <a:rPr lang="ru-RU" dirty="0" err="1"/>
              <a:t>Memory</a:t>
            </a:r>
            <a:r>
              <a:rPr lang="ru-RU" dirty="0"/>
              <a:t> </a:t>
            </a:r>
            <a:r>
              <a:rPr lang="ru-RU" dirty="0" err="1"/>
              <a:t>Access</a:t>
            </a:r>
            <a:r>
              <a:rPr lang="ru-RU" dirty="0"/>
              <a:t> (DMA)), который может управлять потоком </a:t>
            </a:r>
            <a:r>
              <a:rPr lang="ru-RU" dirty="0" smtClean="0"/>
              <a:t>битов </a:t>
            </a:r>
            <a:r>
              <a:rPr lang="ru-RU" dirty="0"/>
              <a:t>между оперативной памятью и некоторыми контроллерами без постоянного </a:t>
            </a:r>
            <a:r>
              <a:rPr lang="ru-RU" dirty="0" smtClean="0"/>
              <a:t>вмешательства </a:t>
            </a:r>
            <a:r>
              <a:rPr lang="ru-RU" dirty="0"/>
              <a:t>центрального процессора. </a:t>
            </a:r>
            <a:endParaRPr lang="ru-RU" dirty="0" smtClean="0"/>
          </a:p>
          <a:p>
            <a:r>
              <a:rPr lang="ru-RU" dirty="0" smtClean="0"/>
              <a:t>Центральный </a:t>
            </a:r>
            <a:r>
              <a:rPr lang="ru-RU" dirty="0"/>
              <a:t>процессор осуществляет </a:t>
            </a:r>
            <a:r>
              <a:rPr lang="ru-RU" dirty="0" smtClean="0"/>
              <a:t>настройку </a:t>
            </a:r>
            <a:r>
              <a:rPr lang="ru-RU" dirty="0"/>
              <a:t>контроллера DMA, сообщая ему, сколько байтов следует передать, какое </a:t>
            </a:r>
            <a:r>
              <a:rPr lang="ru-RU" dirty="0" smtClean="0"/>
              <a:t>устройство </a:t>
            </a:r>
            <a:r>
              <a:rPr lang="ru-RU" dirty="0"/>
              <a:t>и адреса памяти задействовать и в каком направлении передать </a:t>
            </a:r>
            <a:r>
              <a:rPr lang="ru-RU" dirty="0" smtClean="0"/>
              <a:t>данные</a:t>
            </a:r>
            <a:r>
              <a:rPr lang="ru-RU" dirty="0"/>
              <a:t>, </a:t>
            </a:r>
            <a:r>
              <a:rPr lang="ru-RU" dirty="0" smtClean="0"/>
              <a:t>а </a:t>
            </a:r>
            <a:r>
              <a:rPr lang="ru-RU" dirty="0"/>
              <a:t>затем дает ему возможность действовать самостоятельно. Когда контроллер DMA </a:t>
            </a:r>
            <a:r>
              <a:rPr lang="ru-RU" dirty="0" smtClean="0"/>
              <a:t>завершает </a:t>
            </a:r>
            <a:r>
              <a:rPr lang="ru-RU" dirty="0"/>
              <a:t>работу, он выдает запрос на прерывание, который обрабатывается в ранее </a:t>
            </a:r>
            <a:r>
              <a:rPr lang="ru-RU" dirty="0" smtClean="0"/>
              <a:t>рассмотренном </a:t>
            </a:r>
            <a:r>
              <a:rPr lang="ru-RU" dirty="0"/>
              <a:t>порядке. </a:t>
            </a:r>
          </a:p>
        </p:txBody>
      </p:sp>
    </p:spTree>
    <p:extLst>
      <p:ext uri="{BB962C8B-B14F-4D97-AF65-F5344CB8AC3E}">
        <p14:creationId xmlns:p14="http://schemas.microsoft.com/office/powerpoint/2010/main" val="29866630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шины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По </a:t>
            </a:r>
            <a:r>
              <a:rPr lang="ru-RU" dirty="0"/>
              <a:t>мере увеличения скорости </a:t>
            </a:r>
            <a:r>
              <a:rPr lang="ru-RU" dirty="0" smtClean="0"/>
              <a:t>работы </a:t>
            </a:r>
            <a:r>
              <a:rPr lang="ru-RU" dirty="0"/>
              <a:t>процессоров и памяти возможности единой </a:t>
            </a:r>
            <a:r>
              <a:rPr lang="ru-RU" dirty="0" smtClean="0"/>
              <a:t>шины по </a:t>
            </a:r>
            <a:r>
              <a:rPr lang="ru-RU" dirty="0"/>
              <a:t>обеспечению всех процессов </a:t>
            </a:r>
            <a:r>
              <a:rPr lang="ru-RU" dirty="0" smtClean="0"/>
              <a:t>обмена </a:t>
            </a:r>
            <a:r>
              <a:rPr lang="ru-RU" dirty="0"/>
              <a:t>данными достигли своего предела</a:t>
            </a:r>
            <a:r>
              <a:rPr lang="ru-RU" dirty="0" smtClean="0"/>
              <a:t>.</a:t>
            </a:r>
            <a:endParaRPr lang="ru-RU" dirty="0"/>
          </a:p>
          <a:p>
            <a:r>
              <a:rPr lang="ru-RU" dirty="0"/>
              <a:t>В результате появились дополнительные шины как для более </a:t>
            </a:r>
            <a:r>
              <a:rPr lang="ru-RU" dirty="0" smtClean="0"/>
              <a:t>быстродействующих </a:t>
            </a:r>
            <a:r>
              <a:rPr lang="ru-RU" dirty="0"/>
              <a:t>устройств ввода-вывода, так и для обмена данными между процессором </a:t>
            </a:r>
            <a:r>
              <a:rPr lang="ru-RU" dirty="0" smtClean="0"/>
              <a:t>и </a:t>
            </a:r>
            <a:r>
              <a:rPr lang="ru-RU" dirty="0"/>
              <a:t>памятью.</a:t>
            </a:r>
          </a:p>
        </p:txBody>
      </p:sp>
    </p:spTree>
    <p:extLst>
      <p:ext uri="{BB962C8B-B14F-4D97-AF65-F5344CB8AC3E}">
        <p14:creationId xmlns:p14="http://schemas.microsoft.com/office/powerpoint/2010/main" val="36901280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шины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752600"/>
            <a:ext cx="2962672" cy="4373563"/>
          </a:xfrm>
        </p:spPr>
        <p:txBody>
          <a:bodyPr>
            <a:normAutofit/>
          </a:bodyPr>
          <a:lstStyle/>
          <a:p>
            <a:r>
              <a:rPr lang="ru-RU" dirty="0"/>
              <a:t>Вследствие этой эволюции x86-система </a:t>
            </a:r>
            <a:r>
              <a:rPr lang="ru-RU" dirty="0" smtClean="0"/>
              <a:t>имеет множество </a:t>
            </a:r>
            <a:r>
              <a:rPr lang="ru-RU" dirty="0"/>
              <a:t>шин (например, шина кэш-памяти, шина </a:t>
            </a:r>
            <a:r>
              <a:rPr lang="ru-RU" dirty="0" smtClean="0"/>
              <a:t>памяти, а </a:t>
            </a:r>
            <a:r>
              <a:rPr lang="ru-RU" dirty="0"/>
              <a:t>также шины </a:t>
            </a:r>
            <a:r>
              <a:rPr lang="ru-RU" dirty="0" err="1"/>
              <a:t>PCIe</a:t>
            </a:r>
            <a:r>
              <a:rPr lang="ru-RU" dirty="0"/>
              <a:t>, PCI, USB, SATA и DMI), каждая из которых имеет свою скорость </a:t>
            </a:r>
            <a:r>
              <a:rPr lang="ru-RU" dirty="0" smtClean="0"/>
              <a:t>передачи </a:t>
            </a:r>
            <a:r>
              <a:rPr lang="ru-RU" dirty="0"/>
              <a:t>данных и свое предназначение. </a:t>
            </a: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974" y="1556792"/>
            <a:ext cx="5261490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971384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Подходы к построению ОС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itchFamily="34" charset="0"/>
              <a:buChar char="•"/>
            </a:pPr>
            <a:r>
              <a:rPr lang="ru-RU" dirty="0" smtClean="0"/>
              <a:t>Монолитное ядро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dirty="0"/>
              <a:t>Многоуровневые системы </a:t>
            </a:r>
            <a:endParaRPr lang="ru-RU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ru-RU" dirty="0"/>
              <a:t>Виртуальные </a:t>
            </a:r>
            <a:r>
              <a:rPr lang="ru-RU" dirty="0" smtClean="0"/>
              <a:t>машины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dirty="0" err="1"/>
              <a:t>Микроядерная</a:t>
            </a:r>
            <a:r>
              <a:rPr lang="ru-RU" dirty="0"/>
              <a:t> архитектура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dirty="0"/>
              <a:t>Смешанные системы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191928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Монолитное </a:t>
            </a:r>
            <a:r>
              <a:rPr lang="ru-RU" dirty="0" smtClean="0"/>
              <a:t>ядро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752600"/>
            <a:ext cx="7859216" cy="4373563"/>
          </a:xfrm>
        </p:spPr>
        <p:txBody>
          <a:bodyPr/>
          <a:lstStyle/>
          <a:p>
            <a:r>
              <a:rPr lang="ru-RU" dirty="0"/>
              <a:t>– это такая схема операционной системы, при которой все ее компоненты являются составными частями одной программы, используют общие структуры данных и взаимодействуют друг с другом путем </a:t>
            </a:r>
            <a:r>
              <a:rPr lang="ru-RU" dirty="0" smtClean="0"/>
              <a:t>непосредственного </a:t>
            </a:r>
            <a:r>
              <a:rPr lang="ru-RU" dirty="0"/>
              <a:t>вызова процедур. </a:t>
            </a:r>
            <a:endParaRPr lang="ru-RU" dirty="0" smtClean="0"/>
          </a:p>
          <a:p>
            <a:r>
              <a:rPr lang="ru-RU" dirty="0"/>
              <a:t>В</a:t>
            </a:r>
            <a:r>
              <a:rPr lang="ru-RU" dirty="0" smtClean="0"/>
              <a:t>ся </a:t>
            </a:r>
            <a:r>
              <a:rPr lang="ru-RU" dirty="0"/>
              <a:t>операционная система работает как единая программа в режиме </a:t>
            </a:r>
            <a:r>
              <a:rPr lang="ru-RU" dirty="0" smtClean="0"/>
              <a:t>ядра</a:t>
            </a:r>
            <a:r>
              <a:rPr lang="ru-RU" dirty="0"/>
              <a:t>.</a:t>
            </a:r>
            <a:endParaRPr lang="ru-RU" dirty="0" smtClean="0"/>
          </a:p>
          <a:p>
            <a:r>
              <a:rPr lang="ru-RU" dirty="0" smtClean="0"/>
              <a:t>Это </a:t>
            </a:r>
            <a:r>
              <a:rPr lang="ru-RU" dirty="0" smtClean="0"/>
              <a:t>старейший способ организации </a:t>
            </a:r>
            <a:r>
              <a:rPr lang="ru-RU" i="1" dirty="0" smtClean="0"/>
              <a:t>ОС</a:t>
            </a:r>
            <a:r>
              <a:rPr lang="ru-RU" dirty="0" smtClean="0"/>
              <a:t>. Примером </a:t>
            </a:r>
            <a:r>
              <a:rPr lang="ru-RU" dirty="0"/>
              <a:t>систем с </a:t>
            </a:r>
            <a:r>
              <a:rPr lang="ru-RU" i="1" dirty="0"/>
              <a:t>монолитным ядром</a:t>
            </a:r>
            <a:r>
              <a:rPr lang="ru-RU" dirty="0"/>
              <a:t> является большинство </a:t>
            </a:r>
            <a:r>
              <a:rPr lang="ru-RU" dirty="0" err="1"/>
              <a:t>Unix</a:t>
            </a:r>
            <a:r>
              <a:rPr lang="ru-RU" dirty="0"/>
              <a:t>-систем.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96547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828010"/>
          </a:xfrm>
        </p:spPr>
        <p:txBody>
          <a:bodyPr/>
          <a:lstStyle/>
          <a:p>
            <a:r>
              <a:rPr lang="ru-RU" dirty="0" smtClean="0"/>
              <a:t>Монолитное ядро</a:t>
            </a:r>
            <a:endParaRPr lang="ru-RU" dirty="0"/>
          </a:p>
        </p:txBody>
      </p:sp>
      <p:pic>
        <p:nvPicPr>
          <p:cNvPr id="1027" name="Picture 3" descr="D:\Downloads\1image001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052736"/>
            <a:ext cx="4608512" cy="5472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8865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Монолитное ядро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Достоинства: </a:t>
            </a:r>
            <a:endParaRPr lang="ru-RU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ru-RU" dirty="0" smtClean="0"/>
              <a:t>высокая </a:t>
            </a:r>
            <a:r>
              <a:rPr lang="ru-RU" dirty="0"/>
              <a:t>скорость </a:t>
            </a:r>
            <a:r>
              <a:rPr lang="ru-RU" dirty="0" smtClean="0"/>
              <a:t>работы;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dirty="0" smtClean="0"/>
              <a:t>простая </a:t>
            </a:r>
            <a:r>
              <a:rPr lang="ru-RU" dirty="0"/>
              <a:t>разработка модулей</a:t>
            </a:r>
            <a:r>
              <a:rPr lang="ru-RU" dirty="0" smtClean="0"/>
              <a:t>.</a:t>
            </a:r>
          </a:p>
          <a:p>
            <a:pPr marL="342900" indent="-342900">
              <a:buFont typeface="Arial" pitchFamily="34" charset="0"/>
              <a:buChar char="•"/>
            </a:pPr>
            <a:endParaRPr lang="ru-RU" dirty="0"/>
          </a:p>
          <a:p>
            <a:r>
              <a:rPr lang="ru-RU" dirty="0"/>
              <a:t>Недостатки: </a:t>
            </a:r>
            <a:endParaRPr lang="ru-RU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ru-RU" dirty="0" smtClean="0"/>
              <a:t>ошибка </a:t>
            </a:r>
            <a:r>
              <a:rPr lang="ru-RU" dirty="0"/>
              <a:t>работы одного из компонентов ядра нарушает работу всей </a:t>
            </a:r>
            <a:r>
              <a:rPr lang="ru-RU" dirty="0" smtClean="0"/>
              <a:t>системы;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dirty="0"/>
              <a:t>т</a:t>
            </a:r>
            <a:r>
              <a:rPr lang="ru-RU" dirty="0" smtClean="0"/>
              <a:t>ак </a:t>
            </a:r>
            <a:r>
              <a:rPr lang="ru-RU" dirty="0"/>
              <a:t>как ядро является единой программой, перекомпиляция – это единственный способ добавить в него новые компоненты или исключить </a:t>
            </a:r>
            <a:r>
              <a:rPr lang="ru-RU" dirty="0" smtClean="0"/>
              <a:t>неиспользуемые.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44003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715200" cy="13716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Многоуровневые (многослойные) системы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Каждый модуль предоставляет набор функций, которые могут вызываться другими модулями. </a:t>
            </a:r>
            <a:endParaRPr lang="ru-RU" dirty="0" smtClean="0"/>
          </a:p>
          <a:p>
            <a:r>
              <a:rPr lang="ru-RU" dirty="0" smtClean="0"/>
              <a:t>Код</a:t>
            </a:r>
            <a:r>
              <a:rPr lang="ru-RU" dirty="0"/>
              <a:t>, расположенный в некотором слое, вызывает код только из нижележащих </a:t>
            </a:r>
            <a:r>
              <a:rPr lang="ru-RU" dirty="0" smtClean="0"/>
              <a:t>слоев.</a:t>
            </a:r>
          </a:p>
          <a:p>
            <a:r>
              <a:rPr lang="ru-RU" dirty="0"/>
              <a:t>Нижним уровнем в таких системах обычно является </a:t>
            </a:r>
            <a:r>
              <a:rPr lang="ru-RU" dirty="0" err="1"/>
              <a:t>hardware</a:t>
            </a:r>
            <a:r>
              <a:rPr lang="ru-RU" dirty="0"/>
              <a:t>, верхним уровнем – интерфейс пользователя. </a:t>
            </a:r>
            <a:endParaRPr lang="ru-RU" dirty="0" smtClean="0"/>
          </a:p>
          <a:p>
            <a:r>
              <a:rPr lang="ru-RU" dirty="0" smtClean="0"/>
              <a:t>Чем </a:t>
            </a:r>
            <a:r>
              <a:rPr lang="ru-RU" dirty="0"/>
              <a:t>ниже уровень, тем более привилегированные команды и действия может выполнять модуль, находящийся на этом уровне. </a:t>
            </a:r>
            <a:endParaRPr lang="ru-RU" dirty="0" smtClean="0"/>
          </a:p>
          <a:p>
            <a:endParaRPr lang="ru-RU" dirty="0" smtClean="0"/>
          </a:p>
          <a:p>
            <a:r>
              <a:rPr lang="ru-RU" dirty="0"/>
              <a:t>Пример систем: </a:t>
            </a:r>
            <a:r>
              <a:rPr lang="ru-RU" dirty="0" smtClean="0"/>
              <a:t>VAX/VMS, </a:t>
            </a:r>
            <a:r>
              <a:rPr lang="ru-RU" dirty="0" err="1" smtClean="0"/>
              <a:t>Multics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550538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715200" cy="13716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Многоуровневые (многослойные) системы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Первой системой, построенной таким образом, была система THE, </a:t>
            </a:r>
            <a:r>
              <a:rPr lang="ru-RU" dirty="0" smtClean="0"/>
              <a:t>созданная </a:t>
            </a:r>
            <a:r>
              <a:rPr lang="ru-RU" dirty="0"/>
              <a:t>в </a:t>
            </a:r>
            <a:r>
              <a:rPr lang="ru-RU" dirty="0" err="1"/>
              <a:t>Technische</a:t>
            </a:r>
            <a:r>
              <a:rPr lang="ru-RU" dirty="0"/>
              <a:t> </a:t>
            </a:r>
            <a:r>
              <a:rPr lang="ru-RU" dirty="0" err="1"/>
              <a:t>Hogeschool</a:t>
            </a:r>
            <a:r>
              <a:rPr lang="ru-RU" dirty="0"/>
              <a:t> </a:t>
            </a:r>
            <a:r>
              <a:rPr lang="ru-RU" dirty="0" err="1"/>
              <a:t>Eindhoven</a:t>
            </a:r>
            <a:r>
              <a:rPr lang="ru-RU" dirty="0"/>
              <a:t> в Голландии Э. </a:t>
            </a:r>
            <a:r>
              <a:rPr lang="ru-RU" dirty="0" err="1"/>
              <a:t>Дейкстрой</a:t>
            </a:r>
            <a:r>
              <a:rPr lang="ru-RU" dirty="0"/>
              <a:t> (E. W. </a:t>
            </a:r>
            <a:r>
              <a:rPr lang="ru-RU" dirty="0" err="1"/>
              <a:t>Dijkstra</a:t>
            </a:r>
            <a:r>
              <a:rPr lang="ru-RU" dirty="0"/>
              <a:t>) </a:t>
            </a:r>
            <a:r>
              <a:rPr lang="ru-RU" dirty="0" smtClean="0"/>
              <a:t>и </a:t>
            </a:r>
            <a:r>
              <a:rPr lang="ru-RU" dirty="0"/>
              <a:t>его студентами в 1968 году. </a:t>
            </a:r>
            <a:r>
              <a:rPr lang="ru-RU" dirty="0" smtClean="0"/>
              <a:t>У </a:t>
            </a:r>
            <a:r>
              <a:rPr lang="ru-RU" dirty="0"/>
              <a:t>системы было шесть </a:t>
            </a:r>
            <a:r>
              <a:rPr lang="ru-RU" dirty="0" smtClean="0"/>
              <a:t>уровней</a:t>
            </a:r>
            <a:r>
              <a:rPr lang="ru-RU" dirty="0"/>
              <a:t>:</a:t>
            </a:r>
            <a:endParaRPr lang="ru-RU" dirty="0" smtClean="0"/>
          </a:p>
          <a:p>
            <a:r>
              <a:rPr lang="ru-RU" dirty="0" smtClean="0"/>
              <a:t>5 </a:t>
            </a:r>
            <a:r>
              <a:rPr lang="ru-RU" dirty="0"/>
              <a:t>Оператор</a:t>
            </a:r>
          </a:p>
          <a:p>
            <a:r>
              <a:rPr lang="ru-RU" dirty="0"/>
              <a:t>4 Программы пользователя</a:t>
            </a:r>
          </a:p>
          <a:p>
            <a:r>
              <a:rPr lang="ru-RU" dirty="0"/>
              <a:t>3 Управление вводом-выводом</a:t>
            </a:r>
          </a:p>
          <a:p>
            <a:r>
              <a:rPr lang="ru-RU" dirty="0"/>
              <a:t>2 Связь оператора с процессом</a:t>
            </a:r>
          </a:p>
          <a:p>
            <a:r>
              <a:rPr lang="ru-RU" dirty="0"/>
              <a:t>1 Управление основной памятью и магнитным барабаном</a:t>
            </a:r>
          </a:p>
          <a:p>
            <a:r>
              <a:rPr lang="ru-RU" dirty="0"/>
              <a:t>0 Распределение ресурсов процессора и обеспечение многозадачного режима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196185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Многоуровневые системы</a:t>
            </a:r>
            <a:endParaRPr lang="ru-RU" dirty="0"/>
          </a:p>
        </p:txBody>
      </p:sp>
      <p:pic>
        <p:nvPicPr>
          <p:cNvPr id="3074" name="Picture 2" descr="D:\Downloads\1image002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484784"/>
            <a:ext cx="4463603" cy="4818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73622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Многоуровневые системы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Преимущества: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dirty="0" smtClean="0"/>
              <a:t>удобство реализации;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dirty="0"/>
              <a:t>у</a:t>
            </a:r>
            <a:r>
              <a:rPr lang="ru-RU" dirty="0" smtClean="0"/>
              <a:t>добство тестирования;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dirty="0"/>
              <a:t>п</a:t>
            </a:r>
            <a:r>
              <a:rPr lang="ru-RU" dirty="0" smtClean="0"/>
              <a:t>ростота модификации.</a:t>
            </a:r>
            <a:endParaRPr lang="ru-RU" dirty="0"/>
          </a:p>
          <a:p>
            <a:r>
              <a:rPr lang="ru-RU" dirty="0"/>
              <a:t>Недостатки: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dirty="0"/>
              <a:t>сложны для разработки: тяжело правильно определить порядок слоев и что к какому слою </a:t>
            </a:r>
            <a:r>
              <a:rPr lang="ru-RU" dirty="0" smtClean="0"/>
              <a:t>относится;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dirty="0"/>
              <a:t>менее эффективны, чем </a:t>
            </a:r>
            <a:r>
              <a:rPr lang="ru-RU" dirty="0" smtClean="0"/>
              <a:t>монолитные.</a:t>
            </a:r>
          </a:p>
          <a:p>
            <a:pPr marL="342900" indent="-342900">
              <a:buFont typeface="Arial" pitchFamily="34" charset="0"/>
              <a:buChar char="•"/>
            </a:pPr>
            <a:endParaRPr lang="ru-RU" dirty="0" smtClean="0"/>
          </a:p>
          <a:p>
            <a:pPr marL="342900" indent="-342900">
              <a:buFont typeface="Arial" pitchFamily="34" charset="0"/>
              <a:buChar char="•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314096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Виртуальные машины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Пусть </a:t>
            </a:r>
            <a:r>
              <a:rPr lang="ru-RU" i="1" dirty="0"/>
              <a:t>операционная система</a:t>
            </a:r>
            <a:r>
              <a:rPr lang="ru-RU" dirty="0"/>
              <a:t> реализует </a:t>
            </a:r>
            <a:r>
              <a:rPr lang="ru-RU" i="1" dirty="0"/>
              <a:t>виртуальную машину</a:t>
            </a:r>
            <a:r>
              <a:rPr lang="ru-RU" dirty="0"/>
              <a:t> для каждого пользователя, но не упрощая ему жизнь, а, наоборот, усложняя. </a:t>
            </a:r>
            <a:endParaRPr lang="ru-RU" dirty="0" smtClean="0"/>
          </a:p>
          <a:p>
            <a:r>
              <a:rPr lang="ru-RU" dirty="0" smtClean="0"/>
              <a:t>Каждая </a:t>
            </a:r>
            <a:r>
              <a:rPr lang="ru-RU" dirty="0"/>
              <a:t>такая </a:t>
            </a:r>
            <a:r>
              <a:rPr lang="ru-RU" i="1" dirty="0"/>
              <a:t>виртуальная машина</a:t>
            </a:r>
            <a:r>
              <a:rPr lang="ru-RU" dirty="0"/>
              <a:t> предстает перед пользователем как голое железо – копия всего </a:t>
            </a:r>
            <a:r>
              <a:rPr lang="ru-RU" dirty="0" err="1"/>
              <a:t>hardware</a:t>
            </a:r>
            <a:r>
              <a:rPr lang="ru-RU" dirty="0"/>
              <a:t> в вычислительной системе, включая </a:t>
            </a:r>
            <a:r>
              <a:rPr lang="ru-RU" i="1" dirty="0"/>
              <a:t>процессор</a:t>
            </a:r>
            <a:r>
              <a:rPr lang="ru-RU" dirty="0"/>
              <a:t>, привилегированные и непривилегированные команды, устройства </a:t>
            </a:r>
            <a:r>
              <a:rPr lang="ru-RU" dirty="0" smtClean="0"/>
              <a:t>ввода-вывода и </a:t>
            </a:r>
            <a:r>
              <a:rPr lang="ru-RU" dirty="0" err="1" smtClean="0"/>
              <a:t>т.д</a:t>
            </a:r>
            <a:endParaRPr lang="ru-RU" dirty="0" smtClean="0"/>
          </a:p>
          <a:p>
            <a:r>
              <a:rPr lang="ru-RU" dirty="0" smtClean="0"/>
              <a:t>При </a:t>
            </a:r>
            <a:r>
              <a:rPr lang="ru-RU" dirty="0"/>
              <a:t>попытке обратиться к такому виртуальному железу на уровне привилегированных команд в действительности происходит </a:t>
            </a:r>
            <a:r>
              <a:rPr lang="ru-RU" i="1" dirty="0"/>
              <a:t>системный вызов</a:t>
            </a:r>
            <a:r>
              <a:rPr lang="ru-RU" dirty="0"/>
              <a:t> </a:t>
            </a:r>
            <a:r>
              <a:rPr lang="ru-RU" dirty="0" smtClean="0"/>
              <a:t>реальной ОС, </a:t>
            </a:r>
            <a:r>
              <a:rPr lang="ru-RU" dirty="0"/>
              <a:t>которая и производит все необходимые действия. Такой подход позволяет каждому пользователю загрузить свою </a:t>
            </a:r>
            <a:r>
              <a:rPr lang="ru-RU" dirty="0" smtClean="0"/>
              <a:t>ОС на </a:t>
            </a:r>
            <a:r>
              <a:rPr lang="ru-RU" i="1" dirty="0"/>
              <a:t>виртуальную </a:t>
            </a:r>
            <a:r>
              <a:rPr lang="ru-RU" i="1" dirty="0" smtClean="0"/>
              <a:t>машину.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008907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Виртуальные машины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4305424"/>
            <a:ext cx="7620000" cy="1820739"/>
          </a:xfrm>
        </p:spPr>
        <p:txBody>
          <a:bodyPr/>
          <a:lstStyle/>
          <a:p>
            <a:r>
              <a:rPr lang="ru-RU" dirty="0"/>
              <a:t>Первой реальной системой такого рода была система CP/CMS, или VM/370, как ее называют сейчас, для семейства машин IBM/370.</a:t>
            </a:r>
          </a:p>
          <a:p>
            <a:endParaRPr lang="ru-R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700808"/>
            <a:ext cx="7935178" cy="23885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938315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Виртуальные машины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Недостатки: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dirty="0" smtClean="0"/>
              <a:t>снижение </a:t>
            </a:r>
            <a:r>
              <a:rPr lang="ru-RU" dirty="0"/>
              <a:t>эффективности </a:t>
            </a:r>
            <a:r>
              <a:rPr lang="ru-RU" i="1" dirty="0"/>
              <a:t>виртуальных машин</a:t>
            </a:r>
            <a:r>
              <a:rPr lang="ru-RU" dirty="0"/>
              <a:t> по сравнению с реальным </a:t>
            </a:r>
            <a:r>
              <a:rPr lang="ru-RU" dirty="0" smtClean="0"/>
              <a:t>компьютером;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dirty="0" smtClean="0"/>
              <a:t>как </a:t>
            </a:r>
            <a:r>
              <a:rPr lang="ru-RU" dirty="0"/>
              <a:t>правило, они очень громоздки</a:t>
            </a:r>
            <a:r>
              <a:rPr lang="ru-RU" dirty="0" smtClean="0"/>
              <a:t>.</a:t>
            </a:r>
          </a:p>
          <a:p>
            <a:endParaRPr lang="ru-RU" dirty="0" smtClean="0"/>
          </a:p>
          <a:p>
            <a:r>
              <a:rPr lang="ru-RU" dirty="0" smtClean="0"/>
              <a:t>Преимущества: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dirty="0" smtClean="0"/>
              <a:t>использование </a:t>
            </a:r>
            <a:r>
              <a:rPr lang="ru-RU" dirty="0"/>
              <a:t>на одной вычислительной системе программ, написанных для разных </a:t>
            </a:r>
            <a:r>
              <a:rPr lang="ru-RU" i="1" dirty="0"/>
              <a:t>операционных систем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4619099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микроядро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752600"/>
            <a:ext cx="8003232" cy="4700736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Различные исследователи неоднократно определяли количество ошибок на 1000 </a:t>
            </a:r>
            <a:r>
              <a:rPr lang="ru-RU" dirty="0" smtClean="0"/>
              <a:t>строк кода </a:t>
            </a:r>
            <a:r>
              <a:rPr lang="ru-RU" dirty="0"/>
              <a:t>(например, </a:t>
            </a:r>
            <a:r>
              <a:rPr lang="ru-RU" dirty="0" err="1"/>
              <a:t>Basilli</a:t>
            </a:r>
            <a:r>
              <a:rPr lang="ru-RU" dirty="0"/>
              <a:t> </a:t>
            </a:r>
            <a:r>
              <a:rPr lang="ru-RU" dirty="0" err="1"/>
              <a:t>and</a:t>
            </a:r>
            <a:r>
              <a:rPr lang="ru-RU" dirty="0"/>
              <a:t> </a:t>
            </a:r>
            <a:r>
              <a:rPr lang="ru-RU" dirty="0" err="1"/>
              <a:t>Perricone</a:t>
            </a:r>
            <a:r>
              <a:rPr lang="ru-RU" dirty="0"/>
              <a:t>, 1984; </a:t>
            </a:r>
            <a:r>
              <a:rPr lang="ru-RU" dirty="0" err="1"/>
              <a:t>Ostrand</a:t>
            </a:r>
            <a:r>
              <a:rPr lang="ru-RU" dirty="0"/>
              <a:t> </a:t>
            </a:r>
            <a:r>
              <a:rPr lang="ru-RU" dirty="0" err="1"/>
              <a:t>and</a:t>
            </a:r>
            <a:r>
              <a:rPr lang="ru-RU" dirty="0"/>
              <a:t> </a:t>
            </a:r>
            <a:r>
              <a:rPr lang="ru-RU" dirty="0" err="1"/>
              <a:t>Weyuker</a:t>
            </a:r>
            <a:r>
              <a:rPr lang="ru-RU" dirty="0"/>
              <a:t>, 2002). Плотность </a:t>
            </a:r>
            <a:r>
              <a:rPr lang="ru-RU" dirty="0" smtClean="0"/>
              <a:t>ошибок </a:t>
            </a:r>
            <a:r>
              <a:rPr lang="ru-RU" dirty="0"/>
              <a:t>зависит от размера модуля, его возраста и других факторов, но </a:t>
            </a:r>
            <a:r>
              <a:rPr lang="ru-RU" dirty="0" smtClean="0"/>
              <a:t>приблизительная </a:t>
            </a:r>
            <a:r>
              <a:rPr lang="ru-RU" dirty="0"/>
              <a:t>цифра для солидных промышленных систем — 10 ошибок на 1000 </a:t>
            </a:r>
            <a:r>
              <a:rPr lang="ru-RU" dirty="0" smtClean="0"/>
              <a:t>строк </a:t>
            </a:r>
            <a:r>
              <a:rPr lang="ru-RU" dirty="0"/>
              <a:t>кода. </a:t>
            </a:r>
          </a:p>
          <a:p>
            <a:r>
              <a:rPr lang="ru-RU" dirty="0"/>
              <a:t>Следовательно, монолитная операционная система, состоящая из 5 000 000 строк кода, </a:t>
            </a:r>
            <a:r>
              <a:rPr lang="ru-RU" dirty="0" smtClean="0"/>
              <a:t>скорее </a:t>
            </a:r>
            <a:r>
              <a:rPr lang="ru-RU" dirty="0"/>
              <a:t>всего, содержит от 10 000 до 50 000 ошибок ядра. Разумеется, не все они имеют </a:t>
            </a:r>
            <a:r>
              <a:rPr lang="ru-RU" dirty="0" smtClean="0"/>
              <a:t>фатальный </a:t>
            </a:r>
            <a:r>
              <a:rPr lang="ru-RU" dirty="0"/>
              <a:t>характер, некоторые ошибки могут представлять собой просто выдачу </a:t>
            </a:r>
            <a:r>
              <a:rPr lang="ru-RU" dirty="0" smtClean="0"/>
              <a:t>неправильного </a:t>
            </a:r>
            <a:r>
              <a:rPr lang="ru-RU" dirty="0"/>
              <a:t>сообщения об ошибке в той ситуации, которая складывается крайне редко. </a:t>
            </a:r>
          </a:p>
          <a:p>
            <a:r>
              <a:rPr lang="ru-RU" dirty="0"/>
              <a:t>Тем не менее операционные системы содержат столько ошибок, что производители </a:t>
            </a:r>
            <a:r>
              <a:rPr lang="ru-RU" dirty="0" smtClean="0"/>
              <a:t>компьютеров </a:t>
            </a:r>
            <a:r>
              <a:rPr lang="ru-RU" dirty="0"/>
              <a:t>снабдили свою продукцию кнопкой </a:t>
            </a:r>
            <a:r>
              <a:rPr lang="ru-RU" dirty="0" smtClean="0"/>
              <a:t>перезапуска, чего </a:t>
            </a:r>
            <a:r>
              <a:rPr lang="ru-RU" dirty="0"/>
              <a:t>не делают производители телевизоров, стереосистем </a:t>
            </a:r>
            <a:r>
              <a:rPr lang="ru-RU" dirty="0" smtClean="0"/>
              <a:t>и </a:t>
            </a:r>
            <a:r>
              <a:rPr lang="ru-RU" dirty="0"/>
              <a:t>автомобилей, несмотря на большой объем программного обеспечения, </a:t>
            </a:r>
            <a:r>
              <a:rPr lang="ru-RU" dirty="0" smtClean="0"/>
              <a:t>имеющийся в </a:t>
            </a:r>
            <a:r>
              <a:rPr lang="ru-RU" dirty="0"/>
              <a:t>этих устройствах.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309484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микроядро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Замысел, положенный в основу конструкции микроядра, направлен на достижение </a:t>
            </a:r>
            <a:r>
              <a:rPr lang="ru-RU" dirty="0" smtClean="0"/>
              <a:t>высокой </a:t>
            </a:r>
            <a:r>
              <a:rPr lang="ru-RU" dirty="0"/>
              <a:t>надежности за счет разбиения операционной системы на небольшие, вполне </a:t>
            </a:r>
            <a:r>
              <a:rPr lang="ru-RU" dirty="0" smtClean="0"/>
              <a:t>определенные </a:t>
            </a:r>
            <a:r>
              <a:rPr lang="ru-RU" dirty="0"/>
              <a:t>модули. </a:t>
            </a:r>
            <a:endParaRPr lang="ru-RU" dirty="0" smtClean="0"/>
          </a:p>
          <a:p>
            <a:r>
              <a:rPr lang="ru-RU" dirty="0" smtClean="0"/>
              <a:t>Только </a:t>
            </a:r>
            <a:r>
              <a:rPr lang="ru-RU" dirty="0"/>
              <a:t>один из них — микроядро — запускается в режиме ядра, </a:t>
            </a:r>
            <a:r>
              <a:rPr lang="ru-RU" dirty="0" smtClean="0"/>
              <a:t>а </a:t>
            </a:r>
            <a:r>
              <a:rPr lang="ru-RU" dirty="0"/>
              <a:t>все остальные запускаются в виде относительно слабо наделенных полномочиями </a:t>
            </a:r>
            <a:r>
              <a:rPr lang="ru-RU" dirty="0" smtClean="0"/>
              <a:t>обычных пользовательских </a:t>
            </a:r>
            <a:r>
              <a:rPr lang="ru-RU" dirty="0"/>
              <a:t>процессов.</a:t>
            </a:r>
          </a:p>
        </p:txBody>
      </p:sp>
    </p:spTree>
    <p:extLst>
      <p:ext uri="{BB962C8B-B14F-4D97-AF65-F5344CB8AC3E}">
        <p14:creationId xmlns:p14="http://schemas.microsoft.com/office/powerpoint/2010/main" val="12920769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микроядро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Большинство составляющих ОС являются </a:t>
            </a:r>
            <a:r>
              <a:rPr lang="ru-RU" dirty="0"/>
              <a:t>самостоятельными программами. В этом случае взаимодействие между ними обеспечивает специальный модуль ядра, называемый микроядром. </a:t>
            </a:r>
            <a:endParaRPr lang="ru-RU" dirty="0" smtClean="0"/>
          </a:p>
          <a:p>
            <a:r>
              <a:rPr lang="ru-RU" dirty="0" smtClean="0"/>
              <a:t>Микроядро </a:t>
            </a:r>
            <a:r>
              <a:rPr lang="ru-RU" dirty="0"/>
              <a:t>работает в привилегированном режиме и обеспечивает взаимодействие между программами, планирование использования </a:t>
            </a:r>
            <a:r>
              <a:rPr lang="ru-RU" i="1" dirty="0"/>
              <a:t>процессора</a:t>
            </a:r>
            <a:r>
              <a:rPr lang="ru-RU" dirty="0"/>
              <a:t>, первичную обработку прерываний, операции ввода-вывода и базовое управление памятью</a:t>
            </a:r>
            <a:r>
              <a:rPr lang="ru-RU" dirty="0" smtClean="0"/>
              <a:t>.</a:t>
            </a:r>
          </a:p>
          <a:p>
            <a:endParaRPr lang="ru-RU" dirty="0"/>
          </a:p>
          <a:p>
            <a:r>
              <a:rPr lang="ru-RU" dirty="0" smtClean="0"/>
              <a:t>Пример: </a:t>
            </a:r>
            <a:r>
              <a:rPr lang="en-US" dirty="0" smtClean="0"/>
              <a:t>QNX</a:t>
            </a:r>
            <a:r>
              <a:rPr lang="ru-RU" dirty="0" smtClean="0"/>
              <a:t>, </a:t>
            </a:r>
            <a:r>
              <a:rPr lang="en-US" dirty="0" smtClean="0"/>
              <a:t>AIX</a:t>
            </a:r>
            <a:r>
              <a:rPr lang="ru-RU" dirty="0" smtClean="0"/>
              <a:t>, </a:t>
            </a:r>
            <a:r>
              <a:rPr lang="en-US" dirty="0" err="1" smtClean="0"/>
              <a:t>osFree</a:t>
            </a:r>
            <a:r>
              <a:rPr lang="ru-RU" dirty="0" smtClean="0"/>
              <a:t>, </a:t>
            </a:r>
            <a:r>
              <a:rPr lang="en-US" dirty="0" err="1" smtClean="0"/>
              <a:t>Genode</a:t>
            </a:r>
            <a:r>
              <a:rPr lang="en-US" dirty="0" smtClean="0"/>
              <a:t> OS Framework</a:t>
            </a:r>
            <a:r>
              <a:rPr lang="ru-RU" dirty="0" smtClean="0"/>
              <a:t>, </a:t>
            </a:r>
            <a:r>
              <a:rPr lang="en-US" dirty="0" smtClean="0"/>
              <a:t>Mac OS X</a:t>
            </a:r>
            <a:r>
              <a:rPr lang="ru-RU" dirty="0" smtClean="0"/>
              <a:t>, </a:t>
            </a:r>
            <a:r>
              <a:rPr lang="en-US" dirty="0" err="1" smtClean="0"/>
              <a:t>AmigaOS</a:t>
            </a:r>
            <a:r>
              <a:rPr lang="ru-RU" dirty="0" smtClean="0"/>
              <a:t>, </a:t>
            </a:r>
            <a:r>
              <a:rPr lang="en-US" dirty="0" smtClean="0"/>
              <a:t>OpenVMS</a:t>
            </a:r>
            <a:r>
              <a:rPr lang="ru-RU" dirty="0" smtClean="0"/>
              <a:t>, </a:t>
            </a:r>
            <a:r>
              <a:rPr lang="en-US" dirty="0" smtClean="0"/>
              <a:t>Integrity</a:t>
            </a:r>
            <a:r>
              <a:rPr lang="ru-RU" dirty="0" smtClean="0"/>
              <a:t>, </a:t>
            </a:r>
            <a:r>
              <a:rPr lang="en-US" dirty="0" smtClean="0"/>
              <a:t>Amoeba</a:t>
            </a:r>
            <a:r>
              <a:rPr lang="ru-RU" dirty="0" smtClean="0"/>
              <a:t>, </a:t>
            </a:r>
            <a:r>
              <a:rPr lang="en-US" dirty="0" err="1" smtClean="0"/>
              <a:t>Minix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1429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Микроядро</a:t>
            </a:r>
            <a:endParaRPr lang="ru-RU" dirty="0"/>
          </a:p>
        </p:txBody>
      </p:sp>
      <p:pic>
        <p:nvPicPr>
          <p:cNvPr id="5122" name="Picture 2" descr="D:\Downloads\micro_kernel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01" y="2132856"/>
            <a:ext cx="8325955" cy="3172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903045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микроядро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752600"/>
            <a:ext cx="7859216" cy="4373563"/>
          </a:xfrm>
        </p:spPr>
        <p:txBody>
          <a:bodyPr/>
          <a:lstStyle/>
          <a:p>
            <a:r>
              <a:rPr lang="ru-RU" dirty="0" smtClean="0"/>
              <a:t>Преимущества: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dirty="0"/>
              <a:t>высокая гибкость(функции можно наращивать или модифицировать, добавляя, изменяя или исключая </a:t>
            </a:r>
            <a:r>
              <a:rPr lang="ru-RU" dirty="0" smtClean="0"/>
              <a:t>модули пользовательского </a:t>
            </a:r>
            <a:r>
              <a:rPr lang="ru-RU" dirty="0"/>
              <a:t>режима);</a:t>
            </a:r>
            <a:endParaRPr lang="ru-RU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ru-RU" dirty="0"/>
              <a:t>повышает надежность системы, поскольку ошибка на уровне непривилегированной программы менее опасна, чем отказ на уровне режима </a:t>
            </a:r>
            <a:r>
              <a:rPr lang="ru-RU" dirty="0" smtClean="0"/>
              <a:t>ядра.</a:t>
            </a:r>
          </a:p>
          <a:p>
            <a:r>
              <a:rPr lang="ru-RU" dirty="0" smtClean="0"/>
              <a:t>Недостатки: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dirty="0"/>
              <a:t>накладные расходы, связанные с передачей сообщений, что существенно влияет на </a:t>
            </a:r>
            <a:r>
              <a:rPr lang="ru-RU" dirty="0" smtClean="0"/>
              <a:t>производительность;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dirty="0"/>
              <a:t>с</a:t>
            </a:r>
            <a:r>
              <a:rPr lang="ru-RU" dirty="0" smtClean="0"/>
              <a:t>ложность проектирования.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273904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Смешанные системы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большинстве случаев </a:t>
            </a:r>
            <a:r>
              <a:rPr lang="ru-RU" dirty="0" smtClean="0"/>
              <a:t>современные ОС используют </a:t>
            </a:r>
            <a:r>
              <a:rPr lang="ru-RU" dirty="0"/>
              <a:t>различные комбинации </a:t>
            </a:r>
            <a:r>
              <a:rPr lang="ru-RU" dirty="0" err="1" smtClean="0"/>
              <a:t>вышерасмотренных</a:t>
            </a:r>
            <a:r>
              <a:rPr lang="ru-RU" dirty="0" smtClean="0"/>
              <a:t> подходов</a:t>
            </a:r>
            <a:r>
              <a:rPr lang="ru-RU" dirty="0"/>
              <a:t>. Так, например, ядро </a:t>
            </a:r>
            <a:r>
              <a:rPr lang="ru-RU" dirty="0" smtClean="0"/>
              <a:t>ОС </a:t>
            </a:r>
            <a:r>
              <a:rPr lang="ru-RU" dirty="0" err="1" smtClean="0"/>
              <a:t>Linux</a:t>
            </a:r>
            <a:r>
              <a:rPr lang="ru-RU" dirty="0" smtClean="0"/>
              <a:t> </a:t>
            </a:r>
            <a:r>
              <a:rPr lang="ru-RU" dirty="0"/>
              <a:t>представляет собой монолитную систему с элементами </a:t>
            </a:r>
            <a:r>
              <a:rPr lang="ru-RU" i="1" dirty="0" err="1"/>
              <a:t>микроядерной</a:t>
            </a:r>
            <a:r>
              <a:rPr lang="ru-RU" i="1" dirty="0"/>
              <a:t> архитектуры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/>
              <a:t>Другим примером смешанного подхода может служить возможность запуска </a:t>
            </a:r>
            <a:r>
              <a:rPr lang="ru-RU" dirty="0" smtClean="0"/>
              <a:t>ОС с </a:t>
            </a:r>
            <a:r>
              <a:rPr lang="ru-RU" i="1" dirty="0"/>
              <a:t>монолитным ядром</a:t>
            </a:r>
            <a:r>
              <a:rPr lang="ru-RU" dirty="0"/>
              <a:t> под управлением микроядра. Так устроены 4.4BSD и </a:t>
            </a:r>
            <a:r>
              <a:rPr lang="ru-RU" dirty="0" err="1"/>
              <a:t>MkLinux</a:t>
            </a:r>
            <a:r>
              <a:rPr lang="ru-RU" dirty="0"/>
              <a:t>, основанные на микроядре </a:t>
            </a:r>
            <a:r>
              <a:rPr lang="ru-RU" dirty="0" err="1"/>
              <a:t>Mach</a:t>
            </a:r>
            <a:r>
              <a:rPr lang="ru-RU" dirty="0"/>
              <a:t>. </a:t>
            </a:r>
            <a:endParaRPr lang="ru-RU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04870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Смешанные системы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Наиболее тесно элементы </a:t>
            </a:r>
            <a:r>
              <a:rPr lang="ru-RU" i="1" dirty="0" err="1"/>
              <a:t>микроядерной</a:t>
            </a:r>
            <a:r>
              <a:rPr lang="ru-RU" i="1" dirty="0"/>
              <a:t> архитектуры</a:t>
            </a:r>
            <a:r>
              <a:rPr lang="ru-RU" dirty="0"/>
              <a:t> и элементы </a:t>
            </a:r>
            <a:r>
              <a:rPr lang="ru-RU" i="1" dirty="0"/>
              <a:t>монолитного ядра</a:t>
            </a:r>
            <a:r>
              <a:rPr lang="ru-RU" dirty="0"/>
              <a:t> переплетены в ядре </a:t>
            </a:r>
            <a:r>
              <a:rPr lang="ru-RU" dirty="0" err="1"/>
              <a:t>Windows</a:t>
            </a:r>
            <a:r>
              <a:rPr lang="ru-RU" dirty="0"/>
              <a:t> NT. </a:t>
            </a:r>
            <a:endParaRPr lang="ru-RU" dirty="0" smtClean="0"/>
          </a:p>
          <a:p>
            <a:r>
              <a:rPr lang="ru-RU" dirty="0" smtClean="0"/>
              <a:t>Хотя </a:t>
            </a:r>
            <a:r>
              <a:rPr lang="ru-RU" dirty="0" err="1"/>
              <a:t>Windows</a:t>
            </a:r>
            <a:r>
              <a:rPr lang="ru-RU" dirty="0"/>
              <a:t> NT часто называют </a:t>
            </a:r>
            <a:r>
              <a:rPr lang="ru-RU" dirty="0" err="1" smtClean="0"/>
              <a:t>микроядерной</a:t>
            </a:r>
            <a:r>
              <a:rPr lang="ru-RU" dirty="0"/>
              <a:t> </a:t>
            </a:r>
            <a:r>
              <a:rPr lang="ru-RU" dirty="0" smtClean="0"/>
              <a:t>ОС, </a:t>
            </a:r>
            <a:r>
              <a:rPr lang="ru-RU" dirty="0"/>
              <a:t>это не совсем так. Микроядро NT слишком велико (более 1 Мбайт), чтобы носить приставку "микро". Компоненты ядра </a:t>
            </a:r>
            <a:r>
              <a:rPr lang="ru-RU" dirty="0" err="1"/>
              <a:t>Windows</a:t>
            </a:r>
            <a:r>
              <a:rPr lang="ru-RU" dirty="0"/>
              <a:t> NT располагаются в вытесняемой памяти и взаимодействуют друг с другом путем передачи сообщений, как и положено в </a:t>
            </a:r>
            <a:r>
              <a:rPr lang="ru-RU" dirty="0" err="1" smtClean="0"/>
              <a:t>микроядерных</a:t>
            </a:r>
            <a:r>
              <a:rPr lang="ru-RU" dirty="0" smtClean="0"/>
              <a:t> ОС. </a:t>
            </a:r>
            <a:r>
              <a:rPr lang="ru-RU" dirty="0"/>
              <a:t>В то же время все компоненты ядра работают в одном адресном пространстве и активно используют общие структуры данных, что </a:t>
            </a:r>
            <a:r>
              <a:rPr lang="ru-RU" dirty="0" smtClean="0"/>
              <a:t>свойственно ОС с </a:t>
            </a:r>
            <a:r>
              <a:rPr lang="ru-RU" i="1" dirty="0"/>
              <a:t>монолитным ядром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По </a:t>
            </a:r>
            <a:r>
              <a:rPr lang="ru-RU" dirty="0"/>
              <a:t>мнению специалистов </a:t>
            </a:r>
            <a:r>
              <a:rPr lang="ru-RU" dirty="0" err="1"/>
              <a:t>Microsoft</a:t>
            </a:r>
            <a:r>
              <a:rPr lang="ru-RU" dirty="0"/>
              <a:t>, причина проста: чисто </a:t>
            </a:r>
            <a:r>
              <a:rPr lang="ru-RU" dirty="0" err="1"/>
              <a:t>микроядерный</a:t>
            </a:r>
            <a:r>
              <a:rPr lang="ru-RU" dirty="0"/>
              <a:t> дизайн коммерчески невыгоден, поскольку неэффективен.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0502597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Архитектура </a:t>
            </a:r>
            <a:r>
              <a:rPr lang="en-US" b="1" dirty="0" smtClean="0"/>
              <a:t>GNU/Linux</a:t>
            </a:r>
            <a:endParaRPr lang="ru-RU" dirty="0"/>
          </a:p>
        </p:txBody>
      </p:sp>
      <p:pic>
        <p:nvPicPr>
          <p:cNvPr id="6146" name="Picture 2" descr="D:\Downloads\figure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702100"/>
            <a:ext cx="7673936" cy="4679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240552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Подсистемы ядра </a:t>
            </a:r>
            <a:r>
              <a:rPr lang="en-US" dirty="0" smtClean="0"/>
              <a:t>Linux</a:t>
            </a:r>
            <a:endParaRPr lang="ru-RU" dirty="0"/>
          </a:p>
        </p:txBody>
      </p:sp>
      <p:pic>
        <p:nvPicPr>
          <p:cNvPr id="7170" name="Picture 2" descr="D:\Downloads\figure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772814"/>
            <a:ext cx="5976664" cy="4665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376323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Интерфейс системных </a:t>
            </a:r>
            <a:r>
              <a:rPr lang="ru-RU" dirty="0" smtClean="0"/>
              <a:t>вызовов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SCI - это тонкий уровень, предоставляющий средства для вызова функций ядра из пространства пользователя. </a:t>
            </a:r>
            <a:endParaRPr lang="ru-RU" dirty="0" smtClean="0"/>
          </a:p>
          <a:p>
            <a:r>
              <a:rPr lang="ru-RU" dirty="0" smtClean="0"/>
              <a:t>Этот </a:t>
            </a:r>
            <a:r>
              <a:rPr lang="ru-RU" dirty="0"/>
              <a:t>интерфейс может быть архитектурно зависимым, даже в пределах одного процессорного семейства. </a:t>
            </a:r>
            <a:endParaRPr lang="ru-RU" dirty="0" smtClean="0"/>
          </a:p>
          <a:p>
            <a:r>
              <a:rPr lang="ru-RU" dirty="0" smtClean="0"/>
              <a:t>SCI </a:t>
            </a:r>
            <a:r>
              <a:rPr lang="ru-RU" dirty="0"/>
              <a:t>фактически представляет собой службу мультиплексирования и демультиплексирования вызова функций</a:t>
            </a:r>
            <a:r>
              <a:rPr lang="ru-RU" dirty="0" smtClean="0"/>
              <a:t>.</a:t>
            </a:r>
          </a:p>
          <a:p>
            <a:r>
              <a:rPr lang="ru-RU" dirty="0" smtClean="0"/>
              <a:t>Реализация </a:t>
            </a:r>
            <a:r>
              <a:rPr lang="ru-RU" dirty="0"/>
              <a:t>SCI находится в ./</a:t>
            </a:r>
            <a:r>
              <a:rPr lang="ru-RU" dirty="0" err="1"/>
              <a:t>linux</a:t>
            </a:r>
            <a:r>
              <a:rPr lang="ru-RU" dirty="0"/>
              <a:t>/</a:t>
            </a:r>
            <a:r>
              <a:rPr lang="ru-RU" dirty="0" err="1"/>
              <a:t>kernel</a:t>
            </a:r>
            <a:r>
              <a:rPr lang="ru-RU" dirty="0"/>
              <a:t>, а архитектурно-зависимая часть - в ./</a:t>
            </a:r>
            <a:r>
              <a:rPr lang="ru-RU" dirty="0" err="1"/>
              <a:t>linux</a:t>
            </a:r>
            <a:r>
              <a:rPr lang="ru-RU" dirty="0"/>
              <a:t>/</a:t>
            </a:r>
            <a:r>
              <a:rPr lang="ru-RU" dirty="0" err="1"/>
              <a:t>arch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8920401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Управление процессами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Ядро предоставляет интерфейс программирования приложений (API) через SCI для создания нового процесса, остановки </a:t>
            </a:r>
            <a:r>
              <a:rPr lang="ru-RU" dirty="0" smtClean="0"/>
              <a:t>процесса, взаимодействия </a:t>
            </a:r>
            <a:r>
              <a:rPr lang="ru-RU" dirty="0"/>
              <a:t>и синхронизации между </a:t>
            </a:r>
            <a:r>
              <a:rPr lang="ru-RU" dirty="0" smtClean="0"/>
              <a:t>процессами.</a:t>
            </a:r>
          </a:p>
          <a:p>
            <a:r>
              <a:rPr lang="ru-RU" dirty="0"/>
              <a:t>Еще одна задача управления процессами - совместное использование процессора активными потоками. В ядре реализован алгоритм планировщика, время работы которого не зависит от числа потоков, претендующих на ресурсы процессора</a:t>
            </a:r>
            <a:r>
              <a:rPr lang="ru-RU" dirty="0" smtClean="0"/>
              <a:t>.</a:t>
            </a:r>
          </a:p>
          <a:p>
            <a:r>
              <a:rPr lang="ru-RU" dirty="0"/>
              <a:t>Исходные коды системы управления процессами находятся в ./</a:t>
            </a:r>
            <a:r>
              <a:rPr lang="ru-RU" dirty="0" err="1"/>
              <a:t>linux</a:t>
            </a:r>
            <a:r>
              <a:rPr lang="ru-RU" dirty="0"/>
              <a:t>/</a:t>
            </a:r>
            <a:r>
              <a:rPr lang="ru-RU" dirty="0" err="1"/>
              <a:t>kernel</a:t>
            </a:r>
            <a:r>
              <a:rPr lang="ru-RU" dirty="0"/>
              <a:t>, а коды архитектурно-зависимой части - в ./</a:t>
            </a:r>
            <a:r>
              <a:rPr lang="ru-RU" dirty="0" err="1"/>
              <a:t>linux</a:t>
            </a:r>
            <a:r>
              <a:rPr lang="ru-RU" dirty="0"/>
              <a:t>/</a:t>
            </a:r>
            <a:r>
              <a:rPr lang="ru-RU" dirty="0" err="1"/>
              <a:t>arch</a:t>
            </a:r>
            <a:r>
              <a:rPr lang="ru-RU" dirty="0"/>
              <a:t>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1540853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Управление памятью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752600"/>
            <a:ext cx="7859216" cy="4628728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Для повышения эффективности, учитывая механизм работы аппаратных средств с виртуальной памятью, память организуется в виде т.н. </a:t>
            </a:r>
            <a:r>
              <a:rPr lang="ru-RU" i="1" dirty="0"/>
              <a:t>страниц </a:t>
            </a:r>
            <a:r>
              <a:rPr lang="ru-RU" dirty="0"/>
              <a:t>(в большинстве архитектур размером 4 КБ). </a:t>
            </a:r>
            <a:endParaRPr lang="ru-RU" dirty="0" smtClean="0"/>
          </a:p>
          <a:p>
            <a:r>
              <a:rPr lang="ru-RU" dirty="0" smtClean="0"/>
              <a:t>В </a:t>
            </a:r>
            <a:r>
              <a:rPr lang="ru-RU" dirty="0" err="1"/>
              <a:t>Linux</a:t>
            </a:r>
            <a:r>
              <a:rPr lang="ru-RU" dirty="0"/>
              <a:t> имеются средства для управления имеющейся памятью, а также аппаратными механизмами для установления соответствия между физической и виртуальной памятью. </a:t>
            </a:r>
          </a:p>
          <a:p>
            <a:r>
              <a:rPr lang="ru-RU" dirty="0"/>
              <a:t>В условиях наличия большого числа пользователей памяти возможны ситуации, когда вся имеющаяся память будет исчерпана. В связи с этим страницы можно удалять из памяти и переносить на диск. Этот процесс обмена страниц между оперативной памятью и жестким диском называется </a:t>
            </a:r>
            <a:r>
              <a:rPr lang="ru-RU" i="1" dirty="0"/>
              <a:t>подкачкой</a:t>
            </a:r>
            <a:r>
              <a:rPr lang="ru-RU" dirty="0"/>
              <a:t>. Исходные коды управления памятью находятся в ./</a:t>
            </a:r>
            <a:r>
              <a:rPr lang="ru-RU" dirty="0" err="1"/>
              <a:t>linux</a:t>
            </a:r>
            <a:r>
              <a:rPr lang="ru-RU" dirty="0"/>
              <a:t>/</a:t>
            </a:r>
            <a:r>
              <a:rPr lang="ru-RU" dirty="0" err="1"/>
              <a:t>mm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723346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Виртуальная файловая система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556792"/>
            <a:ext cx="7620000" cy="812304"/>
          </a:xfrm>
        </p:spPr>
        <p:txBody>
          <a:bodyPr/>
          <a:lstStyle/>
          <a:p>
            <a:r>
              <a:rPr lang="ru-RU" dirty="0" smtClean="0"/>
              <a:t>Предоставляет </a:t>
            </a:r>
            <a:r>
              <a:rPr lang="ru-RU" dirty="0"/>
              <a:t>общую абстракцию интерфейса к файловым системам</a:t>
            </a:r>
          </a:p>
        </p:txBody>
      </p:sp>
      <p:pic>
        <p:nvPicPr>
          <p:cNvPr id="8194" name="Picture 2" descr="D:\Downloads\figure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2204864"/>
            <a:ext cx="5136265" cy="419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015810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Сетевой стек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28800"/>
            <a:ext cx="7859216" cy="4824536"/>
          </a:xfrm>
        </p:spPr>
        <p:txBody>
          <a:bodyPr>
            <a:normAutofit/>
          </a:bodyPr>
          <a:lstStyle/>
          <a:p>
            <a:r>
              <a:rPr lang="ru-RU" dirty="0" smtClean="0"/>
              <a:t>Имеет </a:t>
            </a:r>
            <a:r>
              <a:rPr lang="ru-RU" dirty="0"/>
              <a:t>многоуровневую архитектуру, повторяющую </a:t>
            </a:r>
            <a:r>
              <a:rPr lang="ru-RU" dirty="0" smtClean="0"/>
              <a:t>структуру самих </a:t>
            </a:r>
            <a:r>
              <a:rPr lang="ru-RU" dirty="0"/>
              <a:t>протоколов. </a:t>
            </a:r>
            <a:endParaRPr lang="ru-RU" dirty="0" smtClean="0"/>
          </a:p>
          <a:p>
            <a:r>
              <a:rPr lang="ru-RU" dirty="0" err="1" smtClean="0"/>
              <a:t>Internet</a:t>
            </a:r>
            <a:r>
              <a:rPr lang="ru-RU" dirty="0" smtClean="0"/>
              <a:t> </a:t>
            </a:r>
            <a:r>
              <a:rPr lang="ru-RU" dirty="0" err="1"/>
              <a:t>Protocol</a:t>
            </a:r>
            <a:r>
              <a:rPr lang="ru-RU" dirty="0"/>
              <a:t> (IP) - это базовый протокол сетевого уровня, располагающийся ниже </a:t>
            </a:r>
            <a:r>
              <a:rPr lang="ru-RU" dirty="0" smtClean="0"/>
              <a:t>TCP. </a:t>
            </a:r>
            <a:r>
              <a:rPr lang="ru-RU" dirty="0"/>
              <a:t>Выше TCP находится уровень сокетов, вызываемый через SCI.</a:t>
            </a:r>
          </a:p>
          <a:p>
            <a:r>
              <a:rPr lang="ru-RU" dirty="0"/>
              <a:t>Уровень сокетов представляет собой стандартный API к сетевой подсистеме. Он предоставляет пользовательский интерфейс к различным сетевым протоколам. </a:t>
            </a:r>
            <a:endParaRPr lang="ru-RU" dirty="0" smtClean="0"/>
          </a:p>
          <a:p>
            <a:r>
              <a:rPr lang="ru-RU" dirty="0" smtClean="0"/>
              <a:t>Исходные </a:t>
            </a:r>
            <a:r>
              <a:rPr lang="ru-RU" dirty="0"/>
              <a:t>коды сетевой подсистемы ядра находятся в каталоге ./</a:t>
            </a:r>
            <a:r>
              <a:rPr lang="ru-RU" dirty="0" err="1"/>
              <a:t>linux</a:t>
            </a:r>
            <a:r>
              <a:rPr lang="ru-RU" dirty="0"/>
              <a:t>/</a:t>
            </a:r>
            <a:r>
              <a:rPr lang="ru-RU" dirty="0" err="1"/>
              <a:t>net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9489959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Драйверы </a:t>
            </a:r>
            <a:r>
              <a:rPr lang="ru-RU" dirty="0" smtClean="0"/>
              <a:t>устройств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Подавляющее </a:t>
            </a:r>
            <a:r>
              <a:rPr lang="ru-RU" dirty="0"/>
              <a:t>большинство исходного кода ядра </a:t>
            </a:r>
            <a:r>
              <a:rPr lang="ru-RU" dirty="0" err="1"/>
              <a:t>Linux</a:t>
            </a:r>
            <a:r>
              <a:rPr lang="ru-RU" dirty="0"/>
              <a:t> приходится на драйверы устройств, обеспечивающие возможность работы с конкретными аппаратными устройствами. </a:t>
            </a:r>
            <a:endParaRPr lang="ru-RU" dirty="0" smtClean="0"/>
          </a:p>
          <a:p>
            <a:r>
              <a:rPr lang="ru-RU" dirty="0" smtClean="0"/>
              <a:t>В </a:t>
            </a:r>
            <a:r>
              <a:rPr lang="ru-RU" dirty="0"/>
              <a:t>дереве исходных кодов </a:t>
            </a:r>
            <a:r>
              <a:rPr lang="ru-RU" dirty="0" err="1"/>
              <a:t>Linux</a:t>
            </a:r>
            <a:r>
              <a:rPr lang="ru-RU" dirty="0"/>
              <a:t> имеется подкаталог драйверов, в котором, в свою очередь, имеются подкаталоги для различных типов поддерживаемых устройств, таких как </a:t>
            </a:r>
            <a:r>
              <a:rPr lang="ru-RU" dirty="0" err="1"/>
              <a:t>Bluetooth</a:t>
            </a:r>
            <a:r>
              <a:rPr lang="ru-RU" dirty="0"/>
              <a:t>, </a:t>
            </a:r>
            <a:r>
              <a:rPr lang="ru-RU" dirty="0" smtClean="0"/>
              <a:t>последовательные </a:t>
            </a:r>
            <a:r>
              <a:rPr lang="ru-RU" dirty="0"/>
              <a:t>порты и т.д. </a:t>
            </a:r>
            <a:endParaRPr lang="ru-RU" dirty="0" smtClean="0"/>
          </a:p>
          <a:p>
            <a:r>
              <a:rPr lang="ru-RU" dirty="0" smtClean="0"/>
              <a:t>Исходные </a:t>
            </a:r>
            <a:r>
              <a:rPr lang="ru-RU" dirty="0"/>
              <a:t>коды драйверов устройств находятся в ./</a:t>
            </a:r>
            <a:r>
              <a:rPr lang="ru-RU" dirty="0" err="1"/>
              <a:t>linux</a:t>
            </a:r>
            <a:r>
              <a:rPr lang="ru-RU" dirty="0"/>
              <a:t>/</a:t>
            </a:r>
            <a:r>
              <a:rPr lang="ru-RU" dirty="0" err="1"/>
              <a:t>drivers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1972870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Архитектурно-зависимый </a:t>
            </a:r>
            <a:r>
              <a:rPr lang="ru-RU" b="1" dirty="0" smtClean="0"/>
              <a:t>код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84784"/>
            <a:ext cx="8003232" cy="4896544"/>
          </a:xfrm>
        </p:spPr>
        <p:txBody>
          <a:bodyPr>
            <a:normAutofit/>
          </a:bodyPr>
          <a:lstStyle/>
          <a:p>
            <a:r>
              <a:rPr lang="ru-RU" dirty="0"/>
              <a:t>Хотя основная часть </a:t>
            </a:r>
            <a:r>
              <a:rPr lang="ru-RU" dirty="0" err="1"/>
              <a:t>Linux</a:t>
            </a:r>
            <a:r>
              <a:rPr lang="ru-RU" dirty="0"/>
              <a:t> независима от архитектуры, на которой </a:t>
            </a:r>
            <a:r>
              <a:rPr lang="ru-RU" dirty="0" smtClean="0"/>
              <a:t>работает ОС, </a:t>
            </a:r>
            <a:r>
              <a:rPr lang="ru-RU" dirty="0"/>
              <a:t>в некоторых элементах для обеспечения нормальной работы и повышения эффективности необходимо учитывать архитектуру</a:t>
            </a:r>
            <a:r>
              <a:rPr lang="ru-RU" dirty="0" smtClean="0"/>
              <a:t>.</a:t>
            </a:r>
          </a:p>
          <a:p>
            <a:r>
              <a:rPr lang="ru-RU" dirty="0" smtClean="0"/>
              <a:t>В </a:t>
            </a:r>
            <a:r>
              <a:rPr lang="ru-RU" dirty="0"/>
              <a:t>подкаталоге ./</a:t>
            </a:r>
            <a:r>
              <a:rPr lang="ru-RU" dirty="0" err="1"/>
              <a:t>linux</a:t>
            </a:r>
            <a:r>
              <a:rPr lang="ru-RU" dirty="0"/>
              <a:t>/</a:t>
            </a:r>
            <a:r>
              <a:rPr lang="ru-RU" dirty="0" err="1"/>
              <a:t>arch</a:t>
            </a:r>
            <a:r>
              <a:rPr lang="ru-RU" dirty="0"/>
              <a:t> находится архитектурно-зависимая часть исходного кода ядра, разделенная на ряд подкаталогов, соответствующих конкретным архитектурам. </a:t>
            </a:r>
            <a:endParaRPr lang="ru-RU" dirty="0" smtClean="0"/>
          </a:p>
          <a:p>
            <a:r>
              <a:rPr lang="ru-RU" dirty="0" smtClean="0"/>
              <a:t>Подкаталог </a:t>
            </a:r>
            <a:r>
              <a:rPr lang="ru-RU" dirty="0"/>
              <a:t>для каждой архитектуры содержит ряд вложенных подкаталогов, относящихся к конкретным аспектам ядра, таким как загрузка, ядро, управление памятью и т.д</a:t>
            </a:r>
            <a:r>
              <a:rPr lang="ru-RU" dirty="0" smtClean="0"/>
              <a:t>.</a:t>
            </a:r>
          </a:p>
          <a:p>
            <a:r>
              <a:rPr lang="ru-RU" dirty="0" smtClean="0"/>
              <a:t>Исходные </a:t>
            </a:r>
            <a:r>
              <a:rPr lang="ru-RU" dirty="0"/>
              <a:t>коды архитектурно-зависимой части находятся в ./</a:t>
            </a:r>
            <a:r>
              <a:rPr lang="ru-RU" dirty="0" err="1"/>
              <a:t>linux</a:t>
            </a:r>
            <a:r>
              <a:rPr lang="ru-RU" dirty="0"/>
              <a:t>/</a:t>
            </a:r>
            <a:r>
              <a:rPr lang="ru-RU" dirty="0" err="1"/>
              <a:t>arch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3759484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Особенности ядра </a:t>
            </a:r>
            <a:r>
              <a:rPr lang="en-US" dirty="0" err="1" smtClean="0"/>
              <a:t>linux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Linux</a:t>
            </a:r>
            <a:r>
              <a:rPr lang="ru-RU" dirty="0"/>
              <a:t>, как широко используемая на практике </a:t>
            </a:r>
            <a:r>
              <a:rPr lang="ru-RU" dirty="0" smtClean="0"/>
              <a:t>ОС с </a:t>
            </a:r>
            <a:r>
              <a:rPr lang="ru-RU" dirty="0"/>
              <a:t>открытым исходным кодом, является отличной испытательной площадкой для новых протоколов и их усовершенствований. </a:t>
            </a:r>
            <a:endParaRPr lang="ru-RU" dirty="0" smtClean="0"/>
          </a:p>
          <a:p>
            <a:r>
              <a:rPr lang="ru-RU" dirty="0" err="1" smtClean="0"/>
              <a:t>Linux</a:t>
            </a:r>
            <a:r>
              <a:rPr lang="ru-RU" dirty="0" smtClean="0"/>
              <a:t> </a:t>
            </a:r>
            <a:r>
              <a:rPr lang="ru-RU" dirty="0"/>
              <a:t>поддерживает большое количество сетевых протоколов, включая традиционный TCP/IP и его высокоскоростные расширения (для сетей быстрее </a:t>
            </a:r>
            <a:r>
              <a:rPr lang="ru-RU" dirty="0" err="1"/>
              <a:t>Gigabit</a:t>
            </a:r>
            <a:r>
              <a:rPr lang="ru-RU" dirty="0"/>
              <a:t> </a:t>
            </a:r>
            <a:r>
              <a:rPr lang="ru-RU" dirty="0" err="1"/>
              <a:t>Ethernet</a:t>
            </a:r>
            <a:r>
              <a:rPr lang="ru-RU" dirty="0"/>
              <a:t> [</a:t>
            </a:r>
            <a:r>
              <a:rPr lang="ru-RU" dirty="0" err="1"/>
              <a:t>GbE</a:t>
            </a:r>
            <a:r>
              <a:rPr lang="ru-RU" dirty="0"/>
              <a:t>] и 10 </a:t>
            </a:r>
            <a:r>
              <a:rPr lang="ru-RU" dirty="0" err="1"/>
              <a:t>GbE</a:t>
            </a:r>
            <a:r>
              <a:rPr lang="ru-RU" dirty="0"/>
              <a:t>). </a:t>
            </a:r>
            <a:r>
              <a:rPr lang="ru-RU" dirty="0" err="1"/>
              <a:t>Linux</a:t>
            </a:r>
            <a:r>
              <a:rPr lang="ru-RU" dirty="0"/>
              <a:t> также поддерживает такие протоколы, как </a:t>
            </a:r>
            <a:r>
              <a:rPr lang="ru-RU" dirty="0" err="1"/>
              <a:t>Stream</a:t>
            </a:r>
            <a:r>
              <a:rPr lang="ru-RU" dirty="0"/>
              <a:t> </a:t>
            </a:r>
            <a:r>
              <a:rPr lang="ru-RU" dirty="0" err="1"/>
              <a:t>Control</a:t>
            </a:r>
            <a:r>
              <a:rPr lang="ru-RU" dirty="0"/>
              <a:t> </a:t>
            </a:r>
            <a:r>
              <a:rPr lang="ru-RU" dirty="0" err="1"/>
              <a:t>Transmission</a:t>
            </a:r>
            <a:r>
              <a:rPr lang="ru-RU" dirty="0"/>
              <a:t> </a:t>
            </a:r>
            <a:r>
              <a:rPr lang="ru-RU" dirty="0" err="1"/>
              <a:t>Protocol</a:t>
            </a:r>
            <a:r>
              <a:rPr lang="ru-RU" dirty="0"/>
              <a:t> (SCTP), реализующий множество дополнительных функций, отсутствующих в TCP (применяется в качестве альтернативного протокола транспортного уровня).</a:t>
            </a:r>
          </a:p>
        </p:txBody>
      </p:sp>
    </p:spTree>
    <p:extLst>
      <p:ext uri="{BB962C8B-B14F-4D97-AF65-F5344CB8AC3E}">
        <p14:creationId xmlns:p14="http://schemas.microsoft.com/office/powerpoint/2010/main" val="202761586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 ядра </a:t>
            </a:r>
            <a:r>
              <a:rPr lang="en-US" dirty="0" err="1"/>
              <a:t>linux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Следует отметить, что ядро </a:t>
            </a:r>
            <a:r>
              <a:rPr lang="ru-RU" dirty="0" err="1"/>
              <a:t>Linux</a:t>
            </a:r>
            <a:r>
              <a:rPr lang="ru-RU" dirty="0"/>
              <a:t> является динамическим (поддерживает добавление и удаление программных компонентов без остановки системы). </a:t>
            </a:r>
            <a:endParaRPr lang="ru-RU" dirty="0" smtClean="0"/>
          </a:p>
          <a:p>
            <a:r>
              <a:rPr lang="ru-RU" dirty="0" smtClean="0"/>
              <a:t>Эти </a:t>
            </a:r>
            <a:r>
              <a:rPr lang="ru-RU" dirty="0"/>
              <a:t>компоненты называются динамически загружаемыми модулями ядра. Их можно вводить в систему при необходимости, как во время загрузки (если найдено конкретное устройство, для которого требуется такой модуль), так и в любое время по желанию пользователя. </a:t>
            </a:r>
          </a:p>
        </p:txBody>
      </p:sp>
    </p:spTree>
    <p:extLst>
      <p:ext uri="{BB962C8B-B14F-4D97-AF65-F5344CB8AC3E}">
        <p14:creationId xmlns:p14="http://schemas.microsoft.com/office/powerpoint/2010/main" val="57353352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 ядра </a:t>
            </a:r>
            <a:r>
              <a:rPr lang="en-US" dirty="0" err="1"/>
              <a:t>linux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Возможность использования </a:t>
            </a:r>
            <a:r>
              <a:rPr lang="ru-RU" dirty="0"/>
              <a:t>в качестве операционной системы для других операционных систем (т.н. гипервизора). </a:t>
            </a:r>
            <a:endParaRPr lang="ru-RU" dirty="0" smtClean="0"/>
          </a:p>
          <a:p>
            <a:r>
              <a:rPr lang="ru-RU" dirty="0" smtClean="0"/>
              <a:t>В ядро </a:t>
            </a:r>
            <a:r>
              <a:rPr lang="ru-RU" dirty="0"/>
              <a:t>было внесено усовершенствование, получившее название </a:t>
            </a:r>
            <a:r>
              <a:rPr lang="ru-RU" dirty="0" err="1"/>
              <a:t>Kernel-based</a:t>
            </a:r>
            <a:r>
              <a:rPr lang="ru-RU" dirty="0"/>
              <a:t> </a:t>
            </a:r>
            <a:r>
              <a:rPr lang="ru-RU" dirty="0" err="1"/>
              <a:t>Virtual</a:t>
            </a:r>
            <a:r>
              <a:rPr lang="ru-RU" dirty="0"/>
              <a:t> </a:t>
            </a:r>
            <a:r>
              <a:rPr lang="ru-RU" dirty="0" err="1"/>
              <a:t>Machine</a:t>
            </a:r>
            <a:r>
              <a:rPr lang="ru-RU" dirty="0"/>
              <a:t> (KVM, виртуальная машина на базе ядра). В результате этой модификации в пространстве пользователя был реализован новый интерфейс, позволяющий исполнять поверх ядра с поддержкой KVM другие </a:t>
            </a:r>
            <a:r>
              <a:rPr lang="ru-RU" dirty="0" smtClean="0"/>
              <a:t>ОС. </a:t>
            </a:r>
            <a:r>
              <a:rPr lang="ru-RU" dirty="0"/>
              <a:t>В таком режиме можно не только исполнять другие экземпляры </a:t>
            </a:r>
            <a:r>
              <a:rPr lang="ru-RU" dirty="0" err="1"/>
              <a:t>Linux</a:t>
            </a:r>
            <a:r>
              <a:rPr lang="ru-RU" dirty="0"/>
              <a:t>, но и </a:t>
            </a:r>
            <a:r>
              <a:rPr lang="ru-RU" dirty="0" err="1"/>
              <a:t>виртуализовать</a:t>
            </a:r>
            <a:r>
              <a:rPr lang="ru-RU" dirty="0"/>
              <a:t> </a:t>
            </a:r>
            <a:r>
              <a:rPr lang="ru-RU" dirty="0" err="1" smtClean="0"/>
              <a:t>Microsoft</a:t>
            </a:r>
            <a:r>
              <a:rPr lang="ru-RU" dirty="0" smtClean="0"/>
              <a:t> </a:t>
            </a:r>
            <a:r>
              <a:rPr lang="ru-RU" dirty="0" err="1" smtClean="0"/>
              <a:t>Windows</a:t>
            </a:r>
            <a:r>
              <a:rPr lang="ru-RU" dirty="0"/>
              <a:t>®. Единственное ограничение состоит в том, что используемый процессор должен поддерживать новые инструкции виртуализации. </a:t>
            </a:r>
          </a:p>
        </p:txBody>
      </p:sp>
    </p:spTree>
    <p:extLst>
      <p:ext uri="{BB962C8B-B14F-4D97-AF65-F5344CB8AC3E}">
        <p14:creationId xmlns:p14="http://schemas.microsoft.com/office/powerpoint/2010/main" val="368382295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Главная">
  <a:themeElements>
    <a:clrScheme name="Главная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Главная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лавная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Essential</Template>
  <TotalTime>594</TotalTime>
  <Words>3714</Words>
  <Application>Microsoft Office PowerPoint</Application>
  <PresentationFormat>Экран (4:3)</PresentationFormat>
  <Paragraphs>243</Paragraphs>
  <Slides>60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60</vt:i4>
      </vt:variant>
    </vt:vector>
  </HeadingPairs>
  <TitlesOfParts>
    <vt:vector size="61" baseType="lpstr">
      <vt:lpstr>Главная</vt:lpstr>
      <vt:lpstr>архитектура операционных систем</vt:lpstr>
      <vt:lpstr>Аппаратное обеспечение компьютера</vt:lpstr>
      <vt:lpstr>Процессоры</vt:lpstr>
      <vt:lpstr>процессоры</vt:lpstr>
      <vt:lpstr>процессоры</vt:lpstr>
      <vt:lpstr>процессоры</vt:lpstr>
      <vt:lpstr>процессоры</vt:lpstr>
      <vt:lpstr>процессоры</vt:lpstr>
      <vt:lpstr>процессоры</vt:lpstr>
      <vt:lpstr>процессоры</vt:lpstr>
      <vt:lpstr>процессоры</vt:lpstr>
      <vt:lpstr>процессоры</vt:lpstr>
      <vt:lpstr>процессоры</vt:lpstr>
      <vt:lpstr>память</vt:lpstr>
      <vt:lpstr>Память</vt:lpstr>
      <vt:lpstr>память</vt:lpstr>
      <vt:lpstr>память</vt:lpstr>
      <vt:lpstr>память</vt:lpstr>
      <vt:lpstr>память</vt:lpstr>
      <vt:lpstr>память</vt:lpstr>
      <vt:lpstr>память</vt:lpstr>
      <vt:lpstr>память</vt:lpstr>
      <vt:lpstr>Устройства ввода-вывода</vt:lpstr>
      <vt:lpstr>Устройства ввода-вывода</vt:lpstr>
      <vt:lpstr>Устройства ввода-вывода</vt:lpstr>
      <vt:lpstr>Устройства ввода-вывода</vt:lpstr>
      <vt:lpstr>Устройства ввода-вывода</vt:lpstr>
      <vt:lpstr>Устройства ввода-вывода</vt:lpstr>
      <vt:lpstr>шины</vt:lpstr>
      <vt:lpstr>шины</vt:lpstr>
      <vt:lpstr>Подходы к построению ОС</vt:lpstr>
      <vt:lpstr>Монолитное ядро</vt:lpstr>
      <vt:lpstr>Монолитное ядро</vt:lpstr>
      <vt:lpstr>Монолитное ядро</vt:lpstr>
      <vt:lpstr>Многоуровневые (многослойные) системы</vt:lpstr>
      <vt:lpstr>Многоуровневые (многослойные) системы</vt:lpstr>
      <vt:lpstr>Многоуровневые системы</vt:lpstr>
      <vt:lpstr>Многоуровневые системы</vt:lpstr>
      <vt:lpstr>Виртуальные машины</vt:lpstr>
      <vt:lpstr>Виртуальные машины</vt:lpstr>
      <vt:lpstr>Виртуальные машины</vt:lpstr>
      <vt:lpstr>микроядро</vt:lpstr>
      <vt:lpstr>микроядро</vt:lpstr>
      <vt:lpstr>микроядро</vt:lpstr>
      <vt:lpstr>Микроядро</vt:lpstr>
      <vt:lpstr>микроядро</vt:lpstr>
      <vt:lpstr>Смешанные системы</vt:lpstr>
      <vt:lpstr>Смешанные системы</vt:lpstr>
      <vt:lpstr>Архитектура GNU/Linux</vt:lpstr>
      <vt:lpstr>Подсистемы ядра Linux</vt:lpstr>
      <vt:lpstr>Интерфейс системных вызовов</vt:lpstr>
      <vt:lpstr>Управление процессами</vt:lpstr>
      <vt:lpstr>Управление памятью</vt:lpstr>
      <vt:lpstr>Виртуальная файловая система</vt:lpstr>
      <vt:lpstr>Сетевой стек</vt:lpstr>
      <vt:lpstr>Драйверы устройств</vt:lpstr>
      <vt:lpstr>Архитектурно-зависимый код</vt:lpstr>
      <vt:lpstr>Особенности ядра linux</vt:lpstr>
      <vt:lpstr>Особенности ядра linux</vt:lpstr>
      <vt:lpstr>Особенности ядра linux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</dc:title>
  <dc:creator>kate</dc:creator>
  <cp:lastModifiedBy>Гатиша</cp:lastModifiedBy>
  <cp:revision>53</cp:revision>
  <dcterms:created xsi:type="dcterms:W3CDTF">2016-11-10T09:03:08Z</dcterms:created>
  <dcterms:modified xsi:type="dcterms:W3CDTF">2018-02-18T18:36:50Z</dcterms:modified>
</cp:coreProperties>
</file>