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311" r:id="rId21"/>
    <p:sldId id="276" r:id="rId22"/>
    <p:sldId id="277" r:id="rId23"/>
    <p:sldId id="312" r:id="rId24"/>
    <p:sldId id="278" r:id="rId25"/>
    <p:sldId id="279" r:id="rId26"/>
    <p:sldId id="313" r:id="rId27"/>
    <p:sldId id="315" r:id="rId28"/>
    <p:sldId id="282" r:id="rId29"/>
    <p:sldId id="283" r:id="rId30"/>
    <p:sldId id="284" r:id="rId31"/>
    <p:sldId id="285" r:id="rId32"/>
    <p:sldId id="317" r:id="rId33"/>
    <p:sldId id="287" r:id="rId34"/>
    <p:sldId id="288" r:id="rId35"/>
    <p:sldId id="289" r:id="rId36"/>
    <p:sldId id="290" r:id="rId37"/>
    <p:sldId id="320" r:id="rId38"/>
    <p:sldId id="321" r:id="rId39"/>
    <p:sldId id="322" r:id="rId40"/>
    <p:sldId id="294" r:id="rId41"/>
    <p:sldId id="295" r:id="rId42"/>
    <p:sldId id="323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24" r:id="rId53"/>
    <p:sldId id="307" r:id="rId54"/>
    <p:sldId id="308" r:id="rId55"/>
    <p:sldId id="325" r:id="rId5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0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C4D8865-6600-4A68-A76C-A8DD266187D2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53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8F20150-86DE-4739-B26A-A3CC579FA0A2}" type="datetimeFigureOut">
              <a:rPr lang="ru-RU" smtClean="0"/>
              <a:t>26.03.2017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77DFA141-06CF-4521-B06D-4019C441063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400" dirty="0" smtClean="0"/>
              <a:t>сокеты</a:t>
            </a:r>
            <a:endParaRPr lang="ru-RU" sz="6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19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79096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Эталонная модель </a:t>
            </a:r>
            <a:r>
              <a:rPr lang="en-US" dirty="0" smtClean="0"/>
              <a:t>OSI </a:t>
            </a:r>
            <a:r>
              <a:rPr lang="ru-RU" dirty="0" smtClean="0"/>
              <a:t>и эталонная модель </a:t>
            </a:r>
            <a:r>
              <a:rPr lang="en-US" dirty="0" err="1" smtClean="0"/>
              <a:t>tcp</a:t>
            </a:r>
            <a:r>
              <a:rPr lang="en-US" dirty="0" smtClean="0"/>
              <a:t>/</a:t>
            </a:r>
            <a:r>
              <a:rPr lang="en-US" dirty="0" err="1" smtClean="0"/>
              <a:t>ip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7200800" cy="4193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095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Протоколы и сети в модели TCP/IP</a:t>
            </a:r>
          </a:p>
        </p:txBody>
      </p:sp>
      <p:pic>
        <p:nvPicPr>
          <p:cNvPr id="2052" name="Picture 4" descr="C:\Users\kate\Downloads\1-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534029" cy="432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47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сокет</a:t>
            </a:r>
            <a:r>
              <a:rPr lang="ru-RU" dirty="0"/>
              <a:t>ы</a:t>
            </a:r>
            <a:r>
              <a:rPr lang="ru-RU" dirty="0" smtClean="0"/>
              <a:t> </a:t>
            </a:r>
            <a:r>
              <a:rPr lang="ru-RU" dirty="0"/>
              <a:t>Беркли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ja-JP" dirty="0"/>
              <a:t>В восьмидесятых годах американское правительственное агентство по поддержке исследовательских проектов (ARPA), финансировало реализацию протоколов TCP/IP для UNIX в Калифорнийском университете в г. Беркли. </a:t>
            </a:r>
            <a:endParaRPr lang="en-US" altLang="ja-JP" dirty="0" smtClean="0"/>
          </a:p>
          <a:p>
            <a:r>
              <a:rPr lang="ru-RU" altLang="ja-JP" dirty="0" smtClean="0"/>
              <a:t>В </a:t>
            </a:r>
            <a:r>
              <a:rPr lang="ru-RU" altLang="ja-JP" dirty="0"/>
              <a:t>ходе этого проекта группа исследователей-программистов разработала интерфейс прикладного программирования для сетевых приложений  TCP/IP (TCP/IP API), этот интерфейс был назван</a:t>
            </a:r>
            <a:r>
              <a:rPr lang="en-US" altLang="ja-JP" dirty="0">
                <a:ea typeface="ＭＳ Ｐゴシック" charset="-128"/>
              </a:rPr>
              <a:t> </a:t>
            </a:r>
            <a:r>
              <a:rPr lang="ru-RU" altLang="ja-JP" i="1" dirty="0"/>
              <a:t>сокетами TCP/IP (TCP/IP </a:t>
            </a:r>
            <a:r>
              <a:rPr lang="ru-RU" altLang="ja-JP" i="1" dirty="0" err="1"/>
              <a:t>sockets</a:t>
            </a:r>
            <a:r>
              <a:rPr lang="ru-RU" altLang="ja-JP" i="1" dirty="0"/>
              <a:t>).</a:t>
            </a:r>
            <a:r>
              <a:rPr lang="ru-RU" altLang="ja-JP" dirty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033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Сокеты </a:t>
            </a:r>
            <a:r>
              <a:rPr lang="ru-RU" dirty="0" err="1" smtClean="0"/>
              <a:t>беркли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Так как изначально разработчиками интерфейса сокетов были исследователи университета в г. Беркли, этот интерфейс часто называется сокетами Беркли (</a:t>
            </a:r>
            <a:r>
              <a:rPr lang="ru-RU" dirty="0" err="1"/>
              <a:t>Berkeley</a:t>
            </a:r>
            <a:r>
              <a:rPr lang="ru-RU" dirty="0"/>
              <a:t> </a:t>
            </a:r>
            <a:r>
              <a:rPr lang="ru-RU" dirty="0" err="1"/>
              <a:t>sockets</a:t>
            </a:r>
            <a:r>
              <a:rPr lang="ru-RU" dirty="0"/>
              <a:t>) или сокетами в стиле Беркли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Впервые </a:t>
            </a:r>
            <a:r>
              <a:rPr lang="ru-RU" dirty="0"/>
              <a:t>сокеты стали применяться в 1983 году в </a:t>
            </a:r>
            <a:r>
              <a:rPr lang="ru-RU" dirty="0" smtClean="0"/>
              <a:t>ОС </a:t>
            </a:r>
            <a:r>
              <a:rPr lang="ru-RU" dirty="0" err="1" smtClean="0"/>
              <a:t>Berkeley</a:t>
            </a:r>
            <a:r>
              <a:rPr lang="ru-RU" dirty="0" smtClean="0"/>
              <a:t> </a:t>
            </a:r>
            <a:r>
              <a:rPr lang="ru-RU" dirty="0"/>
              <a:t>UNIX 4.2BSD. Очень скоро они стали популярными и сейчас широко используются для интернет-программирования в большинстве </a:t>
            </a:r>
            <a:r>
              <a:rPr lang="ru-RU" dirty="0" smtClean="0"/>
              <a:t>ОС, </a:t>
            </a:r>
            <a:r>
              <a:rPr lang="ru-RU" dirty="0"/>
              <a:t>особенно UNIX; кроме того, существует специальный API, предназначенный для программирования сокетов в системе </a:t>
            </a:r>
            <a:r>
              <a:rPr lang="ru-RU" dirty="0" err="1"/>
              <a:t>Windows</a:t>
            </a:r>
            <a:r>
              <a:rPr lang="ru-RU" dirty="0"/>
              <a:t> — «</a:t>
            </a:r>
            <a:r>
              <a:rPr lang="ru-RU" dirty="0" err="1"/>
              <a:t>winsock</a:t>
            </a:r>
            <a:r>
              <a:rPr lang="ru-RU" dirty="0"/>
              <a:t>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90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Сокеты </a:t>
            </a:r>
            <a:r>
              <a:rPr lang="ru-RU" dirty="0" err="1" smtClean="0"/>
              <a:t>беркли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ja-JP" dirty="0"/>
              <a:t>Интерфейс сокетов - это API для сетей TCP/IP. </a:t>
            </a:r>
            <a:endParaRPr lang="ru-RU" altLang="ja-JP" dirty="0" smtClean="0"/>
          </a:p>
          <a:p>
            <a:r>
              <a:rPr lang="ru-RU" altLang="ja-JP" dirty="0" smtClean="0"/>
              <a:t>Другими </a:t>
            </a:r>
            <a:r>
              <a:rPr lang="ru-RU" altLang="ja-JP" dirty="0"/>
              <a:t>словами, он описывает набор программных функций или процедур, позволяющий разрабатывать приложения для использования в сетях TCP/IP</a:t>
            </a:r>
            <a:r>
              <a:rPr lang="ru-RU" altLang="ja-JP" dirty="0" smtClean="0"/>
              <a:t>.</a:t>
            </a:r>
          </a:p>
          <a:p>
            <a:r>
              <a:rPr lang="ru-RU" altLang="ja-JP" dirty="0"/>
              <a:t>Интерфейс сокетов Беркли проще понять, если вы имеете хотя бы общее представление о системе ввода-вывода в UNIX. Как уже было сказано, разработчики сокетов Беркли стремились реализовать протоколы TCP/IP в рамках операционной среды UNIX. При этом они располагали уже имеющимся в UNIX набором вызовов системных функций. В результате, интерфейс сокетов использовал те же системные вызовы, что и остальные программы.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983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Системные вызовы ввода-вывода в UNIX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500" dirty="0"/>
              <a:t>Выглядят </a:t>
            </a:r>
            <a:r>
              <a:rPr lang="ru-RU" sz="1500" dirty="0"/>
              <a:t>как </a:t>
            </a:r>
            <a:r>
              <a:rPr lang="ru-RU" sz="1500" dirty="0"/>
              <a:t>цикл</a:t>
            </a:r>
            <a:r>
              <a:rPr lang="ru-RU" sz="1500" dirty="0"/>
              <a:t>, состоящий из операций типа </a:t>
            </a:r>
            <a:r>
              <a:rPr lang="ru-RU" sz="1500" i="1" dirty="0"/>
              <a:t>открыть-считать-записать-закрыть. </a:t>
            </a:r>
            <a:endParaRPr lang="ru-RU" sz="1500" i="1" dirty="0"/>
          </a:p>
          <a:p>
            <a:r>
              <a:rPr lang="ru-RU" sz="1500" dirty="0"/>
              <a:t>Файл</a:t>
            </a:r>
            <a:r>
              <a:rPr lang="ru-RU" sz="1500" dirty="0"/>
              <a:t>, перед тем как читать из него, должен быть открыт. Далее над ним выполняются операции по считыванию/записи. По окончании операций файл закрывается.</a:t>
            </a:r>
          </a:p>
          <a:p>
            <a:r>
              <a:rPr lang="ru-RU" sz="1500" dirty="0"/>
              <a:t>Программисты </a:t>
            </a:r>
            <a:r>
              <a:rPr lang="ru-RU" sz="1500" dirty="0"/>
              <a:t>в UNIX могут не знать различий между файлами и внешними устройствами. Одни и те же системные вызовы используются по отношению к принтеру, модему, дисплею и файлам. </a:t>
            </a:r>
            <a:r>
              <a:rPr lang="ru-RU" sz="1500" dirty="0"/>
              <a:t>Внешние </a:t>
            </a:r>
            <a:r>
              <a:rPr lang="ru-RU" sz="1500" dirty="0"/>
              <a:t>устройства и файлы отображены в UNIX на одну файловую систему. </a:t>
            </a:r>
            <a:r>
              <a:rPr lang="ru-RU" sz="1500" dirty="0" smtClean="0"/>
              <a:t>Чтобы </a:t>
            </a:r>
            <a:r>
              <a:rPr lang="ru-RU" sz="1500" dirty="0"/>
              <a:t>открыть файл или получить доступ к устройству, программист должен вызвать одну и ту же системную функцию</a:t>
            </a:r>
            <a:r>
              <a:rPr lang="ru-RU" sz="1500" dirty="0" smtClean="0"/>
              <a:t>.</a:t>
            </a:r>
          </a:p>
          <a:p>
            <a:r>
              <a:rPr lang="ru-RU" sz="1500" dirty="0" smtClean="0"/>
              <a:t>В </a:t>
            </a:r>
            <a:r>
              <a:rPr lang="ru-RU" sz="1500" dirty="0"/>
              <a:t>ответ на системный вызов UNIX возвращает так называемый дескриптор файла (</a:t>
            </a:r>
            <a:r>
              <a:rPr lang="ru-RU" sz="1500" dirty="0" err="1"/>
              <a:t>file</a:t>
            </a:r>
            <a:r>
              <a:rPr lang="ru-RU" sz="1500" dirty="0"/>
              <a:t> </a:t>
            </a:r>
            <a:r>
              <a:rPr lang="ru-RU" sz="1500" dirty="0" err="1"/>
              <a:t>descriptor</a:t>
            </a:r>
            <a:r>
              <a:rPr lang="ru-RU" sz="1500" dirty="0"/>
              <a:t>); его иногда называют указателем (</a:t>
            </a:r>
            <a:r>
              <a:rPr lang="ru-RU" sz="1500" dirty="0" err="1"/>
              <a:t>file</a:t>
            </a:r>
            <a:r>
              <a:rPr lang="ru-RU" sz="1500" dirty="0"/>
              <a:t> </a:t>
            </a:r>
            <a:r>
              <a:rPr lang="ru-RU" sz="1500" dirty="0" err="1"/>
              <a:t>handler</a:t>
            </a:r>
            <a:r>
              <a:rPr lang="ru-RU" sz="1500" dirty="0"/>
              <a:t>). </a:t>
            </a:r>
            <a:endParaRPr lang="ru-RU" sz="1500" dirty="0"/>
          </a:p>
          <a:p>
            <a:r>
              <a:rPr lang="ru-RU" sz="1500" dirty="0"/>
              <a:t>Дескриптор </a:t>
            </a:r>
            <a:r>
              <a:rPr lang="ru-RU" sz="1500" dirty="0"/>
              <a:t>файла указывает на внутрисистемную таблицу, описывающую открытый файл или устройство. </a:t>
            </a:r>
            <a:r>
              <a:rPr lang="ru-RU" sz="1500" dirty="0"/>
              <a:t>Для файла в таблице могут приводиться его имя, размер, дата создания. </a:t>
            </a:r>
            <a:endParaRPr lang="ru-RU" altLang="ja-JP" sz="1500" dirty="0"/>
          </a:p>
        </p:txBody>
      </p:sp>
    </p:spTree>
    <p:extLst>
      <p:ext uri="{BB962C8B-B14F-4D97-AF65-F5344CB8AC3E}">
        <p14:creationId xmlns:p14="http://schemas.microsoft.com/office/powerpoint/2010/main" val="20629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Системные вызовы ввода-вывода в UNIX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ja-JP" dirty="0" smtClean="0"/>
              <a:t>На </a:t>
            </a:r>
            <a:r>
              <a:rPr lang="ru-RU" altLang="ja-JP" dirty="0"/>
              <a:t>первых порах разработки интерфейса сокетов исследователи пытались заставить сетевой ввод-вывод функционировать так же, как и любой другой ввод-вывод UNIX. </a:t>
            </a:r>
            <a:endParaRPr lang="ru-RU" altLang="ja-JP" dirty="0" smtClean="0"/>
          </a:p>
          <a:p>
            <a:r>
              <a:rPr lang="ru-RU" altLang="ja-JP" dirty="0" smtClean="0"/>
              <a:t>Другими </a:t>
            </a:r>
            <a:r>
              <a:rPr lang="ru-RU" altLang="ja-JP" dirty="0"/>
              <a:t>словами, они хотели, чтобы интерфейс сокетов считывал и записывал данные в уже известном нам цикле </a:t>
            </a:r>
            <a:r>
              <a:rPr lang="ru-RU" altLang="ja-JP" i="1" dirty="0"/>
              <a:t>открыть-считать-записать-закрыть. </a:t>
            </a:r>
            <a:endParaRPr lang="ru-RU" altLang="ja-JP" i="1" dirty="0" smtClean="0"/>
          </a:p>
          <a:p>
            <a:r>
              <a:rPr lang="ru-RU" altLang="ja-JP" dirty="0"/>
              <a:t>В процессе разработки исследователи выяснили, что сетевой ввод-вывод значительно сложнее, чем ввод-вывод для любых других </a:t>
            </a:r>
            <a:r>
              <a:rPr lang="ru-RU" altLang="ja-JP" dirty="0" smtClean="0"/>
              <a:t>устройств. Проектируя </a:t>
            </a:r>
            <a:r>
              <a:rPr lang="ru-RU" altLang="ja-JP" dirty="0"/>
              <a:t>обычные системы ввода-вывода, они столкнулись с проблемами, с которыми никогда до этого не встречались</a:t>
            </a:r>
            <a:r>
              <a:rPr lang="en-US" altLang="ja-JP" dirty="0">
                <a:ea typeface="ＭＳ Ｐゴシック" charset="-128"/>
              </a:rPr>
              <a:t>. </a:t>
            </a:r>
          </a:p>
          <a:p>
            <a:endParaRPr lang="ru-RU" i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208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Системные вызовы ввода-вывода в UNIX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altLang="ja-JP" dirty="0"/>
              <a:t>Сетевые программы, как правило, создаются по модели клиент-сервер. </a:t>
            </a:r>
            <a:endParaRPr lang="ru-RU" altLang="ja-JP" dirty="0" smtClean="0"/>
          </a:p>
          <a:p>
            <a:r>
              <a:rPr lang="ru-RU" altLang="ja-JP" dirty="0" smtClean="0"/>
              <a:t>Разработчики </a:t>
            </a:r>
            <a:r>
              <a:rPr lang="ru-RU" altLang="ja-JP" dirty="0"/>
              <a:t>сокетов могли запросто реализовать такой API для системы ввода-вывода UNIX, в котором программист мог бы создать программу-клиент, активно устанавливающую сетевое соединение. </a:t>
            </a:r>
            <a:endParaRPr lang="ru-RU" altLang="ja-JP" dirty="0" smtClean="0"/>
          </a:p>
          <a:p>
            <a:r>
              <a:rPr lang="ru-RU" altLang="ja-JP" dirty="0" smtClean="0"/>
              <a:t>Однако </a:t>
            </a:r>
            <a:r>
              <a:rPr lang="ru-RU" altLang="ja-JP" dirty="0"/>
              <a:t>этот же API был бы должен позволить создавать и программы-серверы пассивно ждущие, пока к ним кто-нибудь не обратится. Поскольку обычная система ввода-вывода UNIX попросту не умеет пассивно вводить и выводить данные, разработчики были вынуждены создать набор новых функций для обработки пассивных операций </a:t>
            </a:r>
            <a:r>
              <a:rPr lang="ru-RU" altLang="ja-JP" dirty="0" smtClean="0"/>
              <a:t>ввода-вывода.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130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Системные вызовы ввода-вывода в UNIX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Было обнаружено, что стандартные функции ввода-вывода UNIX также плохо умеют устанавливать соединения. Как правило, они пользуются фиксированным адресом файла и устройства для обращения к нему. </a:t>
            </a:r>
            <a:r>
              <a:rPr lang="ru-RU" dirty="0" smtClean="0"/>
              <a:t>Соединение </a:t>
            </a:r>
            <a:r>
              <a:rPr lang="ru-RU" dirty="0"/>
              <a:t>(или путь) к файлу или устройству доступно на протяжении всего цикла запись-считывание — то есть до тех пор, пока программа не закроет соединение.</a:t>
            </a:r>
            <a:endParaRPr lang="ru-RU" altLang="ja-JP" dirty="0"/>
          </a:p>
          <a:p>
            <a:pPr>
              <a:lnSpc>
                <a:spcPct val="80000"/>
              </a:lnSpc>
            </a:pPr>
            <a:r>
              <a:rPr lang="ru-RU" altLang="ja-JP" dirty="0"/>
              <a:t>Фиксированный адрес — превосходная мысль, если протокол передачи данных ориентирован на соединение. Для не ориентированных на соединение </a:t>
            </a:r>
            <a:r>
              <a:rPr lang="ru-RU" altLang="ja-JP" dirty="0" smtClean="0"/>
              <a:t>протоколов </a:t>
            </a:r>
            <a:r>
              <a:rPr lang="ru-RU" altLang="ja-JP" dirty="0"/>
              <a:t>фиксированный адрес представляет проблему. </a:t>
            </a:r>
            <a:endParaRPr lang="ru-RU" altLang="ja-JP" dirty="0" smtClean="0"/>
          </a:p>
          <a:p>
            <a:pPr>
              <a:lnSpc>
                <a:spcPct val="80000"/>
              </a:lnSpc>
            </a:pPr>
            <a:r>
              <a:rPr lang="ru-RU" altLang="ja-JP" dirty="0" smtClean="0"/>
              <a:t>Например</a:t>
            </a:r>
            <a:r>
              <a:rPr lang="ru-RU" altLang="ja-JP" dirty="0"/>
              <a:t>, в </a:t>
            </a:r>
            <a:r>
              <a:rPr lang="ru-RU" altLang="ja-JP" dirty="0" err="1"/>
              <a:t>датаграмме</a:t>
            </a:r>
            <a:r>
              <a:rPr lang="ru-RU" altLang="ja-JP" dirty="0"/>
              <a:t>, переданной IP, присутствует адрес компьютера-получателя (IP-адрес), однако протокол не устанавливает предварительно никакого соединения.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159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Системные вызовы ввода-вывода в UNIX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715200" cy="43735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dirty="0"/>
              <a:t>Разработчики отказались от внесения модификаций в существующую систему ввода-вывода UNIX, a вместо этого создали новый API (набор функций).</a:t>
            </a:r>
            <a:endParaRPr lang="ru-RU" altLang="ja-JP" dirty="0"/>
          </a:p>
          <a:p>
            <a:pPr>
              <a:lnSpc>
                <a:spcPct val="90000"/>
              </a:lnSpc>
            </a:pPr>
            <a:r>
              <a:rPr lang="ru-RU" altLang="ja-JP" dirty="0"/>
              <a:t>Интерфейс сокетов, получившийся в конечном итоге, унаследовал дух операционной системы UNIX. </a:t>
            </a:r>
            <a:endParaRPr lang="ru-RU" altLang="ja-JP" dirty="0" smtClean="0"/>
          </a:p>
          <a:p>
            <a:pPr>
              <a:lnSpc>
                <a:spcPct val="90000"/>
              </a:lnSpc>
            </a:pPr>
            <a:r>
              <a:rPr lang="ru-RU" altLang="ja-JP" dirty="0" smtClean="0"/>
              <a:t>Например</a:t>
            </a:r>
            <a:r>
              <a:rPr lang="ru-RU" altLang="ja-JP" dirty="0"/>
              <a:t>, дескриптор сокетов в интерфейсе </a:t>
            </a:r>
            <a:r>
              <a:rPr lang="ru-RU" altLang="ja-JP" dirty="0" smtClean="0"/>
              <a:t>по-прежнему </a:t>
            </a:r>
            <a:r>
              <a:rPr lang="ru-RU" altLang="ja-JP" dirty="0"/>
              <a:t>называется дескриптором файла, и информация о сокете хранится в той же таблице, что и дескрипторы файлов.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0330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Абстракция сокетов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28800"/>
            <a:ext cx="7859216" cy="489654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Сетевое соединение — это процесс передачи данных по сети между двумя компьютерами или процессами. Сокет — конечный пункт передачи данных. </a:t>
            </a:r>
            <a:endParaRPr lang="ru-RU" dirty="0" smtClean="0"/>
          </a:p>
          <a:p>
            <a:r>
              <a:rPr lang="ru-RU" dirty="0" smtClean="0"/>
              <a:t>Другими </a:t>
            </a:r>
            <a:r>
              <a:rPr lang="ru-RU" dirty="0"/>
              <a:t>словами, когда программы используют сокет, для них он является абстракцией, представляющий одно из окончаний сетевого соединения.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установления соединения в абстрактной модели сокетов необходимо, чтобы каждая из сетевых программ имела свой собственный сокет. </a:t>
            </a:r>
            <a:endParaRPr lang="ru-RU" dirty="0" smtClean="0"/>
          </a:p>
          <a:p>
            <a:r>
              <a:rPr lang="ru-RU" dirty="0" smtClean="0"/>
              <a:t>Связь </a:t>
            </a:r>
            <a:r>
              <a:rPr lang="ru-RU" dirty="0"/>
              <a:t>между двумя сокетами может быть ориентирована на соединение, а может быть и нет. Несмотря на то, что разработчики модифицировали системный код UNIX, интерфейс сокетов по-прежнему использует концепцию ввода-вывода данных </a:t>
            </a:r>
            <a:r>
              <a:rPr lang="ru-RU" dirty="0" smtClean="0"/>
              <a:t>UNIX (цикл открыть-считать-записать-закрыть).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20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Абстракция сокетов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7859216" cy="5040560"/>
          </a:xfrm>
        </p:spPr>
        <p:txBody>
          <a:bodyPr>
            <a:normAutofit fontScale="92500" lnSpcReduction="20000"/>
          </a:bodyPr>
          <a:lstStyle/>
          <a:p>
            <a:r>
              <a:rPr lang="ru-RU" altLang="ja-JP" dirty="0"/>
              <a:t>Чтобы открыть или создать файл в UNIX (и в большинстве других ОС), вы должны указать его описание (например, имя файла и то, как вы будете его использовать: записывать или считывать). Затем вы запрашиваете у </a:t>
            </a:r>
            <a:r>
              <a:rPr lang="ru-RU" altLang="ja-JP" dirty="0" smtClean="0"/>
              <a:t>ОС дескриптор </a:t>
            </a:r>
            <a:r>
              <a:rPr lang="ru-RU" altLang="ja-JP" dirty="0"/>
              <a:t>файла, соответствующий вашему описанию. </a:t>
            </a:r>
            <a:endParaRPr lang="ru-RU" altLang="ja-JP" dirty="0" smtClean="0"/>
          </a:p>
          <a:p>
            <a:r>
              <a:rPr lang="ru-RU" altLang="ja-JP" dirty="0" smtClean="0"/>
              <a:t>Не </a:t>
            </a:r>
            <a:r>
              <a:rPr lang="ru-RU" altLang="ja-JP" dirty="0"/>
              <a:t>существует каких-либо ограничений на то, когда запрашивать дескриптор. Как  только вам нужен файл, запрашивайте его дескриптор. В один и тот же момент времени может быть открыто несколько устройств или файлов. В любом случае </a:t>
            </a:r>
            <a:r>
              <a:rPr lang="ru-RU" altLang="ja-JP" dirty="0" smtClean="0"/>
              <a:t>ОС возвращает </a:t>
            </a:r>
            <a:r>
              <a:rPr lang="ru-RU" altLang="ja-JP" dirty="0"/>
              <a:t>дескриптор (обычно это целое число), однозначно соответствующий указанному файлу или устройству. </a:t>
            </a:r>
            <a:endParaRPr lang="ru-RU" altLang="ja-JP" dirty="0" smtClean="0"/>
          </a:p>
          <a:p>
            <a:r>
              <a:rPr lang="ru-RU" altLang="ja-JP" dirty="0" smtClean="0"/>
              <a:t>Интерфейс </a:t>
            </a:r>
            <a:r>
              <a:rPr lang="ru-RU" altLang="ja-JP" dirty="0"/>
              <a:t>сокетов работает точно так же. Когда программе нужен сокет, она формирует его характеристики и обращается к API, запрашивая у сетевого программного обеспечения его дескриптор. Структура таблицы с описанием параметров сокета весьма незначительно отличается от структуры таблицы с описанием параметров файла. Однако это отличие важно.</a:t>
            </a:r>
            <a:r>
              <a:rPr lang="ru-RU" altLang="ja-JP" sz="1800" dirty="0"/>
              <a:t> </a:t>
            </a:r>
            <a:endParaRPr lang="ru-RU" sz="1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464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/>
          </a:bodyPr>
          <a:lstStyle/>
          <a:p>
            <a:r>
              <a:rPr lang="ru-RU" altLang="ja-JP" sz="4000" dirty="0"/>
              <a:t>Отличие </a:t>
            </a:r>
            <a:r>
              <a:rPr lang="ru-RU" altLang="ja-JP" sz="4000" dirty="0" smtClean="0"/>
              <a:t>дескрипторов </a:t>
            </a:r>
            <a:r>
              <a:rPr lang="ru-RU" altLang="ja-JP" sz="4000" dirty="0"/>
              <a:t>сокета </a:t>
            </a:r>
            <a:r>
              <a:rPr lang="ru-RU" altLang="ja-JP" sz="4000" dirty="0" smtClean="0"/>
              <a:t>и файла </a:t>
            </a:r>
            <a:endParaRPr lang="ru-RU" sz="40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ja-JP" sz="2000" dirty="0" smtClean="0"/>
              <a:t>Тогда </a:t>
            </a:r>
            <a:r>
              <a:rPr lang="ru-RU" altLang="ja-JP" sz="2000" dirty="0"/>
              <a:t>как дескриптор файла указывает на определенный файл (уже существующий или только что созданный) или устройство, дескриптор сокета не содержит каких-либо определенных адресов или пунктов назначения сетевого соединения. </a:t>
            </a:r>
            <a:endParaRPr lang="ru-RU" altLang="ja-JP" sz="2000" dirty="0" smtClean="0"/>
          </a:p>
          <a:p>
            <a:pPr>
              <a:lnSpc>
                <a:spcPct val="80000"/>
              </a:lnSpc>
            </a:pPr>
            <a:r>
              <a:rPr lang="ru-RU" altLang="ja-JP" sz="2000" dirty="0" smtClean="0"/>
              <a:t>Тот </a:t>
            </a:r>
            <a:r>
              <a:rPr lang="ru-RU" altLang="ja-JP" sz="2000" dirty="0"/>
              <a:t>факт, что дескриптор сокета не представляет определенную сетевую точку входа (</a:t>
            </a:r>
            <a:r>
              <a:rPr lang="ru-RU" altLang="ja-JP" sz="2000" dirty="0" err="1"/>
              <a:t>endpoint</a:t>
            </a:r>
            <a:r>
              <a:rPr lang="ru-RU" altLang="ja-JP" sz="2000" dirty="0"/>
              <a:t>), существенно отличает его от любого другого дескриптора стандартной системы ввода-вывода. </a:t>
            </a:r>
            <a:endParaRPr lang="ru-RU" altLang="ja-JP" sz="2000" dirty="0" smtClean="0"/>
          </a:p>
          <a:p>
            <a:pPr>
              <a:lnSpc>
                <a:spcPct val="80000"/>
              </a:lnSpc>
            </a:pPr>
            <a:r>
              <a:rPr lang="ru-RU" altLang="ja-JP" sz="2000" dirty="0" smtClean="0"/>
              <a:t>В </a:t>
            </a:r>
            <a:r>
              <a:rPr lang="ru-RU" altLang="ja-JP" sz="2000" dirty="0"/>
              <a:t>большинстве </a:t>
            </a:r>
            <a:r>
              <a:rPr lang="ru-RU" altLang="ja-JP" sz="2000" dirty="0" smtClean="0"/>
              <a:t>ОС дескриптор </a:t>
            </a:r>
            <a:r>
              <a:rPr lang="ru-RU" altLang="ja-JP" sz="2000" dirty="0"/>
              <a:t>файла указывает на определенный файл, находящийся на жестком диске. </a:t>
            </a:r>
            <a:endParaRPr lang="ru-RU" altLang="ja-JP" sz="2000" dirty="0" smtClean="0"/>
          </a:p>
          <a:p>
            <a:pPr>
              <a:lnSpc>
                <a:spcPct val="80000"/>
              </a:lnSpc>
            </a:pPr>
            <a:r>
              <a:rPr lang="ru-RU" altLang="ja-JP" sz="2000" dirty="0" smtClean="0"/>
              <a:t>Программы</a:t>
            </a:r>
            <a:r>
              <a:rPr lang="ru-RU" altLang="ja-JP" sz="2000" dirty="0"/>
              <a:t>, работающие с сокетами, сначала образуют сокет и только потом соединяют его с точкой назначения на другом конце сетевого соединения. Если бы файловый ввод-вывод состоял из этих же шагов, приложение сначала получало бы дескриптор файла, а затем привязывало бы его к имени определенного файла на жестком диске.</a:t>
            </a:r>
            <a:r>
              <a:rPr lang="ru-RU" altLang="ja-JP" sz="1500" dirty="0"/>
              <a:t> 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2326228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Создание сокета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ru-RU" altLang="ja-JP" sz="2400" dirty="0"/>
              <a:t>Создавая </a:t>
            </a:r>
            <a:r>
              <a:rPr lang="ru-RU" altLang="ja-JP" sz="2400" dirty="0" smtClean="0"/>
              <a:t>программу, </a:t>
            </a:r>
            <a:r>
              <a:rPr lang="ru-RU" altLang="ja-JP" sz="2400" dirty="0"/>
              <a:t>необходимо иметь возможность пользоваться как ориентированными, так и не ориентированными на соединение протоколами. </a:t>
            </a:r>
            <a:r>
              <a:rPr lang="ru-RU" altLang="ja-JP" sz="2400" dirty="0" smtClean="0"/>
              <a:t>Интерфейс </a:t>
            </a:r>
            <a:r>
              <a:rPr lang="ru-RU" altLang="ja-JP" sz="2400" dirty="0"/>
              <a:t>сокетов позволяет программам использовать оба этих типа протоколов. </a:t>
            </a:r>
            <a:endParaRPr lang="ru-RU" altLang="ja-JP" sz="2400" dirty="0" smtClean="0"/>
          </a:p>
          <a:p>
            <a:pPr>
              <a:lnSpc>
                <a:spcPct val="90000"/>
              </a:lnSpc>
            </a:pPr>
            <a:r>
              <a:rPr lang="ru-RU" altLang="ja-JP" sz="2400" dirty="0" smtClean="0"/>
              <a:t>Однако </a:t>
            </a:r>
            <a:r>
              <a:rPr lang="ru-RU" altLang="ja-JP" sz="2400" dirty="0"/>
              <a:t>процессы создания сокета и соединения сокета с компьютером-получателем происходят раздельно. </a:t>
            </a:r>
            <a:endParaRPr lang="ru-RU" altLang="ja-JP" sz="2400" dirty="0" smtClean="0"/>
          </a:p>
          <a:p>
            <a:pPr>
              <a:lnSpc>
                <a:spcPct val="90000"/>
              </a:lnSpc>
            </a:pPr>
            <a:r>
              <a:rPr lang="ru-RU" altLang="ja-JP" sz="2400" dirty="0" smtClean="0"/>
              <a:t>Чтобы </a:t>
            </a:r>
            <a:r>
              <a:rPr lang="ru-RU" altLang="ja-JP" sz="2400" dirty="0"/>
              <a:t>создать сокет, программа вызывает функцию </a:t>
            </a:r>
            <a:r>
              <a:rPr lang="ru-RU" altLang="ja-JP" sz="2400" dirty="0" err="1"/>
              <a:t>socket</a:t>
            </a:r>
            <a:r>
              <a:rPr lang="ru-RU" altLang="ja-JP" sz="2400" dirty="0"/>
              <a:t>. Она, в свою очередь, возвращает дескриптор сокета, подобный дескриптору файла. Другими словами, дескриптор сокета указывает на таблицу, содержащую описание свойств и структуры сокета.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50263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Создание сокета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400" dirty="0"/>
              <a:t>Следующий пример показывает возможную форму вызова функции </a:t>
            </a:r>
            <a:r>
              <a:rPr lang="ru-RU" sz="2400" dirty="0" err="1"/>
              <a:t>socket</a:t>
            </a:r>
            <a:r>
              <a:rPr lang="ru-RU" sz="2400" dirty="0"/>
              <a:t>:</a:t>
            </a:r>
            <a:endParaRPr lang="ru-RU" sz="2400" b="1" dirty="0"/>
          </a:p>
          <a:p>
            <a:pPr>
              <a:buFontTx/>
              <a:buNone/>
            </a:pP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= 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socket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 err="1" smtClean="0">
                <a:latin typeface="Courier New" pitchFamily="49" charset="0"/>
                <a:cs typeface="Courier New" pitchFamily="49" charset="0"/>
              </a:rPr>
              <a:t>protocol_family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socket_type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protocol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ru-RU" sz="2400" dirty="0"/>
              <a:t>Создавая сокет, вы указываете три параметра</a:t>
            </a:r>
            <a:r>
              <a:rPr lang="ru-RU" sz="2400" dirty="0" smtClean="0"/>
              <a:t>:</a:t>
            </a:r>
            <a:endParaRPr lang="en-US" sz="2400" dirty="0" smtClean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ru-RU" sz="2400" dirty="0" smtClean="0"/>
              <a:t>группу</a:t>
            </a:r>
            <a:r>
              <a:rPr lang="ru-RU" sz="2400" dirty="0"/>
              <a:t>, к которой принадлежит протокол, </a:t>
            </a: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ru-RU" sz="2400" dirty="0"/>
              <a:t>тип сокета </a:t>
            </a: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ru-RU" sz="2400" dirty="0"/>
              <a:t>и сам протокол.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868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Создание сокета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400" dirty="0" smtClean="0"/>
              <a:t>Первый </a:t>
            </a:r>
            <a:r>
              <a:rPr lang="ru-RU" sz="2400" dirty="0"/>
              <a:t>параметр задает группу или семейство, к которому принадлежит протокол, например семейство TCP/IP. 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ru-RU" sz="2400" dirty="0" smtClean="0"/>
              <a:t>Второй </a:t>
            </a:r>
            <a:r>
              <a:rPr lang="ru-RU" sz="2400" dirty="0"/>
              <a:t>параметр, тип сокета, задает режим соединения: </a:t>
            </a:r>
            <a:r>
              <a:rPr lang="ru-RU" sz="2400" dirty="0" err="1"/>
              <a:t>датаграммный</a:t>
            </a:r>
            <a:r>
              <a:rPr lang="ru-RU" sz="2400" dirty="0"/>
              <a:t> или ориентированный на поток байтов. 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ru-RU" sz="2400" dirty="0" smtClean="0"/>
              <a:t>Параметр «протокол» </a:t>
            </a:r>
            <a:r>
              <a:rPr lang="ru-RU" sz="2400" dirty="0"/>
              <a:t>определяет протокол, с которым будет работать сокет, например TCP. </a:t>
            </a:r>
          </a:p>
        </p:txBody>
      </p:sp>
    </p:spTree>
    <p:extLst>
      <p:ext uri="{BB962C8B-B14F-4D97-AF65-F5344CB8AC3E}">
        <p14:creationId xmlns:p14="http://schemas.microsoft.com/office/powerpoint/2010/main" val="2006519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Параметры сокета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Конечно, разработка API изначально ориентировалась на TCP/IP, однако и другие сети не были забыты. </a:t>
            </a:r>
            <a:endParaRPr lang="ru-RU" sz="2400" dirty="0" smtClean="0"/>
          </a:p>
          <a:p>
            <a:r>
              <a:rPr lang="ru-RU" sz="2400" dirty="0" smtClean="0"/>
              <a:t>Различные </a:t>
            </a:r>
            <a:r>
              <a:rPr lang="ru-RU" sz="2400" dirty="0"/>
              <a:t>семейства протоколов появились благодаря концепции универсальности API сокетов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Для указания группы протоколов в интерфейсе сокетов определены символьные константы (макроопределения).</a:t>
            </a:r>
          </a:p>
        </p:txBody>
      </p:sp>
    </p:spTree>
    <p:extLst>
      <p:ext uri="{BB962C8B-B14F-4D97-AF65-F5344CB8AC3E}">
        <p14:creationId xmlns:p14="http://schemas.microsoft.com/office/powerpoint/2010/main" val="3864000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211144" cy="1371600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Семейства протоколов и адресов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Символьная </a:t>
            </a:r>
            <a:r>
              <a:rPr lang="ru-RU" dirty="0"/>
              <a:t>константа PF_INET, например, определяет семейство протоколов TCP/IP. 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Константы</a:t>
            </a:r>
            <a:r>
              <a:rPr lang="ru-RU" dirty="0"/>
              <a:t>, определяющие другие семейства, также начинаются с префикса </a:t>
            </a:r>
            <a:r>
              <a:rPr lang="ru-RU" dirty="0"/>
              <a:t>«PF_». </a:t>
            </a:r>
          </a:p>
          <a:p>
            <a:pPr>
              <a:lnSpc>
                <a:spcPct val="120000"/>
              </a:lnSpc>
            </a:pPr>
            <a:r>
              <a:rPr lang="ru-RU" dirty="0"/>
              <a:t>Константа </a:t>
            </a:r>
            <a:r>
              <a:rPr lang="ru-RU" dirty="0"/>
              <a:t>PF_UNIX определяет семейство внутренних протоколов ОС UNIX, a PF_NS — семейство протоколов фирмы Ксерокс.</a:t>
            </a:r>
          </a:p>
          <a:p>
            <a:pPr>
              <a:lnSpc>
                <a:spcPct val="80000"/>
              </a:lnSpc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42567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11144" cy="1371600"/>
          </a:xfrm>
        </p:spPr>
        <p:txBody>
          <a:bodyPr>
            <a:noAutofit/>
          </a:bodyPr>
          <a:lstStyle/>
          <a:p>
            <a:r>
              <a:rPr lang="ru-RU" b="1" dirty="0"/>
              <a:t>Семейства протоколов и адресов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628728"/>
          </a:xfrm>
        </p:spPr>
        <p:txBody>
          <a:bodyPr>
            <a:normAutofit lnSpcReduction="10000"/>
          </a:bodyPr>
          <a:lstStyle/>
          <a:p>
            <a:r>
              <a:rPr lang="ru-RU" i="1" dirty="0"/>
              <a:t>Семейства адресов</a:t>
            </a:r>
            <a:r>
              <a:rPr lang="ru-RU" dirty="0"/>
              <a:t> тесно связаны с семействами протоколов. Форматы адресов различных сетей не одинаковы. </a:t>
            </a:r>
            <a:endParaRPr lang="ru-RU" dirty="0" smtClean="0"/>
          </a:p>
          <a:p>
            <a:r>
              <a:rPr lang="ru-RU" dirty="0" smtClean="0"/>
              <a:t>Разработчики </a:t>
            </a:r>
            <a:r>
              <a:rPr lang="ru-RU" dirty="0"/>
              <a:t>сокетов в полном </a:t>
            </a:r>
            <a:r>
              <a:rPr lang="ru-RU" dirty="0" smtClean="0"/>
              <a:t>соответствии с </a:t>
            </a:r>
            <a:r>
              <a:rPr lang="ru-RU" dirty="0"/>
              <a:t>этим соображением еще больше обобщили интерфейс сокетов, реализовав для работы с различными сетями возможность обращения к различным семействам сетевых адресов. </a:t>
            </a:r>
            <a:endParaRPr lang="ru-RU" dirty="0" smtClean="0"/>
          </a:p>
          <a:p>
            <a:r>
              <a:rPr lang="ru-RU" dirty="0" smtClean="0"/>
              <a:t>Символьные </a:t>
            </a:r>
            <a:r>
              <a:rPr lang="ru-RU" dirty="0"/>
              <a:t>константы, указывающие на семейство адресов, начинаются с префикса </a:t>
            </a:r>
            <a:r>
              <a:rPr lang="ru-RU" dirty="0" smtClean="0"/>
              <a:t>«AF_». </a:t>
            </a:r>
          </a:p>
          <a:p>
            <a:r>
              <a:rPr lang="ru-RU" dirty="0" smtClean="0"/>
              <a:t>Константа</a:t>
            </a:r>
            <a:r>
              <a:rPr lang="ru-RU" dirty="0"/>
              <a:t>, обозначающая семейство адресов Интернет (TCP/IP), называется AF_INET. Константа AF_NS обозначает семейство адресов фирмы Ксерокс, a AF_UNIX — файловой системы UNIX.</a:t>
            </a:r>
            <a:endParaRPr lang="ru-RU" altLang="ja-JP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68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Семейства протоколов и адресов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ja-JP" dirty="0"/>
              <a:t>К сожалению, ввиду тесной взаимосвязи между семействами протоколов и семействами адресов, существует ошибочное мнение, что это одно и то же. </a:t>
            </a:r>
          </a:p>
          <a:p>
            <a:r>
              <a:rPr lang="ru-RU" altLang="ja-JP" dirty="0"/>
              <a:t>На сегодняшний день константы </a:t>
            </a:r>
            <a:r>
              <a:rPr lang="ru-RU" altLang="ja-JP" b="1" dirty="0"/>
              <a:t>PF_INET</a:t>
            </a:r>
            <a:r>
              <a:rPr lang="ru-RU" altLang="ja-JP" dirty="0"/>
              <a:t> и </a:t>
            </a:r>
            <a:r>
              <a:rPr lang="ru-RU" altLang="ja-JP" b="1" dirty="0"/>
              <a:t>AF_INET</a:t>
            </a:r>
            <a:r>
              <a:rPr lang="ru-RU" altLang="ja-JP" dirty="0"/>
              <a:t> имеют одинаковые значения, поэтому все равно, как их применять.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5573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Тип соединения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Соединения TCP/IP бывают двух режимов: ориентированные и не ориентированные на соединение.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ориентированных на соединение протоколах данные перемещаются как единый, последовательный поток байтов без какого-либо деления на блоки.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не ориентированных на соединение протоколах сетевые данные перемещаются в виде отдельных пакетов, называемых </a:t>
            </a:r>
            <a:r>
              <a:rPr lang="ru-RU" dirty="0" err="1"/>
              <a:t>датаграммами</a:t>
            </a:r>
            <a:r>
              <a:rPr lang="ru-RU" dirty="0"/>
              <a:t>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761523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 соединения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уже отмечалось, сокеты могут работать как с не ориентированными, так и с ориентированными на соединение протоколами. </a:t>
            </a:r>
          </a:p>
          <a:p>
            <a:r>
              <a:rPr lang="ru-RU" dirty="0"/>
              <a:t>Второй параметр вызова функции </a:t>
            </a:r>
            <a:r>
              <a:rPr lang="ru-RU" dirty="0" err="1"/>
              <a:t>socket</a:t>
            </a:r>
            <a:r>
              <a:rPr lang="ru-RU" dirty="0"/>
              <a:t> обозначает тип соединения, который вы желаете использовать. </a:t>
            </a:r>
            <a:endParaRPr lang="ru-RU" dirty="0" smtClean="0"/>
          </a:p>
          <a:p>
            <a:r>
              <a:rPr lang="ru-RU" dirty="0" smtClean="0"/>
              <a:t>Символьная </a:t>
            </a:r>
            <a:r>
              <a:rPr lang="ru-RU" dirty="0"/>
              <a:t>константа SOCK_DGRAM обозначает </a:t>
            </a:r>
            <a:r>
              <a:rPr lang="ru-RU" dirty="0" err="1"/>
              <a:t>датаграммы</a:t>
            </a:r>
            <a:r>
              <a:rPr lang="ru-RU" dirty="0"/>
              <a:t>, a SOCK_STREАМ — поток байтов.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5453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Выбор протокола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Семейство TCP/IP состоит из нескольких протоколов, например IP, ICMP, TCP и UDP. </a:t>
            </a:r>
            <a:endParaRPr lang="ru-RU" dirty="0" smtClean="0"/>
          </a:p>
          <a:p>
            <a:r>
              <a:rPr lang="ru-RU" dirty="0" smtClean="0"/>
              <a:t>Любое </a:t>
            </a:r>
            <a:r>
              <a:rPr lang="ru-RU" dirty="0"/>
              <a:t>семейство состоит из набора протоколов, которыми пользуются сетевые программисты. </a:t>
            </a:r>
            <a:endParaRPr lang="ru-RU" dirty="0" smtClean="0"/>
          </a:p>
          <a:p>
            <a:r>
              <a:rPr lang="ru-RU" dirty="0" smtClean="0"/>
              <a:t>Третий </a:t>
            </a:r>
            <a:r>
              <a:rPr lang="ru-RU" dirty="0"/>
              <a:t>параметр функции </a:t>
            </a:r>
            <a:r>
              <a:rPr lang="ru-RU" dirty="0" err="1"/>
              <a:t>socket</a:t>
            </a:r>
            <a:r>
              <a:rPr lang="ru-RU" dirty="0"/>
              <a:t> позволяет выбрать тот протокол, который будет использоваться вместе с сокетом. Как и в случае остальных параметров, протокол задается символьной константой.</a:t>
            </a:r>
          </a:p>
          <a:p>
            <a:r>
              <a:rPr lang="ru-RU" altLang="ja-JP" dirty="0"/>
              <a:t>В сетях TCP/IP все константы начинаются с префикса </a:t>
            </a:r>
            <a:r>
              <a:rPr lang="ru-RU" altLang="ja-JP" b="1" dirty="0"/>
              <a:t>IPPROTO_</a:t>
            </a:r>
            <a:r>
              <a:rPr lang="ru-RU" altLang="ja-JP" dirty="0"/>
              <a:t>. Например, протокол TCP обозначается константой </a:t>
            </a:r>
            <a:r>
              <a:rPr lang="ru-RU" altLang="ja-JP" b="1" dirty="0"/>
              <a:t>IPPROTO_TCP</a:t>
            </a:r>
            <a:r>
              <a:rPr lang="ru-RU" altLang="ja-JP" dirty="0"/>
              <a:t>. Символьная константа </a:t>
            </a:r>
            <a:r>
              <a:rPr lang="ru-RU" altLang="ja-JP" b="1" dirty="0"/>
              <a:t>IPPROTO_UDP</a:t>
            </a:r>
            <a:r>
              <a:rPr lang="ru-RU" altLang="ja-JP" dirty="0"/>
              <a:t> обозначает протокол UDP.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2790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Выбор протокола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Следующий оператор демонстрирует, как может выглядеть вызов функции </a:t>
            </a:r>
            <a:r>
              <a:rPr lang="ru-RU" dirty="0" err="1"/>
              <a:t>socket</a:t>
            </a:r>
            <a:r>
              <a:rPr lang="ru-RU" dirty="0"/>
              <a:t>:</a:t>
            </a:r>
            <a:endParaRPr lang="en-US" b="1" dirty="0"/>
          </a:p>
          <a:p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= </a:t>
            </a:r>
            <a:endParaRPr lang="ru-RU" sz="18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8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socket(PF_INET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SOCK_STREAM,</a:t>
            </a:r>
            <a:r>
              <a:rPr lang="ru-RU" sz="1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IPPROTO_TCP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/>
              <a:t>Данный вызов сообщает интерфейсу сокетов о том, что программа желает использовать семейство протоколов Интернет (</a:t>
            </a:r>
            <a:r>
              <a:rPr lang="ru-RU" b="1" dirty="0"/>
              <a:t>PF_INET</a:t>
            </a:r>
            <a:r>
              <a:rPr lang="ru-RU" dirty="0"/>
              <a:t>), протокол TCP (</a:t>
            </a:r>
            <a:r>
              <a:rPr lang="ru-RU" b="1" dirty="0"/>
              <a:t>IPPROTO_TCP</a:t>
            </a:r>
            <a:r>
              <a:rPr lang="ru-RU" dirty="0"/>
              <a:t>) для соединения, ориентированного на поток байтов (</a:t>
            </a:r>
            <a:r>
              <a:rPr lang="ru-RU" b="1" dirty="0"/>
              <a:t>SOCK_STREAM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5127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altLang="ja-JP" dirty="0"/>
              <a:t>Упрощенная структура данных сокета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Структура данных </a:t>
            </a:r>
            <a:r>
              <a:rPr lang="ru-RU" dirty="0"/>
              <a:t>сокета включает элементы для хранения аргументов, с которыми была вызвана функция </a:t>
            </a:r>
            <a:r>
              <a:rPr lang="ru-RU" dirty="0" err="1"/>
              <a:t>socket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Кроме </a:t>
            </a:r>
            <a:r>
              <a:rPr lang="ru-RU" dirty="0"/>
              <a:t>того, в структуре размещены четыре адреса: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локальный </a:t>
            </a:r>
            <a:r>
              <a:rPr lang="ru-RU" dirty="0"/>
              <a:t>IP-адрес,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удаленный </a:t>
            </a:r>
            <a:r>
              <a:rPr lang="ru-RU" dirty="0"/>
              <a:t>IP-адрес,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адрес локального порта,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а</a:t>
            </a:r>
            <a:r>
              <a:rPr lang="ru-RU" dirty="0" smtClean="0"/>
              <a:t>дрес удаленного порта.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6648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altLang="ja-JP" dirty="0"/>
              <a:t>Упрощенная структура данных сокета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dirty="0"/>
              <a:t>Каждый раз, когда программа вызывает функцию-</a:t>
            </a:r>
            <a:r>
              <a:rPr lang="ru-RU" dirty="0" err="1"/>
              <a:t>socket</a:t>
            </a:r>
            <a:r>
              <a:rPr lang="ru-RU" dirty="0"/>
              <a:t>, реализация сокетов отводит машинную память для новой структуры данных, а затем размещает в ней семейство адресов, тип сокета и протокола. </a:t>
            </a:r>
            <a:endParaRPr lang="ru-RU" dirty="0" smtClean="0"/>
          </a:p>
          <a:p>
            <a:pPr>
              <a:lnSpc>
                <a:spcPct val="80000"/>
              </a:lnSpc>
            </a:pPr>
            <a:r>
              <a:rPr lang="ru-RU" dirty="0" smtClean="0"/>
              <a:t>В </a:t>
            </a:r>
            <a:r>
              <a:rPr lang="ru-RU" dirty="0"/>
              <a:t>таблице дескрипторов размещается указатель на эту структуру. Дескриптор, полученный вашей программой от функции </a:t>
            </a:r>
            <a:r>
              <a:rPr lang="ru-RU" dirty="0" err="1"/>
              <a:t>socket</a:t>
            </a:r>
            <a:r>
              <a:rPr lang="ru-RU" dirty="0"/>
              <a:t>, является индек­сом (порядковым номером) в таблице дескрипторов.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7171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Настройка сокета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475297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Каждая сетевая программа вначале создает сокет, вызывая функцию </a:t>
            </a:r>
            <a:r>
              <a:rPr lang="ru-RU" dirty="0" err="1"/>
              <a:t>socket</a:t>
            </a:r>
            <a:r>
              <a:rPr lang="ru-RU" dirty="0"/>
              <a:t>. При помощи других функций сокет конфигурируется или </a:t>
            </a:r>
            <a:r>
              <a:rPr lang="ru-RU" dirty="0" smtClean="0"/>
              <a:t>настраивается </a:t>
            </a:r>
            <a:r>
              <a:rPr lang="ru-RU" dirty="0"/>
              <a:t>так, как это нужно сетевой программе. </a:t>
            </a:r>
            <a:endParaRPr lang="ru-RU" dirty="0" smtClean="0"/>
          </a:p>
          <a:p>
            <a:r>
              <a:rPr lang="ru-RU" dirty="0" smtClean="0"/>
              <a:t>Для того, </a:t>
            </a:r>
            <a:r>
              <a:rPr lang="ru-RU" dirty="0"/>
              <a:t>чтобы передавать данные через сокет, можно воспользоваться одним из двух типов сетевых служб: </a:t>
            </a:r>
            <a:r>
              <a:rPr lang="ru-RU" dirty="0" err="1"/>
              <a:t>датаграммной</a:t>
            </a:r>
            <a:r>
              <a:rPr lang="ru-RU" dirty="0"/>
              <a:t> или ориентированной на поток байтов.</a:t>
            </a:r>
          </a:p>
          <a:p>
            <a:r>
              <a:rPr lang="ru-RU" dirty="0"/>
              <a:t>Также сокет можно настроить на один из двух типов поведения программы: клиент или сервер. </a:t>
            </a:r>
            <a:endParaRPr lang="ru-RU" dirty="0" smtClean="0"/>
          </a:p>
          <a:p>
            <a:pPr>
              <a:spcAft>
                <a:spcPts val="0"/>
              </a:spcAft>
            </a:pPr>
            <a:r>
              <a:rPr lang="ru-RU" dirty="0" smtClean="0"/>
              <a:t>Любой </a:t>
            </a:r>
            <a:r>
              <a:rPr lang="ru-RU" dirty="0"/>
              <a:t>сокет должен содержать пять блоков информации, описывающей соединение: </a:t>
            </a:r>
            <a:endParaRPr lang="ru-RU" dirty="0" smtClean="0"/>
          </a:p>
          <a:p>
            <a:pPr marL="342900" indent="-3429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dirty="0" smtClean="0"/>
              <a:t>протокол</a:t>
            </a:r>
            <a:r>
              <a:rPr lang="ru-RU" dirty="0"/>
              <a:t>, </a:t>
            </a:r>
            <a:endParaRPr lang="ru-RU" dirty="0" smtClean="0"/>
          </a:p>
          <a:p>
            <a:pPr marL="342900" indent="-3429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dirty="0"/>
              <a:t>м</a:t>
            </a:r>
            <a:r>
              <a:rPr lang="ru-RU" dirty="0" smtClean="0"/>
              <a:t>естный IP-адрес, </a:t>
            </a:r>
          </a:p>
          <a:p>
            <a:pPr marL="342900" indent="-3429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dirty="0" smtClean="0"/>
              <a:t>удаленный IP-адрес, </a:t>
            </a:r>
          </a:p>
          <a:p>
            <a:pPr marL="342900" indent="-3429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dirty="0" smtClean="0"/>
              <a:t>номера местного порта,</a:t>
            </a:r>
          </a:p>
          <a:p>
            <a:pPr marL="342900" indent="-342900">
              <a:lnSpc>
                <a:spcPct val="120000"/>
              </a:lnSpc>
              <a:spcAft>
                <a:spcPts val="0"/>
              </a:spcAft>
              <a:buFont typeface="Arial" pitchFamily="34" charset="0"/>
              <a:buChar char="•"/>
            </a:pPr>
            <a:r>
              <a:rPr lang="ru-RU" dirty="0"/>
              <a:t>н</a:t>
            </a:r>
            <a:r>
              <a:rPr lang="ru-RU" dirty="0" smtClean="0"/>
              <a:t>омер удаленного порта.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2463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1" name="Rectangle 3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ja-JP" sz="4000" dirty="0" smtClean="0"/>
              <a:t>Функции, </a:t>
            </a:r>
            <a:r>
              <a:rPr lang="ru-RU" altLang="ja-JP" sz="4000" dirty="0"/>
              <a:t>используемые при конфигурации </a:t>
            </a:r>
            <a:r>
              <a:rPr lang="ru-RU" altLang="ja-JP" sz="4000" dirty="0" smtClean="0"/>
              <a:t>сокетов</a:t>
            </a:r>
            <a:endParaRPr lang="ru-RU" sz="4000" dirty="0"/>
          </a:p>
        </p:txBody>
      </p:sp>
      <p:graphicFrame>
        <p:nvGraphicFramePr>
          <p:cNvPr id="25653" name="Group 5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8454237"/>
              </p:ext>
            </p:extLst>
          </p:nvPr>
        </p:nvGraphicFramePr>
        <p:xfrm>
          <a:off x="457200" y="1600200"/>
          <a:ext cx="8229600" cy="4931728"/>
        </p:xfrm>
        <a:graphic>
          <a:graphicData uri="http://schemas.openxmlformats.org/drawingml/2006/table">
            <a:tbl>
              <a:tblPr/>
              <a:tblGrid>
                <a:gridCol w="2962672"/>
                <a:gridCol w="2592288"/>
                <a:gridCol w="2674640"/>
              </a:tblGrid>
              <a:tr h="904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Использование сокета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Местный процесс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Удаленный процесс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Ориентированный на соединение клиент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Вызов функции </a:t>
                      </a:r>
                      <a:r>
                        <a:rPr kumimoji="0" lang="ru-RU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connect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 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записывает в структуру данных сокета информацию как о местном, так и об удаленном участниках соединения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906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Ориентированный на соединение сервер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bind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charset="-128"/>
                          <a:cs typeface="Courier New" pitchFamily="49" charset="0"/>
                        </a:rPr>
                        <a:t>l</a:t>
                      </a:r>
                      <a:r>
                        <a:rPr kumimoji="0" lang="ru-RU" altLang="ja-JP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isten</a:t>
                      </a:r>
                      <a:r>
                        <a:rPr kumimoji="0" lang="ru-RU" altLang="ja-JP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 и </a:t>
                      </a:r>
                      <a:r>
                        <a:rPr kumimoji="0" lang="ru-RU" altLang="ja-JP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accept</a:t>
                      </a:r>
                      <a:r>
                        <a:rPr kumimoji="0" lang="ru-RU" altLang="ja-JP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 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Не ориентированный на соединение клиент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bind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charset="-128"/>
                          <a:cs typeface="Courier New" pitchFamily="49" charset="0"/>
                        </a:rPr>
                        <a:t>s</a:t>
                      </a:r>
                      <a:r>
                        <a:rPr kumimoji="0" lang="ru-RU" altLang="ja-JP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endto</a:t>
                      </a:r>
                      <a:r>
                        <a:rPr kumimoji="0" lang="ru-RU" altLang="ja-JP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 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Не ориентированный на соединение сервер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bind()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r>
                        <a:rPr kumimoji="0" lang="ru-RU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ecvfrom</a:t>
                      </a:r>
                      <a:r>
                        <a:rPr kumimoji="0" 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408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6203032" cy="1371600"/>
          </a:xfrm>
        </p:spPr>
        <p:txBody>
          <a:bodyPr/>
          <a:lstStyle/>
          <a:p>
            <a:r>
              <a:rPr lang="ru-RU" b="1" dirty="0"/>
              <a:t>Соединение сокета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7620000" cy="4628728"/>
          </a:xfrm>
        </p:spPr>
        <p:txBody>
          <a:bodyPr>
            <a:normAutofit/>
          </a:bodyPr>
          <a:lstStyle/>
          <a:p>
            <a:r>
              <a:rPr lang="ru-RU" altLang="ja-JP" dirty="0"/>
              <a:t>Сокет представляет абстракцию, пользуясь которой вы можете настраивать и программировать конечные точки сетевого соединения. </a:t>
            </a:r>
          </a:p>
          <a:p>
            <a:r>
              <a:rPr lang="ru-RU" altLang="ja-JP" dirty="0"/>
              <a:t>Ориентированная на соединение программа-клиент вызывает функцию </a:t>
            </a:r>
            <a:r>
              <a:rPr lang="ru-RU" altLang="ja-JP" dirty="0" err="1"/>
              <a:t>connect</a:t>
            </a:r>
            <a:r>
              <a:rPr lang="ru-RU" altLang="ja-JP" dirty="0"/>
              <a:t>, чтобы настроить сокет на сетевое соединение. </a:t>
            </a:r>
            <a:endParaRPr lang="ru-RU" altLang="ja-JP" dirty="0" smtClean="0"/>
          </a:p>
          <a:p>
            <a:r>
              <a:rPr lang="ru-RU" altLang="ja-JP" dirty="0" smtClean="0"/>
              <a:t>Функция </a:t>
            </a:r>
            <a:r>
              <a:rPr lang="ru-RU" altLang="ja-JP" dirty="0" err="1"/>
              <a:t>connect</a:t>
            </a:r>
            <a:r>
              <a:rPr lang="ru-RU" altLang="ja-JP" dirty="0"/>
              <a:t> размещает информацию о локальной и удаленной конечных точках соединения в структуре данных сокета. </a:t>
            </a:r>
            <a:endParaRPr lang="ru-RU" altLang="ja-JP" dirty="0" smtClean="0"/>
          </a:p>
          <a:p>
            <a:r>
              <a:rPr lang="ru-RU" altLang="ja-JP" dirty="0" smtClean="0"/>
              <a:t>Функция </a:t>
            </a:r>
            <a:r>
              <a:rPr lang="ru-RU" altLang="ja-JP" dirty="0" err="1"/>
              <a:t>connect</a:t>
            </a:r>
            <a:r>
              <a:rPr lang="ru-RU" altLang="ja-JP" dirty="0"/>
              <a:t> требует, чтобы были указаны: дескриптор сокета (указывающий на информацию об удаленном компьютере) и длина структуры адресных данных сокета.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686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Функция </a:t>
            </a:r>
            <a:r>
              <a:rPr lang="en-US"/>
              <a:t>connect</a:t>
            </a: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result =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connect(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remote_socket_address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address_length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smtClean="0"/>
              <a:t>Первый </a:t>
            </a:r>
            <a:r>
              <a:rPr lang="ru-RU" b="1" dirty="0"/>
              <a:t>параметр</a:t>
            </a:r>
            <a:r>
              <a:rPr lang="ru-RU" dirty="0"/>
              <a:t> функции </a:t>
            </a:r>
            <a:r>
              <a:rPr lang="ru-RU" dirty="0" err="1"/>
              <a:t>connect</a:t>
            </a:r>
            <a:r>
              <a:rPr lang="ru-RU" dirty="0"/>
              <a:t>, дескриптор сокета, получен ранее от функции </a:t>
            </a:r>
            <a:r>
              <a:rPr lang="ru-RU" dirty="0" err="1"/>
              <a:t>socket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Функция </a:t>
            </a:r>
            <a:r>
              <a:rPr lang="ru-RU" dirty="0" err="1"/>
              <a:t>socket</a:t>
            </a:r>
            <a:r>
              <a:rPr lang="ru-RU" dirty="0"/>
              <a:t> всегда вызывается до того, как устанавливается соединение. </a:t>
            </a:r>
            <a:endParaRPr lang="ru-RU" dirty="0" smtClean="0"/>
          </a:p>
          <a:p>
            <a:r>
              <a:rPr lang="ru-RU" dirty="0" smtClean="0"/>
              <a:t>Дескриптор </a:t>
            </a:r>
            <a:r>
              <a:rPr lang="ru-RU" dirty="0"/>
              <a:t>сокета указывает программному обеспечению, какая именно структура данных в таблице дескрипторов имеется в виду. Дескриптор также сообщает о том, куда нужно записать информацию об адресах удаленного участника 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519855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Функция </a:t>
            </a:r>
            <a:r>
              <a:rPr lang="en-US"/>
              <a:t>connect</a:t>
            </a: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003232" cy="470073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result =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connect(</a:t>
            </a:r>
            <a:r>
              <a:rPr lang="en-US" sz="2200" b="1" dirty="0" err="1" smtClean="0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remote_socket_address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address_length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sz="2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dirty="0"/>
              <a:t>Второй параметр функции </a:t>
            </a:r>
            <a:r>
              <a:rPr lang="ru-RU" dirty="0" err="1"/>
              <a:t>connect</a:t>
            </a:r>
            <a:r>
              <a:rPr lang="ru-RU" dirty="0"/>
              <a:t> — адрес удаленного сокета, является указателем на структуру данных адреса сокета специального вида. </a:t>
            </a:r>
            <a:endParaRPr lang="ru-RU" dirty="0" smtClean="0"/>
          </a:p>
          <a:p>
            <a:r>
              <a:rPr lang="ru-RU" dirty="0" smtClean="0"/>
              <a:t>Информация </a:t>
            </a:r>
            <a:r>
              <a:rPr lang="ru-RU" dirty="0"/>
              <a:t>об адресе, хранящаяся в структуре, зависит от конкретной сети, то есть от семейства протоколов, которое мы используем. </a:t>
            </a:r>
            <a:r>
              <a:rPr lang="ru-RU" dirty="0" smtClean="0"/>
              <a:t>Структура </a:t>
            </a:r>
            <a:r>
              <a:rPr lang="ru-RU" dirty="0"/>
              <a:t>данных сокета содержит семейство адресов, порт протокола и адрес сетевого компьютера. Функция </a:t>
            </a:r>
            <a:r>
              <a:rPr lang="ru-RU" dirty="0" err="1"/>
              <a:t>connect</a:t>
            </a:r>
            <a:r>
              <a:rPr lang="ru-RU" dirty="0"/>
              <a:t> записывает эту информацию в таблицу </a:t>
            </a:r>
            <a:r>
              <a:rPr lang="ru-RU" dirty="0" err="1"/>
              <a:t>дескрииторов</a:t>
            </a:r>
            <a:r>
              <a:rPr lang="ru-RU" dirty="0"/>
              <a:t> сокетов, на которую указывает соответствующий дескриптор сокета (первый параметр функции </a:t>
            </a:r>
            <a:r>
              <a:rPr lang="ru-RU" dirty="0" err="1"/>
              <a:t>connect</a:t>
            </a:r>
            <a:r>
              <a:rPr lang="ru-RU" dirty="0"/>
              <a:t>).</a:t>
            </a:r>
            <a:endParaRPr lang="ru-RU" altLang="ja-JP" dirty="0"/>
          </a:p>
          <a:p>
            <a:r>
              <a:rPr lang="ru-RU" altLang="ja-JP" dirty="0"/>
              <a:t>До того как вызвать функцию </a:t>
            </a:r>
            <a:r>
              <a:rPr lang="ru-RU" altLang="ja-JP" dirty="0" err="1"/>
              <a:t>connect</a:t>
            </a:r>
            <a:r>
              <a:rPr lang="ru-RU" altLang="ja-JP" dirty="0"/>
              <a:t>, информацию об адресах удаленного компьютера нужно занести в структуру данных сокета. Другими словами, функция </a:t>
            </a:r>
            <a:r>
              <a:rPr lang="ru-RU" altLang="ja-JP" dirty="0" err="1"/>
              <a:t>connect</a:t>
            </a:r>
            <a:r>
              <a:rPr lang="ru-RU" altLang="ja-JP" dirty="0"/>
              <a:t> должна знать сетевой адрес и номер порта удаленного компьютера. Местный </a:t>
            </a:r>
            <a:r>
              <a:rPr lang="ru-RU" altLang="ja-JP" dirty="0" smtClean="0"/>
              <a:t>IP-адрес можно </a:t>
            </a:r>
            <a:r>
              <a:rPr lang="ru-RU" altLang="ja-JP" dirty="0"/>
              <a:t>не указывать. </a:t>
            </a:r>
            <a:endParaRPr lang="ru-RU" dirty="0"/>
          </a:p>
          <a:p>
            <a:pPr>
              <a:lnSpc>
                <a:spcPct val="90000"/>
              </a:lnSpc>
            </a:pP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907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Функция </a:t>
            </a:r>
            <a:r>
              <a:rPr lang="en-US"/>
              <a:t>connect</a:t>
            </a:r>
            <a:endParaRPr lang="ru-RU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result = connect(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remote_socket_address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address_length</a:t>
            </a:r>
            <a:r>
              <a:rPr lang="en-US" sz="22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sz="2200" b="1" dirty="0" smtClean="0"/>
          </a:p>
          <a:p>
            <a:pPr>
              <a:lnSpc>
                <a:spcPct val="90000"/>
              </a:lnSpc>
            </a:pPr>
            <a:r>
              <a:rPr lang="ru-RU" sz="2400" b="1" dirty="0" smtClean="0"/>
              <a:t>Третий </a:t>
            </a:r>
            <a:r>
              <a:rPr lang="ru-RU" sz="2400" b="1" dirty="0"/>
              <a:t>параметр</a:t>
            </a:r>
            <a:r>
              <a:rPr lang="ru-RU" sz="2400" dirty="0"/>
              <a:t> функции </a:t>
            </a:r>
            <a:r>
              <a:rPr lang="ru-RU" sz="2400" dirty="0" err="1"/>
              <a:t>connect</a:t>
            </a:r>
            <a:r>
              <a:rPr lang="ru-RU" sz="2400" dirty="0"/>
              <a:t>, длина адреса, сообщает интерфейсу длину структуры данных адресов удаленного сокета (второй параметр), измеренную в байтах. </a:t>
            </a:r>
            <a:endParaRPr lang="ru-RU" sz="2400" dirty="0" smtClean="0"/>
          </a:p>
          <a:p>
            <a:pPr>
              <a:lnSpc>
                <a:spcPct val="90000"/>
              </a:lnSpc>
            </a:pPr>
            <a:r>
              <a:rPr lang="ru-RU" sz="2400" dirty="0" smtClean="0"/>
              <a:t>Содержимое </a:t>
            </a:r>
            <a:r>
              <a:rPr lang="ru-RU" sz="2400" dirty="0"/>
              <a:t>(и длина) этой структуры зависит от конкретной сети. Зная длину структуры, интерфейс сокетов представляет, сколько памяти отведено для хранения этой структуры. Когда реализация сокетов выполняет функцию </a:t>
            </a:r>
            <a:r>
              <a:rPr lang="ru-RU" sz="2400" dirty="0" err="1"/>
              <a:t>connect</a:t>
            </a:r>
            <a:r>
              <a:rPr lang="ru-RU" sz="2400" dirty="0"/>
              <a:t>, она извлекает количество байтов, указанное третьим параметром из буфера данных, на который указывает параметр </a:t>
            </a:r>
            <a:r>
              <a:rPr lang="ru-RU" sz="2400" dirty="0" smtClean="0"/>
              <a:t>«адрес </a:t>
            </a:r>
            <a:r>
              <a:rPr lang="ru-RU" sz="2400" dirty="0"/>
              <a:t>удаленного </a:t>
            </a:r>
            <a:r>
              <a:rPr lang="ru-RU" sz="2400" dirty="0" smtClean="0"/>
              <a:t>сокета».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74134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bind</a:t>
            </a:r>
            <a:endParaRPr lang="ru-RU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Функция </a:t>
            </a:r>
            <a:r>
              <a:rPr lang="ru-RU" b="1" dirty="0" err="1"/>
              <a:t>bind</a:t>
            </a:r>
            <a:r>
              <a:rPr lang="ru-RU" dirty="0"/>
              <a:t> интерфейса сокетов позволяет программам связать локальный адрес (совокупность адресов локального компьютера и номера порта) с сокетом. </a:t>
            </a:r>
            <a:endParaRPr lang="ru-RU" dirty="0" smtClean="0"/>
          </a:p>
          <a:p>
            <a:r>
              <a:rPr lang="ru-RU" dirty="0" smtClean="0"/>
              <a:t>Следующий</a:t>
            </a:r>
            <a:r>
              <a:rPr lang="en-US" dirty="0" smtClean="0"/>
              <a:t> </a:t>
            </a:r>
            <a:r>
              <a:rPr lang="ru-RU" dirty="0"/>
              <a:t>оператор</a:t>
            </a:r>
            <a:r>
              <a:rPr lang="en-US" dirty="0"/>
              <a:t> </a:t>
            </a:r>
            <a:r>
              <a:rPr lang="ru-RU" dirty="0"/>
              <a:t>иллюстрирует</a:t>
            </a:r>
            <a:r>
              <a:rPr lang="en-US" dirty="0"/>
              <a:t> </a:t>
            </a:r>
            <a:r>
              <a:rPr lang="ru-RU" dirty="0"/>
              <a:t>вызов</a:t>
            </a:r>
            <a:r>
              <a:rPr lang="en-US" dirty="0"/>
              <a:t> </a:t>
            </a:r>
            <a:r>
              <a:rPr lang="ru-RU" dirty="0"/>
              <a:t>функции</a:t>
            </a:r>
            <a:r>
              <a:rPr lang="en-US" dirty="0"/>
              <a:t> bind:</a:t>
            </a:r>
            <a:endParaRPr lang="en-US" b="1" dirty="0"/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result = bind(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local_socket_address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address_length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798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/>
              <a:t>Передача данных через сокет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ja-JP" dirty="0"/>
              <a:t>После </a:t>
            </a:r>
            <a:r>
              <a:rPr lang="ru-RU" altLang="ja-JP" dirty="0" smtClean="0"/>
              <a:t>того </a:t>
            </a:r>
            <a:r>
              <a:rPr lang="ru-RU" altLang="ja-JP" dirty="0"/>
              <a:t>как сокет сконфигурирован, через него можно установить сетевое соединение. </a:t>
            </a:r>
            <a:endParaRPr lang="ru-RU" altLang="ja-JP" dirty="0" smtClean="0"/>
          </a:p>
          <a:p>
            <a:r>
              <a:rPr lang="ru-RU" altLang="ja-JP" dirty="0" smtClean="0"/>
              <a:t>Процесс </a:t>
            </a:r>
            <a:r>
              <a:rPr lang="ru-RU" altLang="ja-JP" dirty="0"/>
              <a:t>сетевого соединения подразумевает посылку и прием информации. Интерфейс сокетов включает несколько функций для выполнения этих </a:t>
            </a:r>
            <a:r>
              <a:rPr lang="ru-RU" altLang="ja-JP" dirty="0" smtClean="0"/>
              <a:t>двух задач</a:t>
            </a:r>
            <a:r>
              <a:rPr lang="ru-RU" altLang="ja-JP" dirty="0"/>
              <a:t>. </a:t>
            </a:r>
            <a:endParaRPr lang="en-US" altLang="ja-JP" dirty="0">
              <a:ea typeface="ＭＳ Ｐゴシック" charset="-128"/>
            </a:endParaRPr>
          </a:p>
          <a:p>
            <a:r>
              <a:rPr lang="ru-RU" altLang="ja-JP" dirty="0"/>
              <a:t>Интерфейс сокетов Беркли обеспечивает пять функций для передачи данных через сокет. Эти функции разделены на две группы. </a:t>
            </a:r>
            <a:endParaRPr lang="ru-RU" altLang="ja-JP" dirty="0" smtClean="0"/>
          </a:p>
          <a:p>
            <a:r>
              <a:rPr lang="ru-RU" altLang="ja-JP" dirty="0" smtClean="0"/>
              <a:t>Трем </a:t>
            </a:r>
            <a:r>
              <a:rPr lang="ru-RU" altLang="ja-JP" dirty="0"/>
              <a:t>из них требуется указывать адрес назначения в качестве аргумента, а двум остальным — нет. Основное различие между двумя группами состоит в их ориентированности на соединение.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7088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40" name="Group 4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386190"/>
              </p:ext>
            </p:extLst>
          </p:nvPr>
        </p:nvGraphicFramePr>
        <p:xfrm>
          <a:off x="468313" y="333375"/>
          <a:ext cx="8229600" cy="6001991"/>
        </p:xfrm>
        <a:graphic>
          <a:graphicData uri="http://schemas.openxmlformats.org/drawingml/2006/table">
            <a:tbl>
              <a:tblPr/>
              <a:tblGrid>
                <a:gridCol w="2098675"/>
                <a:gridCol w="6130925"/>
              </a:tblGrid>
              <a:tr h="6473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Функция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Описание</a:t>
                      </a:r>
                      <a:r>
                        <a:rPr kumimoji="0" lang="ru-RU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send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Передает данные через соединенный сокет. Использует некоторые флаги для управления поведением сокета.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3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Передает данные через соединенный сокет. Для передачи используется буфер данных.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writev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Передает данные через соединенный сокет.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 качестве буфера используется раздельно расположенные блоки памяти. 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sendto </a:t>
                      </a:r>
                      <a:endParaRPr kumimoji="0" lang="ru-RU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Передает данные через не соединенный сокет. Использует буфер данных. 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sendmsg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Передает данные через не соединенный сокет.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 качестве буфера используется гибкая структура сообщения.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953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Передача данных через сокет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dirty="0"/>
              <a:t>Следующий оператор демонстрирует типичный вызов функции </a:t>
            </a:r>
            <a:r>
              <a:rPr lang="ru-RU" dirty="0" err="1"/>
              <a:t>write</a:t>
            </a:r>
            <a:r>
              <a:rPr lang="ru-RU" dirty="0"/>
              <a:t>:</a:t>
            </a:r>
          </a:p>
          <a:p>
            <a:pPr>
              <a:lnSpc>
                <a:spcPct val="90000"/>
              </a:lnSpc>
            </a:pPr>
            <a:r>
              <a:rPr lang="ru-RU" dirty="0" err="1">
                <a:latin typeface="Courier New" pitchFamily="49" charset="0"/>
                <a:cs typeface="Courier New" pitchFamily="49" charset="0"/>
              </a:rPr>
              <a:t>result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write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message_buffer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buffer_length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ru-RU" altLang="ja-JP" dirty="0" smtClean="0"/>
              <a:t>Первый </a:t>
            </a:r>
            <a:r>
              <a:rPr lang="ru-RU" altLang="ja-JP" dirty="0"/>
              <a:t>параметр, дескриптор сокета</a:t>
            </a:r>
            <a:r>
              <a:rPr lang="en-US" altLang="ja-JP" dirty="0">
                <a:ea typeface="ＭＳ Ｐゴシック" charset="-128"/>
              </a:rPr>
              <a:t> - </a:t>
            </a:r>
            <a:r>
              <a:rPr lang="ru-RU" altLang="ja-JP" dirty="0"/>
              <a:t>он обозначает структуру в таблице дескрипторов, содержащую информацию о данном сокете. </a:t>
            </a:r>
            <a:endParaRPr lang="en-US" altLang="ja-JP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ru-RU" altLang="ja-JP" dirty="0" smtClean="0"/>
              <a:t>Второй </a:t>
            </a:r>
            <a:r>
              <a:rPr lang="ru-RU" altLang="ja-JP" dirty="0"/>
              <a:t>параметр функции </a:t>
            </a:r>
            <a:r>
              <a:rPr lang="ru-RU" altLang="ja-JP" dirty="0" err="1"/>
              <a:t>write</a:t>
            </a:r>
            <a:r>
              <a:rPr lang="ru-RU" altLang="ja-JP" dirty="0"/>
              <a:t>, буфер сообщения, указывает на буфер, то есть область памяти, в которой расположены предназначенные для передачи данные.</a:t>
            </a:r>
            <a:endParaRPr lang="en-US" altLang="ja-JP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ru-RU" altLang="ja-JP" dirty="0" smtClean="0"/>
              <a:t>Третий </a:t>
            </a:r>
            <a:r>
              <a:rPr lang="ru-RU" altLang="ja-JP" dirty="0"/>
              <a:t>параметр вызова функции обозначает длину буфера, то есть количество данных для передачи.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4929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Передача данных через сокет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3735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Функция </a:t>
            </a:r>
            <a:r>
              <a:rPr lang="ru-RU" dirty="0" err="1"/>
              <a:t>writev</a:t>
            </a:r>
            <a:r>
              <a:rPr lang="ru-RU" dirty="0"/>
              <a:t> вызывается так, как показано ниже:</a:t>
            </a:r>
          </a:p>
          <a:p>
            <a:pPr>
              <a:lnSpc>
                <a:spcPct val="80000"/>
              </a:lnSpc>
            </a:pPr>
            <a:r>
              <a:rPr lang="ru-RU" dirty="0" err="1">
                <a:latin typeface="Courier New" pitchFamily="49" charset="0"/>
                <a:cs typeface="Courier New" pitchFamily="49" charset="0"/>
              </a:rPr>
              <a:t>result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writev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io_vector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vector_length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dirty="0"/>
              <a:t>Так же, как и в случае </a:t>
            </a:r>
            <a:r>
              <a:rPr lang="ru-RU" dirty="0" err="1"/>
              <a:t>write</a:t>
            </a:r>
            <a:r>
              <a:rPr lang="ru-RU" dirty="0"/>
              <a:t>, функция </a:t>
            </a:r>
            <a:r>
              <a:rPr lang="ru-RU" dirty="0" err="1"/>
              <a:t>writev</a:t>
            </a:r>
            <a:r>
              <a:rPr lang="ru-RU" dirty="0"/>
              <a:t> требует, чтобы первым параметром указывался дескриптор сокета.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ru-RU" dirty="0"/>
              <a:t>Второй параметр, вектор ввода-вывода, указывает на массив указателей. Предположим, что данные для передачи располагаются в различных областях памяти. В этом случае каждый член массива указателей представляет собой указатель на одну из областей памяти, содержащей данные для передачи. Когда функция </a:t>
            </a:r>
            <a:r>
              <a:rPr lang="ru-RU" dirty="0" smtClean="0"/>
              <a:t>передает </a:t>
            </a:r>
            <a:r>
              <a:rPr lang="ru-RU" dirty="0"/>
              <a:t>данные, она находит их по указанным прикладной программой в массиве указателей адресам. Данные высылаются в том порядке, в каком их адреса указаны в массиве указателей. </a:t>
            </a:r>
          </a:p>
          <a:p>
            <a:pPr>
              <a:lnSpc>
                <a:spcPct val="80000"/>
              </a:lnSpc>
            </a:pPr>
            <a:r>
              <a:rPr lang="ru-RU" dirty="0"/>
              <a:t>Третий параметр функции </a:t>
            </a:r>
            <a:r>
              <a:rPr lang="ru-RU" dirty="0" err="1"/>
              <a:t>writev</a:t>
            </a:r>
            <a:r>
              <a:rPr lang="ru-RU" dirty="0"/>
              <a:t> определяет количество указателей в массиве указателей, заданном вектором ввода-вывода.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108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Передача данных через сокет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Следующий оператор является образцом вызова функции </a:t>
            </a:r>
            <a:r>
              <a:rPr lang="ru-RU" dirty="0" err="1"/>
              <a:t>send</a:t>
            </a:r>
            <a:r>
              <a:rPr lang="ru-RU" dirty="0"/>
              <a:t>: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result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send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message_buffer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buffer_length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special_flags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 ;</a:t>
            </a:r>
            <a:endParaRPr lang="ru-RU" altLang="ja-JP" dirty="0">
              <a:latin typeface="Courier New" pitchFamily="49" charset="0"/>
              <a:cs typeface="Courier New" pitchFamily="49" charset="0"/>
            </a:endParaRPr>
          </a:p>
          <a:p>
            <a:r>
              <a:rPr lang="ru-RU" altLang="ja-JP" dirty="0"/>
              <a:t>Основное преимущество </a:t>
            </a:r>
            <a:r>
              <a:rPr lang="ru-RU" altLang="ja-JP" dirty="0" err="1"/>
              <a:t>send</a:t>
            </a:r>
            <a:r>
              <a:rPr lang="ru-RU" altLang="ja-JP" dirty="0"/>
              <a:t> состоит в том, что приложение может задать некоторые флаги для управления передачей данных.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60193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Передача данных через сокет</a:t>
            </a:r>
            <a:endParaRPr lang="ru-RU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ja-JP" dirty="0"/>
              <a:t>Три вышеописанные функции (</a:t>
            </a:r>
            <a:r>
              <a:rPr lang="ru-RU" altLang="ja-JP" dirty="0" err="1"/>
              <a:t>write</a:t>
            </a:r>
            <a:r>
              <a:rPr lang="ru-RU" altLang="ja-JP" dirty="0"/>
              <a:t>, </a:t>
            </a:r>
            <a:r>
              <a:rPr lang="ru-RU" altLang="ja-JP" dirty="0" err="1"/>
              <a:t>writev</a:t>
            </a:r>
            <a:r>
              <a:rPr lang="ru-RU" altLang="ja-JP" dirty="0"/>
              <a:t> и </a:t>
            </a:r>
            <a:r>
              <a:rPr lang="ru-RU" altLang="ja-JP" dirty="0" err="1"/>
              <a:t>send</a:t>
            </a:r>
            <a:r>
              <a:rPr lang="ru-RU" altLang="ja-JP" dirty="0"/>
              <a:t>) возвращают целое число в качестве результата</a:t>
            </a:r>
            <a:r>
              <a:rPr lang="ru-RU" altLang="ja-JP" dirty="0" smtClean="0"/>
              <a:t>.</a:t>
            </a:r>
          </a:p>
          <a:p>
            <a:r>
              <a:rPr lang="ru-RU" altLang="ja-JP" dirty="0" smtClean="0"/>
              <a:t>Если </a:t>
            </a:r>
            <a:r>
              <a:rPr lang="ru-RU" altLang="ja-JP" dirty="0"/>
              <a:t>не произошла ошибка, результат будет равен количеству переданных байтов. В случае ошибки, возвращаемое значение результата будет равно -1. </a:t>
            </a:r>
          </a:p>
          <a:p>
            <a:r>
              <a:rPr lang="ru-RU" b="1" dirty="0"/>
              <a:t>Все три функции относятся к передаче данных через соединенный сокет</a:t>
            </a:r>
          </a:p>
        </p:txBody>
      </p:sp>
    </p:spTree>
    <p:extLst>
      <p:ext uri="{BB962C8B-B14F-4D97-AF65-F5344CB8AC3E}">
        <p14:creationId xmlns:p14="http://schemas.microsoft.com/office/powerpoint/2010/main" val="1089772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427168" cy="1371600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Передача данных через не соединенный сокет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19256" cy="4373563"/>
          </a:xfrm>
        </p:spPr>
        <p:txBody>
          <a:bodyPr>
            <a:normAutofit/>
          </a:bodyPr>
          <a:lstStyle/>
          <a:p>
            <a:r>
              <a:rPr lang="ru-RU" dirty="0"/>
              <a:t>Для того чтобы послать данные через не соединенный сокет, требуется вызвать одну из двух следующих функций: </a:t>
            </a:r>
            <a:r>
              <a:rPr lang="ru-RU" dirty="0" err="1"/>
              <a:t>sendto</a:t>
            </a:r>
            <a:r>
              <a:rPr lang="ru-RU" dirty="0"/>
              <a:t> или </a:t>
            </a:r>
            <a:r>
              <a:rPr lang="ru-RU" dirty="0" err="1"/>
              <a:t>sendmsg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Они </a:t>
            </a:r>
            <a:r>
              <a:rPr lang="ru-RU" dirty="0"/>
              <a:t>обеспечиваются интерфейсом сокетов именно для этих целей. Функция </a:t>
            </a:r>
            <a:r>
              <a:rPr lang="ru-RU" dirty="0" err="1"/>
              <a:t>sendto</a:t>
            </a:r>
            <a:r>
              <a:rPr lang="ru-RU" dirty="0"/>
              <a:t> требует шесть параметров в качестве аргументов. Первые четыре те же, что и в функции </a:t>
            </a:r>
            <a:r>
              <a:rPr lang="ru-RU" dirty="0" err="1"/>
              <a:t>send</a:t>
            </a:r>
            <a:r>
              <a:rPr lang="ru-RU" dirty="0"/>
              <a:t>. Пятый параметр, структура адреса сокета, определяет адрес назначения. Шестой параметр, длина структуры адреса сокета, - размер этой структуры в байтах. Следующий</a:t>
            </a:r>
            <a:r>
              <a:rPr lang="en-US" dirty="0"/>
              <a:t> </a:t>
            </a:r>
            <a:r>
              <a:rPr lang="ru-RU" dirty="0"/>
              <a:t>оператор</a:t>
            </a:r>
            <a:r>
              <a:rPr lang="en-US" dirty="0"/>
              <a:t> </a:t>
            </a:r>
            <a:r>
              <a:rPr lang="ru-RU" dirty="0"/>
              <a:t>демонстрирует</a:t>
            </a:r>
            <a:r>
              <a:rPr lang="en-US" dirty="0"/>
              <a:t> </a:t>
            </a:r>
            <a:r>
              <a:rPr lang="ru-RU" dirty="0"/>
              <a:t>вызов</a:t>
            </a:r>
            <a:r>
              <a:rPr lang="en-US" dirty="0"/>
              <a:t> </a:t>
            </a:r>
            <a:r>
              <a:rPr lang="ru-RU" dirty="0"/>
              <a:t>функции</a:t>
            </a:r>
            <a:r>
              <a:rPr lang="en-US" dirty="0"/>
              <a:t> </a:t>
            </a:r>
            <a:r>
              <a:rPr lang="en-US" dirty="0" err="1"/>
              <a:t>sendto</a:t>
            </a:r>
            <a:r>
              <a:rPr lang="en-US" dirty="0"/>
              <a:t>: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result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sendto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message_buffer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buffer_length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special_flags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socket_address_structure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address_structure_length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5086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563072" cy="1371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Передача данных через не соединенный сокет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62872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u-RU" dirty="0"/>
              <a:t>Функция </a:t>
            </a:r>
            <a:r>
              <a:rPr lang="ru-RU" dirty="0" err="1"/>
              <a:t>sendmsg</a:t>
            </a:r>
            <a:r>
              <a:rPr lang="ru-RU" dirty="0"/>
              <a:t> позволяет использовать гибкую структуру данных вместо буфера, расположенного в непрерывной области памяти. Следующий оператор демонстрирует вызов </a:t>
            </a:r>
            <a:r>
              <a:rPr lang="ru-RU" dirty="0" err="1"/>
              <a:t>sendmsg</a:t>
            </a:r>
            <a:r>
              <a:rPr lang="ru-RU" dirty="0"/>
              <a:t>. В качестве аргументов указываются дескриптор сокета, указатель на структуру данных и дополнительные флаги: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result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sendmsg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message_structure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special_flags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</a:pPr>
            <a:r>
              <a:rPr lang="ru-RU" altLang="ja-JP" dirty="0"/>
              <a:t>Структура сообщения позволяет программе гибко размещать длинные списки параметров сообщения в единой структуре данных. Функция </a:t>
            </a:r>
            <a:r>
              <a:rPr lang="ru-RU" altLang="ja-JP" dirty="0" err="1"/>
              <a:t>sendmsg</a:t>
            </a:r>
            <a:r>
              <a:rPr lang="ru-RU" altLang="ja-JP" dirty="0"/>
              <a:t> похожа на </a:t>
            </a:r>
            <a:r>
              <a:rPr lang="ru-RU" altLang="ja-JP" dirty="0" err="1"/>
              <a:t>writev</a:t>
            </a:r>
            <a:r>
              <a:rPr lang="ru-RU" altLang="ja-JP" dirty="0"/>
              <a:t> в том, что прикладная программа может разместить свои данные в нескольких раздельно расположенных блоках памяти. Другими словами, как и в функции </a:t>
            </a:r>
            <a:r>
              <a:rPr lang="ru-RU" altLang="ja-JP" dirty="0" err="1"/>
              <a:t>writev</a:t>
            </a:r>
            <a:r>
              <a:rPr lang="ru-RU" altLang="ja-JP" dirty="0"/>
              <a:t>, структура сообщения содержит указатель на массив адресов памяти.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333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718"/>
            <a:ext cx="7499176" cy="1371600"/>
          </a:xfrm>
        </p:spPr>
        <p:txBody>
          <a:bodyPr>
            <a:normAutofit fontScale="90000"/>
          </a:bodyPr>
          <a:lstStyle/>
          <a:p>
            <a:r>
              <a:rPr lang="ru-RU" altLang="ja-JP" sz="3200" b="1" dirty="0"/>
              <a:t>Формат структуры сообщения, используемый функцией </a:t>
            </a:r>
            <a:r>
              <a:rPr lang="en-US" altLang="ja-JP" sz="3200" b="1" dirty="0" err="1">
                <a:ea typeface="ＭＳ Ｐゴシック" charset="-128"/>
              </a:rPr>
              <a:t>sendmsg</a:t>
            </a:r>
            <a:r>
              <a:rPr lang="ru-RU" altLang="ja-JP" sz="4000" dirty="0"/>
              <a:t> </a:t>
            </a:r>
            <a:endParaRPr lang="ru-RU" sz="4000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ru-RU" dirty="0" smtClean="0"/>
              <a:t>32 бита</a:t>
            </a:r>
            <a:endParaRPr lang="ru-RU" dirty="0"/>
          </a:p>
          <a:p>
            <a:pPr marL="457200" indent="-457200">
              <a:buFont typeface="Arial" pitchFamily="34" charset="0"/>
              <a:buChar char="•"/>
            </a:pPr>
            <a:r>
              <a:rPr lang="ru-RU" dirty="0"/>
              <a:t>Указатель на структуру данных сокета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dirty="0"/>
              <a:t>Длина структуры данных сокета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dirty="0"/>
              <a:t>Указатель на список векторов ввода/вывода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dirty="0"/>
              <a:t>Длина списка векторов ввода/вывода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dirty="0"/>
              <a:t>Указатель на список прав доступа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dirty="0"/>
              <a:t>Длина списка прав доступа</a:t>
            </a:r>
          </a:p>
        </p:txBody>
      </p:sp>
    </p:spTree>
    <p:extLst>
      <p:ext uri="{BB962C8B-B14F-4D97-AF65-F5344CB8AC3E}">
        <p14:creationId xmlns:p14="http://schemas.microsoft.com/office/powerpoint/2010/main" val="1632427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ja-JP"/>
              <a:t>Прием данных через сокет </a:t>
            </a:r>
            <a:endParaRPr lang="ru-RU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ru-RU" sz="2400" dirty="0"/>
              <a:t>В интерфейсе сокетов есть пять функций, предназначенных для приема информации. </a:t>
            </a:r>
            <a:endParaRPr lang="ru-RU" sz="2400" dirty="0" smtClean="0"/>
          </a:p>
          <a:p>
            <a:pPr>
              <a:lnSpc>
                <a:spcPct val="90000"/>
              </a:lnSpc>
            </a:pPr>
            <a:r>
              <a:rPr lang="ru-RU" sz="2400" dirty="0" smtClean="0"/>
              <a:t>Они </a:t>
            </a:r>
            <a:r>
              <a:rPr lang="ru-RU" sz="2400" dirty="0"/>
              <a:t>называются: </a:t>
            </a:r>
            <a:r>
              <a:rPr lang="ru-RU" sz="2400" dirty="0" err="1"/>
              <a:t>read</a:t>
            </a:r>
            <a:r>
              <a:rPr lang="ru-RU" sz="2400" dirty="0"/>
              <a:t>, </a:t>
            </a:r>
            <a:r>
              <a:rPr lang="ru-RU" sz="2400" dirty="0" err="1"/>
              <a:t>readv</a:t>
            </a:r>
            <a:r>
              <a:rPr lang="ru-RU" sz="2400" dirty="0"/>
              <a:t>, </a:t>
            </a:r>
            <a:r>
              <a:rPr lang="ru-RU" sz="2400" dirty="0" err="1"/>
              <a:t>recv</a:t>
            </a:r>
            <a:r>
              <a:rPr lang="ru-RU" sz="2400" dirty="0"/>
              <a:t>, </a:t>
            </a:r>
            <a:r>
              <a:rPr lang="ru-RU" sz="2400" dirty="0" err="1"/>
              <a:t>recvfrom</a:t>
            </a:r>
            <a:r>
              <a:rPr lang="ru-RU" sz="2400" dirty="0"/>
              <a:t>, </a:t>
            </a:r>
            <a:r>
              <a:rPr lang="ru-RU" sz="2400" dirty="0" err="1"/>
              <a:t>recvmsg</a:t>
            </a:r>
            <a:r>
              <a:rPr lang="ru-RU" sz="2400" dirty="0"/>
              <a:t> и соответствуют функциям, использующимся для передачи данных. </a:t>
            </a:r>
            <a:endParaRPr lang="ru-RU" sz="2400" dirty="0" smtClean="0"/>
          </a:p>
          <a:p>
            <a:pPr>
              <a:lnSpc>
                <a:spcPct val="90000"/>
              </a:lnSpc>
            </a:pPr>
            <a:r>
              <a:rPr lang="ru-RU" sz="2400" dirty="0" smtClean="0"/>
              <a:t>Функции </a:t>
            </a:r>
            <a:r>
              <a:rPr lang="ru-RU" sz="2400" dirty="0" err="1"/>
              <a:t>recv</a:t>
            </a:r>
            <a:r>
              <a:rPr lang="ru-RU" sz="2400" dirty="0"/>
              <a:t> и </a:t>
            </a:r>
            <a:r>
              <a:rPr lang="ru-RU" sz="2400" dirty="0" err="1"/>
              <a:t>send</a:t>
            </a:r>
            <a:r>
              <a:rPr lang="ru-RU" sz="2400" dirty="0"/>
              <a:t> обладают одинаковым набором параметров. Функция </a:t>
            </a:r>
            <a:r>
              <a:rPr lang="ru-RU" sz="2400" dirty="0" err="1"/>
              <a:t>recv</a:t>
            </a:r>
            <a:r>
              <a:rPr lang="ru-RU" sz="2400" dirty="0"/>
              <a:t> принимает данные, a </a:t>
            </a:r>
            <a:r>
              <a:rPr lang="ru-RU" sz="2400" dirty="0" err="1"/>
              <a:t>send</a:t>
            </a:r>
            <a:r>
              <a:rPr lang="ru-RU" sz="2400" dirty="0"/>
              <a:t> — отправляет. Точно так же одинаков набор параметров и у функций </a:t>
            </a:r>
            <a:r>
              <a:rPr lang="ru-RU" sz="2400" dirty="0" err="1"/>
              <a:t>writev</a:t>
            </a:r>
            <a:r>
              <a:rPr lang="ru-RU" sz="2400" dirty="0"/>
              <a:t> и </a:t>
            </a:r>
            <a:r>
              <a:rPr lang="ru-RU" sz="2400" dirty="0" err="1"/>
              <a:t>readv</a:t>
            </a:r>
            <a:r>
              <a:rPr lang="ru-RU" sz="2400" dirty="0"/>
              <a:t>. </a:t>
            </a:r>
            <a:r>
              <a:rPr lang="ru-RU" altLang="ja-JP" sz="2400" dirty="0" smtClean="0"/>
              <a:t>И </a:t>
            </a:r>
            <a:r>
              <a:rPr lang="ru-RU" altLang="ja-JP" sz="2400" dirty="0"/>
              <a:t>та и другая позволяют задать массив адресов памяти, где располагаются данные. </a:t>
            </a:r>
          </a:p>
          <a:p>
            <a:pPr>
              <a:lnSpc>
                <a:spcPct val="90000"/>
              </a:lnSpc>
            </a:pPr>
            <a:r>
              <a:rPr lang="ru-RU" altLang="ja-JP" sz="2400" dirty="0"/>
              <a:t>Функции </a:t>
            </a:r>
            <a:r>
              <a:rPr lang="ru-RU" altLang="ja-JP" sz="2400" dirty="0" err="1"/>
              <a:t>recvfrom</a:t>
            </a:r>
            <a:r>
              <a:rPr lang="ru-RU" altLang="ja-JP" sz="2400" dirty="0"/>
              <a:t> и </a:t>
            </a:r>
            <a:r>
              <a:rPr lang="ru-RU" altLang="ja-JP" sz="2400" dirty="0" err="1"/>
              <a:t>recvmsg</a:t>
            </a:r>
            <a:r>
              <a:rPr lang="ru-RU" altLang="ja-JP" sz="2400" dirty="0"/>
              <a:t> соответствуют функциям </a:t>
            </a:r>
            <a:r>
              <a:rPr lang="ru-RU" altLang="ja-JP" sz="2400" dirty="0" err="1"/>
              <a:t>sendto</a:t>
            </a:r>
            <a:r>
              <a:rPr lang="ru-RU" altLang="ja-JP" sz="2400" dirty="0"/>
              <a:t> и </a:t>
            </a:r>
            <a:r>
              <a:rPr lang="ru-RU" altLang="ja-JP" sz="2400" dirty="0" err="1"/>
              <a:t>sendmsg</a:t>
            </a:r>
            <a:r>
              <a:rPr lang="ru-RU" altLang="ja-JP" sz="2400" dirty="0"/>
              <a:t>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26371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dirty="0" smtClean="0"/>
              <a:t>Соответствующие </a:t>
            </a:r>
            <a:r>
              <a:rPr lang="ru-RU" sz="2800" b="1" dirty="0"/>
              <a:t>друг другу функции передачи и приема данных интерфейса сокетов</a:t>
            </a:r>
          </a:p>
        </p:txBody>
      </p:sp>
      <p:graphicFrame>
        <p:nvGraphicFramePr>
          <p:cNvPr id="43039" name="Group 3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292109"/>
              </p:ext>
            </p:extLst>
          </p:nvPr>
        </p:nvGraphicFramePr>
        <p:xfrm>
          <a:off x="457200" y="1600200"/>
          <a:ext cx="8229600" cy="4593273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755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Функция передачи данных</a:t>
                      </a:r>
                      <a:r>
                        <a:rPr kumimoji="0" lang="ru-RU" altLang="ja-JP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ru-RU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Соответствующая функция приема данных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send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recv </a:t>
                      </a:r>
                      <a:endParaRPr kumimoji="0" lang="ru-RU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r>
                        <a:rPr kumimoji="0" lang="en-US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charset="-128"/>
                          <a:cs typeface="Courier New" pitchFamily="49" charset="0"/>
                        </a:rPr>
                        <a:t>v</a:t>
                      </a:r>
                      <a:endParaRPr kumimoji="0" lang="ru-RU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readv </a:t>
                      </a:r>
                      <a:endParaRPr kumimoji="0" lang="ru-RU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sendto </a:t>
                      </a:r>
                      <a:endParaRPr kumimoji="0" lang="ru-RU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recvfrom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sendmsg </a:t>
                      </a:r>
                      <a:endParaRPr kumimoji="0" lang="ru-RU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ja-JP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recvmsg</a:t>
                      </a:r>
                      <a:r>
                        <a:rPr kumimoji="0" lang="ru-RU" altLang="ja-JP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kumimoji="0" lang="ru-RU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019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4" descr="PIC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75"/>
            <a:ext cx="8748713" cy="677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048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60" name="Picture 4" descr="PIC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9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3571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Функция listen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Функция </a:t>
            </a:r>
            <a:r>
              <a:rPr lang="ru-RU" dirty="0" err="1"/>
              <a:t>listen</a:t>
            </a:r>
            <a:r>
              <a:rPr lang="ru-RU" dirty="0"/>
              <a:t> не только переводит сокет в пассивный режим ожидания, но и подготавливает его к обработке множества одновременно поступающих запросов. Другими словами, в системе организуется очередь поступивших запросов, и все запросы, ожидающие обработки сервером, помещаются в нее, пока освободившийся сервер не выберет его.</a:t>
            </a:r>
          </a:p>
          <a:p>
            <a:r>
              <a:rPr lang="ru-RU" dirty="0"/>
              <a:t>При вызове функции </a:t>
            </a:r>
            <a:r>
              <a:rPr lang="ru-RU" dirty="0" err="1"/>
              <a:t>listen</a:t>
            </a:r>
            <a:r>
              <a:rPr lang="ru-RU" dirty="0"/>
              <a:t> указываются два параметра: дескриптор сокета и длина очереди. Длина очереди обозначает максимальное количество запросов, которое может поместиться в ней. Следующий оператор — образец вызова функции </a:t>
            </a:r>
            <a:r>
              <a:rPr lang="ru-RU" dirty="0" err="1"/>
              <a:t>listen</a:t>
            </a:r>
            <a:r>
              <a:rPr lang="ru-RU" dirty="0"/>
              <a:t>:</a:t>
            </a:r>
            <a:endParaRPr lang="ru-RU" b="1" dirty="0"/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result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listen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queue_length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060468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 </a:t>
            </a:r>
            <a:r>
              <a:rPr lang="ru-RU" b="1" dirty="0" err="1"/>
              <a:t>listen</a:t>
            </a:r>
            <a:endParaRPr lang="ru-RU" b="1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В настоящее время максимальная длина очереди равна </a:t>
            </a:r>
            <a:r>
              <a:rPr lang="ru-RU" u="sng" dirty="0"/>
              <a:t>пяти.</a:t>
            </a:r>
            <a:r>
              <a:rPr lang="ru-RU" dirty="0"/>
              <a:t> Если вы попытаетесь указать большее число, то получите сообщение об ошибке. Если очередь при поступлении нового запроса окажется переполненной, сокет отвергнет соединение и программа-клиент получит сообщение об ошибке.</a:t>
            </a:r>
          </a:p>
          <a:p>
            <a:pPr>
              <a:lnSpc>
                <a:spcPct val="110000"/>
              </a:lnSpc>
            </a:pPr>
            <a:r>
              <a:rPr lang="ru-RU" dirty="0"/>
              <a:t>В случае последовательного сервера, задавать длину очереди, равную одному или двум, тоже полезно. Это позволит серверу, если он не справился с обработкой за минимальное назначенное время, все-таки не отвергнуть новый запрос, а выбрать его из входной очереди.</a:t>
            </a:r>
          </a:p>
        </p:txBody>
      </p:sp>
    </p:spTree>
    <p:extLst>
      <p:ext uri="{BB962C8B-B14F-4D97-AF65-F5344CB8AC3E}">
        <p14:creationId xmlns:p14="http://schemas.microsoft.com/office/powerpoint/2010/main" val="36923168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Функция accept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200" dirty="0"/>
              <a:t>Как следует из названия, функция </a:t>
            </a:r>
            <a:r>
              <a:rPr lang="ru-RU" sz="2200" dirty="0" err="1"/>
              <a:t>accept</a:t>
            </a:r>
            <a:r>
              <a:rPr lang="ru-RU" sz="2200" dirty="0"/>
              <a:t> позволяет серверу принять запрос на соединение, поступивший от клиента. После того как установлена входная очередь, программа-сервер вызывает функцию </a:t>
            </a:r>
            <a:r>
              <a:rPr lang="ru-RU" sz="2200" dirty="0" err="1"/>
              <a:t>accept</a:t>
            </a:r>
            <a:r>
              <a:rPr lang="ru-RU" sz="2200" dirty="0"/>
              <a:t> и переходит в режим ожидания (паузы), ожидая запросов. Для того чтобы понять смысл всех операций сервера, мы должны подробно рассмотреть, как функционирует </a:t>
            </a:r>
            <a:r>
              <a:rPr lang="ru-RU" sz="2200" dirty="0" err="1"/>
              <a:t>accept</a:t>
            </a:r>
            <a:r>
              <a:rPr lang="ru-RU" sz="2200" dirty="0"/>
              <a:t>.</a:t>
            </a:r>
          </a:p>
          <a:p>
            <a:r>
              <a:rPr lang="ru-RU" sz="2200" dirty="0"/>
              <a:t>При вызове </a:t>
            </a:r>
            <a:r>
              <a:rPr lang="ru-RU" sz="2200" dirty="0" err="1"/>
              <a:t>accept</a:t>
            </a:r>
            <a:r>
              <a:rPr lang="ru-RU" sz="2200" dirty="0"/>
              <a:t> требуется указывать три параметра: дескриптор сокета, его адрес и длину адреса</a:t>
            </a:r>
            <a:r>
              <a:rPr lang="ru-RU" sz="2200" dirty="0" smtClean="0"/>
              <a:t>.</a:t>
            </a:r>
          </a:p>
          <a:p>
            <a:r>
              <a:rPr lang="ru-RU" sz="2200" dirty="0" smtClean="0"/>
              <a:t>Дескриптор </a:t>
            </a:r>
            <a:r>
              <a:rPr lang="ru-RU" sz="2200" dirty="0"/>
              <a:t>сокета описывает сокет, который будет прослушиваться сервером. В момент появления запроса реализация сокетов заполняет структуру адреса (на которую указывает второй параметр) адресом клиента, от которого поступил </a:t>
            </a:r>
            <a:r>
              <a:rPr lang="ru-RU" sz="2200" dirty="0" smtClean="0"/>
              <a:t>запрос</a:t>
            </a:r>
            <a:r>
              <a:rPr lang="ru-RU" sz="2200" dirty="0"/>
              <a:t>.</a:t>
            </a:r>
            <a:endParaRPr lang="ru-RU" altLang="ja-JP" sz="2200" dirty="0"/>
          </a:p>
        </p:txBody>
      </p:sp>
    </p:spTree>
    <p:extLst>
      <p:ext uri="{BB962C8B-B14F-4D97-AF65-F5344CB8AC3E}">
        <p14:creationId xmlns:p14="http://schemas.microsoft.com/office/powerpoint/2010/main" val="23412306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 </a:t>
            </a:r>
            <a:r>
              <a:rPr lang="ru-RU" b="1" dirty="0" err="1"/>
              <a:t>accept</a:t>
            </a:r>
            <a:endParaRPr lang="ru-RU" b="1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</a:t>
            </a:r>
            <a:r>
              <a:rPr lang="en-US" dirty="0"/>
              <a:t> </a:t>
            </a:r>
            <a:r>
              <a:rPr lang="ru-RU" dirty="0"/>
              <a:t>оператор</a:t>
            </a:r>
            <a:r>
              <a:rPr lang="en-US" dirty="0"/>
              <a:t> </a:t>
            </a:r>
            <a:r>
              <a:rPr lang="ru-RU" dirty="0"/>
              <a:t>демонстрирует</a:t>
            </a:r>
            <a:r>
              <a:rPr lang="en-US" dirty="0"/>
              <a:t>, </a:t>
            </a:r>
            <a:r>
              <a:rPr lang="ru-RU" dirty="0"/>
              <a:t>как</a:t>
            </a:r>
            <a:r>
              <a:rPr lang="en-US" dirty="0"/>
              <a:t> </a:t>
            </a:r>
            <a:r>
              <a:rPr lang="ru-RU" dirty="0"/>
              <a:t>можно</a:t>
            </a:r>
            <a:r>
              <a:rPr lang="en-US" dirty="0"/>
              <a:t> </a:t>
            </a:r>
            <a:r>
              <a:rPr lang="ru-RU" dirty="0"/>
              <a:t>вызывать</a:t>
            </a:r>
            <a:r>
              <a:rPr lang="en-US" dirty="0"/>
              <a:t> </a:t>
            </a:r>
            <a:r>
              <a:rPr lang="ru-RU" dirty="0"/>
              <a:t>функцию</a:t>
            </a:r>
            <a:r>
              <a:rPr lang="en-US" dirty="0"/>
              <a:t> accept:</a:t>
            </a:r>
            <a:endParaRPr lang="en-US" b="1" dirty="0"/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result = accept(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socket_handle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socket_address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address_length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dirty="0"/>
              <a:t>После того как реализация сокетов поместит информацию об адресе клиента в область памяти, заданную параметром функции, она выполнит операции, необходимые для того, чтобы сервер заработал. Первым делом, получив запрос соединения на сокет, обслуживаемый функцией </a:t>
            </a:r>
            <a:r>
              <a:rPr lang="ru-RU" dirty="0" err="1"/>
              <a:t>accept</a:t>
            </a:r>
            <a:r>
              <a:rPr lang="ru-RU" dirty="0"/>
              <a:t>, реализация образует новый сокет. Новый сокет связывается с адресом процесса-передатчика запроса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42122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 </a:t>
            </a:r>
            <a:r>
              <a:rPr lang="ru-RU" b="1" dirty="0" err="1"/>
              <a:t>accept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Коротко весь процесс можно описать следующим образом: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на сокете, контролируемом функцией </a:t>
            </a:r>
            <a:r>
              <a:rPr lang="ru-RU" dirty="0" err="1"/>
              <a:t>accept</a:t>
            </a:r>
            <a:r>
              <a:rPr lang="ru-RU" dirty="0"/>
              <a:t>, появляется очередной запрос клиента, программное обеспечение-реализация сокетов автоматически создает новый сокет и немедленно соединяет его с процессом-клиентом. Сокет, на который поступил запрос, освобождается и продолжает работу в режиме ожидания запросов от любого сетевого компьютера.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0702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Функция select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7931224" cy="4373563"/>
          </a:xfrm>
        </p:spPr>
        <p:txBody>
          <a:bodyPr>
            <a:normAutofit lnSpcReduction="10000"/>
          </a:bodyPr>
          <a:lstStyle/>
          <a:p>
            <a:r>
              <a:rPr lang="ru-RU" altLang="ja-JP" dirty="0"/>
              <a:t>Функция </a:t>
            </a:r>
            <a:r>
              <a:rPr lang="ru-RU" altLang="ja-JP" dirty="0" err="1"/>
              <a:t>select</a:t>
            </a:r>
            <a:r>
              <a:rPr lang="ru-RU" altLang="ja-JP" dirty="0"/>
              <a:t> позволяет одиночному процессу следить за состоянием сразу нескольких сокетов. </a:t>
            </a:r>
            <a:endParaRPr lang="ru-RU" altLang="ja-JP" dirty="0" smtClean="0"/>
          </a:p>
          <a:p>
            <a:r>
              <a:rPr lang="ru-RU" altLang="ja-JP" dirty="0" smtClean="0"/>
              <a:t>При </a:t>
            </a:r>
            <a:r>
              <a:rPr lang="ru-RU" altLang="ja-JP" dirty="0"/>
              <a:t>вызове </a:t>
            </a:r>
            <a:r>
              <a:rPr lang="ru-RU" altLang="ja-JP" dirty="0" err="1"/>
              <a:t>select</a:t>
            </a:r>
            <a:r>
              <a:rPr lang="ru-RU" altLang="ja-JP" dirty="0"/>
              <a:t> указываются пять параметров. </a:t>
            </a:r>
            <a:endParaRPr lang="ru-RU" altLang="ja-JP" dirty="0" smtClean="0"/>
          </a:p>
          <a:p>
            <a:r>
              <a:rPr lang="ru-RU" altLang="ja-JP" dirty="0" smtClean="0"/>
              <a:t>Первый </a:t>
            </a:r>
            <a:r>
              <a:rPr lang="ru-RU" altLang="ja-JP" dirty="0"/>
              <a:t>параметр, количество сокетов (</a:t>
            </a:r>
            <a:r>
              <a:rPr lang="ru-RU" altLang="ja-JP" dirty="0" err="1"/>
              <a:t>number</a:t>
            </a:r>
            <a:r>
              <a:rPr lang="ru-RU" altLang="ja-JP" dirty="0"/>
              <a:t> </a:t>
            </a:r>
            <a:r>
              <a:rPr lang="ru-RU" altLang="ja-JP" dirty="0" err="1"/>
              <a:t>of</a:t>
            </a:r>
            <a:r>
              <a:rPr lang="ru-RU" altLang="ja-JP" dirty="0"/>
              <a:t> </a:t>
            </a:r>
            <a:r>
              <a:rPr lang="ru-RU" altLang="ja-JP" dirty="0" err="1"/>
              <a:t>sockets</a:t>
            </a:r>
            <a:r>
              <a:rPr lang="ru-RU" altLang="ja-JP" dirty="0"/>
              <a:t>), задает общее количество сокетов для наблюдения. Параметры </a:t>
            </a:r>
            <a:r>
              <a:rPr lang="ru-RU" altLang="ja-JP" dirty="0" err="1"/>
              <a:t>readable-sockets</a:t>
            </a:r>
            <a:r>
              <a:rPr lang="ru-RU" altLang="ja-JP" dirty="0"/>
              <a:t>, </a:t>
            </a:r>
            <a:r>
              <a:rPr lang="ru-RU" altLang="ja-JP" dirty="0" err="1"/>
              <a:t>writeable-sockets</a:t>
            </a:r>
            <a:r>
              <a:rPr lang="ru-RU" altLang="ja-JP" dirty="0"/>
              <a:t> и </a:t>
            </a:r>
            <a:r>
              <a:rPr lang="ru-RU" altLang="ja-JP" dirty="0" err="1"/>
              <a:t>error-sockets</a:t>
            </a:r>
            <a:r>
              <a:rPr lang="ru-RU" altLang="ja-JP" dirty="0"/>
              <a:t> являются битовыми масками, задающими тип сокетов. </a:t>
            </a:r>
            <a:endParaRPr lang="ru-RU" altLang="ja-JP" dirty="0" smtClean="0"/>
          </a:p>
          <a:p>
            <a:r>
              <a:rPr lang="ru-RU" dirty="0"/>
              <a:t>Приведенный ниже оператор демонстрирует, как можно вызвать функцию </a:t>
            </a:r>
            <a:r>
              <a:rPr lang="ru-RU" dirty="0" err="1"/>
              <a:t>select</a:t>
            </a:r>
            <a:r>
              <a:rPr lang="ru-RU" dirty="0"/>
              <a:t>: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result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select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number_of_sockets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readable_sockets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writeable_sockets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error_sockets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max_time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3422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Функция select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Сокет для чтения (</a:t>
            </a:r>
            <a:r>
              <a:rPr lang="ru-RU" dirty="0" err="1"/>
              <a:t>readable</a:t>
            </a:r>
            <a:r>
              <a:rPr lang="ru-RU" dirty="0"/>
              <a:t> </a:t>
            </a:r>
            <a:r>
              <a:rPr lang="ru-RU" dirty="0" err="1"/>
              <a:t>socket</a:t>
            </a:r>
            <a:r>
              <a:rPr lang="ru-RU" dirty="0"/>
              <a:t>) содержит принятые данные, которые извлекаются программой при помощи стандартных вызовов </a:t>
            </a:r>
            <a:r>
              <a:rPr lang="ru-RU" dirty="0" err="1"/>
              <a:t>recv</a:t>
            </a:r>
            <a:r>
              <a:rPr lang="ru-RU" dirty="0"/>
              <a:t> или </a:t>
            </a:r>
            <a:r>
              <a:rPr lang="ru-RU" dirty="0" err="1"/>
              <a:t>recvfrom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Сокет </a:t>
            </a:r>
            <a:r>
              <a:rPr lang="ru-RU" dirty="0"/>
              <a:t>для записи (</a:t>
            </a:r>
            <a:r>
              <a:rPr lang="ru-RU" dirty="0" err="1"/>
              <a:t>writable</a:t>
            </a:r>
            <a:r>
              <a:rPr lang="ru-RU" dirty="0"/>
              <a:t> </a:t>
            </a:r>
            <a:r>
              <a:rPr lang="ru-RU" dirty="0" err="1"/>
              <a:t>socket</a:t>
            </a:r>
            <a:r>
              <a:rPr lang="ru-RU" dirty="0"/>
              <a:t>) — это сокет, установивший соединение. Через него программа может передавать данные, используя стандартные функции типа </a:t>
            </a:r>
            <a:r>
              <a:rPr lang="ru-RU" dirty="0" err="1"/>
              <a:t>send</a:t>
            </a:r>
            <a:r>
              <a:rPr lang="ru-RU" dirty="0"/>
              <a:t> или </a:t>
            </a:r>
            <a:r>
              <a:rPr lang="ru-RU" dirty="0" err="1"/>
              <a:t>sendto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96631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Функция select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В случае сетевой ошибки, функция </a:t>
            </a:r>
            <a:r>
              <a:rPr lang="ru-RU" dirty="0" err="1"/>
              <a:t>select</a:t>
            </a:r>
            <a:r>
              <a:rPr lang="ru-RU" dirty="0"/>
              <a:t> обозначает сокет, в котором это произошло, как ошибочный (</a:t>
            </a:r>
            <a:r>
              <a:rPr lang="ru-RU" dirty="0" err="1"/>
              <a:t>exception</a:t>
            </a:r>
            <a:r>
              <a:rPr lang="ru-RU" dirty="0"/>
              <a:t>). </a:t>
            </a:r>
            <a:endParaRPr lang="ru-RU" dirty="0" smtClean="0"/>
          </a:p>
          <a:p>
            <a:pPr>
              <a:lnSpc>
                <a:spcPct val="110000"/>
              </a:lnSpc>
            </a:pPr>
            <a:r>
              <a:rPr lang="ru-RU" dirty="0" smtClean="0"/>
              <a:t>Ситуация </a:t>
            </a:r>
            <a:r>
              <a:rPr lang="ru-RU" dirty="0"/>
              <a:t>ошибки требует дальнейшей программной обработки. В любом случае </a:t>
            </a:r>
            <a:r>
              <a:rPr lang="ru-RU" dirty="0" err="1"/>
              <a:t>select</a:t>
            </a:r>
            <a:r>
              <a:rPr lang="ru-RU" dirty="0"/>
              <a:t> определяет состояние только тех сокетов, которые были отмечены в каждой битовой маске.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ru-RU" dirty="0" smtClean="0"/>
              <a:t>Интерфейс </a:t>
            </a:r>
            <a:r>
              <a:rPr lang="ru-RU" dirty="0"/>
              <a:t>сокетов использует битовые маски для определения набора сокетов, за которыми будет установлено наблюдение. 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ru-RU" dirty="0"/>
              <a:t>При выходе в вызывающую программу </a:t>
            </a:r>
            <a:r>
              <a:rPr lang="ru-RU" dirty="0" err="1"/>
              <a:t>select</a:t>
            </a:r>
            <a:r>
              <a:rPr lang="ru-RU" dirty="0"/>
              <a:t> возвращает количество сокетов, готовых к операциям ввода-вывода. 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9159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342</TotalTime>
  <Words>3860</Words>
  <Application>Microsoft Office PowerPoint</Application>
  <PresentationFormat>Экран (4:3)</PresentationFormat>
  <Paragraphs>263</Paragraphs>
  <Slides>55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56" baseType="lpstr">
      <vt:lpstr>Главная</vt:lpstr>
      <vt:lpstr>сокеты</vt:lpstr>
      <vt:lpstr>Эталонная модель OSI и эталонная модель tcp/ip</vt:lpstr>
      <vt:lpstr>Протоколы и сети в модели TCP/IP</vt:lpstr>
      <vt:lpstr>сокеты Беркли</vt:lpstr>
      <vt:lpstr>Сокеты беркли</vt:lpstr>
      <vt:lpstr>Сокеты беркли</vt:lpstr>
      <vt:lpstr>Системные вызовы ввода-вывода в UNIX</vt:lpstr>
      <vt:lpstr>Системные вызовы ввода-вывода в UNIX</vt:lpstr>
      <vt:lpstr>Системные вызовы ввода-вывода в UNIX</vt:lpstr>
      <vt:lpstr>Системные вызовы ввода-вывода в UNIX</vt:lpstr>
      <vt:lpstr>Системные вызовы ввода-вывода в UNIX</vt:lpstr>
      <vt:lpstr>Абстракция сокетов</vt:lpstr>
      <vt:lpstr>Абстракция сокетов</vt:lpstr>
      <vt:lpstr>Отличие дескрипторов сокета и файла </vt:lpstr>
      <vt:lpstr>Создание сокета</vt:lpstr>
      <vt:lpstr>Создание сокета</vt:lpstr>
      <vt:lpstr>Создание сокета</vt:lpstr>
      <vt:lpstr>Параметры сокета</vt:lpstr>
      <vt:lpstr>Семейства протоколов и адресов</vt:lpstr>
      <vt:lpstr>Семейства протоколов и адресов</vt:lpstr>
      <vt:lpstr>Семейства протоколов и адресов</vt:lpstr>
      <vt:lpstr>Тип соединения</vt:lpstr>
      <vt:lpstr>Тип соединения</vt:lpstr>
      <vt:lpstr>Выбор протокола</vt:lpstr>
      <vt:lpstr>Выбор протокола</vt:lpstr>
      <vt:lpstr>Упрощенная структура данных сокета </vt:lpstr>
      <vt:lpstr>Упрощенная структура данных сокета </vt:lpstr>
      <vt:lpstr>Настройка сокета</vt:lpstr>
      <vt:lpstr>Функции, используемые при конфигурации сокетов</vt:lpstr>
      <vt:lpstr>Соединение сокета</vt:lpstr>
      <vt:lpstr>Функция connect</vt:lpstr>
      <vt:lpstr>Функция connect</vt:lpstr>
      <vt:lpstr>Функция connect</vt:lpstr>
      <vt:lpstr>bind</vt:lpstr>
      <vt:lpstr>Передача данных через сокет</vt:lpstr>
      <vt:lpstr>Презентация PowerPoint</vt:lpstr>
      <vt:lpstr>Передача данных через сокет</vt:lpstr>
      <vt:lpstr>Передача данных через сокет</vt:lpstr>
      <vt:lpstr>Передача данных через сокет</vt:lpstr>
      <vt:lpstr>Передача данных через сокет</vt:lpstr>
      <vt:lpstr>Передача данных через не соединенный сокет</vt:lpstr>
      <vt:lpstr>Передача данных через не соединенный сокет</vt:lpstr>
      <vt:lpstr>Формат структуры сообщения, используемый функцией sendmsg </vt:lpstr>
      <vt:lpstr>Прием данных через сокет </vt:lpstr>
      <vt:lpstr>Соответствующие друг другу функции передачи и приема данных интерфейса сокетов</vt:lpstr>
      <vt:lpstr>Презентация PowerPoint</vt:lpstr>
      <vt:lpstr>Презентация PowerPoint</vt:lpstr>
      <vt:lpstr>Функция listen</vt:lpstr>
      <vt:lpstr>Функция listen</vt:lpstr>
      <vt:lpstr>Функция accept</vt:lpstr>
      <vt:lpstr>Функция accept</vt:lpstr>
      <vt:lpstr>Функция accept</vt:lpstr>
      <vt:lpstr>Функция select</vt:lpstr>
      <vt:lpstr>Функция select</vt:lpstr>
      <vt:lpstr>Функция select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сокеты</dc:title>
  <dc:creator>kate</dc:creator>
  <cp:lastModifiedBy>kate</cp:lastModifiedBy>
  <cp:revision>28</cp:revision>
  <dcterms:created xsi:type="dcterms:W3CDTF">2017-03-26T15:20:56Z</dcterms:created>
  <dcterms:modified xsi:type="dcterms:W3CDTF">2017-03-26T21:03:08Z</dcterms:modified>
</cp:coreProperties>
</file>